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aecf47-38e4-e99b-5c7a-dee79475e031}">
          <p14:sldIdLst>
            <p14:sldId id="256"/>
          </p14:sldIdLst>
        </p14:section>
        <p14:section name="Gate" id="{42278dac-3e89-7ef7-f689-5f7efb924dac}">
          <p14:sldIdLst>
            <p14:sldId id="257"/>
            <p14:sldId id="258"/>
          </p14:sldIdLst>
        </p14:section>
        <p14:section name="Pre-teach" id="{8bbf531b-501f-57c1-a280-a40a604af250}">
          <p14:sldIdLst>
            <p14:sldId id="259"/>
            <p14:sldId id="260"/>
          </p14:sldIdLst>
        </p14:section>
        <p14:section name="Read-along" id="{1eaf828b-282e-4937-a7b6-e9e386c52642}">
          <p14:sldIdLst>
            <p14:sldId id="261"/>
            <p14:sldId id="262"/>
          </p14:sldIdLst>
        </p14:section>
        <p14:section name="Teach" id="{2267ded2-e670-a0e6-bc13-33227ab9bf68}">
          <p14:sldIdLst>
            <p14:sldId id="263"/>
            <p14:sldId id="264"/>
            <p14:sldId id="265"/>
            <p14:sldId id="266"/>
          </p14:sldIdLst>
        </p14:section>
        <p14:section name="Routes" id="{5f77b876-67e6-f2b2-5444-15b3f6b9d1b9}">
          <p14:sldIdLst>
            <p14:sldId id="267"/>
            <p14:sldId id="268"/>
            <p14:sldId id="269"/>
            <p14:sldId id="270"/>
          </p14:sldIdLst>
        </p14:section>
        <p14:section name="Close" id="{d3d0340d-1e78-0d45-e322-475cacf3b16d}">
          <p14:sldIdLst>
            <p14:sldId id="271"/>
          </p14:sldIdLst>
        </p14:section>
        <p14:section name="Answers" id="{5cf80255-c2a4-dc32-82a6-d9c1a80fa8b7}">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colonisation of Africa. Africa's long history before Europeans arrived, how European countries divided the continent between 1850 and 1914, who ruled where, the impacts of colonial rule, and why straight lines on the map still matter.
This deck covers the department's lessons: 8 (The colonisation of Africa: How and why did European countries colonise Africa, and how did the map of Africa change?); 9 (The impacts of colonialism: What were the impacts of colonial rule on Africa, and which European country ruled where?).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Taking control of another country, settling people there and using its resources for your own benefit is called ___.  →  colonialism
2. Which two African countries were still independent in 1914?  →  B   Ethiopia and Liberia
3. In 1913, only 3% of Africa was independent. What percentage of the continent was ruled by European countries?  →  97 %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colonialism. That is the lesson's definition of colonialism. Independence is its opposite; globalisation is the world becoming more connected.
2. B   Ethiopia and Liberia. The lesson's map shows every African country under European rule except Ethiopia and Liberia.
3. 97 %. 100% − 3% = 97% of Africa was colonised by 1913.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colonialism: taking control of another country, settling people there and using its resources for your own benefit. Example: "European colonialism changed the map of Africa."
• colony: a country ruled by another, more powerful country. Example: "Kenya was a British colony."
• independence: when a country governs itself. Example: "Most African countries won independence in the twentieth century."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exploit: to make use of a people, place or thing for your own benefit. Example: "Colonial powers exploited Africa's gold and ivory."
• border: the line where one country ends and another begins. Example: "Many African borders are straight lines drawn in Europe."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Africa has a long history.
2. The earliest humans lived in East Africa, in what is now Ethiopia.
3. Ancient Egypt grew up along the River Nile.
4. The Mali Empire and the Kingdom of Kongo were rich trading states.
5. In the 1800s, European countries began to take control of Africa.
6. This is called colonialism.
7. A colony is a country ruled by another country.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By 1914, almost all of Africa was ruled from Europe.
9. Only Ethiopia and Liberia stayed independent.
10. Britain and France took the most land.
11. Europeans wanted Africa's gold, ivory and other resources.
12. They drew straight borders on the map that cut through peoples.
13. In the twentieth century, African countries became independent.
14. Independence means a country governs itself.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Africa before the colonisers. Say it in your own words, then check understanding with a quick question: ask a pupil from the pre-teach group first, since they met these words and ideas before the lesson. Pupils try to recall before you re-explain.
Your lesson began by asking what link we all share with Africa. The answer is that the first humans appeared there: the lesson dates the earliest human species to around 2 million years ago in present-day Ethiopia. Africa has a long and rich history. Ancient Egypt was based around the River Nile. Later, the Mali Empire in West Africa and the Kingdom of Kongo in Central Africa grew wealthy on trade in ivory, metals such as gold, and, tragically, enslaved people.
From the fifteenth century onwards, Europeans arrived on Africa's coasts. Over the following centuries, during the Atlantic slave trade, millions of Africans were taken across the ocean by Europeans and enslaved. Your textbook (pages 102 and 103) gives the figures and the dates; the lesson asked you to find a fact for the fifteenth century, the nineteenth century, the year 1884 and the year 1914.
The important idea is that Africa was not empty or silent before Europeans came. It had empires, cities, trade routes and thousands of peoples with their own languages and ways of life, and some of those peoples you met in the last chapter.
Tip: Say enslaved people. People were enslaved; it is something that was done to them, not what they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scramble for Africa: 1850 to 1914. Say it in your own words, then check understanding with a quick question: ask a pupil from the pre-teach group first, since they met these words and ideas before the lesson. Pupils try to recall before you re-explain.
Colonialism means taking control of another country: sending your own settlers to live there, and running its land and its resources for the benefit of your own country. To exploit means to make use of a people, place or thing for your own benefit. The opposite of colonialism is independence: when a country governs itself.
Your lesson showed three maps. Before 1850, most of Africa was ruled by Africans. By around 1900, almost the whole continent had been divided between European powers. By 1914 the process was complete: the lesson's quiz says that in 1913 only 3% of Africa was independent. Just two countries kept their independence throughout: Ethiopia and Liberia. The United Kingdom and France were the two biggest colonisers, taking about two-thirds of Africa between them. Portugal, Spain, Germany, Belgium and Italy took the rest.
Why did European countries do this? The lesson's answer is economic. They wanted Africa's natural resources, such as ivory and gold, and they wanted people to enslave and to work for them, so that they could trade more and grow richer. Britain, which colonised much of Africa between the 1870s and the 1900s, also colonised land in Asia, Oceania, North America and South America.
Worked example — model it step by step, thinking aloud: In 1913 only 3% of Africa was independent. What percentage of the continent was ruled by European countries? (1) The whole continent is 100%. (2) The part that was independent was 3%. (3) The rest was colonised: 100% − 3% = 97%. (4) Check: 97% + 3% = 100%. Answer: 97%.
Tip: Three maps, three dates: before 1850 (African rule), around 1900 (European rule), today (independent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ruled where, and straight lines on the map. Say it in your own words, then check understanding with a quick question: ask a pupil from the pre-teach group first, since they met these words and ideas before the lesson. Pupils try to recall before you re-explain.
The lesson's answer map lists the colonies by European power. Britain ruled Gambia, Egypt, Sudan, Botswana, Kenya, South Africa, northern Somalia, Uganda, Malawi, Ghana, Zimbabwe, Lesotho, Eswatini and Nigeria, among others. France ruled most of West and North-West Africa, including Algeria, Mali, Mauritania, Niger, Chad, Senegal, Ivory Coast, Burkina Faso, Benin and Cameroon, as well as the island of Madagascar. Belgium ruled the Democratic Republic of Congo. Portugal ruled Angola, Mozambique and Guinea-Bissau. Germany ruled Namibia and Togo, and Tanzania until the First World War. Italy ruled Libya, Somalia and Eritrea, and Spain ruled Equatorial Guinea and Western Sahara. Ethiopia and Liberia stayed independent.
Look at a map of Africa today and you will see borders that are perfectly straight, as if drawn with a ruler. They were. European leaders drew the lines in Europe, often without ever visiting the land, and the lines cut straight through the territories of African peoples. Forcing different ethnic, cultural and religious groups together inside one border, and splitting others between two countries, has created tension, clashes and conflict that continue today.
The lesson's straight-line question is a good one to practise: which countries have borders that look drawn with a ruler, and why are there so many? The legacy of colonial rule is also visible in language and religion: French is widely spoken in the countries France ruled, and English in those Britain ruled.
Tip: Straight border, European ruler. The line was drawn for the convenience of the colonisers, not the people living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impacts of colonialism. Say it in your own words, then check understanding with a quick question: ask a pupil from the pre-teach group first, since they met these words and ideas before the lesson. Pupils try to recall before you re-explain.
Your lesson asked you to sort cards describing the impacts of colonialism into negatives and positives, and then into SEEP categories: social, economic, environmental and political. Most of the cards were negative. Colonial governments took much of the land from Africans for mining and for large farms; Europeans took the best land and called it their own, with Belgium and Britain mainly responsible, for example British settlers in Kenya and South Africa. Africans were used as cheap labour on farms and in mines, in horrible conditions that often included physical punishment, for very low wages. The European countries gave little money to their colonies and instead raised taxes on Africans. After the two world wars, when fewer workers were available, Africans were forced to work, moved away from their home towns and families, mostly men sent to mines and farms, which broke up families and traditions.
Three cards described things the colonisers introduced: Western medicine, which helped the African population to grow; formal education; and missionaries who brought Christianity and ran schools and health care. These changes were real, but they were brought on the colonisers' terms, and they do not cancel the loss of land, freedom and lives. Your lesson's reflection asked whether colonialism brought any benefits; a careful geographer weighs the evidence on both sides and reaches a judgement, rather than assuming either that everything was bad or that the benefits made up for the harm.
African countries wanted independence because they wanted to govern their own land and their own people and decide their own laws. In the twentieth century they won it, and the map changed for a third time, into the Africa of more than fifty countries you have studied in this unit.
Tip: SEEP: social (people), economic (money), environmental (land and nature), political (power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ruled where?.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European power to the African colonies it ruled, according to your lesson's map.
Support — work through the steps with the group: (1) Start with the power that had just one colony on the list: Belgium. (2) France took most of West and North-West Africa. Which group of countries is in the north-west? (3) Britain's colonies are spread out, from West Africa to the far south. (4) The pair of countries left over, on opposite coasts of southern Africa, were Portuguese.
Parallel worked example for Support (model it, do not give the task answer): Match: Italy, Spain. Choices: Equatorial Guinea and Western Sahara; Libya, Somalia and Eritrea. Italy ruled Libya on the Mediterranean and Somalia and Eritrea in the Horn of Africa.; Spain ruled the two smaller territories.. Answer: Italy: Libya, Somalia and Eritrea. Spain: Equatorial Guinea and Western Sahara..
Core — reveal the hint only on request: Belgium had one huge colony in the centre. France took the north-west. Portugal had two on the southern coasts. Britain had the rest on the list.
Stretch — no help; when finished: Using the languages spoken in these countries today, explain one way the colonial past is still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Who ruled where?.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European power to the African colonies it ruled, according to your lesson's map.
Support — work through the steps with the group: (1) Start with the power that had just one colony on the list: Belgium. (2) France took most of West and North-West Africa. Which group of countries is in the north-west? (3) Britain's colonies are spread out, from West Africa to the far south. (4) The pair of countries left over, on opposite coasts of southern Africa, were Portuguese.
Parallel worked example for Support (model it, do not give the task answer): Match: Italy, Spain. Choices: Equatorial Guinea and Western Sahara; Libya, Somalia and Eritrea. Italy ruled Libya on the Mediterranean and Somalia and Eritrea in the Horn of Africa.; Spain ruled the two smaller territories.. Answer: Italy: Libya, Somalia and Eritrea. Spain: Equatorial Guinea and Western Sahara..
Core — reveal the hint only on request: Belgium had one huge colony in the centre. France took the north-west. Portugal had two on the southern coasts. Britain had the rest on the list.
Stretch — no help; when finished: Using the languages spoken in these countries today, explain one way the colonial past is still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Africa's 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history of Africa in the correct order, earliest first.
Support — work through the steps with the group: (1) Humans had to exist before anything else could happen, so the earliest humans come first. (2) Ancient Egypt is one of the oldest civilisations in the world, so it comes next. (3) The Mali Empire and the Kingdom of Kongo were trading long before Europeans took control. (4) Colonisation came before independence, because a country can only win independence after being ruled by someone else.
Parallel worked example for Support (model it, do not give the task answer): Put in order, earliest first: Africa around 1900, divided between European powers; Africa today, independent countries; Africa before 1850, ruled by Africans. Before 1850 is the earliest date.; Around 1900 comes next.; Today is last.. Answer: Africa before 1850; Africa around 1900; Africa today..
Core — reveal the hint only on request: People, then Egypt, then the trading empires, then European rule, then independence.
Stretch — no help; when finished: Explain why the order matters: what does it tell you about the claim that Africa had no history before Europeans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Africa's story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history of Africa in the correct order, earliest first.
Support — work through the steps with the group: (1) Humans had to exist before anything else could happen, so the earliest humans come first. (2) Ancient Egypt is one of the oldest civilisations in the world, so it comes next. (3) The Mali Empire and the Kingdom of Kongo were trading long before Europeans took control. (4) Colonisation came before independence, because a country can only win independence after being ruled by someone else.
Parallel worked example for Support (model it, do not give the task answer): Put in order, earliest first: Africa around 1900, divided between European powers; Africa today, independent countries; Africa before 1850, ruled by Africans. Before 1850 is the earliest date.; Around 1900 comes next.; Today is last.. Answer: Africa before 1850; Africa around 1900; Africa today..
Core — reveal the hint only on request: People, then Egypt, then the trading empires, then European rule, then independence.
Stretch — no help; when finished: Explain why the order matters: what does it tell you about the claim that Africa had no history before Europeans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Taking control of another country, settling people there and using its resources for your own benefit is called ___.
Answer: Taking control of another country, settling people there and using its resources for your own benefit is called colonialism.. That is the lesson's definition of colonialism. Independence is its opposite; globalisation is the world becoming more connected.
Source of this question: gate item 1 re-asked (options rotated) — this chapter has no third quick-check module.
The ebook also holds task 3, "Weighing the impacts of colonialism",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Who ruled where?. Reveal the answer; pupils mark their own work in a different colour, then read the "why" together. Same destination for every lane, so one answer serves the whole class.
Answer: Britain  →  D  Kenya, Nigeria, Ghana and South Africa; France  →  B  Algeria, Mali, Niger and Senegal; Belgium  →  C  The Democratic Republic of Congo; Portugal  →  A  Angola and Mozambique
Why: Britain ruled Kenya, Nigeria, Ghana and South Africa; France ruled Algeria, Mali, Niger and Senegal; Belgium ruled the Democratic Republic of Congo; Portugal ruled Angola and Mozambique.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Africa's story in order. Reveal the answer; pupils mark their own work in a different colour, then read the "why" together. Same destination for every lane, so one answer serves the whole class.
Answer: The earliest humans live in East Africa, in what is now Ethiopia  (D); Ancient Egypt grows up along the River Nile  (E); The Mali Empire and the Kingdom of Kongo grow rich on trade in ivory and gold  (A); By 1914, European countries have colonised almost all of Africa  (B); African countries win their independence in the twentieth century  (C)
Why: The earliest humans came first, then Ancient Egypt on the Nile, then the trading empires of Mali and Kongo, then European colonisation complete by 1914, and finally independence in the twentieth century.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Taking control of another country, settling people there and using its resources for your own benefit is called colonialism.
Why: That is the lesson's definition of colonialism. Independence is its opposite; globalisation is the world becoming more connected.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colonisation of Africa</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2F5F2"/>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colonisation of Africa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impacts of colonialism</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Taking control of another country, settling people there and using its resources for your own benefit is called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colonialism  ·  independence  ·  globalisation</a:t>
            </a:r>
            <a:endParaRPr lang="en-US" sz="22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two African countries were still independent in 1914?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Ghana and Senegal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Ethiopia and Liberia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Nigeria and Kenya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Egypt and Algeria</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1913, only 3% of Africa was independent. What percentage of the continent was ruled by European countries?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colonialism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Taking control of another country, settling people there and using its resources for your own benefit is called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That is the lesson's definition of colonialism. Independence is its opposite; globalisation is the world becoming more connected.</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Ethiopia and Liberia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two African countries were still independent in 1914?</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lesson's map shows every African country under European rule except Ethiopia and Liberia.</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97 %</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1913, only 3% of Africa was independent. What percentage of the continent was ruled by European countries?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100% − 3% = 97% of Africa was colonised by 1913.</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colonialism</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taking control of another country, settling people there and using its resources for your own benefit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European colonialism changed the map of Africa.</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colony</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country ruled by another, more powerful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Kenya was a British colony.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independence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country governs itself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African countries won independence in the twentieth century.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exploit</a:t>
            </a:r>
            <a:endParaRPr lang="en-US" sz="2600" dirty="0"/>
          </a:p>
        </p:txBody>
      </p:sp>
      <p:sp>
        <p:nvSpPr>
          <p:cNvPr id="11" name="word-rule"/>
          <p:cNvSpPr/>
          <p:nvPr/>
        </p:nvSpPr>
        <p:spPr>
          <a:xfrm>
            <a:off x="731520" y="2129028"/>
            <a:ext cx="5044288" cy="0"/>
          </a:xfrm>
          <a:prstGeom prst="line">
            <a:avLst/>
          </a:prstGeom>
          <a:ln w="12700">
            <a:solidFill>
              <a:srgbClr val="B8C8B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make use of a people, place or thing for your own benefit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Colonial powers exploited Africa's gold and ivory.</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8F6"/>
          </a:solidFill>
          <a:ln w="12700">
            <a:solidFill>
              <a:srgbClr val="B8C8B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border</a:t>
            </a:r>
            <a:endParaRPr lang="en-US" sz="2600" dirty="0"/>
          </a:p>
        </p:txBody>
      </p:sp>
      <p:sp>
        <p:nvSpPr>
          <p:cNvPr id="17" name="word-rule"/>
          <p:cNvSpPr/>
          <p:nvPr/>
        </p:nvSpPr>
        <p:spPr>
          <a:xfrm>
            <a:off x="6415888" y="2129028"/>
            <a:ext cx="5044288" cy="0"/>
          </a:xfrm>
          <a:prstGeom prst="line">
            <a:avLst/>
          </a:prstGeom>
          <a:ln w="12700">
            <a:solidFill>
              <a:srgbClr val="B8C8B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line where one country ends and another begins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African borders are straight lines drawn in Europe.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Africa has a long history.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earliest humans lived in East Africa, in what is now Ethiopia.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Ancient Egypt grew up along the River Nile.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Mali Empire and the Kingdom of Kongo were rich trading states.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1800s, European countries began to take control of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colonialism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colony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country ruled by another country.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1914, almost all of Africa was ruled from Europe.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Ethiopia and Liberia stayed independent.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Britain and France took the most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Europeans wanted Africa's gold, ivory and other resources.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drew straight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borders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 the map that cut through peoples.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twentieth century, African countries became independent.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Independence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a country governs itself.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Africa before the colonisers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enslaved people. People were enslaved; it is something that was done to them, not what they were.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began by asking what link we all share with Africa.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the fifteenth century onwards, Europeans arrived on Africa's coasts.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important idea is that Africa was not empty or silent before Europeans came.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scramble for Africa: 1850 to 1914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maps, three dates: before 1850 (African rule), around 1900 (European rule), today (independent countries).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5B9AA"/>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In 1913 only 3% of Africa was independent. What percentage of the continent was ruled by European countries?</a:t>
            </a:r>
            <a:endParaRPr lang="en-US" sz="1800" dirty="0"/>
          </a:p>
        </p:txBody>
      </p:sp>
      <p:sp>
        <p:nvSpPr>
          <p:cNvPr id="14" name="step-box"/>
          <p:cNvSpPr/>
          <p:nvPr/>
        </p:nvSpPr>
        <p:spPr>
          <a:xfrm>
            <a:off x="6126480" y="3167380"/>
            <a:ext cx="5379415" cy="496570"/>
          </a:xfrm>
          <a:prstGeom prst="roundRect">
            <a:avLst>
              <a:gd name="adj" fmla="val 18414"/>
            </a:avLst>
          </a:prstGeom>
          <a:solidFill>
            <a:srgbClr val="F2F5F2"/>
          </a:solidFill>
          <a:ln/>
        </p:spPr>
      </p:sp>
      <p:sp>
        <p:nvSpPr>
          <p:cNvPr id="15" name="step-hex"/>
          <p:cNvSpPr/>
          <p:nvPr/>
        </p:nvSpPr>
        <p:spPr>
          <a:xfrm>
            <a:off x="6217920" y="3233535"/>
            <a:ext cx="420624" cy="364260"/>
          </a:xfrm>
          <a:prstGeom prst="hexagon">
            <a:avLst/>
          </a:prstGeom>
          <a:solidFill>
            <a:srgbClr val="3F6B4A"/>
          </a:solidFill>
          <a:ln/>
        </p:spPr>
      </p:sp>
      <p:sp>
        <p:nvSpPr>
          <p:cNvPr id="16" name="step-hex-label"/>
          <p:cNvSpPr txBox="1"/>
          <p:nvPr/>
        </p:nvSpPr>
        <p:spPr>
          <a:xfrm>
            <a:off x="6217920" y="323353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whole continent is 100%.</a:t>
            </a:r>
            <a:endParaRPr lang="en-US" sz="1800" dirty="0"/>
          </a:p>
        </p:txBody>
      </p:sp>
      <p:sp>
        <p:nvSpPr>
          <p:cNvPr id="18" name="step-box"/>
          <p:cNvSpPr/>
          <p:nvPr/>
        </p:nvSpPr>
        <p:spPr>
          <a:xfrm>
            <a:off x="6126480" y="3755390"/>
            <a:ext cx="5379415" cy="496570"/>
          </a:xfrm>
          <a:prstGeom prst="roundRect">
            <a:avLst>
              <a:gd name="adj" fmla="val 18414"/>
            </a:avLst>
          </a:prstGeom>
          <a:solidFill>
            <a:srgbClr val="F2F5F2"/>
          </a:solidFill>
          <a:ln/>
        </p:spPr>
      </p:sp>
      <p:sp>
        <p:nvSpPr>
          <p:cNvPr id="19" name="step-hex"/>
          <p:cNvSpPr/>
          <p:nvPr/>
        </p:nvSpPr>
        <p:spPr>
          <a:xfrm>
            <a:off x="6217920" y="3821545"/>
            <a:ext cx="420624" cy="364260"/>
          </a:xfrm>
          <a:prstGeom prst="hexagon">
            <a:avLst/>
          </a:prstGeom>
          <a:solidFill>
            <a:srgbClr val="3F6B4A"/>
          </a:solidFill>
          <a:ln/>
        </p:spPr>
      </p:sp>
      <p:sp>
        <p:nvSpPr>
          <p:cNvPr id="20" name="step-hex-label"/>
          <p:cNvSpPr txBox="1"/>
          <p:nvPr/>
        </p:nvSpPr>
        <p:spPr>
          <a:xfrm>
            <a:off x="6217920" y="382154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5539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part that was independent was 3%.</a:t>
            </a:r>
            <a:endParaRPr lang="en-US" sz="1800" dirty="0"/>
          </a:p>
        </p:txBody>
      </p:sp>
      <p:sp>
        <p:nvSpPr>
          <p:cNvPr id="22" name="step-box"/>
          <p:cNvSpPr/>
          <p:nvPr/>
        </p:nvSpPr>
        <p:spPr>
          <a:xfrm>
            <a:off x="6126480" y="4343400"/>
            <a:ext cx="5379415" cy="496570"/>
          </a:xfrm>
          <a:prstGeom prst="roundRect">
            <a:avLst>
              <a:gd name="adj" fmla="val 18414"/>
            </a:avLst>
          </a:prstGeom>
          <a:solidFill>
            <a:srgbClr val="F2F5F2"/>
          </a:solidFill>
          <a:ln/>
        </p:spPr>
      </p:sp>
      <p:sp>
        <p:nvSpPr>
          <p:cNvPr id="23" name="step-hex"/>
          <p:cNvSpPr/>
          <p:nvPr/>
        </p:nvSpPr>
        <p:spPr>
          <a:xfrm>
            <a:off x="6217920" y="4409555"/>
            <a:ext cx="420624" cy="364260"/>
          </a:xfrm>
          <a:prstGeom prst="hexagon">
            <a:avLst/>
          </a:prstGeom>
          <a:solidFill>
            <a:srgbClr val="3F6B4A"/>
          </a:solidFill>
          <a:ln/>
        </p:spPr>
      </p:sp>
      <p:sp>
        <p:nvSpPr>
          <p:cNvPr id="24" name="step-hex-label"/>
          <p:cNvSpPr txBox="1"/>
          <p:nvPr/>
        </p:nvSpPr>
        <p:spPr>
          <a:xfrm>
            <a:off x="6217920" y="440955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4340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rest was colonised: 100% − 3% = 97%.</a:t>
            </a:r>
            <a:endParaRPr lang="en-US" sz="1800" dirty="0"/>
          </a:p>
        </p:txBody>
      </p:sp>
      <p:sp>
        <p:nvSpPr>
          <p:cNvPr id="26" name="step-box"/>
          <p:cNvSpPr/>
          <p:nvPr/>
        </p:nvSpPr>
        <p:spPr>
          <a:xfrm>
            <a:off x="6126480" y="4931410"/>
            <a:ext cx="5379415" cy="496570"/>
          </a:xfrm>
          <a:prstGeom prst="roundRect">
            <a:avLst>
              <a:gd name="adj" fmla="val 18414"/>
            </a:avLst>
          </a:prstGeom>
          <a:solidFill>
            <a:srgbClr val="F2F5F2"/>
          </a:solidFill>
          <a:ln/>
        </p:spPr>
      </p:sp>
      <p:sp>
        <p:nvSpPr>
          <p:cNvPr id="27" name="step-hex"/>
          <p:cNvSpPr/>
          <p:nvPr/>
        </p:nvSpPr>
        <p:spPr>
          <a:xfrm>
            <a:off x="6217920" y="4997565"/>
            <a:ext cx="420624" cy="364260"/>
          </a:xfrm>
          <a:prstGeom prst="hexagon">
            <a:avLst/>
          </a:prstGeom>
          <a:solidFill>
            <a:srgbClr val="3F6B4A"/>
          </a:solidFill>
          <a:ln/>
        </p:spPr>
      </p:sp>
      <p:sp>
        <p:nvSpPr>
          <p:cNvPr id="28" name="step-hex-label"/>
          <p:cNvSpPr txBox="1"/>
          <p:nvPr/>
        </p:nvSpPr>
        <p:spPr>
          <a:xfrm>
            <a:off x="6217920" y="499756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31410"/>
            <a:ext cx="4739335" cy="4965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97% + 3% = 100%.</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97%</a:t>
            </a:r>
            <a:endParaRPr lang="en-US" sz="1800" dirty="0"/>
          </a:p>
        </p:txBody>
      </p:sp>
      <p:sp>
        <p:nvSpPr>
          <p:cNvPr id="31" name="bullet-card"/>
          <p:cNvSpPr/>
          <p:nvPr/>
        </p:nvSpPr>
        <p:spPr>
          <a:xfrm>
            <a:off x="548640" y="1389888"/>
            <a:ext cx="5074920" cy="1595967"/>
          </a:xfrm>
          <a:prstGeom prst="roundRect">
            <a:avLst>
              <a:gd name="adj" fmla="val 4584"/>
            </a:avLst>
          </a:prstGeom>
          <a:solidFill>
            <a:srgbClr val="F5F8F6"/>
          </a:solidFill>
          <a:ln/>
        </p:spPr>
      </p:sp>
      <p:sp>
        <p:nvSpPr>
          <p:cNvPr id="32" name="bullet-hex"/>
          <p:cNvSpPr/>
          <p:nvPr/>
        </p:nvSpPr>
        <p:spPr>
          <a:xfrm>
            <a:off x="676656" y="2021579"/>
            <a:ext cx="384048" cy="332586"/>
          </a:xfrm>
          <a:prstGeom prst="hexagon">
            <a:avLst/>
          </a:prstGeom>
          <a:solidFill>
            <a:srgbClr val="3F6B4A"/>
          </a:solidFill>
          <a:ln/>
        </p:spPr>
      </p:sp>
      <p:sp>
        <p:nvSpPr>
          <p:cNvPr id="33" name="bullet"/>
          <p:cNvSpPr txBox="1"/>
          <p:nvPr/>
        </p:nvSpPr>
        <p:spPr>
          <a:xfrm>
            <a:off x="1143000" y="1389888"/>
            <a:ext cx="4389120" cy="159596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Colonialism means taking control of another country: sending your own settlers to live there, and running its land and its resources for the benefit of your own country.</a:t>
            </a:r>
            <a:endParaRPr lang="en-US" sz="1800" dirty="0"/>
          </a:p>
        </p:txBody>
      </p:sp>
      <p:sp>
        <p:nvSpPr>
          <p:cNvPr id="34" name="bullet-card"/>
          <p:cNvSpPr/>
          <p:nvPr/>
        </p:nvSpPr>
        <p:spPr>
          <a:xfrm>
            <a:off x="548640" y="3132159"/>
            <a:ext cx="5074920" cy="759291"/>
          </a:xfrm>
          <a:prstGeom prst="roundRect">
            <a:avLst>
              <a:gd name="adj" fmla="val 9634"/>
            </a:avLst>
          </a:prstGeom>
          <a:solidFill>
            <a:srgbClr val="F5F8F6"/>
          </a:solidFill>
          <a:ln/>
        </p:spPr>
      </p:sp>
      <p:sp>
        <p:nvSpPr>
          <p:cNvPr id="35" name="bullet-hex"/>
          <p:cNvSpPr/>
          <p:nvPr/>
        </p:nvSpPr>
        <p:spPr>
          <a:xfrm>
            <a:off x="676656" y="3345511"/>
            <a:ext cx="384048" cy="332586"/>
          </a:xfrm>
          <a:prstGeom prst="hexagon">
            <a:avLst/>
          </a:prstGeom>
          <a:solidFill>
            <a:srgbClr val="B8862B"/>
          </a:solidFill>
          <a:ln/>
        </p:spPr>
      </p:sp>
      <p:sp>
        <p:nvSpPr>
          <p:cNvPr id="36" name="bullet"/>
          <p:cNvSpPr txBox="1"/>
          <p:nvPr/>
        </p:nvSpPr>
        <p:spPr>
          <a:xfrm>
            <a:off x="1143000" y="3132159"/>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showed three maps. Before 1850, most of Africa was ruled by Africans.</a:t>
            </a:r>
            <a:endParaRPr lang="en-US" sz="1800" dirty="0"/>
          </a:p>
        </p:txBody>
      </p:sp>
      <p:sp>
        <p:nvSpPr>
          <p:cNvPr id="37" name="bullet-card"/>
          <p:cNvSpPr/>
          <p:nvPr/>
        </p:nvSpPr>
        <p:spPr>
          <a:xfrm>
            <a:off x="548640" y="4037753"/>
            <a:ext cx="5074920" cy="759291"/>
          </a:xfrm>
          <a:prstGeom prst="roundRect">
            <a:avLst>
              <a:gd name="adj" fmla="val 9634"/>
            </a:avLst>
          </a:prstGeom>
          <a:solidFill>
            <a:srgbClr val="F5F8F6"/>
          </a:solidFill>
          <a:ln/>
        </p:spPr>
      </p:sp>
      <p:sp>
        <p:nvSpPr>
          <p:cNvPr id="38" name="bullet-hex"/>
          <p:cNvSpPr/>
          <p:nvPr/>
        </p:nvSpPr>
        <p:spPr>
          <a:xfrm>
            <a:off x="676656" y="4251106"/>
            <a:ext cx="384048" cy="332586"/>
          </a:xfrm>
          <a:prstGeom prst="hexagon">
            <a:avLst/>
          </a:prstGeom>
          <a:solidFill>
            <a:srgbClr val="3F6B4A"/>
          </a:solidFill>
          <a:ln/>
        </p:spPr>
      </p:sp>
      <p:sp>
        <p:nvSpPr>
          <p:cNvPr id="39" name="bullet"/>
          <p:cNvSpPr txBox="1"/>
          <p:nvPr/>
        </p:nvSpPr>
        <p:spPr>
          <a:xfrm>
            <a:off x="1143000" y="4037753"/>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did European countries do this? The lesson's answer is economic.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Who ruled where, and straight lines on the map</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Straight border, European ruler. The line was drawn for the convenience of the colonisers, not the people living there.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lesson's answer map lists the colonies by European power.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a map of Africa today and you will see borders that are perfectly straight, as if drawn with a ruler.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lesson's straight-line question is a good one to practise: which countries have borders that look drawn with a ruler, and why are there so many?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impacts of colonialism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SEEP: social (people), economic (money), environmental (land and nature), political (power and government).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asked you to sort cards describing the impacts of colonialism into negatives and positives, and then into SEEP categories: social, economic, environmental and political.</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Three cards described things the colonisers introduced: Western medicine, which helped the African population to grow; formal education; and missionaries who brought Christianity and ran schools and health care.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African countries wanted independence because they wanted to govern their own land and their own people and decide their own laws.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Who ruled where?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European power to the African colonies it ruled, according to your lesson's map.</a:t>
            </a:r>
            <a:endParaRPr lang="en-US" sz="2400" dirty="0"/>
          </a:p>
        </p:txBody>
      </p:sp>
      <p:sp>
        <p:nvSpPr>
          <p:cNvPr id="11" name="match-card"/>
          <p:cNvSpPr/>
          <p:nvPr/>
        </p:nvSpPr>
        <p:spPr>
          <a:xfrm>
            <a:off x="777240" y="2672080"/>
            <a:ext cx="3081437" cy="753872"/>
          </a:xfrm>
          <a:prstGeom prst="roundRect">
            <a:avLst>
              <a:gd name="adj" fmla="val 9704"/>
            </a:avLst>
          </a:prstGeom>
          <a:solidFill>
            <a:srgbClr val="F5F8F6"/>
          </a:solidFill>
          <a:ln/>
        </p:spPr>
      </p:sp>
      <p:sp>
        <p:nvSpPr>
          <p:cNvPr id="12" name="match-hex"/>
          <p:cNvSpPr/>
          <p:nvPr/>
        </p:nvSpPr>
        <p:spPr>
          <a:xfrm>
            <a:off x="850392" y="2882723"/>
            <a:ext cx="384048" cy="332586"/>
          </a:xfrm>
          <a:prstGeom prst="hexagon">
            <a:avLst/>
          </a:prstGeom>
          <a:solidFill>
            <a:srgbClr val="3F6B4A"/>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Britain</a:t>
            </a:r>
            <a:endParaRPr lang="en-US" sz="2200" dirty="0"/>
          </a:p>
        </p:txBody>
      </p:sp>
      <p:sp>
        <p:nvSpPr>
          <p:cNvPr id="15" name="match-card"/>
          <p:cNvSpPr/>
          <p:nvPr/>
        </p:nvSpPr>
        <p:spPr>
          <a:xfrm>
            <a:off x="4224437" y="2672080"/>
            <a:ext cx="7190019" cy="753872"/>
          </a:xfrm>
          <a:prstGeom prst="roundRect">
            <a:avLst>
              <a:gd name="adj" fmla="val 9704"/>
            </a:avLst>
          </a:prstGeom>
          <a:solidFill>
            <a:srgbClr val="F9F4EC"/>
          </a:solidFill>
          <a:ln/>
        </p:spPr>
      </p:sp>
      <p:sp>
        <p:nvSpPr>
          <p:cNvPr id="16" name="match-hex"/>
          <p:cNvSpPr/>
          <p:nvPr/>
        </p:nvSpPr>
        <p:spPr>
          <a:xfrm>
            <a:off x="4297589" y="2882723"/>
            <a:ext cx="384048" cy="332586"/>
          </a:xfrm>
          <a:prstGeom prst="hexagon">
            <a:avLst/>
          </a:prstGeom>
          <a:solidFill>
            <a:srgbClr val="B8862B"/>
          </a:solidFill>
          <a:ln/>
        </p:spPr>
      </p:sp>
      <p:sp>
        <p:nvSpPr>
          <p:cNvPr id="17" name="match-hex-label"/>
          <p:cNvSpPr txBox="1"/>
          <p:nvPr/>
        </p:nvSpPr>
        <p:spPr>
          <a:xfrm>
            <a:off x="4297589"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Angola and Mozambique</a:t>
            </a:r>
            <a:endParaRPr lang="en-US" sz="2200" dirty="0"/>
          </a:p>
        </p:txBody>
      </p:sp>
      <p:sp>
        <p:nvSpPr>
          <p:cNvPr id="19" name="match-card"/>
          <p:cNvSpPr/>
          <p:nvPr/>
        </p:nvSpPr>
        <p:spPr>
          <a:xfrm>
            <a:off x="777240" y="3517392"/>
            <a:ext cx="3081437" cy="753872"/>
          </a:xfrm>
          <a:prstGeom prst="roundRect">
            <a:avLst>
              <a:gd name="adj" fmla="val 9704"/>
            </a:avLst>
          </a:prstGeom>
          <a:solidFill>
            <a:srgbClr val="F5F8F6"/>
          </a:solidFill>
          <a:ln/>
        </p:spPr>
      </p:sp>
      <p:sp>
        <p:nvSpPr>
          <p:cNvPr id="20" name="match-hex"/>
          <p:cNvSpPr/>
          <p:nvPr/>
        </p:nvSpPr>
        <p:spPr>
          <a:xfrm>
            <a:off x="850392" y="3728035"/>
            <a:ext cx="384048" cy="332586"/>
          </a:xfrm>
          <a:prstGeom prst="hexagon">
            <a:avLst/>
          </a:prstGeom>
          <a:solidFill>
            <a:srgbClr val="3F6B4A"/>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2487077"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France</a:t>
            </a:r>
            <a:endParaRPr lang="en-US" sz="2200" dirty="0"/>
          </a:p>
        </p:txBody>
      </p:sp>
      <p:sp>
        <p:nvSpPr>
          <p:cNvPr id="23" name="match-card"/>
          <p:cNvSpPr/>
          <p:nvPr/>
        </p:nvSpPr>
        <p:spPr>
          <a:xfrm>
            <a:off x="4224437" y="3517392"/>
            <a:ext cx="7190019" cy="753872"/>
          </a:xfrm>
          <a:prstGeom prst="roundRect">
            <a:avLst>
              <a:gd name="adj" fmla="val 9704"/>
            </a:avLst>
          </a:prstGeom>
          <a:solidFill>
            <a:srgbClr val="F9F4EC"/>
          </a:solidFill>
          <a:ln/>
        </p:spPr>
      </p:sp>
      <p:sp>
        <p:nvSpPr>
          <p:cNvPr id="24" name="match-hex"/>
          <p:cNvSpPr/>
          <p:nvPr/>
        </p:nvSpPr>
        <p:spPr>
          <a:xfrm>
            <a:off x="4297589" y="3728035"/>
            <a:ext cx="384048" cy="332586"/>
          </a:xfrm>
          <a:prstGeom prst="hexagon">
            <a:avLst/>
          </a:prstGeom>
          <a:solidFill>
            <a:srgbClr val="B8862B"/>
          </a:solidFill>
          <a:ln/>
        </p:spPr>
      </p:sp>
      <p:sp>
        <p:nvSpPr>
          <p:cNvPr id="25" name="match-hex-label"/>
          <p:cNvSpPr txBox="1"/>
          <p:nvPr/>
        </p:nvSpPr>
        <p:spPr>
          <a:xfrm>
            <a:off x="4297589"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17392"/>
            <a:ext cx="6595659"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Algeria, Mali, Niger and Senegal</a:t>
            </a:r>
            <a:endParaRPr lang="en-US" sz="2200" dirty="0"/>
          </a:p>
        </p:txBody>
      </p:sp>
      <p:sp>
        <p:nvSpPr>
          <p:cNvPr id="27" name="match-card"/>
          <p:cNvSpPr/>
          <p:nvPr/>
        </p:nvSpPr>
        <p:spPr>
          <a:xfrm>
            <a:off x="777240" y="4362704"/>
            <a:ext cx="3081437" cy="753872"/>
          </a:xfrm>
          <a:prstGeom prst="roundRect">
            <a:avLst>
              <a:gd name="adj" fmla="val 9704"/>
            </a:avLst>
          </a:prstGeom>
          <a:solidFill>
            <a:srgbClr val="F5F8F6"/>
          </a:solidFill>
          <a:ln/>
        </p:spPr>
      </p:sp>
      <p:sp>
        <p:nvSpPr>
          <p:cNvPr id="28" name="match-hex"/>
          <p:cNvSpPr/>
          <p:nvPr/>
        </p:nvSpPr>
        <p:spPr>
          <a:xfrm>
            <a:off x="850392" y="4573347"/>
            <a:ext cx="384048" cy="332586"/>
          </a:xfrm>
          <a:prstGeom prst="hexagon">
            <a:avLst/>
          </a:prstGeom>
          <a:solidFill>
            <a:srgbClr val="3F6B4A"/>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2487077"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Belgium</a:t>
            </a:r>
            <a:endParaRPr lang="en-US" sz="2200" dirty="0"/>
          </a:p>
        </p:txBody>
      </p:sp>
      <p:sp>
        <p:nvSpPr>
          <p:cNvPr id="31" name="match-card"/>
          <p:cNvSpPr/>
          <p:nvPr/>
        </p:nvSpPr>
        <p:spPr>
          <a:xfrm>
            <a:off x="4224437" y="4362704"/>
            <a:ext cx="7190019" cy="753872"/>
          </a:xfrm>
          <a:prstGeom prst="roundRect">
            <a:avLst>
              <a:gd name="adj" fmla="val 9704"/>
            </a:avLst>
          </a:prstGeom>
          <a:solidFill>
            <a:srgbClr val="F9F4EC"/>
          </a:solidFill>
          <a:ln/>
        </p:spPr>
      </p:sp>
      <p:sp>
        <p:nvSpPr>
          <p:cNvPr id="32" name="match-hex"/>
          <p:cNvSpPr/>
          <p:nvPr/>
        </p:nvSpPr>
        <p:spPr>
          <a:xfrm>
            <a:off x="4297589" y="4573347"/>
            <a:ext cx="384048" cy="332586"/>
          </a:xfrm>
          <a:prstGeom prst="hexagon">
            <a:avLst/>
          </a:prstGeom>
          <a:solidFill>
            <a:srgbClr val="B8862B"/>
          </a:solidFill>
          <a:ln/>
        </p:spPr>
      </p:sp>
      <p:sp>
        <p:nvSpPr>
          <p:cNvPr id="33" name="match-hex-label"/>
          <p:cNvSpPr txBox="1"/>
          <p:nvPr/>
        </p:nvSpPr>
        <p:spPr>
          <a:xfrm>
            <a:off x="4297589"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362704"/>
            <a:ext cx="6595659"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Democratic Republic of Congo</a:t>
            </a:r>
            <a:endParaRPr lang="en-US" sz="2200" dirty="0"/>
          </a:p>
        </p:txBody>
      </p:sp>
      <p:sp>
        <p:nvSpPr>
          <p:cNvPr id="35" name="match-card"/>
          <p:cNvSpPr/>
          <p:nvPr/>
        </p:nvSpPr>
        <p:spPr>
          <a:xfrm>
            <a:off x="777240" y="5208016"/>
            <a:ext cx="3081437" cy="753872"/>
          </a:xfrm>
          <a:prstGeom prst="roundRect">
            <a:avLst>
              <a:gd name="adj" fmla="val 9704"/>
            </a:avLst>
          </a:prstGeom>
          <a:solidFill>
            <a:srgbClr val="F5F8F6"/>
          </a:solidFill>
          <a:ln/>
        </p:spPr>
      </p:sp>
      <p:sp>
        <p:nvSpPr>
          <p:cNvPr id="36" name="match-hex"/>
          <p:cNvSpPr/>
          <p:nvPr/>
        </p:nvSpPr>
        <p:spPr>
          <a:xfrm>
            <a:off x="850392" y="5418659"/>
            <a:ext cx="384048" cy="332586"/>
          </a:xfrm>
          <a:prstGeom prst="hexagon">
            <a:avLst/>
          </a:prstGeom>
          <a:solidFill>
            <a:srgbClr val="3F6B4A"/>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2487077"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Portugal</a:t>
            </a:r>
            <a:endParaRPr lang="en-US" sz="2200" dirty="0"/>
          </a:p>
        </p:txBody>
      </p:sp>
      <p:sp>
        <p:nvSpPr>
          <p:cNvPr id="39" name="match-card"/>
          <p:cNvSpPr/>
          <p:nvPr/>
        </p:nvSpPr>
        <p:spPr>
          <a:xfrm>
            <a:off x="4224437" y="5208016"/>
            <a:ext cx="7190019" cy="753872"/>
          </a:xfrm>
          <a:prstGeom prst="roundRect">
            <a:avLst>
              <a:gd name="adj" fmla="val 9704"/>
            </a:avLst>
          </a:prstGeom>
          <a:solidFill>
            <a:srgbClr val="F9F4EC"/>
          </a:solidFill>
          <a:ln/>
        </p:spPr>
      </p:sp>
      <p:sp>
        <p:nvSpPr>
          <p:cNvPr id="40" name="match-hex"/>
          <p:cNvSpPr/>
          <p:nvPr/>
        </p:nvSpPr>
        <p:spPr>
          <a:xfrm>
            <a:off x="4297589" y="5418659"/>
            <a:ext cx="384048" cy="332586"/>
          </a:xfrm>
          <a:prstGeom prst="hexagon">
            <a:avLst/>
          </a:prstGeom>
          <a:solidFill>
            <a:srgbClr val="B8862B"/>
          </a:solidFill>
          <a:ln/>
        </p:spPr>
      </p:sp>
      <p:sp>
        <p:nvSpPr>
          <p:cNvPr id="41" name="match-hex-label"/>
          <p:cNvSpPr txBox="1"/>
          <p:nvPr/>
        </p:nvSpPr>
        <p:spPr>
          <a:xfrm>
            <a:off x="4297589"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208016"/>
            <a:ext cx="6595659" cy="75387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Kenya, Nigeria, Ghana and South Africa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Who ruled where?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Who ruled where?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power that had just one colony on the list: Belgium.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France took most of West and North-West Africa. Which group of countries is in the north-west?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Britain's colonies are spread out, from West Africa to the far south.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pair of countries left over, on opposite coasts of southern Africa, were Portuguese.</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Belgium had one huge colony in the centre. France took the north-west. Portugal had two on the southern coasts. Britain had the rest on the list.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Using the languages spoken in these countries today, explain one way the colonial past is still visible.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Africa's story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the history of Africa in the correct order, earliest first.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Mali Empire and the Kingdom of Kongo grow rich on trade in ivory and gold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By 1914, European countries have colonised almost all of Africa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African countries win their independence in the twentieth century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earliest humans live in East Africa, in what is now Ethiopia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Ancient Egypt grows up along the River Nile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Africa's story in order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Africa's story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Humans had to exist before anything else could happen, so the earliest humans come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Ancient Egypt is one of the oldest civilisations in the world, so it comes next.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Mali Empire and the Kingdom of Kongo were trading long before Europeans took control.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Colonisation came before independence, because a country can only win independence after being ruled by someone else.</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People, then Egypt, then the trading empires, then European rule, then independence.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order matters: what does it tell you about the claim that Africa had no history before Europeans arrived?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Taking control of another country, settling people there and using its resources for your own benefit is called ___.</a:t>
            </a:r>
            <a:endParaRPr lang="en-US" sz="24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colonialism   ·   independence   ·   globalisation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Who ruled where?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Britain  →  D  Kenya, Nigeria, Ghana and South Africa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France  →  B  Algeria, Mali, Niger and Senegal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Belgium  →  C  The Democratic Republic of Congo</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Portugal  →  A  Angola and Mozambique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Britain ruled Kenya, Nigeria, Ghana and South Africa; France ruled Algeria, Mali, Niger and Senegal; Belgium ruled the Democratic Republic of Congo; Portugal ruled Angola and Mozambique.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Africa's story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earliest humans live in East Africa, in what is now Ethiopia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Ancient Egypt grows up along the River Nile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Mali Empire and the Kingdom of Kongo grow rich on trade in ivory and gold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By 1914, European countries have colonised almost all of Africa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African countries win their independence in the twentieth century  (C)</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earliest humans came first, then Ancient Egypt on the Nile, then the trading empires of Mali and Kongo, then European colonisation complete by 1914, and finally independence in the twentieth century.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Taking control of another country, settling people there and using its resources for your own benefit is called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Taking control of another country, settling people there and using its resources for your own benefit is called colonialism.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the lesson's definition of colonialism. Independence is its opposite; globalisation is the world becoming more connected.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6: The colonisation of Africa</dc:title>
  <dc:subject>Geography · Year 7</dc:subject>
  <dc:creator>Dr Vitor Merissi de Carvalho</dc:creator>
  <cp:lastModifiedBy>Dr Vitor Merissi de Carvalho</cp:lastModifiedBy>
  <cp:revision>1</cp:revision>
  <dcterms:created xsi:type="dcterms:W3CDTF">2026-10-19T16:22:43Z</dcterms:created>
  <dcterms:modified xsi:type="dcterms:W3CDTF">2026-10-19T16:22:43Z</dcterms:modified>
</cp:coreProperties>
</file>