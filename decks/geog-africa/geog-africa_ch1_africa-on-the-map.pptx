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b8893d8-2359-46db-132f-2b5f65cd65f3}">
          <p14:sldIdLst>
            <p14:sldId id="256"/>
          </p14:sldIdLst>
        </p14:section>
        <p14:section name="Gate" id="{74cef73c-4bc6-6c66-0963-6bbd4871ec98}">
          <p14:sldIdLst>
            <p14:sldId id="257"/>
            <p14:sldId id="258"/>
          </p14:sldIdLst>
        </p14:section>
        <p14:section name="Pre-teach" id="{7737cc4e-ddd8-5d1c-222c-ed33381a5d07}">
          <p14:sldIdLst>
            <p14:sldId id="259"/>
            <p14:sldId id="260"/>
          </p14:sldIdLst>
        </p14:section>
        <p14:section name="Read-along" id="{29c16037-ea2d-be0e-4715-ce30207d7a69}">
          <p14:sldIdLst>
            <p14:sldId id="261"/>
            <p14:sldId id="262"/>
          </p14:sldIdLst>
        </p14:section>
        <p14:section name="Teach" id="{a0de31b4-695d-2306-c69d-1340f9a204f4}">
          <p14:sldIdLst>
            <p14:sldId id="263"/>
            <p14:sldId id="264"/>
            <p14:sldId id="265"/>
            <p14:sldId id="266"/>
          </p14:sldIdLst>
        </p14:section>
        <p14:section name="Routes" id="{a433b63c-dd47-8d58-8fb8-e285233064b5}">
          <p14:sldIdLst>
            <p14:sldId id="267"/>
            <p14:sldId id="268"/>
            <p14:sldId id="269"/>
          </p14:sldIdLst>
        </p14:section>
        <p14:section name="Close" id="{e984a8ac-2430-b451-ac74-9c127fe07dee}">
          <p14:sldIdLst>
            <p14:sldId id="270"/>
          </p14:sldIdLst>
        </p14:section>
        <p14:section name="Answers" id="{2f3ca215-4845-180d-969c-64403ac5b5d2}">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Africa on the map: a continent, not a country. What geography is, where Africa sits among the seven continents, how it compares with them, and why your first ideas about Africa need testing against evidence.
This deck covers the department's lessons: 1 (Africa: continents, oceans and what geography is: What is geography, and where does Africa sit among the seven continents?); 2 (What are my perceptions of Africa?: What do I already think about Africa, and does the evidence in the photographs support it?).
Read the big question aloud: "What is Africa really like, and how have its physical geography, its people and its history shaped the continent today?"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the correct description of Africa?  →  C   A continent made up of many countries
2. Physical geography is the study of ___ features such as mountains, rivers and weather.  →  natural
3. Which continent is the only one bigger than Africa?  →  A   Asia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continent made up of many countries. Africa is one of the seven continents. It contains more than fifty separate countries, each with its own government, flag and capital.
2. natural. Physical geography is about natural features and events: landforms, water and weather. People belong to human geography.
3. A   Asia. Asia is 43.8 million km² and Africa 30.2 million km². Every other continent is smaller than Africa.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continent: one of the world's seven very large areas of land. Example: "Africa is a continent with more than fifty countries in it."
• ocean: one of the huge areas of salt water between the continents. Example: "The Atlantic Ocean lies to the west of Africa."
• human geography: the study of where and how people live. Example: "Cities, farms and roads are part of human geography."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physical geography: the study of natural features and events, such as mountains, rivers and weather. Example: "A volcano is part of physical geography."
• perception: what you believe a place is like before you check the evidence. Example: "My perception of Africa changed when I saw the photographs."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Geography is the study of the world we live in.
2. It looks at landscapes, people, places and environments.
3. Physical geography is about natural features, like mountains, rivers and weather.
4. Human geography is about where and how people live.
5. Environmental geography links the two, for example pollution.
6. The world has seven continents.
7. Africa is one of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Africa is a continent, not a country.
9. It has more than fifty countries inside it.
10. Only Asia is bigger than Africa.
11. Many people have fixed ideas about Africa.
12. Photographs show cities, railways, schools and stadiums as well as villages.
13. A good geographer checks ideas against evidence.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geography?. Say it in your own words, then check understanding with a quick question: ask a pupil from the pre-teach group first, since they met these words and ideas before the lesson. Pupils try to recall before you re-explain.
Geography is the subject that studies the Earth and everything on it: the landscapes, the peoples, the places and the environments they share. The definition your teacher asked you to copy into your book puts it more simply still: geography is the study of the world we live in. A geographer is someone who tries to make sense of that world, asking where things are, why they are there and how they are changing.
There are three main types of geography. Physical geography is about natural features and events, including landforms such as mountains and rivers, and the weather. Human geography is about where and how people live: their towns, farms, jobs and journeys. Environmental geography is where the two meet: how people and the natural world affect each other, including problems such as pollution.
This unit uses all three. You will map Africa's rivers and deserts (physical), find out where its people live (human), and ask how mining for mobile phones affects forests and gorillas in the Congo (environmental).
Tip: If a question says physical, think natural: land, water and weather. If it says human, think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Seven continents and the oceans around them. Say it in your own words, then check understanding with a quick question: ask a pupil from the pre-teach group first, since they met these words and ideas before the lesson. Pupils try to recall before you re-explain.
The land of the Earth is divided into seven continents: Asia, Africa, North America, South America, Antarctica, Europe and Australasia (also called Oceania). Between and around them lie the oceans. The map in your first lesson labels four of them: the Atlantic, Pacific, Indian and Southern Oceans. Africa has the Atlantic Ocean to its west and the Indian Ocean to its east, with the Mediterranean Sea to the north.
The continents are very different in size. In area, Asia is the biggest at 43.8 million km², then Africa at 30.2 million km², North America at 24.5 million km², South America at 17.8 million km², Antarctica at 14 million km², Europe at 10.1 million km² and Oceania at 9 million km². Africa is the second largest continent on Earth, and only Asia is bigger.
Africa also has more countries than any other continent: 53 in the lesson's table, against 48 in Asia and 46 in Europe. Its population in the table is 830 million, second only to Asia's 3,780 million and ahead of Europe's 730 million. These figures come from your department's resource and are rounded; the exact numbers change as populations grow and as new countries are recognised.
Worked example — model it step by step, thinking aloud: Put Europe, Africa and North America in order of area, biggest first. (1) Find the three areas in the table: Europe 10.1 million km², Africa 30.2 million km², North America 24.5 million km². (2) Compare the whole numbers first: 30 is bigger than 24, which is bigger than 10. (3) Write the order with the biggest first: Africa, North America, Europe. (4) Check: Africa is 30.2 − 24.5 = 5.7 million km² bigger than North America, so the order is right. Answer: Africa (30.2 million km²), North America (24.5 million km²), Europe (10.1 million km²)..
Tip: Ranking means putting things in order. Always say which way: biggest first or smallest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Seven continents and the oceans around them. Say it in your own words, then check understanding with a quick question: ask a pupil from the pre-teach group first, since they met these words and ideas before the lesson. Pupils try to recall before you re-explain.
The land of the Earth is divided into seven continents: Asia, Africa, North America, South America, Antarctica, Europe and Australasia (also called Oceania). Between and around them lie the oceans. The map in your first lesson labels four of them: the Atlantic, Pacific, Indian and Southern Oceans. Africa has the Atlantic Ocean to its west and the Indian Ocean to its east, with the Mediterranean Sea to the north.
The continents are very different in size. In area, Asia is the biggest at 43.8 million km², then Africa at 30.2 million km², North America at 24.5 million km², South America at 17.8 million km², Antarctica at 14 million km², Europe at 10.1 million km² and Oceania at 9 million km². Africa is the second largest continent on Earth, and only Asia is bigger.
Africa also has more countries than any other continent: 53 in the lesson's table, against 48 in Asia and 46 in Europe. Its population in the table is 830 million, second only to Asia's 3,780 million and ahead of Europe's 730 million. These figures come from your department's resource and are rounded; the exact numbers change as populations grow and as new countries are recognised.
Worked example — model it step by step, thinking aloud: Put Europe, Africa and North America in order of area, biggest first. (1) Find the three areas in the table: Europe 10.1 million km², Africa 30.2 million km², North America 24.5 million km². (2) Compare the whole numbers first: 30 is bigger than 24, which is bigger than 10. (3) Write the order with the biggest first: Africa, North America, Europe. (4) Check: Africa is 30.2 − 24.5 = 5.7 million km² bigger than North America, so the order is right. Answer: Africa (30.2 million km²), North America (24.5 million km²), Europe (10.1 million km²)..
Tip: Ranking means putting things in order. Always say which way: biggest first or smallest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Africa is a continent, not a country. Say it in your own words, then check understanding with a quick question: ask a pupil from the pre-teach group first, since they met these words and ideas before the lesson. Pupils try to recall before you re-explain.
Many people talk about Africa as if it were one place with one kind of landscape and one way of life. It is not. Africa is a continent of more than fifty countries, from Egypt and Morocco in the north to South Africa in the south, and the differences between them are as big as the differences between countries in Europe.
In your perceptions lesson you saw fifteen photographs and had to decide whether each was taken in Africa or not. Twelve were: lorry drivers in Sudan, teenage girls in South Africa, a modern electric railway in Morocco, a classroom in a school in Nigeria, a football stadium in Ghana, the skyscrapers of Victoria Island in Lagos, primary school children in Kenya, straw houses in northern Nigeria, a red carpet at an airport in Malawi, a modern city building in Equatorial Guinea and Zuma Rock near Abuja in Nigeria. Three were not: a market in Brixton in London, Sheedi men in Pakistan and a man in Maasai dress working at a wildlife park in California.
The point of the task is that your perception, what you expect Africa to look like, is not the same as the evidence. Cities, railways, airports and stadiums are as much a part of Africa as villages and wildlife. A geographer uses evidence, such as clues in a photograph, to test ideas rather than simply believing them.
Tip: If you catch yourself writing Africa when you mean one country, stop and name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kinds of geography.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geography, and the word continent, to its meaning.
Support — work through the steps with the group: (1) Start with the word human. Human means people, so human geography is about people. (2) Physical means to do with the natural world: land, water and weather. (3) Environmental geography is the one that joins the other two together. (4) The word left over is continent: it is a place, not a type of geography.
Parallel worked example for Support (model it, do not give the task answer): Match: weather, landscape. Choices: the shape and look of an area of land; the conditions in the air today, such as rain or sun. Weather is what the air is doing today: rain, sun, wind.; Landscape is the shape and look of the land.. Answer: Weather: the conditions in the air today. Landscape: the shape and look of an area of land..
Core — reveal the hint only on request: One is about people, one about nature, one joins the two, and one is a place.
Stretch — no help; when finished: Give one example from Africa for each of the three types of geography, and say which type a photograph of a flooded city would belong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kinds of geography.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geography, and the word continent, to its meaning.
Support — work through the steps with the group: (1) Start with the word human. Human means people, so human geography is about people. (2) Physical means to do with the natural world: land, water and weather. (3) Environmental geography is the one that joins the other two together. (4) The word left over is continent: it is a place, not a type of geography.
Parallel worked example for Support (model it, do not give the task answer): Match: weather, landscape. Choices: the shape and look of an area of land; the conditions in the air today, such as rain or sun. Weather is what the air is doing today: rain, sun, wind.; Landscape is the shape and look of the land.. Answer: Weather: the conditions in the air today. Landscape: the shape and look of an area of land..
Core — reveal the hint only on request: One is about people, one about nature, one joins the two, and one is a place.
Stretch — no help; when finished: Give one example from Africa for each of the three types of geography, and say which type a photograph of a flooded city would belong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bigger is Asia?.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Asia has an area of 43.8 million km² and Africa has an area of 30.2 million km². How many million km² bigger is Asia than Africa?
Support — work through the steps with the group: (1) Write the bigger number on top: 43.8. (2) Write the smaller number underneath, lining up the decimal points: 30.2. (3) Subtract the whole numbers: 43 − 30 = 13. Subtract the decimals: 0.8 − 0.2 = 0.6. (4) Put them together: 13.6 million km².
Parallel worked example for Support (model it, do not give the task answer): North America is 24.5 million km² and South America is 17.8 million km². How many million km² bigger is North America? Bigger by how much means subtract.; 24.5 − 17.8: take away 17 to get 7.5, then take away 0.8 to get 6.7.. Answer: 6.7 million km².
Core — reveal the hint only on request: How much bigger means find the difference. Line up the decimal points before you subtract.
Stretch — no help; when finished: Africa is 30.2 million km² and Europe is 10.1 million km². About how many times bigger than Europe is Africa? Explain how you worked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the correct description of Africa?
Answer: B   A continent made up of many countries. Africa is one of the seven continents. It contains more than fifty separate countries, each with its own government, flag and capital.
Source of this question: gate item 1 re-asked (options rotated) — this chapter has no third quick-check module.
The ebook also holds task 3, "Perception against evidence",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kinds of geography. Reveal the answer; pupils mark their own work in a different colour, then read the "why" together. Same destination for every lane, so one answer serves the whole class.
Answer: Human geography  →  B  Where and how people live; Physical geography  →  A  Natural features and events, including landforms and weather; Environmental geography  →  C  Human and physical geography linked together, including pollution; Continent  →  D  One of the world's seven very large areas of land
Why: Human geography is where and how people live; physical geography is natural features and events; environmental geography links the two, for example pollution. A continent is one of the seven great land areas.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much bigger is Asia?. Reveal the answer; pupils mark their own work in a different colour, then read the "why" together. Same destination for every lane, so one answer serves the whole class.
Answer: 13.6 million km²
Why: The difference between two sizes is found by subtraction. 43.8 − 30.2 = 13.6, so Asia is 13.6 million km² bigger than Africa.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continent made up of many countries
Why: Africa is one of the seven continents. It contains more than fifty separate countries, each with its own government, flag and capital.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Africa: A Continent, Not a Country · AQA KS3 → 8035</a:t>
            </a:r>
            <a:endParaRPr lang="en-US" sz="1800" dirty="0"/>
          </a:p>
        </p:txBody>
      </p:sp>
      <p:sp>
        <p:nvSpPr>
          <p:cNvPr id="10" name="deck-title"/>
          <p:cNvSpPr txBox="1"/>
          <p:nvPr/>
        </p:nvSpPr>
        <p:spPr>
          <a:xfrm>
            <a:off x="548640" y="213029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Africa on the map: a continent, not a country</a:t>
            </a:r>
            <a:endParaRPr lang="en-US" sz="3600" dirty="0"/>
          </a:p>
        </p:txBody>
      </p:sp>
      <p:sp>
        <p:nvSpPr>
          <p:cNvPr id="11" name="lessons-card"/>
          <p:cNvSpPr/>
          <p:nvPr/>
        </p:nvSpPr>
        <p:spPr>
          <a:xfrm>
            <a:off x="548640" y="3674618"/>
            <a:ext cx="5287975" cy="1638300"/>
          </a:xfrm>
          <a:prstGeom prst="roundRect">
            <a:avLst>
              <a:gd name="adj" fmla="val 4465"/>
            </a:avLst>
          </a:prstGeom>
          <a:solidFill>
            <a:srgbClr val="F2F5F2"/>
          </a:solidFill>
          <a:ln/>
        </p:spPr>
      </p:sp>
      <p:sp>
        <p:nvSpPr>
          <p:cNvPr id="12" name="lessons"/>
          <p:cNvSpPr txBox="1"/>
          <p:nvPr/>
        </p:nvSpPr>
        <p:spPr>
          <a:xfrm>
            <a:off x="685800" y="376605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Africa: continents, oceans and what geography is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are my perceptions of Africa?</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Africa really like, and how have its physical geography, its people and its history shaped the continent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the correct description of Africa?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single large country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An ocean to the south of Europe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continent made up of many countries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city in Nigeria</a:t>
            </a:r>
            <a:endParaRPr lang="en-US" sz="22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Physical geography is the study of ___ features such as mountains, rivers and weather.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natural  ·  human  ·  political</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continent is the only one bigger than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Asia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North America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Europe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Antarctica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continent made up of many countries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the correct description of Africa?</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Africa is one of the seven continents. It contains more than fifty separate countries, each with its own government, flag and capital.</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natural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Physical geography is the study of ___ features such as mountains, rivers and weather.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Physical geography is about natural features and events: landforms, water and weather. People belong to human geography.</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Asia</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continent is the only one bigger than Africa?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Asia is 43.8 million km² and Africa 30.2 million km². Every other continent is smaller than Africa.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continent</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world's seven very large areas of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Africa is a continent with more than fifty countries in 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ocean</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huge areas of salt water between the continents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Atlantic Ocean lies to the west of Africa.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human geography</a:t>
            </a:r>
            <a:endParaRPr lang="en-US" sz="2600" dirty="0"/>
          </a:p>
        </p:txBody>
      </p:sp>
      <p:sp>
        <p:nvSpPr>
          <p:cNvPr id="23" name="word-rule"/>
          <p:cNvSpPr/>
          <p:nvPr/>
        </p:nvSpPr>
        <p:spPr>
          <a:xfrm>
            <a:off x="8310677" y="2558288"/>
            <a:ext cx="3149498" cy="0"/>
          </a:xfrm>
          <a:prstGeom prst="line">
            <a:avLst/>
          </a:prstGeom>
          <a:ln w="12700">
            <a:solidFill>
              <a:srgbClr val="B8C8B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study of where and how people live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Cities, farms and roads are part of human geography.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physical geography</a:t>
            </a:r>
            <a:endParaRPr lang="en-US" sz="2600" dirty="0"/>
          </a:p>
        </p:txBody>
      </p:sp>
      <p:sp>
        <p:nvSpPr>
          <p:cNvPr id="11" name="word-rule"/>
          <p:cNvSpPr/>
          <p:nvPr/>
        </p:nvSpPr>
        <p:spPr>
          <a:xfrm>
            <a:off x="731520" y="2129028"/>
            <a:ext cx="5044288" cy="0"/>
          </a:xfrm>
          <a:prstGeom prst="line">
            <a:avLst/>
          </a:prstGeom>
          <a:ln w="12700">
            <a:solidFill>
              <a:srgbClr val="B8C8B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study of natural features and events, such as mountains, rivers and weather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volcano is part of physical geography.</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8F6"/>
          </a:solidFill>
          <a:ln w="12700">
            <a:solidFill>
              <a:srgbClr val="B8C8B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perception</a:t>
            </a:r>
            <a:endParaRPr lang="en-US" sz="2600" dirty="0"/>
          </a:p>
        </p:txBody>
      </p:sp>
      <p:sp>
        <p:nvSpPr>
          <p:cNvPr id="17" name="word-rule"/>
          <p:cNvSpPr/>
          <p:nvPr/>
        </p:nvSpPr>
        <p:spPr>
          <a:xfrm>
            <a:off x="6415888" y="2129028"/>
            <a:ext cx="5044288" cy="0"/>
          </a:xfrm>
          <a:prstGeom prst="line">
            <a:avLst/>
          </a:prstGeom>
          <a:ln w="12700">
            <a:solidFill>
              <a:srgbClr val="B8C8B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you believe a place is like before you check the evidence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My perception of Africa changed when I saw the photographs.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Geography is the study of the world we live 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looks at landscapes, people, places and environments.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Physical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about natural features, like mountains, rivers and weather.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Human geography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about where and how people live.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Environmental geography links the two, for example pollution.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world has seven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continents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Africa is one of them.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Africa is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continent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not a country.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has more than fifty countries inside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Only Asia is bigger than Africa.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people have fixed ideas about Africa.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Photographs show cities, railways, schools and stadiums as well as villages.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good geographer checks ideas against evidence.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geography?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says physical, think natural: land, water and weather. If it says human, think people.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Geography is the subject that studies the Earth and everything on it: the landscapes, the peoples, the places and the environments they share.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are three main types of geography. Physical geography is about natural features and events, including landforms such as mountains and rivers, and the weather.</a:t>
            </a:r>
            <a:endParaRPr lang="en-US" sz="18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This unit uses all three. You will map Africa's rivers and deserts (physical), find out where its people live (human), and ask how mining for mobile phones affects forests and gorillas in the Congo (environmental).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Seven continents and the oceans around them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Ranking means putting things in order. Always say which way: biggest first or smallest first.</a:t>
            </a:r>
            <a:endParaRPr lang="en-US" sz="1800" dirty="0"/>
          </a:p>
        </p:txBody>
      </p:sp>
      <p:sp>
        <p:nvSpPr>
          <p:cNvPr id="11" name="bullet-card"/>
          <p:cNvSpPr/>
          <p:nvPr/>
        </p:nvSpPr>
        <p:spPr>
          <a:xfrm>
            <a:off x="548640" y="1389888"/>
            <a:ext cx="11094415" cy="996865"/>
          </a:xfrm>
          <a:prstGeom prst="roundRect">
            <a:avLst>
              <a:gd name="adj" fmla="val 7338"/>
            </a:avLst>
          </a:prstGeom>
          <a:solidFill>
            <a:srgbClr val="F5F8F6"/>
          </a:solidFill>
          <a:ln/>
        </p:spPr>
      </p:sp>
      <p:sp>
        <p:nvSpPr>
          <p:cNvPr id="12" name="bullet-hex"/>
          <p:cNvSpPr/>
          <p:nvPr/>
        </p:nvSpPr>
        <p:spPr>
          <a:xfrm>
            <a:off x="676656" y="1722028"/>
            <a:ext cx="384048" cy="332586"/>
          </a:xfrm>
          <a:prstGeom prst="hexagon">
            <a:avLst/>
          </a:prstGeom>
          <a:solidFill>
            <a:srgbClr val="3F6B4A"/>
          </a:solidFill>
          <a:ln/>
        </p:spPr>
      </p:sp>
      <p:sp>
        <p:nvSpPr>
          <p:cNvPr id="13" name="bullet"/>
          <p:cNvSpPr txBox="1"/>
          <p:nvPr/>
        </p:nvSpPr>
        <p:spPr>
          <a:xfrm>
            <a:off x="1143000" y="1389888"/>
            <a:ext cx="10408615" cy="9968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land of the Earth is divided into seven continents: Asia, Africa, North America, South America, Antarctica, Europe and Australasia (also called Oceania).</a:t>
            </a:r>
            <a:endParaRPr lang="en-US" sz="2200" dirty="0"/>
          </a:p>
        </p:txBody>
      </p:sp>
      <p:sp>
        <p:nvSpPr>
          <p:cNvPr id="14" name="bullet-card"/>
          <p:cNvSpPr/>
          <p:nvPr/>
        </p:nvSpPr>
        <p:spPr>
          <a:xfrm>
            <a:off x="548640" y="2533057"/>
            <a:ext cx="11094415" cy="1678601"/>
          </a:xfrm>
          <a:prstGeom prst="roundRect">
            <a:avLst>
              <a:gd name="adj" fmla="val 4358"/>
            </a:avLst>
          </a:prstGeom>
          <a:solidFill>
            <a:srgbClr val="F5F8F6"/>
          </a:solidFill>
          <a:ln/>
        </p:spPr>
      </p:sp>
      <p:sp>
        <p:nvSpPr>
          <p:cNvPr id="15" name="bullet-hex"/>
          <p:cNvSpPr/>
          <p:nvPr/>
        </p:nvSpPr>
        <p:spPr>
          <a:xfrm>
            <a:off x="676656" y="3206065"/>
            <a:ext cx="384048" cy="332586"/>
          </a:xfrm>
          <a:prstGeom prst="hexagon">
            <a:avLst/>
          </a:prstGeom>
          <a:solidFill>
            <a:srgbClr val="B8862B"/>
          </a:solidFill>
          <a:ln/>
        </p:spPr>
      </p:sp>
      <p:sp>
        <p:nvSpPr>
          <p:cNvPr id="16" name="bullet"/>
          <p:cNvSpPr txBox="1"/>
          <p:nvPr/>
        </p:nvSpPr>
        <p:spPr>
          <a:xfrm>
            <a:off x="1143000" y="2533057"/>
            <a:ext cx="10408615" cy="16786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continents are very different in size. In area, Asia is the biggest at 43.8 million km², then Africa at 30.2 million km², North America at 24.5 million km², South America at 17.8 million km², Antarctica at 14 million km², Europe at 10.1 million km² and Oceania at 9 million km².</a:t>
            </a:r>
            <a:endParaRPr lang="en-US" sz="2200" dirty="0"/>
          </a:p>
        </p:txBody>
      </p:sp>
      <p:sp>
        <p:nvSpPr>
          <p:cNvPr id="17" name="bullet-card"/>
          <p:cNvSpPr/>
          <p:nvPr/>
        </p:nvSpPr>
        <p:spPr>
          <a:xfrm>
            <a:off x="548640" y="4357963"/>
            <a:ext cx="11094415" cy="996865"/>
          </a:xfrm>
          <a:prstGeom prst="roundRect">
            <a:avLst>
              <a:gd name="adj" fmla="val 7338"/>
            </a:avLst>
          </a:prstGeom>
          <a:solidFill>
            <a:srgbClr val="F5F8F6"/>
          </a:solidFill>
          <a:ln/>
        </p:spPr>
      </p:sp>
      <p:sp>
        <p:nvSpPr>
          <p:cNvPr id="18" name="bullet-hex"/>
          <p:cNvSpPr/>
          <p:nvPr/>
        </p:nvSpPr>
        <p:spPr>
          <a:xfrm>
            <a:off x="676656" y="4690103"/>
            <a:ext cx="384048" cy="332586"/>
          </a:xfrm>
          <a:prstGeom prst="hexagon">
            <a:avLst/>
          </a:prstGeom>
          <a:solidFill>
            <a:srgbClr val="3F6B4A"/>
          </a:solidFill>
          <a:ln/>
        </p:spPr>
      </p:sp>
      <p:sp>
        <p:nvSpPr>
          <p:cNvPr id="19" name="bullet"/>
          <p:cNvSpPr txBox="1"/>
          <p:nvPr/>
        </p:nvSpPr>
        <p:spPr>
          <a:xfrm>
            <a:off x="1143000" y="4357963"/>
            <a:ext cx="10408615" cy="9968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Africa also has more countries than any other continent: 53 in the lesson's table, against 48 in Asia and 46 in Europe.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Seven continents and the oceans around them</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F5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Put Europe, Africa and North America in order of area, biggest first.</a:t>
            </a:r>
            <a:endParaRPr lang="en-US" sz="2200" dirty="0"/>
          </a:p>
        </p:txBody>
      </p:sp>
      <p:sp>
        <p:nvSpPr>
          <p:cNvPr id="9" name="step-box"/>
          <p:cNvSpPr/>
          <p:nvPr/>
        </p:nvSpPr>
        <p:spPr>
          <a:xfrm>
            <a:off x="548640" y="2314956"/>
            <a:ext cx="2464994" cy="2531872"/>
          </a:xfrm>
          <a:prstGeom prst="roundRect">
            <a:avLst>
              <a:gd name="adj" fmla="val 2968"/>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three areas in the table: Europe 10.1 million km², Africa 30.2 million km², North America 24.5 million km².</a:t>
            </a:r>
            <a:endParaRPr lang="en-US" sz="1800" dirty="0"/>
          </a:p>
        </p:txBody>
      </p:sp>
      <p:sp>
        <p:nvSpPr>
          <p:cNvPr id="13" name="arrow"/>
          <p:cNvSpPr/>
          <p:nvPr/>
        </p:nvSpPr>
        <p:spPr>
          <a:xfrm>
            <a:off x="3086786" y="3443732"/>
            <a:ext cx="274320" cy="274320"/>
          </a:xfrm>
          <a:prstGeom prst="rightArrow">
            <a:avLst/>
          </a:prstGeom>
          <a:solidFill>
            <a:srgbClr val="B8862B"/>
          </a:solidFill>
          <a:ln/>
        </p:spPr>
      </p:sp>
      <p:sp>
        <p:nvSpPr>
          <p:cNvPr id="14" name="step-box"/>
          <p:cNvSpPr/>
          <p:nvPr/>
        </p:nvSpPr>
        <p:spPr>
          <a:xfrm>
            <a:off x="3425114" y="2314956"/>
            <a:ext cx="2464994" cy="2531872"/>
          </a:xfrm>
          <a:prstGeom prst="roundRect">
            <a:avLst>
              <a:gd name="adj" fmla="val 2968"/>
            </a:avLst>
          </a:prstGeom>
          <a:solidFill>
            <a:srgbClr val="FFFFFF"/>
          </a:solidFill>
          <a:ln w="15875">
            <a:solidFill>
              <a:srgbClr val="95AE9B"/>
            </a:solidFill>
            <a:prstDash val="solid"/>
          </a:ln>
        </p:spPr>
      </p:sp>
      <p:sp>
        <p:nvSpPr>
          <p:cNvPr id="15" name="step-hex"/>
          <p:cNvSpPr/>
          <p:nvPr/>
        </p:nvSpPr>
        <p:spPr>
          <a:xfrm>
            <a:off x="3562274" y="2424684"/>
            <a:ext cx="530352" cy="459285"/>
          </a:xfrm>
          <a:prstGeom prst="hexagon">
            <a:avLst/>
          </a:prstGeom>
          <a:solidFill>
            <a:srgbClr val="3F6B4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the whole numbers first: 30 is bigger than 24, which is bigger than 10.</a:t>
            </a:r>
            <a:endParaRPr lang="en-US" sz="1800" dirty="0"/>
          </a:p>
        </p:txBody>
      </p:sp>
      <p:sp>
        <p:nvSpPr>
          <p:cNvPr id="18" name="arrow"/>
          <p:cNvSpPr/>
          <p:nvPr/>
        </p:nvSpPr>
        <p:spPr>
          <a:xfrm>
            <a:off x="5963260" y="3443732"/>
            <a:ext cx="274320" cy="274320"/>
          </a:xfrm>
          <a:prstGeom prst="rightArrow">
            <a:avLst/>
          </a:prstGeom>
          <a:solidFill>
            <a:srgbClr val="B8862B"/>
          </a:solidFill>
          <a:ln/>
        </p:spPr>
      </p:sp>
      <p:sp>
        <p:nvSpPr>
          <p:cNvPr id="19" name="step-box"/>
          <p:cNvSpPr/>
          <p:nvPr/>
        </p:nvSpPr>
        <p:spPr>
          <a:xfrm>
            <a:off x="6301588" y="2314956"/>
            <a:ext cx="2464994" cy="2531872"/>
          </a:xfrm>
          <a:prstGeom prst="roundRect">
            <a:avLst>
              <a:gd name="adj" fmla="val 2968"/>
            </a:avLst>
          </a:prstGeom>
          <a:solidFill>
            <a:srgbClr val="FFFFFF"/>
          </a:solidFill>
          <a:ln w="15875">
            <a:solidFill>
              <a:srgbClr val="95AE9B"/>
            </a:solidFill>
            <a:prstDash val="solid"/>
          </a:ln>
        </p:spPr>
      </p:sp>
      <p:sp>
        <p:nvSpPr>
          <p:cNvPr id="20" name="step-hex"/>
          <p:cNvSpPr/>
          <p:nvPr/>
        </p:nvSpPr>
        <p:spPr>
          <a:xfrm>
            <a:off x="6438748" y="2424684"/>
            <a:ext cx="530352" cy="459285"/>
          </a:xfrm>
          <a:prstGeom prst="hexagon">
            <a:avLst/>
          </a:prstGeom>
          <a:solidFill>
            <a:srgbClr val="3F6B4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order with the biggest first: Africa, North America, Europe.</a:t>
            </a:r>
            <a:endParaRPr lang="en-US" sz="1800" dirty="0"/>
          </a:p>
        </p:txBody>
      </p:sp>
      <p:sp>
        <p:nvSpPr>
          <p:cNvPr id="23" name="arrow"/>
          <p:cNvSpPr/>
          <p:nvPr/>
        </p:nvSpPr>
        <p:spPr>
          <a:xfrm>
            <a:off x="8839733" y="3443732"/>
            <a:ext cx="274320" cy="274320"/>
          </a:xfrm>
          <a:prstGeom prst="rightArrow">
            <a:avLst/>
          </a:prstGeom>
          <a:solidFill>
            <a:srgbClr val="B8862B"/>
          </a:solidFill>
          <a:ln/>
        </p:spPr>
      </p:sp>
      <p:sp>
        <p:nvSpPr>
          <p:cNvPr id="24" name="step-box"/>
          <p:cNvSpPr/>
          <p:nvPr/>
        </p:nvSpPr>
        <p:spPr>
          <a:xfrm>
            <a:off x="9178061" y="2314956"/>
            <a:ext cx="2464994" cy="2531872"/>
          </a:xfrm>
          <a:prstGeom prst="roundRect">
            <a:avLst>
              <a:gd name="adj" fmla="val 2968"/>
            </a:avLst>
          </a:prstGeom>
          <a:solidFill>
            <a:srgbClr val="FFFFFF"/>
          </a:solidFill>
          <a:ln w="15875">
            <a:solidFill>
              <a:srgbClr val="95AE9B"/>
            </a:solidFill>
            <a:prstDash val="solid"/>
          </a:ln>
        </p:spPr>
      </p:sp>
      <p:sp>
        <p:nvSpPr>
          <p:cNvPr id="25" name="step-hex"/>
          <p:cNvSpPr/>
          <p:nvPr/>
        </p:nvSpPr>
        <p:spPr>
          <a:xfrm>
            <a:off x="9315221" y="2424684"/>
            <a:ext cx="530352" cy="459285"/>
          </a:xfrm>
          <a:prstGeom prst="hexagon">
            <a:avLst/>
          </a:prstGeom>
          <a:solidFill>
            <a:srgbClr val="3F6B4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Africa is 30.2 − 24.5 = 5.7 million km² bigger than North America, so the order is right.</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Africa (30.2 million km²), North America (24.5 million km²), Europe (10.1 million km²).</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Africa is a continent, not a country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catch yourself writing Africa when you mean one country, stop and name the country.</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Many people talk about Africa as if it were one place with one kind of landscape and one way of life.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your perceptions lesson you saw fifteen photographs and had to decide whether each was taken in Africa or not.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point of the task is that your perception, what you expect Africa to look like, is not the same as the evidence.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Three kinds of geography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type of geography, and the word continent, to its meaning.</a:t>
            </a:r>
            <a:endParaRPr lang="en-US" sz="2000" dirty="0"/>
          </a:p>
        </p:txBody>
      </p:sp>
      <p:sp>
        <p:nvSpPr>
          <p:cNvPr id="11" name="match-card"/>
          <p:cNvSpPr/>
          <p:nvPr/>
        </p:nvSpPr>
        <p:spPr>
          <a:xfrm>
            <a:off x="777240" y="2468331"/>
            <a:ext cx="3081437" cy="975243"/>
          </a:xfrm>
          <a:prstGeom prst="roundRect">
            <a:avLst>
              <a:gd name="adj" fmla="val 7501"/>
            </a:avLst>
          </a:prstGeom>
          <a:solidFill>
            <a:srgbClr val="F5F8F6"/>
          </a:solidFill>
          <a:ln/>
        </p:spPr>
      </p:sp>
      <p:sp>
        <p:nvSpPr>
          <p:cNvPr id="12" name="match-hex"/>
          <p:cNvSpPr/>
          <p:nvPr/>
        </p:nvSpPr>
        <p:spPr>
          <a:xfrm>
            <a:off x="850392" y="2789660"/>
            <a:ext cx="384048" cy="332586"/>
          </a:xfrm>
          <a:prstGeom prst="hexagon">
            <a:avLst/>
          </a:prstGeom>
          <a:solidFill>
            <a:srgbClr val="3F6B4A"/>
          </a:solidFill>
          <a:ln/>
        </p:spPr>
      </p:sp>
      <p:sp>
        <p:nvSpPr>
          <p:cNvPr id="13" name="match-hex-label"/>
          <p:cNvSpPr txBox="1"/>
          <p:nvPr/>
        </p:nvSpPr>
        <p:spPr>
          <a:xfrm>
            <a:off x="850392"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Human geography</a:t>
            </a:r>
            <a:endParaRPr lang="en-US" sz="2200" dirty="0"/>
          </a:p>
        </p:txBody>
      </p:sp>
      <p:sp>
        <p:nvSpPr>
          <p:cNvPr id="15" name="match-card"/>
          <p:cNvSpPr/>
          <p:nvPr/>
        </p:nvSpPr>
        <p:spPr>
          <a:xfrm>
            <a:off x="4224437" y="2468331"/>
            <a:ext cx="7190019" cy="975243"/>
          </a:xfrm>
          <a:prstGeom prst="roundRect">
            <a:avLst>
              <a:gd name="adj" fmla="val 7501"/>
            </a:avLst>
          </a:prstGeom>
          <a:solidFill>
            <a:srgbClr val="F9F4EC"/>
          </a:solidFill>
          <a:ln/>
        </p:spPr>
      </p:sp>
      <p:sp>
        <p:nvSpPr>
          <p:cNvPr id="16" name="match-hex"/>
          <p:cNvSpPr/>
          <p:nvPr/>
        </p:nvSpPr>
        <p:spPr>
          <a:xfrm>
            <a:off x="4297589" y="2789660"/>
            <a:ext cx="384048" cy="332586"/>
          </a:xfrm>
          <a:prstGeom prst="hexagon">
            <a:avLst/>
          </a:prstGeom>
          <a:solidFill>
            <a:srgbClr val="B8862B"/>
          </a:solidFill>
          <a:ln/>
        </p:spPr>
      </p:sp>
      <p:sp>
        <p:nvSpPr>
          <p:cNvPr id="17" name="match-hex-label"/>
          <p:cNvSpPr txBox="1"/>
          <p:nvPr/>
        </p:nvSpPr>
        <p:spPr>
          <a:xfrm>
            <a:off x="4297589"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Natural features and events, including landforms and weather</a:t>
            </a:r>
            <a:endParaRPr lang="en-US" sz="2200" dirty="0"/>
          </a:p>
        </p:txBody>
      </p:sp>
      <p:sp>
        <p:nvSpPr>
          <p:cNvPr id="19" name="match-card"/>
          <p:cNvSpPr/>
          <p:nvPr/>
        </p:nvSpPr>
        <p:spPr>
          <a:xfrm>
            <a:off x="777240" y="3535015"/>
            <a:ext cx="3081437" cy="634375"/>
          </a:xfrm>
          <a:prstGeom prst="roundRect">
            <a:avLst>
              <a:gd name="adj" fmla="val 11531"/>
            </a:avLst>
          </a:prstGeom>
          <a:solidFill>
            <a:srgbClr val="F5F8F6"/>
          </a:solidFill>
          <a:ln/>
        </p:spPr>
      </p:sp>
      <p:sp>
        <p:nvSpPr>
          <p:cNvPr id="20" name="match-hex"/>
          <p:cNvSpPr/>
          <p:nvPr/>
        </p:nvSpPr>
        <p:spPr>
          <a:xfrm>
            <a:off x="850392" y="3685909"/>
            <a:ext cx="384048" cy="332586"/>
          </a:xfrm>
          <a:prstGeom prst="hexagon">
            <a:avLst/>
          </a:prstGeom>
          <a:solidFill>
            <a:srgbClr val="3F6B4A"/>
          </a:solidFill>
          <a:ln/>
        </p:spPr>
      </p:sp>
      <p:sp>
        <p:nvSpPr>
          <p:cNvPr id="21" name="match-hex-label"/>
          <p:cNvSpPr txBox="1"/>
          <p:nvPr/>
        </p:nvSpPr>
        <p:spPr>
          <a:xfrm>
            <a:off x="850392" y="36859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35015"/>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Physical geography</a:t>
            </a:r>
            <a:endParaRPr lang="en-US" sz="2200" dirty="0"/>
          </a:p>
        </p:txBody>
      </p:sp>
      <p:sp>
        <p:nvSpPr>
          <p:cNvPr id="23" name="match-card"/>
          <p:cNvSpPr/>
          <p:nvPr/>
        </p:nvSpPr>
        <p:spPr>
          <a:xfrm>
            <a:off x="4224437" y="3535015"/>
            <a:ext cx="7190019" cy="634375"/>
          </a:xfrm>
          <a:prstGeom prst="roundRect">
            <a:avLst>
              <a:gd name="adj" fmla="val 11531"/>
            </a:avLst>
          </a:prstGeom>
          <a:solidFill>
            <a:srgbClr val="F9F4EC"/>
          </a:solidFill>
          <a:ln/>
        </p:spPr>
      </p:sp>
      <p:sp>
        <p:nvSpPr>
          <p:cNvPr id="24" name="match-hex"/>
          <p:cNvSpPr/>
          <p:nvPr/>
        </p:nvSpPr>
        <p:spPr>
          <a:xfrm>
            <a:off x="4297589" y="3685909"/>
            <a:ext cx="384048" cy="332586"/>
          </a:xfrm>
          <a:prstGeom prst="hexagon">
            <a:avLst/>
          </a:prstGeom>
          <a:solidFill>
            <a:srgbClr val="B8862B"/>
          </a:solidFill>
          <a:ln/>
        </p:spPr>
      </p:sp>
      <p:sp>
        <p:nvSpPr>
          <p:cNvPr id="25" name="match-hex-label"/>
          <p:cNvSpPr txBox="1"/>
          <p:nvPr/>
        </p:nvSpPr>
        <p:spPr>
          <a:xfrm>
            <a:off x="4297589" y="36859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35015"/>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and how people live</a:t>
            </a:r>
            <a:endParaRPr lang="en-US" sz="2200" dirty="0"/>
          </a:p>
        </p:txBody>
      </p:sp>
      <p:sp>
        <p:nvSpPr>
          <p:cNvPr id="27" name="match-card"/>
          <p:cNvSpPr/>
          <p:nvPr/>
        </p:nvSpPr>
        <p:spPr>
          <a:xfrm>
            <a:off x="777240" y="4260830"/>
            <a:ext cx="3081437" cy="975243"/>
          </a:xfrm>
          <a:prstGeom prst="roundRect">
            <a:avLst>
              <a:gd name="adj" fmla="val 7501"/>
            </a:avLst>
          </a:prstGeom>
          <a:solidFill>
            <a:srgbClr val="F5F8F6"/>
          </a:solidFill>
          <a:ln/>
        </p:spPr>
      </p:sp>
      <p:sp>
        <p:nvSpPr>
          <p:cNvPr id="28" name="match-hex"/>
          <p:cNvSpPr/>
          <p:nvPr/>
        </p:nvSpPr>
        <p:spPr>
          <a:xfrm>
            <a:off x="850392" y="4582158"/>
            <a:ext cx="384048" cy="332586"/>
          </a:xfrm>
          <a:prstGeom prst="hexagon">
            <a:avLst/>
          </a:prstGeom>
          <a:solidFill>
            <a:srgbClr val="3F6B4A"/>
          </a:solidFill>
          <a:ln/>
        </p:spPr>
      </p:sp>
      <p:sp>
        <p:nvSpPr>
          <p:cNvPr id="29" name="match-hex-label"/>
          <p:cNvSpPr txBox="1"/>
          <p:nvPr/>
        </p:nvSpPr>
        <p:spPr>
          <a:xfrm>
            <a:off x="850392" y="45821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 geography</a:t>
            </a:r>
            <a:endParaRPr lang="en-US" sz="2200" dirty="0"/>
          </a:p>
        </p:txBody>
      </p:sp>
      <p:sp>
        <p:nvSpPr>
          <p:cNvPr id="31" name="match-card"/>
          <p:cNvSpPr/>
          <p:nvPr/>
        </p:nvSpPr>
        <p:spPr>
          <a:xfrm>
            <a:off x="4224437" y="4260830"/>
            <a:ext cx="7190019" cy="975243"/>
          </a:xfrm>
          <a:prstGeom prst="roundRect">
            <a:avLst>
              <a:gd name="adj" fmla="val 7501"/>
            </a:avLst>
          </a:prstGeom>
          <a:solidFill>
            <a:srgbClr val="F9F4EC"/>
          </a:solidFill>
          <a:ln/>
        </p:spPr>
      </p:sp>
      <p:sp>
        <p:nvSpPr>
          <p:cNvPr id="32" name="match-hex"/>
          <p:cNvSpPr/>
          <p:nvPr/>
        </p:nvSpPr>
        <p:spPr>
          <a:xfrm>
            <a:off x="4297589" y="4582158"/>
            <a:ext cx="384048" cy="332586"/>
          </a:xfrm>
          <a:prstGeom prst="hexagon">
            <a:avLst/>
          </a:prstGeom>
          <a:solidFill>
            <a:srgbClr val="B8862B"/>
          </a:solidFill>
          <a:ln/>
        </p:spPr>
      </p:sp>
      <p:sp>
        <p:nvSpPr>
          <p:cNvPr id="33" name="match-hex-label"/>
          <p:cNvSpPr txBox="1"/>
          <p:nvPr/>
        </p:nvSpPr>
        <p:spPr>
          <a:xfrm>
            <a:off x="4297589" y="45821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Human and physical geography linked together, including pollution</a:t>
            </a:r>
            <a:endParaRPr lang="en-US" sz="2200" dirty="0"/>
          </a:p>
        </p:txBody>
      </p:sp>
      <p:sp>
        <p:nvSpPr>
          <p:cNvPr id="35" name="match-card"/>
          <p:cNvSpPr/>
          <p:nvPr/>
        </p:nvSpPr>
        <p:spPr>
          <a:xfrm>
            <a:off x="777240" y="5327513"/>
            <a:ext cx="3081437" cy="634375"/>
          </a:xfrm>
          <a:prstGeom prst="roundRect">
            <a:avLst>
              <a:gd name="adj" fmla="val 11531"/>
            </a:avLst>
          </a:prstGeom>
          <a:solidFill>
            <a:srgbClr val="F5F8F6"/>
          </a:solidFill>
          <a:ln/>
        </p:spPr>
      </p:sp>
      <p:sp>
        <p:nvSpPr>
          <p:cNvPr id="36" name="match-hex"/>
          <p:cNvSpPr/>
          <p:nvPr/>
        </p:nvSpPr>
        <p:spPr>
          <a:xfrm>
            <a:off x="850392" y="5478408"/>
            <a:ext cx="384048" cy="332586"/>
          </a:xfrm>
          <a:prstGeom prst="hexagon">
            <a:avLst/>
          </a:prstGeom>
          <a:solidFill>
            <a:srgbClr val="3F6B4A"/>
          </a:solidFill>
          <a:ln/>
        </p:spPr>
      </p:sp>
      <p:sp>
        <p:nvSpPr>
          <p:cNvPr id="37" name="match-hex-label"/>
          <p:cNvSpPr txBox="1"/>
          <p:nvPr/>
        </p:nvSpPr>
        <p:spPr>
          <a:xfrm>
            <a:off x="850392"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27513"/>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Continent</a:t>
            </a:r>
            <a:endParaRPr lang="en-US" sz="2200" dirty="0"/>
          </a:p>
        </p:txBody>
      </p:sp>
      <p:sp>
        <p:nvSpPr>
          <p:cNvPr id="39" name="match-card"/>
          <p:cNvSpPr/>
          <p:nvPr/>
        </p:nvSpPr>
        <p:spPr>
          <a:xfrm>
            <a:off x="4224437" y="5327513"/>
            <a:ext cx="7190019" cy="634375"/>
          </a:xfrm>
          <a:prstGeom prst="roundRect">
            <a:avLst>
              <a:gd name="adj" fmla="val 11531"/>
            </a:avLst>
          </a:prstGeom>
          <a:solidFill>
            <a:srgbClr val="F9F4EC"/>
          </a:solidFill>
          <a:ln/>
        </p:spPr>
      </p:sp>
      <p:sp>
        <p:nvSpPr>
          <p:cNvPr id="40" name="match-hex"/>
          <p:cNvSpPr/>
          <p:nvPr/>
        </p:nvSpPr>
        <p:spPr>
          <a:xfrm>
            <a:off x="4297589" y="5478408"/>
            <a:ext cx="384048" cy="332586"/>
          </a:xfrm>
          <a:prstGeom prst="hexagon">
            <a:avLst/>
          </a:prstGeom>
          <a:solidFill>
            <a:srgbClr val="B8862B"/>
          </a:solidFill>
          <a:ln/>
        </p:spPr>
      </p:sp>
      <p:sp>
        <p:nvSpPr>
          <p:cNvPr id="41" name="match-hex-label"/>
          <p:cNvSpPr txBox="1"/>
          <p:nvPr/>
        </p:nvSpPr>
        <p:spPr>
          <a:xfrm>
            <a:off x="4297589"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27513"/>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One of the world's seven very large areas of 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Three kinds of geography</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Three kinds of geography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word human. Human means people, so human geography is about people.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Physical means to do with the natural world: land, water and weather.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Environmental geography is the one that joins the other two together.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word left over is continent: it is a place, not a type of geography.</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is about people, one about nature, one joins the two, and one is a place.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Give one example from Africa for each of the three types of geography, and say which type a photograph of a flooded city would belong to.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How much bigger is Asia?</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Asia has an area of 43.8 million km² and Africa has an area of 30.2 million km². How many million km² bigger is Asia than Africa?</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million km²</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F5F2"/>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bigger number on top: 43.8.</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smaller number underneath, lining up the decimal points: 30.2.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whole numbers: 43 − 30 = 13. Subtract the decimals: 0.8 − 0.2 = 0.6.</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them together: 13.6 million km².</a:t>
            </a:r>
            <a:endParaRPr lang="en-US" sz="1800" dirty="0"/>
          </a:p>
        </p:txBody>
      </p:sp>
      <p:sp>
        <p:nvSpPr>
          <p:cNvPr id="17" name="col-Core"/>
          <p:cNvSpPr/>
          <p:nvPr/>
        </p:nvSpPr>
        <p:spPr>
          <a:xfrm>
            <a:off x="5490762" y="2948940"/>
            <a:ext cx="2938987" cy="3195828"/>
          </a:xfrm>
          <a:prstGeom prst="roundRect">
            <a:avLst>
              <a:gd name="adj" fmla="val 1867"/>
            </a:avLst>
          </a:prstGeom>
          <a:solidFill>
            <a:srgbClr val="DBE3DD"/>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much bigger means find the difference. Line up the decimal points before you subtract.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Africa is 30.2 million km² and Europe is 10.1 million km². About how many times bigger than Europe is Africa? Explain how you worked it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the correct description of Africa?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ocean to the south of Europe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continent made up of many countries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city in Nigeria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single large country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Three kinds of geography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Human geography  →  B  Where and how people live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Physical geography  →  A  Natural features and events, including landforms and weather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Environmental geography  →  C  Human and physical geography linked together, including pollution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Continent  →  D  One of the world's seven very large areas of land</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Human geography is where and how people live; physical geography is natural features and events; environmental geography links the two, for example pollution. A continent is one of the seven great land areas.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much bigger is Asia?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Asia has an area of 43.8 million km² and Africa has an area of 30.2 million km². How many million km² bigger is Asia than Africa?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13.6 million km²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difference between two sizes is found by subtraction. 43.8 − 30.2 = 13.6, so Asia is 13.6 million km² bigger than Africa.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the correct description of Africa?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continent made up of many countries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Africa is one of the seven continents. It contains more than fifty separate countries, each with its own government, flag and capital.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 Continent, Not a Country · Chapter 1: Africa on the map: a continent, not a country</dc:title>
  <dc:subject>Geography · Year 7</dc:subject>
  <dc:creator>Dr Vitor Merissi de Carvalho</dc:creator>
  <cp:lastModifiedBy>Dr Vitor Merissi de Carvalho</cp:lastModifiedBy>
  <cp:revision>1</cp:revision>
  <dcterms:created xsi:type="dcterms:W3CDTF">2026-10-19T06:07:32Z</dcterms:created>
  <dcterms:modified xsi:type="dcterms:W3CDTF">2026-10-19T06:07:32Z</dcterms:modified>
</cp:coreProperties>
</file>