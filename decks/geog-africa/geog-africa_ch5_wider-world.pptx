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8235cd4-c041-b54c-967c-4bb0f1ef0e3d}">
          <p14:sldIdLst>
            <p14:sldId id="256"/>
          </p14:sldIdLst>
        </p14:section>
        <p14:section name="Gate" id="{7cb06613-207b-64d4-5650-b04df47084bc}">
          <p14:sldIdLst>
            <p14:sldId id="257"/>
            <p14:sldId id="258"/>
          </p14:sldIdLst>
        </p14:section>
        <p14:section name="Pre-teach" id="{9958e3d5-2cfe-8b18-66e4-9fd123318266}">
          <p14:sldIdLst>
            <p14:sldId id="259"/>
            <p14:sldId id="260"/>
          </p14:sldIdLst>
        </p14:section>
        <p14:section name="Read-along" id="{ed8a1bf8-d0b1-07b3-ce3c-8940ac938ae4}">
          <p14:sldIdLst>
            <p14:sldId id="261"/>
            <p14:sldId id="262"/>
          </p14:sldIdLst>
        </p14:section>
        <p14:section name="Teach" id="{d3509ea7-9261-1b3c-cee1-abeac5745dda}">
          <p14:sldIdLst>
            <p14:sldId id="263"/>
            <p14:sldId id="264"/>
            <p14:sldId id="265"/>
            <p14:sldId id="266"/>
            <p14:sldId id="267"/>
          </p14:sldIdLst>
        </p14:section>
        <p14:section name="Routes" id="{062c9f0b-727e-81b6-1095-827fad67050a}">
          <p14:sldIdLst>
            <p14:sldId id="268"/>
            <p14:sldId id="269"/>
            <p14:sldId id="270"/>
            <p14:sldId id="271"/>
          </p14:sldIdLst>
        </p14:section>
        <p14:section name="Close" id="{1b0d7426-a22a-3ff2-7662-e61b75620a22}">
          <p14:sldIdLst>
            <p14:sldId id="272"/>
          </p14:sldIdLst>
        </p14:section>
        <p14:section name="Answers" id="{26dd1569-4f0c-b626-2d17-d751d5a74869}">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Africa in the wider world: development and globalisation. How development is measured, what HIC, LIC and NEE mean, why there is a development gap and why it grows, what globalisation is, and what your phone has to do with the Congo.
This deck covers the department's lessons: 7 (Africa in the wider world: development: How do we measure how developed a country is, and why is there a development gap?); 11 (Globalisation: What is globalisation, what causes it, and what does your mobile phone have to do with the Congo?).
Read the big question aloud: "What is Africa really like, and how have its physical geography, its people and its history shaped the continent today?"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Nigeria has fast-growing industry and cities, but also many poor people. Which group does the lesson place it in?  →  B   NEE: a newly emerging economy
2. The development ___ is the difference between the world's richest and poorest countries.  →  gap
3. Which of these is a cause of globalisation?  →  A   Cheaper transport and better ICT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NEE: a newly emerging economy. Nigeria is an NEE, a newly emerging economy, along with South Africa, Brazil, India, Mexico and China.
2. gap. The development gap is the difference between HICs and LICs, or between rich and poor within one country.
3. A   Cheaper transport and better ICT. The lesson's four factors are ICT, increased trade, transport developments and transnational corporations: all make the world more connected.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development: how rich or poor a country is, and how good life is for its people. Example: "Development improves health, education and jobs."
• HIC: a high income country, a rich country. Example: "The United Kingdom and Japan are HICs."
• LIC: a low income country, a poor country. Example: "Ethiopia and Somalia are LICs."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NEE: a newly emerging economy, a country getting richer fast. Example: "Nigeria, South Africa and India are NEEs."
• development gap: the difference between the richest and poorest countries. Example: "Debt can make the development gap bigger."
• globalisation: the way the world is becoming more connected through trade, travel and communication. Example: "Globalisation means a phone designed in one country is built in another."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Development is a measure of how rich or poor a country is.
2. It is also about health, education and quality of life.
3. Life expectancy is how long people live, on average.
4. GDP is how much money a country makes.
5. Rich countries are called HICs, high income countries.
6. Poor countries are called LICs, low income countries.
7. Countries getting richer fast are NEEs, newly emerging economies.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Nigeria and South Africa are NEEs.
9. The development gap is the difference between the richest and poorest countries.
10. Debt, corruption and natural hazards can make the gap bigger.
11. Globalisation means the world is becoming more connected.
12. We trade, travel and share ideas across the world more easily than before.
13. The metal coltan from the Congo is used in mobile phones.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Measuring development. Say it in your own words, then check understanding with a quick question: ask a pupil from the pre-teach group first, since they met these words and ideas before the lesson. Pupils try to recall before you re-explain.
Development is a measure of how rich or poor a country is. As a country develops, the standard of living and quality of life of its people improve. Geographers measure development with indicators. Gross Domestic Product (GDP) totals the money a country makes in a year, so it tells you roughly what people there earn. Life expectancy is the average age people reach. Infant mortality counts the babies and small children who die. Calorie consumption shows whether people have enough to eat. The adult literacy rate is the share of grown-ups who can read and write. Counting the doctors for every 1000 people shows how good medical care is. Standard of living sums up people's overall wellbeing. Your lesson suggested others too, such as safety and the right to vote.
Using these measures, countries are sorted into groups. HIC means high income country: the rich countries, such as the United Kingdom, Germany, the USA, Japan, Canada, Australia and New Zealand. LIC means low income country: the poorest countries, such as Somalia, Ethiopia, Angola and the Democratic Republic of Congo. The older names were MEDC (more economically developed country) for an HIC and LEDC (less economically developed country) for an LIC; you may still see them.
Some countries are neither. NEE means newly emerging economy: a country whose industry and wealth are growing fast, such as Nigeria, South Africa, Brazil, India, Mexico and China. Many African countries are LICs, but Nigeria and South Africa are NEEs, and this is one reason you should never treat Africa as one place.
Worked example — model it step by step, thinking aloud: Sort these three countries into HIC, LIC and NEE: Japan, Ethiopia, Brazil. (1) Ask of each country: is it rich, poor, or getting richer fast? (2) Japan is one of the world's richest countries: HIC. (3) Ethiopia is one of the poorest: LIC. (4) Brazil has fast-growing industry and cities but also many poor people: NEE. Answer: Japan: HIC. Ethiopia: LIC. Brazil: NEE..
Tip: MEDC is the old name for HIC and LEDC is the old name for LIC. NEE sits in between.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Measuring development. Say it in your own words, then check understanding with a quick question: ask a pupil from the pre-teach group first, since they met these words and ideas before the lesson. Pupils try to recall before you re-explain.
Development is a measure of how rich or poor a country is. As a country develops, the standard of living and quality of life of its people improve. Geographers measure development with indicators. Gross Domestic Product (GDP) totals the money a country makes in a year, so it tells you roughly what people there earn. Life expectancy is the average age people reach. Infant mortality counts the babies and small children who die. Calorie consumption shows whether people have enough to eat. The adult literacy rate is the share of grown-ups who can read and write. Counting the doctors for every 1000 people shows how good medical care is. Standard of living sums up people's overall wellbeing. Your lesson suggested others too, such as safety and the right to vote.
Using these measures, countries are sorted into groups. HIC means high income country: the rich countries, such as the United Kingdom, Germany, the USA, Japan, Canada, Australia and New Zealand. LIC means low income country: the poorest countries, such as Somalia, Ethiopia, Angola and the Democratic Republic of Congo. The older names were MEDC (more economically developed country) for an HIC and LEDC (less economically developed country) for an LIC; you may still see them.
Some countries are neither. NEE means newly emerging economy: a country whose industry and wealth are growing fast, such as Nigeria, South Africa, Brazil, India, Mexico and China. Many African countries are LICs, but Nigeria and South Africa are NEEs, and this is one reason you should never treat Africa as one place.
Worked example — model it step by step, thinking aloud: Sort these three countries into HIC, LIC and NEE: Japan, Ethiopia, Brazil. (1) Ask of each country: is it rich, poor, or getting richer fast? (2) Japan is one of the world's richest countries: HIC. (3) Ethiopia is one of the poorest: LIC. (4) Brazil has fast-growing industry and cities but also many poor people: NEE. Answer: Japan: HIC. Ethiopia: LIC. Brazil: NEE..
Tip: MEDC is the old name for HIC and LEDC is the old name for LIC. NEE sits in between.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development gap, and why it grows. Say it in your own words, then check understanding with a quick question: ask a pupil from the pre-teach group first, since they met these words and ideas before the lesson. Pupils try to recall before you re-explain.
The development gap is the difference between the world's richest countries (HICs) and poorest countries (LICs). It can also mean the difference between rich and poor groups inside one country. Lagos, the biggest city in Nigeria and one of the largest in Africa, shows both sides: gleaming towers on Victoria Island and crowded, poor neighbourhoods close by.
Your lesson gave three reasons why the gap gets bigger. Debt: poorer countries borrow large sums from rich countries to build industry and infrastructure, but the interest charged is so high that they end up owing more than they borrowed. Corruption: some of the borrowed money or aid goes missing, so the poor never see the benefit and the gap inside the country widens too. Natural hazards: droughts and famines hit LICs harder; aid often arrives for the emergency and then stops, leaving the country to pay for the long clean-up.
The lesson's card sort grouped the reasons into four kinds. Historical reasons are to do with the past, such as having been a colony or having had millions of people taken away and enslaved. Environmental reasons are to do with the natural surroundings and climate, such as yearly floods, disease spread by a warm damp climate, or mountains that make transport hard. Economic reasons are to do with money, such as interest on loans or the price of a crop like coffee collapsing. Social reasons are to do with people, such as too few schools or a war that stops businesses investing.
Tip: When you explain the development gap, give the reason and then say which type it is: historical, environmental, economic or social.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Globalisation. Say it in your own words, then check understanding with a quick question: ask a pupil from the pre-teach group first, since they met these words and ideas before the lesson. Pupils try to recall before you re-explain.
People say we live in a shrinking world. They do not mean the Earth is getting smaller; they mean that places feel closer together. Globalisation is the process by which the world is becoming more and more interconnected: we communicate, trade, travel and share each other's cultures more easily than ever before. A football match is watched on every continent, a brand name is recognised everywhere, and a television series made in one country is copied in a dozen others.
Your lesson identified four factors that drive globalisation. ICT, information and communication technology, lets people talk and do business instantly across the world. Increased trade means goods are bought and sold between countries more than ever. Transport developments, such as container ships and cheap flights, move goods and people quickly. Transnational corporations (TNCs) are companies that operate in many countries at once, designing a product in one place, making it in another and selling it everywhere.
Globalisation has advantages and disadvantages, and it affects almost everyone. Your own life is global: where your parents were born, where your clothes were made, the music you listen to and the companies your family works for all connect you to other countries. The journey of a mobile phone, from the minerals in it to the shop where it is sold, crosses many borders.
Tip: Four causes of globalisation: ICT, trade, transport, TNCs. All four start with the idea of things moving faster and further.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Your phone and the Congo. Say it in your own words, then check understanding with a quick question: ask a pupil from the pre-teach group first, since they met these words and ideas before the lesson. Pupils try to recall before you re-explain.
Inside almost every mobile phone is a metal made from a mineral called coltan (columbite-tantalite). Much of the world's coltan is mined in the Democratic Republic of Congo, in Central Africa, at mines such as Fungamwaka. This is globalisation at its sharpest: a phone used in London depends on a mine thousands of kilometres away, and what happens at that mine is shaped by the demand for phones.
Your lesson asked you to sort seven impacts into social, economic and environmental. The social impacts are the gravest. The Congo is still recovering from civil war in which millions of people died, mostly from starvation and disease; fighting has been fuelled by the country's coltan wealth, as armed groups try to control the supplies and use the money to pay for their militias, so the chance of peace shrinks. The economic impact falls on ordinary families: farmers can no longer grow food where mining has taken the land, and must look for other food and other work. The environmental impacts are on the forest: land is cleared to make mining easier, the natural habitat is destroyed, and gorillas are killed for meat or driven out when their forest disappears.
Geographers do not use this to make anyone feel guilty for owning a phone. They use it to show that the choices of people, companies and governments in one place have real effects on people, animals and forests in another, and that knowing where things come from is the first step to changing how they are made.
Tip: Social is about people and communities; economic is about money and jobs; environmental is about land, water, plants and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What each measure of development tells you.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measure of development to what it tells you.
Support — work through the steps with the group: (1) Take the words apart. Life expectancy: how long you can expect to live. (2) Infant means baby or young child; mortality means death. (3) Literacy means reading and writing. (4) The one left, GDP, is about money.
Parallel worked example for Support (model it, do not give the task answer): Match: calorie consumption, doctors per 1000 people. Choices: how good medical care is; how much people get to eat. Calories are in food, so calorie consumption is about eating.; Doctors are about medical care.. Answer: Calorie consumption: how much people get to eat. Doctors per 1000 people: how good medical care is..
Core — reveal the hint only on request: Three are about people's lives and health; one is about money.
Stretch — no help; when finished: Explain why GDP on its own can hide a big development gap inside a country, using Lagos as your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What each measure of development tells you.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measure of development to what it tells you.
Support — work through the steps with the group: (1) Take the words apart. Life expectancy: how long you can expect to live. (2) Infant means baby or young child; mortality means death. (3) Literacy means reading and writing. (4) The one left, GDP, is about money.
Parallel worked example for Support (model it, do not give the task answer): Match: calorie consumption, doctors per 1000 people. Choices: how good medical care is; how much people get to eat. Calories are in food, so calorie consumption is about eating.; Doctors are about medical care.. Answer: Calorie consumption: how much people get to eat. Doctors per 1000 people: how good medical care is..
Core — reveal the hint only on request: Three are about people's lives and health; one is about money.
Stretch — no help; when finished: Explain why GDP on its own can hide a big development gap inside a country, using Lagos as your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Social, economic or environmental?.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Sort each impact of coltan mining in the Congo into the type of impact it is.
Support — work through the steps with the group: (1) Environmental means land, water, plants and animals. Which impact is about the forest? (2) Economic means money, jobs and making a living. Which impact is about losing a livelihood? (3) Social means people, communities and safety. Which impact is about fighting? (4) Check each one by asking: who or what is harmed?
Parallel worked example for Support (model it, do not give the task answer): Sort: gorillas are killed for meat or leave because their habitat has gone; millions of people have died in the civil war, mostly through starvation and disease. Gorillas and habitat are the natural world: environmental.; People dying in a war is about people and communities: social.. Answer: Gorillas and habitat: environmental. Deaths in the civil war: social..
Core — reveal the hint only on request: Forest and animals: environmental. Jobs and food to sell: economic. People, fighting and communities: social.
Stretch — no help; when finished: One of the lesson's impacts, that the chance to make money reduces the chance of peace, was labelled both economic and social. Explain why it fits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Social, economic or environmental?.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Sort each impact of coltan mining in the Congo into the type of impact it is.
Support — work through the steps with the group: (1) Environmental means land, water, plants and animals. Which impact is about the forest? (2) Economic means money, jobs and making a living. Which impact is about losing a livelihood? (3) Social means people, communities and safety. Which impact is about fighting? (4) Check each one by asking: who or what is harmed?
Parallel worked example for Support (model it, do not give the task answer): Sort: gorillas are killed for meat or leave because their habitat has gone; millions of people have died in the civil war, mostly through starvation and disease. Gorillas and habitat are the natural world: environmental.; People dying in a war is about people and communities: social.. Answer: Gorillas and habitat: environmental. Deaths in the civil war: social..
Core — reveal the hint only on request: Forest and animals: environmental. Jobs and food to sell: economic. People, fighting and communities: social.
Stretch — no help; when finished: One of the lesson's impacts, that the chance to make money reduces the chance of peace, was labelled both economic and social. Explain why it fits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Nigeria has fast-growing industry and cities, but also many poor people. Which group does the lesson place it in?
Answer: A   NEE: a newly emerging economy. Nigeria is an NEE, a newly emerging economy, along with South Africa, Brazil, India, Mexico and China.
Source of this question: gate item 1 re-asked (options rotated) — this chapter has no third quick-check module.
The ebook also holds task 3, "Why does the development gap get bigger?",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What each measure of development tells you. Reveal the answer; pupils mark their own work in a different colour, then read the "why" together. Same destination for every lane, so one answer serves the whole class.
Answer: Life expectancy  →  D  How long people live, on average; Gross Domestic Product (GDP)  →  B  How much money a country makes, and so how much people earn; Infant mortality  →  A  How many children die young; Adult literacy rate  →  C  How many adults can read and write
Why: Life expectancy is how long people live; GDP is how much money a country makes; infant mortality is how many children die young; adult literacy is how many adults can read and write. Together they give a fuller picture than money alone.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Social, economic or environmental?. Reveal the answer; pupils mark their own work in a different colour, then read the "why" together. Same destination for every lane, so one answer serves the whole class.
Answer: Land is cleared to make mining easier and the natural habitat is destroyed  →  B  Environmental; Farmers can no longer grow food on mined land and must look for other food and work  →  A  Economic; Armed groups fight to control the coltan, and the money pays for their militias  →  C  Social
Why: Clearing land and destroying habitat harms the natural world: environmental. Farmers losing their land and livelihood is about money and work: economic. Fighting over the coltan and funding militias is about people and communities: social.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NEE: a newly emerging economy
Why: Nigeria is an NEE, a newly emerging economy, along with South Africa, Brazil, India, Mexico and China.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Africa: A Continent, Not a Country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Africa: A Continent, Not a Country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EE6E0"/>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5/6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Africa: A Continent, Not a Country · AQA KS3 → 8035</a:t>
            </a:r>
            <a:endParaRPr lang="en-US" sz="1800" dirty="0"/>
          </a:p>
        </p:txBody>
      </p:sp>
      <p:sp>
        <p:nvSpPr>
          <p:cNvPr id="10" name="deck-title"/>
          <p:cNvSpPr txBox="1"/>
          <p:nvPr/>
        </p:nvSpPr>
        <p:spPr>
          <a:xfrm>
            <a:off x="548640" y="2417318"/>
            <a:ext cx="5287975" cy="105156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Africa in the wider world: development and globalisation</a:t>
            </a:r>
            <a:endParaRPr lang="en-US" sz="2800" dirty="0"/>
          </a:p>
        </p:txBody>
      </p:sp>
      <p:sp>
        <p:nvSpPr>
          <p:cNvPr id="11" name="lessons-card"/>
          <p:cNvSpPr/>
          <p:nvPr/>
        </p:nvSpPr>
        <p:spPr>
          <a:xfrm>
            <a:off x="548640" y="3697478"/>
            <a:ext cx="5287975" cy="1328420"/>
          </a:xfrm>
          <a:prstGeom prst="roundRect">
            <a:avLst>
              <a:gd name="adj" fmla="val 5507"/>
            </a:avLst>
          </a:prstGeom>
          <a:solidFill>
            <a:srgbClr val="F2F5F2"/>
          </a:solidFill>
          <a:ln/>
        </p:spPr>
      </p:sp>
      <p:sp>
        <p:nvSpPr>
          <p:cNvPr id="12" name="lessons"/>
          <p:cNvSpPr txBox="1"/>
          <p:nvPr/>
        </p:nvSpPr>
        <p:spPr>
          <a:xfrm>
            <a:off x="685800" y="378891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7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Africa in the wider world: development</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Globalisation</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F5F2"/>
          </a:solidFill>
          <a:ln w="12700">
            <a:solidFill>
              <a:srgbClr val="B8C8B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What is Africa really like, and how have its physical geography, its people and its history shaped the continent today?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954666" cy="4754880"/>
          </a:xfrm>
          <a:prstGeom prst="roundRect">
            <a:avLst>
              <a:gd name="adj" fmla="val 1387"/>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588906"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Nigeria has fast-growing industry and cities, but also many poor people. Which group does the lesson place it in?</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country with no development at all</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NEE: a newly emerging economy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HIC: a high income country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LIC: a low income country</a:t>
            </a:r>
            <a:endParaRPr lang="en-US" sz="1800" dirty="0"/>
          </a:p>
        </p:txBody>
      </p:sp>
      <p:sp>
        <p:nvSpPr>
          <p:cNvPr id="12" name="card"/>
          <p:cNvSpPr/>
          <p:nvPr/>
        </p:nvSpPr>
        <p:spPr>
          <a:xfrm>
            <a:off x="4777626" y="1389888"/>
            <a:ext cx="2636444" cy="4754880"/>
          </a:xfrm>
          <a:prstGeom prst="roundRect">
            <a:avLst>
              <a:gd name="adj" fmla="val 2081"/>
            </a:avLst>
          </a:prstGeom>
          <a:solidFill>
            <a:srgbClr val="F7F9F8"/>
          </a:solidFill>
          <a:ln w="12700">
            <a:solidFill>
              <a:srgbClr val="C2D0C5"/>
            </a:solidFill>
            <a:prstDash val="solid"/>
          </a:ln>
        </p:spPr>
      </p:sp>
      <p:sp>
        <p:nvSpPr>
          <p:cNvPr id="13" name="card-hex"/>
          <p:cNvSpPr/>
          <p:nvPr/>
        </p:nvSpPr>
        <p:spPr>
          <a:xfrm>
            <a:off x="4960506" y="1572768"/>
            <a:ext cx="640080" cy="554309"/>
          </a:xfrm>
          <a:prstGeom prst="hexagon">
            <a:avLst/>
          </a:prstGeom>
          <a:solidFill>
            <a:srgbClr val="3F6B4A"/>
          </a:solidFill>
          <a:ln/>
        </p:spPr>
      </p:sp>
      <p:sp>
        <p:nvSpPr>
          <p:cNvPr id="14" name="card-hex-label"/>
          <p:cNvSpPr txBox="1"/>
          <p:nvPr/>
        </p:nvSpPr>
        <p:spPr>
          <a:xfrm>
            <a:off x="4960506"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692026"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960506"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The development ___ is the difference between the world's richest and poorest countries.</a:t>
            </a:r>
            <a:endParaRPr lang="en-US" sz="2200" dirty="0"/>
          </a:p>
          <a:p>
            <a:pPr algn="l" indent="0" marL="0">
              <a:buNone/>
            </a:pPr>
            <a:r>
              <a:rPr lang="en-US" sz="2200" b="1" dirty="0">
                <a:solidFill>
                  <a:srgbClr val="3F6B4A"/>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gap  ·  indicator  ·  goal</a:t>
            </a:r>
            <a:endParaRPr lang="en-US" sz="2200" dirty="0"/>
          </a:p>
        </p:txBody>
      </p:sp>
      <p:sp>
        <p:nvSpPr>
          <p:cNvPr id="17" name="card"/>
          <p:cNvSpPr/>
          <p:nvPr/>
        </p:nvSpPr>
        <p:spPr>
          <a:xfrm>
            <a:off x="7688389" y="1389888"/>
            <a:ext cx="3954666" cy="4754880"/>
          </a:xfrm>
          <a:prstGeom prst="roundRect">
            <a:avLst>
              <a:gd name="adj" fmla="val 1387"/>
            </a:avLst>
          </a:prstGeom>
          <a:solidFill>
            <a:srgbClr val="F7F9F8"/>
          </a:solidFill>
          <a:ln w="12700">
            <a:solidFill>
              <a:srgbClr val="C2D0C5"/>
            </a:solidFill>
            <a:prstDash val="solid"/>
          </a:ln>
        </p:spPr>
      </p:sp>
      <p:sp>
        <p:nvSpPr>
          <p:cNvPr id="18" name="card-hex"/>
          <p:cNvSpPr/>
          <p:nvPr/>
        </p:nvSpPr>
        <p:spPr>
          <a:xfrm>
            <a:off x="7871269" y="1572768"/>
            <a:ext cx="640080" cy="554309"/>
          </a:xfrm>
          <a:prstGeom prst="hexagon">
            <a:avLst/>
          </a:prstGeom>
          <a:solidFill>
            <a:srgbClr val="3F6B4A"/>
          </a:solidFill>
          <a:ln/>
        </p:spPr>
      </p:sp>
      <p:sp>
        <p:nvSpPr>
          <p:cNvPr id="19" name="card-hex-label"/>
          <p:cNvSpPr txBox="1"/>
          <p:nvPr/>
        </p:nvSpPr>
        <p:spPr>
          <a:xfrm>
            <a:off x="7871269"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8602789"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7871269" y="2355677"/>
            <a:ext cx="3588906"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Which of these is a cause of globalisation?</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Cheaper transport and better ICT</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Slower ships and aeroplanes</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Fewer companies working across borders</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Countries trading less with each other</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954666" cy="4754880"/>
          </a:xfrm>
          <a:prstGeom prst="roundRect">
            <a:avLst>
              <a:gd name="adj" fmla="val 1387"/>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588906" cy="955040"/>
          </a:xfrm>
          <a:prstGeom prst="roundRect">
            <a:avLst>
              <a:gd name="adj" fmla="val 11489"/>
            </a:avLst>
          </a:prstGeom>
          <a:solidFill>
            <a:srgbClr val="EFE4D0"/>
          </a:solidFill>
          <a:ln w="19050">
            <a:solidFill>
              <a:srgbClr val="B8862B"/>
            </a:solidFill>
            <a:prstDash val="solid"/>
          </a:ln>
        </p:spPr>
      </p:sp>
      <p:sp>
        <p:nvSpPr>
          <p:cNvPr id="12" name="answer"/>
          <p:cNvSpPr txBox="1"/>
          <p:nvPr/>
        </p:nvSpPr>
        <p:spPr>
          <a:xfrm>
            <a:off x="822960" y="2428829"/>
            <a:ext cx="3406026"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NEE: a newly emerging economy</a:t>
            </a:r>
            <a:endParaRPr lang="en-US" sz="2200" dirty="0"/>
          </a:p>
        </p:txBody>
      </p:sp>
      <p:sp>
        <p:nvSpPr>
          <p:cNvPr id="13" name="card-body"/>
          <p:cNvSpPr txBox="1"/>
          <p:nvPr/>
        </p:nvSpPr>
        <p:spPr>
          <a:xfrm>
            <a:off x="731520" y="3493597"/>
            <a:ext cx="3588906" cy="2514011"/>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Nigeria has fast-growing industry and cities, but also many poor people. Which group does the lesson place it in?</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Nigeria is an NEE, a newly emerging economy, along with South Africa, Brazil, India, Mexico and China.</a:t>
            </a:r>
            <a:endParaRPr lang="en-US" sz="1800" dirty="0"/>
          </a:p>
        </p:txBody>
      </p:sp>
      <p:sp>
        <p:nvSpPr>
          <p:cNvPr id="14" name="card"/>
          <p:cNvSpPr/>
          <p:nvPr/>
        </p:nvSpPr>
        <p:spPr>
          <a:xfrm>
            <a:off x="4777626" y="1389888"/>
            <a:ext cx="2636444" cy="4754880"/>
          </a:xfrm>
          <a:prstGeom prst="roundRect">
            <a:avLst>
              <a:gd name="adj" fmla="val 2081"/>
            </a:avLst>
          </a:prstGeom>
          <a:solidFill>
            <a:srgbClr val="F7F9F8"/>
          </a:solidFill>
          <a:ln w="12700">
            <a:solidFill>
              <a:srgbClr val="C2D0C5"/>
            </a:solidFill>
            <a:prstDash val="solid"/>
          </a:ln>
        </p:spPr>
      </p:sp>
      <p:sp>
        <p:nvSpPr>
          <p:cNvPr id="15" name="card-hex"/>
          <p:cNvSpPr/>
          <p:nvPr/>
        </p:nvSpPr>
        <p:spPr>
          <a:xfrm>
            <a:off x="4960506" y="1572768"/>
            <a:ext cx="640080" cy="554309"/>
          </a:xfrm>
          <a:prstGeom prst="hexagon">
            <a:avLst/>
          </a:prstGeom>
          <a:solidFill>
            <a:srgbClr val="3F6B4A"/>
          </a:solidFill>
          <a:ln/>
        </p:spPr>
      </p:sp>
      <p:sp>
        <p:nvSpPr>
          <p:cNvPr id="16" name="card-hex-label"/>
          <p:cNvSpPr txBox="1"/>
          <p:nvPr/>
        </p:nvSpPr>
        <p:spPr>
          <a:xfrm>
            <a:off x="4960506"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692026"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960506" y="2355677"/>
            <a:ext cx="2270684"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5051946"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gap</a:t>
            </a:r>
            <a:endParaRPr lang="en-US" sz="2200" dirty="0"/>
          </a:p>
        </p:txBody>
      </p:sp>
      <p:sp>
        <p:nvSpPr>
          <p:cNvPr id="20" name="card-body"/>
          <p:cNvSpPr txBox="1"/>
          <p:nvPr/>
        </p:nvSpPr>
        <p:spPr>
          <a:xfrm>
            <a:off x="4960506"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development gap is the difference between HICs and LICs, or between rich and poor within one country.</a:t>
            </a:r>
            <a:endParaRPr lang="en-US" sz="1800" dirty="0"/>
          </a:p>
        </p:txBody>
      </p:sp>
      <p:sp>
        <p:nvSpPr>
          <p:cNvPr id="21" name="card"/>
          <p:cNvSpPr/>
          <p:nvPr/>
        </p:nvSpPr>
        <p:spPr>
          <a:xfrm>
            <a:off x="7688389" y="1389888"/>
            <a:ext cx="3954666" cy="4754880"/>
          </a:xfrm>
          <a:prstGeom prst="roundRect">
            <a:avLst>
              <a:gd name="adj" fmla="val 1387"/>
            </a:avLst>
          </a:prstGeom>
          <a:solidFill>
            <a:srgbClr val="F7F9F8"/>
          </a:solidFill>
          <a:ln w="12700">
            <a:solidFill>
              <a:srgbClr val="C2D0C5"/>
            </a:solidFill>
            <a:prstDash val="solid"/>
          </a:ln>
        </p:spPr>
      </p:sp>
      <p:sp>
        <p:nvSpPr>
          <p:cNvPr id="22" name="card-hex"/>
          <p:cNvSpPr/>
          <p:nvPr/>
        </p:nvSpPr>
        <p:spPr>
          <a:xfrm>
            <a:off x="7871269" y="1572768"/>
            <a:ext cx="640080" cy="554309"/>
          </a:xfrm>
          <a:prstGeom prst="hexagon">
            <a:avLst/>
          </a:prstGeom>
          <a:solidFill>
            <a:srgbClr val="3F6B4A"/>
          </a:solidFill>
          <a:ln/>
        </p:spPr>
      </p:sp>
      <p:sp>
        <p:nvSpPr>
          <p:cNvPr id="23" name="card-hex-label"/>
          <p:cNvSpPr txBox="1"/>
          <p:nvPr/>
        </p:nvSpPr>
        <p:spPr>
          <a:xfrm>
            <a:off x="7871269"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8602789"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7871269" y="2355677"/>
            <a:ext cx="3588906" cy="955040"/>
          </a:xfrm>
          <a:prstGeom prst="roundRect">
            <a:avLst>
              <a:gd name="adj" fmla="val 11489"/>
            </a:avLst>
          </a:prstGeom>
          <a:solidFill>
            <a:srgbClr val="EFE4D0"/>
          </a:solidFill>
          <a:ln w="19050">
            <a:solidFill>
              <a:srgbClr val="B8862B"/>
            </a:solidFill>
            <a:prstDash val="solid"/>
          </a:ln>
        </p:spPr>
      </p:sp>
      <p:sp>
        <p:nvSpPr>
          <p:cNvPr id="26" name="answer"/>
          <p:cNvSpPr txBox="1"/>
          <p:nvPr/>
        </p:nvSpPr>
        <p:spPr>
          <a:xfrm>
            <a:off x="7962709" y="2428829"/>
            <a:ext cx="3406026"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Cheaper transport and better ICT</a:t>
            </a:r>
            <a:endParaRPr lang="en-US" sz="2200" dirty="0"/>
          </a:p>
        </p:txBody>
      </p:sp>
      <p:sp>
        <p:nvSpPr>
          <p:cNvPr id="27" name="card-body"/>
          <p:cNvSpPr txBox="1"/>
          <p:nvPr/>
        </p:nvSpPr>
        <p:spPr>
          <a:xfrm>
            <a:off x="7871269" y="3493597"/>
            <a:ext cx="3588906" cy="2514011"/>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Which of these is a cause of globalisation?</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lesson's four factors are ICT, increased trade, transport developments and transnational corporations: all make the world more connected.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5F8F6"/>
          </a:solidFill>
          <a:ln w="12700">
            <a:solidFill>
              <a:srgbClr val="B8C8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development</a:t>
            </a:r>
            <a:endParaRPr lang="en-US" sz="2600" dirty="0"/>
          </a:p>
        </p:txBody>
      </p:sp>
      <p:sp>
        <p:nvSpPr>
          <p:cNvPr id="11" name="word-rule"/>
          <p:cNvSpPr/>
          <p:nvPr/>
        </p:nvSpPr>
        <p:spPr>
          <a:xfrm>
            <a:off x="731520" y="2129028"/>
            <a:ext cx="3149498" cy="0"/>
          </a:xfrm>
          <a:prstGeom prst="line">
            <a:avLst/>
          </a:prstGeom>
          <a:ln w="12700">
            <a:solidFill>
              <a:srgbClr val="B8C8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how rich or poor a country is, and how good life is for its people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Development improves health, education and jobs.</a:t>
            </a:r>
            <a:endParaRPr lang="en-US" sz="2200" dirty="0"/>
          </a:p>
        </p:txBody>
      </p:sp>
      <p:sp>
        <p:nvSpPr>
          <p:cNvPr id="13" name="word-card"/>
          <p:cNvSpPr/>
          <p:nvPr/>
        </p:nvSpPr>
        <p:spPr>
          <a:xfrm>
            <a:off x="4338218" y="1389888"/>
            <a:ext cx="3515258" cy="4754880"/>
          </a:xfrm>
          <a:prstGeom prst="roundRect">
            <a:avLst>
              <a:gd name="adj" fmla="val 1561"/>
            </a:avLst>
          </a:prstGeom>
          <a:solidFill>
            <a:srgbClr val="F5F8F6"/>
          </a:solidFill>
          <a:ln w="12700">
            <a:solidFill>
              <a:srgbClr val="B8C8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HIC</a:t>
            </a:r>
            <a:endParaRPr lang="en-US" sz="2600" dirty="0"/>
          </a:p>
        </p:txBody>
      </p:sp>
      <p:sp>
        <p:nvSpPr>
          <p:cNvPr id="17" name="word-rule"/>
          <p:cNvSpPr/>
          <p:nvPr/>
        </p:nvSpPr>
        <p:spPr>
          <a:xfrm>
            <a:off x="4521098" y="2129028"/>
            <a:ext cx="3149498" cy="0"/>
          </a:xfrm>
          <a:prstGeom prst="line">
            <a:avLst/>
          </a:prstGeom>
          <a:ln w="12700">
            <a:solidFill>
              <a:srgbClr val="B8C8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high income country, a rich country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United Kingdom and Japan are HICs.</a:t>
            </a:r>
            <a:endParaRPr lang="en-US" sz="2200" dirty="0"/>
          </a:p>
        </p:txBody>
      </p:sp>
      <p:sp>
        <p:nvSpPr>
          <p:cNvPr id="19" name="word-card"/>
          <p:cNvSpPr/>
          <p:nvPr/>
        </p:nvSpPr>
        <p:spPr>
          <a:xfrm>
            <a:off x="8127797" y="1389888"/>
            <a:ext cx="3515258" cy="4754880"/>
          </a:xfrm>
          <a:prstGeom prst="roundRect">
            <a:avLst>
              <a:gd name="adj" fmla="val 1561"/>
            </a:avLst>
          </a:prstGeom>
          <a:solidFill>
            <a:srgbClr val="F5F8F6"/>
          </a:solidFill>
          <a:ln w="12700">
            <a:solidFill>
              <a:srgbClr val="B8C8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LIC</a:t>
            </a:r>
            <a:endParaRPr lang="en-US" sz="2600" dirty="0"/>
          </a:p>
        </p:txBody>
      </p:sp>
      <p:sp>
        <p:nvSpPr>
          <p:cNvPr id="23" name="word-rule"/>
          <p:cNvSpPr/>
          <p:nvPr/>
        </p:nvSpPr>
        <p:spPr>
          <a:xfrm>
            <a:off x="8310677" y="2129028"/>
            <a:ext cx="3149498" cy="0"/>
          </a:xfrm>
          <a:prstGeom prst="line">
            <a:avLst/>
          </a:prstGeom>
          <a:ln w="12700">
            <a:solidFill>
              <a:srgbClr val="B8C8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low income country, a poor country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Ethiopia and Somalia are LICs.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5F8F6"/>
          </a:solidFill>
          <a:ln w="12700">
            <a:solidFill>
              <a:srgbClr val="B8C8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NEE</a:t>
            </a:r>
            <a:endParaRPr lang="en-US" sz="2600" dirty="0"/>
          </a:p>
        </p:txBody>
      </p:sp>
      <p:sp>
        <p:nvSpPr>
          <p:cNvPr id="11" name="word-rule"/>
          <p:cNvSpPr/>
          <p:nvPr/>
        </p:nvSpPr>
        <p:spPr>
          <a:xfrm>
            <a:off x="731520" y="2129028"/>
            <a:ext cx="3149498" cy="0"/>
          </a:xfrm>
          <a:prstGeom prst="line">
            <a:avLst/>
          </a:prstGeom>
          <a:ln w="12700">
            <a:solidFill>
              <a:srgbClr val="B8C8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newly emerging economy, a country getting richer fast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Nigeria, South Africa and India are NEEs.</a:t>
            </a:r>
            <a:endParaRPr lang="en-US" sz="2200" dirty="0"/>
          </a:p>
        </p:txBody>
      </p:sp>
      <p:sp>
        <p:nvSpPr>
          <p:cNvPr id="13" name="word-card"/>
          <p:cNvSpPr/>
          <p:nvPr/>
        </p:nvSpPr>
        <p:spPr>
          <a:xfrm>
            <a:off x="4338218" y="1389888"/>
            <a:ext cx="3515258" cy="4754880"/>
          </a:xfrm>
          <a:prstGeom prst="roundRect">
            <a:avLst>
              <a:gd name="adj" fmla="val 1561"/>
            </a:avLst>
          </a:prstGeom>
          <a:solidFill>
            <a:srgbClr val="F5F8F6"/>
          </a:solidFill>
          <a:ln w="12700">
            <a:solidFill>
              <a:srgbClr val="B8C8BC"/>
            </a:solidFill>
            <a:prstDash val="solid"/>
          </a:ln>
        </p:spPr>
      </p:sp>
      <p:sp>
        <p:nvSpPr>
          <p:cNvPr id="14" name="word-hex"/>
          <p:cNvSpPr/>
          <p:nvPr/>
        </p:nvSpPr>
        <p:spPr>
          <a:xfrm>
            <a:off x="4475378" y="1802044"/>
            <a:ext cx="502920" cy="435529"/>
          </a:xfrm>
          <a:prstGeom prst="hexagon">
            <a:avLst/>
          </a:prstGeom>
          <a:solidFill>
            <a:srgbClr val="B8862B"/>
          </a:solidFill>
          <a:ln/>
        </p:spPr>
      </p:sp>
      <p:sp>
        <p:nvSpPr>
          <p:cNvPr id="15" name="word-hex-label"/>
          <p:cNvSpPr txBox="1"/>
          <p:nvPr/>
        </p:nvSpPr>
        <p:spPr>
          <a:xfrm>
            <a:off x="4475378"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development gap</a:t>
            </a:r>
            <a:endParaRPr lang="en-US" sz="2600" dirty="0"/>
          </a:p>
        </p:txBody>
      </p:sp>
      <p:sp>
        <p:nvSpPr>
          <p:cNvPr id="17" name="word-rule"/>
          <p:cNvSpPr/>
          <p:nvPr/>
        </p:nvSpPr>
        <p:spPr>
          <a:xfrm>
            <a:off x="4521098" y="2558288"/>
            <a:ext cx="3149498" cy="0"/>
          </a:xfrm>
          <a:prstGeom prst="line">
            <a:avLst/>
          </a:prstGeom>
          <a:ln w="12700">
            <a:solidFill>
              <a:srgbClr val="B8C8BC"/>
            </a:solidFill>
            <a:prstDash val="solid"/>
          </a:ln>
        </p:spPr>
      </p:sp>
      <p:sp>
        <p:nvSpPr>
          <p:cNvPr id="18" name="word-body"/>
          <p:cNvSpPr txBox="1"/>
          <p:nvPr/>
        </p:nvSpPr>
        <p:spPr>
          <a:xfrm>
            <a:off x="4521098"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difference between the richest and poorest countries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Debt can make the development gap bigger.</a:t>
            </a:r>
            <a:endParaRPr lang="en-US" sz="2200" dirty="0"/>
          </a:p>
        </p:txBody>
      </p:sp>
      <p:sp>
        <p:nvSpPr>
          <p:cNvPr id="19" name="word-card"/>
          <p:cNvSpPr/>
          <p:nvPr/>
        </p:nvSpPr>
        <p:spPr>
          <a:xfrm>
            <a:off x="8127797" y="1389888"/>
            <a:ext cx="3515258" cy="4754880"/>
          </a:xfrm>
          <a:prstGeom prst="roundRect">
            <a:avLst>
              <a:gd name="adj" fmla="val 1561"/>
            </a:avLst>
          </a:prstGeom>
          <a:solidFill>
            <a:srgbClr val="F5F8F6"/>
          </a:solidFill>
          <a:ln w="12700">
            <a:solidFill>
              <a:srgbClr val="B8C8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globalisation</a:t>
            </a:r>
            <a:endParaRPr lang="en-US" sz="2600" dirty="0"/>
          </a:p>
        </p:txBody>
      </p:sp>
      <p:sp>
        <p:nvSpPr>
          <p:cNvPr id="23" name="word-rule"/>
          <p:cNvSpPr/>
          <p:nvPr/>
        </p:nvSpPr>
        <p:spPr>
          <a:xfrm>
            <a:off x="8310677" y="2129028"/>
            <a:ext cx="3149498" cy="0"/>
          </a:xfrm>
          <a:prstGeom prst="line">
            <a:avLst/>
          </a:prstGeom>
          <a:ln w="12700">
            <a:solidFill>
              <a:srgbClr val="B8C8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way the world is becoming more connected through trade, travel and communication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Globalisation means a phone designed in one country is built in another.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Development</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a measure of how rich or poor a country is.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is also about health, education and quality of life.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Life expectancy is how long people live, on average.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GDP is how much money a country makes.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Rich countries are called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HICs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high income countries.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Poor countries are called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LICs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low income countries.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Countries getting richer fast are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NEEs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newly emerging economies.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Nigeria and South Africa are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NEEs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development gap</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the difference between the richest and poorest countries.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Debt, corruption and natural hazards can make the gap bigger.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Globalisation</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means the world is becoming more connected.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We trade, travel and share ideas across the world more easily than before.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metal coltan from the Congo is used in mobile phones.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Measuring development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MEDC is the old name for HIC and LEDC is the old name for LIC. NEE sits in between.</a:t>
            </a:r>
            <a:endParaRPr lang="en-US" sz="1800" dirty="0"/>
          </a:p>
        </p:txBody>
      </p:sp>
      <p:sp>
        <p:nvSpPr>
          <p:cNvPr id="11" name="point-card"/>
          <p:cNvSpPr/>
          <p:nvPr/>
        </p:nvSpPr>
        <p:spPr>
          <a:xfrm>
            <a:off x="548640" y="1389888"/>
            <a:ext cx="3515258" cy="3964940"/>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Development is a measure of how rich or poor a country is.</a:t>
            </a:r>
            <a:endParaRPr lang="en-US" sz="2000" dirty="0"/>
          </a:p>
        </p:txBody>
      </p:sp>
      <p:sp>
        <p:nvSpPr>
          <p:cNvPr id="15" name="point-card"/>
          <p:cNvSpPr/>
          <p:nvPr/>
        </p:nvSpPr>
        <p:spPr>
          <a:xfrm>
            <a:off x="4338218" y="1389888"/>
            <a:ext cx="3515258" cy="3964940"/>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Using these measures, countries are sorted into groups. HIC means high income country: the rich countries, such as the United Kingdom, Germany, the USA, Japan, Canada, Australia and New Zealand.</a:t>
            </a:r>
            <a:endParaRPr lang="en-US" sz="2000" dirty="0"/>
          </a:p>
        </p:txBody>
      </p:sp>
      <p:sp>
        <p:nvSpPr>
          <p:cNvPr id="19" name="point-card"/>
          <p:cNvSpPr/>
          <p:nvPr/>
        </p:nvSpPr>
        <p:spPr>
          <a:xfrm>
            <a:off x="8127797" y="1389888"/>
            <a:ext cx="3515258" cy="3964940"/>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Some countries are neither. NEE means newly emerging economy: a country whose industry and wealth are growing fast, such as Nigeria, South Africa, Brazil, India, Mexico and China.</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Worked example: Measuring development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F2F5F2"/>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Sort these three countries into HIC, LIC and NEE: Japan, Ethiopia, Brazil.</a:t>
            </a:r>
            <a:endParaRPr lang="en-US" sz="2200" dirty="0"/>
          </a:p>
        </p:txBody>
      </p:sp>
      <p:sp>
        <p:nvSpPr>
          <p:cNvPr id="9" name="step-box"/>
          <p:cNvSpPr/>
          <p:nvPr/>
        </p:nvSpPr>
        <p:spPr>
          <a:xfrm>
            <a:off x="548640" y="2314956"/>
            <a:ext cx="2464994" cy="2252980"/>
          </a:xfrm>
          <a:prstGeom prst="roundRect">
            <a:avLst>
              <a:gd name="adj" fmla="val 3247"/>
            </a:avLst>
          </a:prstGeom>
          <a:solidFill>
            <a:srgbClr val="FFFFFF"/>
          </a:solidFill>
          <a:ln w="15875">
            <a:solidFill>
              <a:srgbClr val="95AE9B"/>
            </a:solidFill>
            <a:prstDash val="solid"/>
          </a:ln>
        </p:spPr>
      </p:sp>
      <p:sp>
        <p:nvSpPr>
          <p:cNvPr id="10" name="step-hex"/>
          <p:cNvSpPr/>
          <p:nvPr/>
        </p:nvSpPr>
        <p:spPr>
          <a:xfrm>
            <a:off x="685800" y="2424684"/>
            <a:ext cx="530352" cy="459285"/>
          </a:xfrm>
          <a:prstGeom prst="hexagon">
            <a:avLst/>
          </a:prstGeom>
          <a:solidFill>
            <a:srgbClr val="3F6B4A"/>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2909316"/>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Ask of each country: is it rich, poor, or getting richer fast?</a:t>
            </a:r>
            <a:endParaRPr lang="en-US" sz="1800" dirty="0"/>
          </a:p>
        </p:txBody>
      </p:sp>
      <p:sp>
        <p:nvSpPr>
          <p:cNvPr id="13" name="arrow"/>
          <p:cNvSpPr/>
          <p:nvPr/>
        </p:nvSpPr>
        <p:spPr>
          <a:xfrm>
            <a:off x="3086786" y="3304286"/>
            <a:ext cx="274320" cy="274320"/>
          </a:xfrm>
          <a:prstGeom prst="rightArrow">
            <a:avLst/>
          </a:prstGeom>
          <a:solidFill>
            <a:srgbClr val="B8862B"/>
          </a:solidFill>
          <a:ln/>
        </p:spPr>
      </p:sp>
      <p:sp>
        <p:nvSpPr>
          <p:cNvPr id="14" name="step-box"/>
          <p:cNvSpPr/>
          <p:nvPr/>
        </p:nvSpPr>
        <p:spPr>
          <a:xfrm>
            <a:off x="3425114" y="2314956"/>
            <a:ext cx="2464994" cy="2252980"/>
          </a:xfrm>
          <a:prstGeom prst="roundRect">
            <a:avLst>
              <a:gd name="adj" fmla="val 3247"/>
            </a:avLst>
          </a:prstGeom>
          <a:solidFill>
            <a:srgbClr val="FFFFFF"/>
          </a:solidFill>
          <a:ln w="15875">
            <a:solidFill>
              <a:srgbClr val="95AE9B"/>
            </a:solidFill>
            <a:prstDash val="solid"/>
          </a:ln>
        </p:spPr>
      </p:sp>
      <p:sp>
        <p:nvSpPr>
          <p:cNvPr id="15" name="step-hex"/>
          <p:cNvSpPr/>
          <p:nvPr/>
        </p:nvSpPr>
        <p:spPr>
          <a:xfrm>
            <a:off x="3562274" y="2424684"/>
            <a:ext cx="530352" cy="459285"/>
          </a:xfrm>
          <a:prstGeom prst="hexagon">
            <a:avLst/>
          </a:prstGeom>
          <a:solidFill>
            <a:srgbClr val="3F6B4A"/>
          </a:solidFill>
          <a:ln/>
        </p:spPr>
      </p:sp>
      <p:sp>
        <p:nvSpPr>
          <p:cNvPr id="16" name="step-hex-label"/>
          <p:cNvSpPr txBox="1"/>
          <p:nvPr/>
        </p:nvSpPr>
        <p:spPr>
          <a:xfrm>
            <a:off x="3562274"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2909316"/>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Japan is one of the world's richest countries: HIC.</a:t>
            </a:r>
            <a:endParaRPr lang="en-US" sz="1800" dirty="0"/>
          </a:p>
        </p:txBody>
      </p:sp>
      <p:sp>
        <p:nvSpPr>
          <p:cNvPr id="18" name="arrow"/>
          <p:cNvSpPr/>
          <p:nvPr/>
        </p:nvSpPr>
        <p:spPr>
          <a:xfrm>
            <a:off x="5963260" y="3304286"/>
            <a:ext cx="274320" cy="274320"/>
          </a:xfrm>
          <a:prstGeom prst="rightArrow">
            <a:avLst/>
          </a:prstGeom>
          <a:solidFill>
            <a:srgbClr val="B8862B"/>
          </a:solidFill>
          <a:ln/>
        </p:spPr>
      </p:sp>
      <p:sp>
        <p:nvSpPr>
          <p:cNvPr id="19" name="step-box"/>
          <p:cNvSpPr/>
          <p:nvPr/>
        </p:nvSpPr>
        <p:spPr>
          <a:xfrm>
            <a:off x="6301588" y="2314956"/>
            <a:ext cx="2464994" cy="2252980"/>
          </a:xfrm>
          <a:prstGeom prst="roundRect">
            <a:avLst>
              <a:gd name="adj" fmla="val 3247"/>
            </a:avLst>
          </a:prstGeom>
          <a:solidFill>
            <a:srgbClr val="FFFFFF"/>
          </a:solidFill>
          <a:ln w="15875">
            <a:solidFill>
              <a:srgbClr val="95AE9B"/>
            </a:solidFill>
            <a:prstDash val="solid"/>
          </a:ln>
        </p:spPr>
      </p:sp>
      <p:sp>
        <p:nvSpPr>
          <p:cNvPr id="20" name="step-hex"/>
          <p:cNvSpPr/>
          <p:nvPr/>
        </p:nvSpPr>
        <p:spPr>
          <a:xfrm>
            <a:off x="6438748" y="2424684"/>
            <a:ext cx="530352" cy="459285"/>
          </a:xfrm>
          <a:prstGeom prst="hexagon">
            <a:avLst/>
          </a:prstGeom>
          <a:solidFill>
            <a:srgbClr val="3F6B4A"/>
          </a:solidFill>
          <a:ln/>
        </p:spPr>
      </p:sp>
      <p:sp>
        <p:nvSpPr>
          <p:cNvPr id="21" name="step-hex-label"/>
          <p:cNvSpPr txBox="1"/>
          <p:nvPr/>
        </p:nvSpPr>
        <p:spPr>
          <a:xfrm>
            <a:off x="643874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2909316"/>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Ethiopia is one of the poorest: LIC.</a:t>
            </a:r>
            <a:endParaRPr lang="en-US" sz="1800" dirty="0"/>
          </a:p>
        </p:txBody>
      </p:sp>
      <p:sp>
        <p:nvSpPr>
          <p:cNvPr id="23" name="arrow"/>
          <p:cNvSpPr/>
          <p:nvPr/>
        </p:nvSpPr>
        <p:spPr>
          <a:xfrm>
            <a:off x="8839733" y="3304286"/>
            <a:ext cx="274320" cy="274320"/>
          </a:xfrm>
          <a:prstGeom prst="rightArrow">
            <a:avLst/>
          </a:prstGeom>
          <a:solidFill>
            <a:srgbClr val="B8862B"/>
          </a:solidFill>
          <a:ln/>
        </p:spPr>
      </p:sp>
      <p:sp>
        <p:nvSpPr>
          <p:cNvPr id="24" name="step-box"/>
          <p:cNvSpPr/>
          <p:nvPr/>
        </p:nvSpPr>
        <p:spPr>
          <a:xfrm>
            <a:off x="9178061" y="2314956"/>
            <a:ext cx="2464994" cy="2252980"/>
          </a:xfrm>
          <a:prstGeom prst="roundRect">
            <a:avLst>
              <a:gd name="adj" fmla="val 3247"/>
            </a:avLst>
          </a:prstGeom>
          <a:solidFill>
            <a:srgbClr val="FFFFFF"/>
          </a:solidFill>
          <a:ln w="15875">
            <a:solidFill>
              <a:srgbClr val="95AE9B"/>
            </a:solidFill>
            <a:prstDash val="solid"/>
          </a:ln>
        </p:spPr>
      </p:sp>
      <p:sp>
        <p:nvSpPr>
          <p:cNvPr id="25" name="step-hex"/>
          <p:cNvSpPr/>
          <p:nvPr/>
        </p:nvSpPr>
        <p:spPr>
          <a:xfrm>
            <a:off x="9315221" y="2424684"/>
            <a:ext cx="530352" cy="459285"/>
          </a:xfrm>
          <a:prstGeom prst="hexagon">
            <a:avLst/>
          </a:prstGeom>
          <a:solidFill>
            <a:srgbClr val="3F6B4A"/>
          </a:solidFill>
          <a:ln/>
        </p:spPr>
      </p:sp>
      <p:sp>
        <p:nvSpPr>
          <p:cNvPr id="26" name="step-hex-label"/>
          <p:cNvSpPr txBox="1"/>
          <p:nvPr/>
        </p:nvSpPr>
        <p:spPr>
          <a:xfrm>
            <a:off x="9315221"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2909316"/>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Brazil has fast-growing industry and cities but also many poor people: NEE.</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Japan: HIC. Ethiopia: LIC. Brazil: NEE.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development gap, and why it grows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you explain the development gap, give the reason and then say which type it is: historical, environmental, economic or social.</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development gap is the difference between the world's richest countries (HICs) and poorest countries (LICs).</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 gave three reasons why the gap gets bigger.</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lesson's card sort grouped the reasons into four kinds.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Globalisation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Four causes of globalisation: ICT, trade, transport, TNCs. All four start with the idea of things moving faster and further.</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People say we live in a shrinking world. They do not mean the Earth is getting smaller; they mean that places feel closer together.</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Your lesson identified four factors that drive globalisation. ICT, information and communication technology, lets people talk and do business instantly across the world.</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Globalisation has advantages and disadvantages, and it affects almost everyone.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Your phone and the Congo</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Social is about people and communities; economic is about money and jobs; environmental is about land, water, plants and animals.</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Inside almost every mobile phone is a metal made from a mineral called coltan (columbite-tantalite).</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 asked you to sort seven impacts into social, economic and environmental.</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Geographers do not use this to make anyone feel guilty for owning a phone.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The task: What each measure of development tells you</a:t>
            </a:r>
            <a:endParaRPr lang="en-US" sz="26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measure of development to what it tells you.</a:t>
            </a:r>
            <a:endParaRPr lang="en-US" sz="2400" dirty="0"/>
          </a:p>
        </p:txBody>
      </p:sp>
      <p:sp>
        <p:nvSpPr>
          <p:cNvPr id="11" name="match-card"/>
          <p:cNvSpPr/>
          <p:nvPr/>
        </p:nvSpPr>
        <p:spPr>
          <a:xfrm>
            <a:off x="777240" y="2468331"/>
            <a:ext cx="3590023" cy="719592"/>
          </a:xfrm>
          <a:prstGeom prst="roundRect">
            <a:avLst>
              <a:gd name="adj" fmla="val 10166"/>
            </a:avLst>
          </a:prstGeom>
          <a:solidFill>
            <a:srgbClr val="F5F8F6"/>
          </a:solidFill>
          <a:ln/>
        </p:spPr>
      </p:sp>
      <p:sp>
        <p:nvSpPr>
          <p:cNvPr id="12" name="match-hex"/>
          <p:cNvSpPr/>
          <p:nvPr/>
        </p:nvSpPr>
        <p:spPr>
          <a:xfrm>
            <a:off x="850392" y="2661835"/>
            <a:ext cx="384048" cy="332586"/>
          </a:xfrm>
          <a:prstGeom prst="hexagon">
            <a:avLst/>
          </a:prstGeom>
          <a:solidFill>
            <a:srgbClr val="3F6B4A"/>
          </a:solidFill>
          <a:ln/>
        </p:spPr>
      </p:sp>
      <p:sp>
        <p:nvSpPr>
          <p:cNvPr id="13" name="match-hex-label"/>
          <p:cNvSpPr txBox="1"/>
          <p:nvPr/>
        </p:nvSpPr>
        <p:spPr>
          <a:xfrm>
            <a:off x="850392" y="266183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995663" cy="7195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Life expectancy</a:t>
            </a:r>
            <a:endParaRPr lang="en-US" sz="2200" dirty="0"/>
          </a:p>
        </p:txBody>
      </p:sp>
      <p:sp>
        <p:nvSpPr>
          <p:cNvPr id="15" name="match-card"/>
          <p:cNvSpPr/>
          <p:nvPr/>
        </p:nvSpPr>
        <p:spPr>
          <a:xfrm>
            <a:off x="4733023" y="2468331"/>
            <a:ext cx="6681432" cy="719592"/>
          </a:xfrm>
          <a:prstGeom prst="roundRect">
            <a:avLst>
              <a:gd name="adj" fmla="val 10166"/>
            </a:avLst>
          </a:prstGeom>
          <a:solidFill>
            <a:srgbClr val="F9F4EC"/>
          </a:solidFill>
          <a:ln/>
        </p:spPr>
      </p:sp>
      <p:sp>
        <p:nvSpPr>
          <p:cNvPr id="16" name="match-hex"/>
          <p:cNvSpPr/>
          <p:nvPr/>
        </p:nvSpPr>
        <p:spPr>
          <a:xfrm>
            <a:off x="4806175" y="2661835"/>
            <a:ext cx="384048" cy="332586"/>
          </a:xfrm>
          <a:prstGeom prst="hexagon">
            <a:avLst/>
          </a:prstGeom>
          <a:solidFill>
            <a:srgbClr val="B8862B"/>
          </a:solidFill>
          <a:ln/>
        </p:spPr>
      </p:sp>
      <p:sp>
        <p:nvSpPr>
          <p:cNvPr id="17" name="match-hex-label"/>
          <p:cNvSpPr txBox="1"/>
          <p:nvPr/>
        </p:nvSpPr>
        <p:spPr>
          <a:xfrm>
            <a:off x="4806175" y="266183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5254231" y="2468331"/>
            <a:ext cx="6087072" cy="7195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How many children die young</a:t>
            </a:r>
            <a:endParaRPr lang="en-US" sz="2200" dirty="0"/>
          </a:p>
        </p:txBody>
      </p:sp>
      <p:sp>
        <p:nvSpPr>
          <p:cNvPr id="19" name="match-card"/>
          <p:cNvSpPr/>
          <p:nvPr/>
        </p:nvSpPr>
        <p:spPr>
          <a:xfrm>
            <a:off x="777240" y="3279364"/>
            <a:ext cx="3590023" cy="1060460"/>
          </a:xfrm>
          <a:prstGeom prst="roundRect">
            <a:avLst>
              <a:gd name="adj" fmla="val 6898"/>
            </a:avLst>
          </a:prstGeom>
          <a:solidFill>
            <a:srgbClr val="F5F8F6"/>
          </a:solidFill>
          <a:ln/>
        </p:spPr>
      </p:sp>
      <p:sp>
        <p:nvSpPr>
          <p:cNvPr id="20" name="match-hex"/>
          <p:cNvSpPr/>
          <p:nvPr/>
        </p:nvSpPr>
        <p:spPr>
          <a:xfrm>
            <a:off x="850392" y="3643301"/>
            <a:ext cx="384048" cy="332586"/>
          </a:xfrm>
          <a:prstGeom prst="hexagon">
            <a:avLst/>
          </a:prstGeom>
          <a:solidFill>
            <a:srgbClr val="3F6B4A"/>
          </a:solidFill>
          <a:ln/>
        </p:spPr>
      </p:sp>
      <p:sp>
        <p:nvSpPr>
          <p:cNvPr id="21" name="match-hex-label"/>
          <p:cNvSpPr txBox="1"/>
          <p:nvPr/>
        </p:nvSpPr>
        <p:spPr>
          <a:xfrm>
            <a:off x="850392" y="364330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279364"/>
            <a:ext cx="2995663" cy="106046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Gross Domestic Product (GDP)</a:t>
            </a:r>
            <a:endParaRPr lang="en-US" sz="2200" dirty="0"/>
          </a:p>
        </p:txBody>
      </p:sp>
      <p:sp>
        <p:nvSpPr>
          <p:cNvPr id="23" name="match-card"/>
          <p:cNvSpPr/>
          <p:nvPr/>
        </p:nvSpPr>
        <p:spPr>
          <a:xfrm>
            <a:off x="4733023" y="3279364"/>
            <a:ext cx="6681432" cy="1060460"/>
          </a:xfrm>
          <a:prstGeom prst="roundRect">
            <a:avLst>
              <a:gd name="adj" fmla="val 6898"/>
            </a:avLst>
          </a:prstGeom>
          <a:solidFill>
            <a:srgbClr val="F9F4EC"/>
          </a:solidFill>
          <a:ln/>
        </p:spPr>
      </p:sp>
      <p:sp>
        <p:nvSpPr>
          <p:cNvPr id="24" name="match-hex"/>
          <p:cNvSpPr/>
          <p:nvPr/>
        </p:nvSpPr>
        <p:spPr>
          <a:xfrm>
            <a:off x="4806175" y="3643301"/>
            <a:ext cx="384048" cy="332586"/>
          </a:xfrm>
          <a:prstGeom prst="hexagon">
            <a:avLst/>
          </a:prstGeom>
          <a:solidFill>
            <a:srgbClr val="B8862B"/>
          </a:solidFill>
          <a:ln/>
        </p:spPr>
      </p:sp>
      <p:sp>
        <p:nvSpPr>
          <p:cNvPr id="25" name="match-hex-label"/>
          <p:cNvSpPr txBox="1"/>
          <p:nvPr/>
        </p:nvSpPr>
        <p:spPr>
          <a:xfrm>
            <a:off x="4806175" y="364330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5254231" y="3279364"/>
            <a:ext cx="6087072" cy="106046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How much money a country makes, and so how much people earn</a:t>
            </a:r>
            <a:endParaRPr lang="en-US" sz="2200" dirty="0"/>
          </a:p>
        </p:txBody>
      </p:sp>
      <p:sp>
        <p:nvSpPr>
          <p:cNvPr id="27" name="match-card"/>
          <p:cNvSpPr/>
          <p:nvPr/>
        </p:nvSpPr>
        <p:spPr>
          <a:xfrm>
            <a:off x="777240" y="4431264"/>
            <a:ext cx="3590023" cy="719592"/>
          </a:xfrm>
          <a:prstGeom prst="roundRect">
            <a:avLst>
              <a:gd name="adj" fmla="val 10166"/>
            </a:avLst>
          </a:prstGeom>
          <a:solidFill>
            <a:srgbClr val="F5F8F6"/>
          </a:solidFill>
          <a:ln/>
        </p:spPr>
      </p:sp>
      <p:sp>
        <p:nvSpPr>
          <p:cNvPr id="28" name="match-hex"/>
          <p:cNvSpPr/>
          <p:nvPr/>
        </p:nvSpPr>
        <p:spPr>
          <a:xfrm>
            <a:off x="850392" y="4624767"/>
            <a:ext cx="384048" cy="332586"/>
          </a:xfrm>
          <a:prstGeom prst="hexagon">
            <a:avLst/>
          </a:prstGeom>
          <a:solidFill>
            <a:srgbClr val="3F6B4A"/>
          </a:solidFill>
          <a:ln/>
        </p:spPr>
      </p:sp>
      <p:sp>
        <p:nvSpPr>
          <p:cNvPr id="29" name="match-hex-label"/>
          <p:cNvSpPr txBox="1"/>
          <p:nvPr/>
        </p:nvSpPr>
        <p:spPr>
          <a:xfrm>
            <a:off x="850392" y="462476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431264"/>
            <a:ext cx="2995663" cy="7195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Infant mortality</a:t>
            </a:r>
            <a:endParaRPr lang="en-US" sz="2200" dirty="0"/>
          </a:p>
        </p:txBody>
      </p:sp>
      <p:sp>
        <p:nvSpPr>
          <p:cNvPr id="31" name="match-card"/>
          <p:cNvSpPr/>
          <p:nvPr/>
        </p:nvSpPr>
        <p:spPr>
          <a:xfrm>
            <a:off x="4733023" y="4431264"/>
            <a:ext cx="6681432" cy="719592"/>
          </a:xfrm>
          <a:prstGeom prst="roundRect">
            <a:avLst>
              <a:gd name="adj" fmla="val 10166"/>
            </a:avLst>
          </a:prstGeom>
          <a:solidFill>
            <a:srgbClr val="F9F4EC"/>
          </a:solidFill>
          <a:ln/>
        </p:spPr>
      </p:sp>
      <p:sp>
        <p:nvSpPr>
          <p:cNvPr id="32" name="match-hex"/>
          <p:cNvSpPr/>
          <p:nvPr/>
        </p:nvSpPr>
        <p:spPr>
          <a:xfrm>
            <a:off x="4806175" y="4624767"/>
            <a:ext cx="384048" cy="332586"/>
          </a:xfrm>
          <a:prstGeom prst="hexagon">
            <a:avLst/>
          </a:prstGeom>
          <a:solidFill>
            <a:srgbClr val="B8862B"/>
          </a:solidFill>
          <a:ln/>
        </p:spPr>
      </p:sp>
      <p:sp>
        <p:nvSpPr>
          <p:cNvPr id="33" name="match-hex-label"/>
          <p:cNvSpPr txBox="1"/>
          <p:nvPr/>
        </p:nvSpPr>
        <p:spPr>
          <a:xfrm>
            <a:off x="4806175" y="462476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5254231" y="4431264"/>
            <a:ext cx="6087072" cy="7195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How many adults can read and write</a:t>
            </a:r>
            <a:endParaRPr lang="en-US" sz="2200" dirty="0"/>
          </a:p>
        </p:txBody>
      </p:sp>
      <p:sp>
        <p:nvSpPr>
          <p:cNvPr id="35" name="match-card"/>
          <p:cNvSpPr/>
          <p:nvPr/>
        </p:nvSpPr>
        <p:spPr>
          <a:xfrm>
            <a:off x="777240" y="5242296"/>
            <a:ext cx="3590023" cy="719592"/>
          </a:xfrm>
          <a:prstGeom prst="roundRect">
            <a:avLst>
              <a:gd name="adj" fmla="val 10166"/>
            </a:avLst>
          </a:prstGeom>
          <a:solidFill>
            <a:srgbClr val="F5F8F6"/>
          </a:solidFill>
          <a:ln/>
        </p:spPr>
      </p:sp>
      <p:sp>
        <p:nvSpPr>
          <p:cNvPr id="36" name="match-hex"/>
          <p:cNvSpPr/>
          <p:nvPr/>
        </p:nvSpPr>
        <p:spPr>
          <a:xfrm>
            <a:off x="850392" y="5435799"/>
            <a:ext cx="384048" cy="332586"/>
          </a:xfrm>
          <a:prstGeom prst="hexagon">
            <a:avLst/>
          </a:prstGeom>
          <a:solidFill>
            <a:srgbClr val="3F6B4A"/>
          </a:solidFill>
          <a:ln/>
        </p:spPr>
      </p:sp>
      <p:sp>
        <p:nvSpPr>
          <p:cNvPr id="37" name="match-hex-label"/>
          <p:cNvSpPr txBox="1"/>
          <p:nvPr/>
        </p:nvSpPr>
        <p:spPr>
          <a:xfrm>
            <a:off x="850392" y="543579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242296"/>
            <a:ext cx="2995663" cy="7195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Adult literacy rate</a:t>
            </a:r>
            <a:endParaRPr lang="en-US" sz="2200" dirty="0"/>
          </a:p>
        </p:txBody>
      </p:sp>
      <p:sp>
        <p:nvSpPr>
          <p:cNvPr id="39" name="match-card"/>
          <p:cNvSpPr/>
          <p:nvPr/>
        </p:nvSpPr>
        <p:spPr>
          <a:xfrm>
            <a:off x="4733023" y="5242296"/>
            <a:ext cx="6681432" cy="719592"/>
          </a:xfrm>
          <a:prstGeom prst="roundRect">
            <a:avLst>
              <a:gd name="adj" fmla="val 10166"/>
            </a:avLst>
          </a:prstGeom>
          <a:solidFill>
            <a:srgbClr val="F9F4EC"/>
          </a:solidFill>
          <a:ln/>
        </p:spPr>
      </p:sp>
      <p:sp>
        <p:nvSpPr>
          <p:cNvPr id="40" name="match-hex"/>
          <p:cNvSpPr/>
          <p:nvPr/>
        </p:nvSpPr>
        <p:spPr>
          <a:xfrm>
            <a:off x="4806175" y="5435799"/>
            <a:ext cx="384048" cy="332586"/>
          </a:xfrm>
          <a:prstGeom prst="hexagon">
            <a:avLst/>
          </a:prstGeom>
          <a:solidFill>
            <a:srgbClr val="B8862B"/>
          </a:solidFill>
          <a:ln/>
        </p:spPr>
      </p:sp>
      <p:sp>
        <p:nvSpPr>
          <p:cNvPr id="41" name="match-hex-label"/>
          <p:cNvSpPr txBox="1"/>
          <p:nvPr/>
        </p:nvSpPr>
        <p:spPr>
          <a:xfrm>
            <a:off x="4806175" y="543579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5254231" y="5242296"/>
            <a:ext cx="6087072" cy="7195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How long people live, on average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Same task, three ways in: What each measure of development tells you</a:t>
            </a:r>
            <a:endParaRPr lang="en-US" sz="24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measure of development to what it tells you.</a:t>
            </a:r>
            <a:endParaRPr lang="en-US" sz="2000" dirty="0"/>
          </a:p>
        </p:txBody>
      </p:sp>
      <p:sp>
        <p:nvSpPr>
          <p:cNvPr id="12" name="col-Support"/>
          <p:cNvSpPr/>
          <p:nvPr/>
        </p:nvSpPr>
        <p:spPr>
          <a:xfrm>
            <a:off x="548640" y="2578608"/>
            <a:ext cx="4667802" cy="3566160"/>
          </a:xfrm>
          <a:prstGeom prst="roundRect">
            <a:avLst>
              <a:gd name="adj" fmla="val 1538"/>
            </a:avLst>
          </a:prstGeom>
          <a:solidFill>
            <a:srgbClr val="F2F5F2"/>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Take the words apart. Life expectancy: how long you can expect to live.</a:t>
            </a:r>
            <a:endParaRPr lang="en-US" sz="2000" dirty="0"/>
          </a:p>
          <a:p>
            <a:pPr algn="l" indent="0" marL="0">
              <a:spcAft>
                <a:spcPts val="600"/>
              </a:spcAft>
              <a:buNone/>
            </a:pPr>
            <a:r>
              <a:rPr lang="en-US" sz="20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Infant means baby or young child; mortality means death.</a:t>
            </a:r>
            <a:endParaRPr lang="en-US" sz="2000" dirty="0"/>
          </a:p>
          <a:p>
            <a:pPr algn="l" indent="0" marL="0">
              <a:spcAft>
                <a:spcPts val="600"/>
              </a:spcAft>
              <a:buNone/>
            </a:pPr>
            <a:r>
              <a:rPr lang="en-US" sz="20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Literacy means reading and writing.</a:t>
            </a:r>
            <a:endParaRPr lang="en-US" sz="2000" dirty="0"/>
          </a:p>
          <a:p>
            <a:pPr algn="l" indent="0" marL="0">
              <a:spcAft>
                <a:spcPts val="600"/>
              </a:spcAft>
              <a:buNone/>
            </a:pPr>
            <a:r>
              <a:rPr lang="en-US" sz="20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one left, GDP, is about money.</a:t>
            </a:r>
            <a:endParaRPr lang="en-US" sz="2000" dirty="0"/>
          </a:p>
        </p:txBody>
      </p:sp>
      <p:sp>
        <p:nvSpPr>
          <p:cNvPr id="17" name="col-Core"/>
          <p:cNvSpPr/>
          <p:nvPr/>
        </p:nvSpPr>
        <p:spPr>
          <a:xfrm>
            <a:off x="5490762" y="2578608"/>
            <a:ext cx="2938987" cy="3566160"/>
          </a:xfrm>
          <a:prstGeom prst="roundRect">
            <a:avLst>
              <a:gd name="adj" fmla="val 1867"/>
            </a:avLst>
          </a:prstGeom>
          <a:solidFill>
            <a:srgbClr val="DBE3DD"/>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2000" b="1" dirty="0">
                <a:solidFill>
                  <a:srgbClr val="32563B"/>
                </a:solidFill>
                <a:latin typeface="Calibri" pitchFamily="34" charset="0"/>
                <a:ea typeface="Calibri" pitchFamily="34" charset="-122"/>
                <a:cs typeface="Calibri" pitchFamily="34" charset="-120"/>
              </a:rPr>
              <a:t>Hint:  </a:t>
            </a:r>
            <a:pPr algn="l" indent="0" marL="0">
              <a:buNone/>
            </a:pPr>
            <a:r>
              <a:rPr lang="en-US" sz="2000" dirty="0">
                <a:solidFill>
                  <a:srgbClr val="1E2229"/>
                </a:solidFill>
                <a:latin typeface="Calibri" pitchFamily="34" charset="0"/>
                <a:ea typeface="Calibri" pitchFamily="34" charset="-122"/>
                <a:cs typeface="Calibri" pitchFamily="34" charset="-120"/>
              </a:rPr>
              <a:t>Three are about people's lives and health; one is about money.</a:t>
            </a:r>
            <a:endParaRPr lang="en-US" sz="2000" dirty="0"/>
          </a:p>
        </p:txBody>
      </p:sp>
      <p:sp>
        <p:nvSpPr>
          <p:cNvPr id="22" name="col-Stretch"/>
          <p:cNvSpPr/>
          <p:nvPr/>
        </p:nvSpPr>
        <p:spPr>
          <a:xfrm>
            <a:off x="8704069" y="2578608"/>
            <a:ext cx="2938987" cy="3566160"/>
          </a:xfrm>
          <a:prstGeom prst="roundRect">
            <a:avLst>
              <a:gd name="adj" fmla="val 1867"/>
            </a:avLst>
          </a:prstGeom>
          <a:solidFill>
            <a:srgbClr val="3F6B4A"/>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2000" b="1" dirty="0">
                <a:solidFill>
                  <a:srgbClr val="D4B680"/>
                </a:solidFill>
                <a:latin typeface="Calibri" pitchFamily="34" charset="0"/>
                <a:ea typeface="Calibri" pitchFamily="34" charset="-122"/>
                <a:cs typeface="Calibri" pitchFamily="34" charset="-120"/>
              </a:rPr>
              <a:t>Then:  </a:t>
            </a:r>
            <a:pPr algn="l" indent="0" marL="0">
              <a:buNone/>
            </a:pPr>
            <a:r>
              <a:rPr lang="en-US" sz="2000" dirty="0">
                <a:solidFill>
                  <a:srgbClr val="FFFFFF"/>
                </a:solidFill>
                <a:latin typeface="Calibri" pitchFamily="34" charset="0"/>
                <a:ea typeface="Calibri" pitchFamily="34" charset="-122"/>
                <a:cs typeface="Calibri" pitchFamily="34" charset="-120"/>
              </a:rPr>
              <a:t>Explain why GDP on its own can hide a big development gap inside a country, using Lagos as your example.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Social, economic or environmental?</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36880"/>
          </a:xfrm>
          <a:prstGeom prst="rect">
            <a:avLst/>
          </a:prstGeom>
          <a:noFill/>
          <a:ln/>
        </p:spPr>
        <p:txBody>
          <a:bodyPr wrap="square" lIns="63500" tIns="63500" rIns="63500" bIns="63500" rtlCol="0" anchor="t"/>
          <a:lstStyle/>
          <a:p>
            <a:pPr algn="ctr" indent="0" marL="0">
              <a:buNone/>
            </a:pPr>
            <a:r>
              <a:rPr lang="en-US" sz="2000" b="1" dirty="0">
                <a:solidFill>
                  <a:srgbClr val="1E2229"/>
                </a:solidFill>
                <a:latin typeface="Calibri" pitchFamily="34" charset="0"/>
                <a:ea typeface="Calibri" pitchFamily="34" charset="-122"/>
                <a:cs typeface="Calibri" pitchFamily="34" charset="-120"/>
              </a:rPr>
              <a:t>Sort each impact of coltan mining in the Congo into the type of impact it is.</a:t>
            </a:r>
            <a:endParaRPr lang="en-US" sz="2000" dirty="0"/>
          </a:p>
        </p:txBody>
      </p:sp>
      <p:sp>
        <p:nvSpPr>
          <p:cNvPr id="11" name="match-card"/>
          <p:cNvSpPr/>
          <p:nvPr/>
        </p:nvSpPr>
        <p:spPr>
          <a:xfrm>
            <a:off x="777240" y="2468331"/>
            <a:ext cx="5135728" cy="1000266"/>
          </a:xfrm>
          <a:prstGeom prst="roundRect">
            <a:avLst>
              <a:gd name="adj" fmla="val 7313"/>
            </a:avLst>
          </a:prstGeom>
          <a:solidFill>
            <a:srgbClr val="F5F8F6"/>
          </a:solidFill>
          <a:ln/>
        </p:spPr>
      </p:sp>
      <p:sp>
        <p:nvSpPr>
          <p:cNvPr id="12" name="match-hex"/>
          <p:cNvSpPr/>
          <p:nvPr/>
        </p:nvSpPr>
        <p:spPr>
          <a:xfrm>
            <a:off x="850392" y="2802171"/>
            <a:ext cx="384048" cy="332586"/>
          </a:xfrm>
          <a:prstGeom prst="hexagon">
            <a:avLst/>
          </a:prstGeom>
          <a:solidFill>
            <a:srgbClr val="3F6B4A"/>
          </a:solidFill>
          <a:ln/>
        </p:spPr>
      </p:sp>
      <p:sp>
        <p:nvSpPr>
          <p:cNvPr id="13" name="match-hex-label"/>
          <p:cNvSpPr txBox="1"/>
          <p:nvPr/>
        </p:nvSpPr>
        <p:spPr>
          <a:xfrm>
            <a:off x="850392" y="280217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4541368" cy="100026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Land is cleared to make mining easier and the natural habitat is destroyed</a:t>
            </a:r>
            <a:endParaRPr lang="en-US" sz="2000" dirty="0"/>
          </a:p>
        </p:txBody>
      </p:sp>
      <p:sp>
        <p:nvSpPr>
          <p:cNvPr id="15" name="match-card"/>
          <p:cNvSpPr/>
          <p:nvPr/>
        </p:nvSpPr>
        <p:spPr>
          <a:xfrm>
            <a:off x="6278728" y="2468331"/>
            <a:ext cx="5135728" cy="1000266"/>
          </a:xfrm>
          <a:prstGeom prst="roundRect">
            <a:avLst>
              <a:gd name="adj" fmla="val 7313"/>
            </a:avLst>
          </a:prstGeom>
          <a:solidFill>
            <a:srgbClr val="F9F4EC"/>
          </a:solidFill>
          <a:ln/>
        </p:spPr>
      </p:sp>
      <p:sp>
        <p:nvSpPr>
          <p:cNvPr id="16" name="match-hex"/>
          <p:cNvSpPr/>
          <p:nvPr/>
        </p:nvSpPr>
        <p:spPr>
          <a:xfrm>
            <a:off x="6351880" y="2802171"/>
            <a:ext cx="384048" cy="332586"/>
          </a:xfrm>
          <a:prstGeom prst="hexagon">
            <a:avLst/>
          </a:prstGeom>
          <a:solidFill>
            <a:srgbClr val="B8862B"/>
          </a:solidFill>
          <a:ln/>
        </p:spPr>
      </p:sp>
      <p:sp>
        <p:nvSpPr>
          <p:cNvPr id="17" name="match-hex-label"/>
          <p:cNvSpPr txBox="1"/>
          <p:nvPr/>
        </p:nvSpPr>
        <p:spPr>
          <a:xfrm>
            <a:off x="6351880" y="280217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799936" y="2468331"/>
            <a:ext cx="4541368" cy="100026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Economic</a:t>
            </a:r>
            <a:endParaRPr lang="en-US" sz="2000" dirty="0"/>
          </a:p>
        </p:txBody>
      </p:sp>
      <p:sp>
        <p:nvSpPr>
          <p:cNvPr id="19" name="match-card"/>
          <p:cNvSpPr/>
          <p:nvPr/>
        </p:nvSpPr>
        <p:spPr>
          <a:xfrm>
            <a:off x="777240" y="3560037"/>
            <a:ext cx="5135728" cy="1310146"/>
          </a:xfrm>
          <a:prstGeom prst="roundRect">
            <a:avLst>
              <a:gd name="adj" fmla="val 5583"/>
            </a:avLst>
          </a:prstGeom>
          <a:solidFill>
            <a:srgbClr val="F5F8F6"/>
          </a:solidFill>
          <a:ln/>
        </p:spPr>
      </p:sp>
      <p:sp>
        <p:nvSpPr>
          <p:cNvPr id="20" name="match-hex"/>
          <p:cNvSpPr/>
          <p:nvPr/>
        </p:nvSpPr>
        <p:spPr>
          <a:xfrm>
            <a:off x="850392" y="4048817"/>
            <a:ext cx="384048" cy="332586"/>
          </a:xfrm>
          <a:prstGeom prst="hexagon">
            <a:avLst/>
          </a:prstGeom>
          <a:solidFill>
            <a:srgbClr val="3F6B4A"/>
          </a:solidFill>
          <a:ln/>
        </p:spPr>
      </p:sp>
      <p:sp>
        <p:nvSpPr>
          <p:cNvPr id="21" name="match-hex-label"/>
          <p:cNvSpPr txBox="1"/>
          <p:nvPr/>
        </p:nvSpPr>
        <p:spPr>
          <a:xfrm>
            <a:off x="850392"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560037"/>
            <a:ext cx="4541368" cy="131014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Farmers can no longer grow food on mined land and must look for other food and work</a:t>
            </a:r>
            <a:endParaRPr lang="en-US" sz="2000" dirty="0"/>
          </a:p>
        </p:txBody>
      </p:sp>
      <p:sp>
        <p:nvSpPr>
          <p:cNvPr id="23" name="match-card"/>
          <p:cNvSpPr/>
          <p:nvPr/>
        </p:nvSpPr>
        <p:spPr>
          <a:xfrm>
            <a:off x="6278728" y="3560037"/>
            <a:ext cx="5135728" cy="1310146"/>
          </a:xfrm>
          <a:prstGeom prst="roundRect">
            <a:avLst>
              <a:gd name="adj" fmla="val 5583"/>
            </a:avLst>
          </a:prstGeom>
          <a:solidFill>
            <a:srgbClr val="F9F4EC"/>
          </a:solidFill>
          <a:ln/>
        </p:spPr>
      </p:sp>
      <p:sp>
        <p:nvSpPr>
          <p:cNvPr id="24" name="match-hex"/>
          <p:cNvSpPr/>
          <p:nvPr/>
        </p:nvSpPr>
        <p:spPr>
          <a:xfrm>
            <a:off x="6351880" y="4048817"/>
            <a:ext cx="384048" cy="332586"/>
          </a:xfrm>
          <a:prstGeom prst="hexagon">
            <a:avLst/>
          </a:prstGeom>
          <a:solidFill>
            <a:srgbClr val="B8862B"/>
          </a:solidFill>
          <a:ln/>
        </p:spPr>
      </p:sp>
      <p:sp>
        <p:nvSpPr>
          <p:cNvPr id="25" name="match-hex-label"/>
          <p:cNvSpPr txBox="1"/>
          <p:nvPr/>
        </p:nvSpPr>
        <p:spPr>
          <a:xfrm>
            <a:off x="6351880"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799936" y="3560037"/>
            <a:ext cx="4541368" cy="131014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Environmental</a:t>
            </a:r>
            <a:endParaRPr lang="en-US" sz="2000" dirty="0"/>
          </a:p>
        </p:txBody>
      </p:sp>
      <p:sp>
        <p:nvSpPr>
          <p:cNvPr id="27" name="match-card"/>
          <p:cNvSpPr/>
          <p:nvPr/>
        </p:nvSpPr>
        <p:spPr>
          <a:xfrm>
            <a:off x="777240" y="4961622"/>
            <a:ext cx="5135728" cy="1000266"/>
          </a:xfrm>
          <a:prstGeom prst="roundRect">
            <a:avLst>
              <a:gd name="adj" fmla="val 7313"/>
            </a:avLst>
          </a:prstGeom>
          <a:solidFill>
            <a:srgbClr val="F5F8F6"/>
          </a:solidFill>
          <a:ln/>
        </p:spPr>
      </p:sp>
      <p:sp>
        <p:nvSpPr>
          <p:cNvPr id="28" name="match-hex"/>
          <p:cNvSpPr/>
          <p:nvPr/>
        </p:nvSpPr>
        <p:spPr>
          <a:xfrm>
            <a:off x="850392" y="5295462"/>
            <a:ext cx="384048" cy="332586"/>
          </a:xfrm>
          <a:prstGeom prst="hexagon">
            <a:avLst/>
          </a:prstGeom>
          <a:solidFill>
            <a:srgbClr val="3F6B4A"/>
          </a:solidFill>
          <a:ln/>
        </p:spPr>
      </p:sp>
      <p:sp>
        <p:nvSpPr>
          <p:cNvPr id="29" name="match-hex-label"/>
          <p:cNvSpPr txBox="1"/>
          <p:nvPr/>
        </p:nvSpPr>
        <p:spPr>
          <a:xfrm>
            <a:off x="850392" y="529546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961622"/>
            <a:ext cx="4541368" cy="100026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Armed groups fight to control the coltan, and the money pays for their militias</a:t>
            </a:r>
            <a:endParaRPr lang="en-US" sz="2000" dirty="0"/>
          </a:p>
        </p:txBody>
      </p:sp>
      <p:sp>
        <p:nvSpPr>
          <p:cNvPr id="31" name="match-card"/>
          <p:cNvSpPr/>
          <p:nvPr/>
        </p:nvSpPr>
        <p:spPr>
          <a:xfrm>
            <a:off x="6278728" y="4961622"/>
            <a:ext cx="5135728" cy="1000266"/>
          </a:xfrm>
          <a:prstGeom prst="roundRect">
            <a:avLst>
              <a:gd name="adj" fmla="val 7313"/>
            </a:avLst>
          </a:prstGeom>
          <a:solidFill>
            <a:srgbClr val="F9F4EC"/>
          </a:solidFill>
          <a:ln/>
        </p:spPr>
      </p:sp>
      <p:sp>
        <p:nvSpPr>
          <p:cNvPr id="32" name="match-hex"/>
          <p:cNvSpPr/>
          <p:nvPr/>
        </p:nvSpPr>
        <p:spPr>
          <a:xfrm>
            <a:off x="6351880" y="5295462"/>
            <a:ext cx="384048" cy="332586"/>
          </a:xfrm>
          <a:prstGeom prst="hexagon">
            <a:avLst/>
          </a:prstGeom>
          <a:solidFill>
            <a:srgbClr val="B8862B"/>
          </a:solidFill>
          <a:ln/>
        </p:spPr>
      </p:sp>
      <p:sp>
        <p:nvSpPr>
          <p:cNvPr id="33" name="match-hex-label"/>
          <p:cNvSpPr txBox="1"/>
          <p:nvPr/>
        </p:nvSpPr>
        <p:spPr>
          <a:xfrm>
            <a:off x="6351880" y="529546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6799936" y="4961622"/>
            <a:ext cx="4541368" cy="100026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Social</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Same task, three ways in: Social, economic or environmental?</a:t>
            </a:r>
            <a:endParaRPr lang="en-US" sz="24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Social, economic or environmental?</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2F5F2"/>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Environmental means land, water, plants and animals. Which impact is about the forest?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Economic means money, jobs and making a living. Which impact is about losing a livelihood?</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Social means people, communities and safety. Which impact is about fighting?</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each one by asking: who or what is harmed?</a:t>
            </a:r>
            <a:endParaRPr lang="en-US" sz="1800" dirty="0"/>
          </a:p>
        </p:txBody>
      </p:sp>
      <p:sp>
        <p:nvSpPr>
          <p:cNvPr id="17" name="col-Core"/>
          <p:cNvSpPr/>
          <p:nvPr/>
        </p:nvSpPr>
        <p:spPr>
          <a:xfrm>
            <a:off x="6425403" y="2395728"/>
            <a:ext cx="2471666" cy="3749040"/>
          </a:xfrm>
          <a:prstGeom prst="roundRect">
            <a:avLst>
              <a:gd name="adj" fmla="val 2220"/>
            </a:avLst>
          </a:prstGeom>
          <a:solidFill>
            <a:srgbClr val="DBE3DD"/>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Forest and animals: environmental. Jobs and food to sell: economic. People, fighting and communities: social.</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3F6B4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One of the lesson's impacts, that the chance to make money reduces the chance of peace, was labelled both economic and social. Explain why it fits both.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987040"/>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Nigeria has fast-growing industry and cities, but also many poor people. Which group does the lesson place it in?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NEE: a newly emerging economy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HIC: a high income country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LIC: a low income country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country with no development at all</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9F8"/>
          </a:solidFill>
          <a:ln w="12700">
            <a:solidFill>
              <a:srgbClr val="A5B9AA"/>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Answers: What each measure of development tells you</a:t>
            </a:r>
            <a:endParaRPr lang="en-US" sz="26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Life expectancy  →  D  How long people live, on average</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Gross Domestic Product (GDP)  →  B  How much money a country makes, and so how much people earn</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Infant mortality  →  A  How many children die young</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Adult literacy rate  →  C  How many adults can read and write</a:t>
            </a:r>
            <a:endParaRPr lang="en-US" sz="22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Life expectancy is how long people live; GDP is how much money a country makes; infant mortality is how many children die young; adult literacy is how many adults can read and write. Together they give a fuller picture than money alone.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Social, economic or environmental?</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Land is cleared to make mining easier and the natural habitat is destroyed  →  B  Environmental</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Farmers can no longer grow food on mined land and must look for other food and work  →  A  Economic</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Armed groups fight to control the coltan, and the money pays for their militias  →  C  Social</a:t>
            </a:r>
            <a:endParaRPr lang="en-US" sz="24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Clearing land and destroying habitat harms the natural world: environmental. Farmers losing their land and livelihood is about money and work: economic. Fighting over the coltan and funding militias is about people and communities: social.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Nigeria has fast-growing industry and cities, but also many poor people. Which group does the lesson place it in?</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NEE: a newly emerging economy</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Nigeria is an NEE, a newly emerging economy, along with South Africa, Brazil, India, Mexico and China.</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F2F5F2"/>
      </a:lt2>
      <a:accent1>
        <a:srgbClr val="3F6B4A"/>
      </a:accent1>
      <a:accent2>
        <a:srgbClr val="B8862B"/>
      </a:accent2>
      <a:accent3>
        <a:srgbClr val="8CA692"/>
      </a:accent3>
      <a:accent4>
        <a:srgbClr val="815E1E"/>
      </a:accent4>
      <a:accent5>
        <a:srgbClr val="4A505C"/>
      </a:accent5>
      <a:accent6>
        <a:srgbClr val="DEC69B"/>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Africa: A Continent, Not a Country · Chapter 5: Africa in the wider world: development and globalisation</dc:title>
  <dc:subject>Geography · Year 7</dc:subject>
  <dc:creator>Dr Vitor Merissi de Carvalho</dc:creator>
  <cp:lastModifiedBy>Dr Vitor Merissi de Carvalho</cp:lastModifiedBy>
  <cp:revision>1</cp:revision>
  <dcterms:created xsi:type="dcterms:W3CDTF">2026-10-19T16:22:43Z</dcterms:created>
  <dcterms:modified xsi:type="dcterms:W3CDTF">2026-10-19T16:22:43Z</dcterms:modified>
</cp:coreProperties>
</file>