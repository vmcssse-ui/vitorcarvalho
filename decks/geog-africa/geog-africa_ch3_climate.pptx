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14683d8-a797-a5b5-5c6c-82658985f254}">
          <p14:sldIdLst>
            <p14:sldId id="256"/>
          </p14:sldIdLst>
        </p14:section>
        <p14:section name="Gate" id="{bb9c263f-0138-5a9e-8a22-bd49e39e4268}">
          <p14:sldIdLst>
            <p14:sldId id="257"/>
            <p14:sldId id="258"/>
          </p14:sldIdLst>
        </p14:section>
        <p14:section name="Pre-teach" id="{c6712cfe-b827-88ba-6523-c540993dbd6d}">
          <p14:sldIdLst>
            <p14:sldId id="259"/>
            <p14:sldId id="260"/>
          </p14:sldIdLst>
        </p14:section>
        <p14:section name="Read-along" id="{0b8e0f7f-505b-0869-6bcb-9478823c1319}">
          <p14:sldIdLst>
            <p14:sldId id="261"/>
            <p14:sldId id="262"/>
          </p14:sldIdLst>
        </p14:section>
        <p14:section name="Teach" id="{bef9c364-9f8f-aa5f-6132-09c7ce3d6019}">
          <p14:sldIdLst>
            <p14:sldId id="263"/>
            <p14:sldId id="264"/>
            <p14:sldId id="265"/>
            <p14:sldId id="266"/>
          </p14:sldIdLst>
        </p14:section>
        <p14:section name="Routes" id="{3d4446bd-2b9e-1c8b-3278-24de98a4d986}">
          <p14:sldIdLst>
            <p14:sldId id="267"/>
            <p14:sldId id="268"/>
            <p14:sldId id="269"/>
            <p14:sldId id="270"/>
          </p14:sldIdLst>
        </p14:section>
        <p14:section name="Close" id="{020815b6-e554-b5ab-8206-64ddd04ec381}">
          <p14:sldIdLst>
            <p14:sldId id="271"/>
          </p14:sldIdLst>
        </p14:section>
        <p14:section name="Answers" id="{30b1516c-1ada-176b-3b55-7e5b3e666f79}">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Africa's climate. The difference between weather and climate, how to read a climate graph, how climate varies from the Sahara to South Africa, and what the rainfall means for people.
This deck covers the department's lesson: 4 (African climate: How does climate vary across Africa, and how do climate graphs show it?).
Read the big question aloud: "What is Africa really like, and how have its physical geography, its people and its history shaped the continent today?"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On a climate graph, what do the bars show?  →  A   Rainfall in each month
2. One of the lesson's climate graphs shows 1120 mm of rain in a year and another shows 29 mm. What is the difference between them, in mm?  →  1091 mm
3. In South Africa, August is ___ than December.  →  colder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Rainfall in each month. Bars show monthly rainfall in millimetres. The line shows the average monthly temperature.
2. 1091 mm. Difference means subtract: 1120 − 29 = 1091 mm.
3. colder. South Africa is south of the Equator, so its winter is in the middle of the year. The lesson's quiz confirms August is colder than December there.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climate: the usual weather of a place, averaged over many years. Example: "Egypt has a hot, dry climate."
• climate graph: a graph showing monthly rainfall as bars and monthly temperature as a line. Example: "The climate graph showed almost no rain all year."
• rainfall: the amount of rain that falls, measured in millimetres. Example: "Total rainfall for the year was 831 mm."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temperature: how hot or cold it is, measured in degrees Celsius. Example: "The average temperature was 28 degrees Celsius."
• biome: a very large area with its own plants and animals. Example: "The savanna is a biome of grassland with scattered trees."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Weather is what the sky is doing today.
2. Climate is the usual weather of a place over many years.
3. Africa is so big that its climate is very different from place to place.
4. A climate graph shows two things at once.
5. Bars show how much rain falls in each month.
6. A line shows the average temperature in each month.
7. One place in your lesson has only 29 mm of rain in a whole year.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Another has 1120 mm.
9. Deserts are dry all year.
10. Near the Equator it is hot and wet.
11. Some places have a rainy season and a dry season.
12. In Mali, most rain falls in August.
13. In South Africa, August is colder than December.
14. A biome is a large area with its own plants and animals, like a desert or a rainforest.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Weather, climate and climate graphs. Say it in your own words, then check understanding with a quick question: ask a pupil from the pre-teach group first, since they met these words and ideas before the lesson. Pupils try to recall before you re-explain.
Weather is the condition of the air at one moment: sunny this morning, raining this afternoon. Climate is different. It is the average temperature, rainfall and other weather conditions of a place, worked out over many years. Weather changes by the hour; climate changes very slowly.
Geographers show climate on a climate graph. The months run along the bottom. Bars show the rainfall in each month, read against the scale in millimetres on one side. A line shows the average temperature in each month, read against the scale in degrees Celsius on the other side. One graph tells you how wet and how warm a place is, and when.
To find the total rainfall for the year, add up the twelve bars. To find the maximum and minimum monthly temperature, look for the highest and lowest points on the line. To find when the rainy season is, look for the tallest bars.
Worked example — model it step by step, thinking aloud: A desert climate graph shows 0 mm of rain for nine months of the year, then 10 mm, 12 mm and 7 mm in the other three. What is the total rainfall for the year? (1) Total rainfall means add up every month. (2) Nine months of 0 mm add nothing. (3) Add the three wet months: 10 + 12 = 22, and 22 + 7 = 29. (4) Give the units: 29 mm for the whole year, which is a true desert. Answer: 29 mm.
Tip: Bars are rain; the line is temperature. Rain comes down in bars, temperature goes up and down in a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Weather, climate and climate graphs. Say it in your own words, then check understanding with a quick question: ask a pupil from the pre-teach group first, since they met these words and ideas before the lesson. Pupils try to recall before you re-explain.
Weather is the condition of the air at one moment: sunny this morning, raining this afternoon. Climate is different. It is the average temperature, rainfall and other weather conditions of a place, worked out over many years. Weather changes by the hour; climate changes very slowly.
Geographers show climate on a climate graph. The months run along the bottom. Bars show the rainfall in each month, read against the scale in millimetres on one side. A line shows the average temperature in each month, read against the scale in degrees Celsius on the other side. One graph tells you how wet and how warm a place is, and when.
To find the total rainfall for the year, add up the twelve bars. To find the maximum and minimum monthly temperature, look for the highest and lowest points on the line. To find when the rainy season is, look for the tallest bars.
Worked example — model it step by step, thinking aloud: A desert climate graph shows 0 mm of rain for nine months of the year, then 10 mm, 12 mm and 7 mm in the other three. What is the total rainfall for the year? (1) Total rainfall means add up every month. (2) Nine months of 0 mm add nothing. (3) Add the three wet months: 10 + 12 = 22, and 22 + 7 = 29. (4) Give the units: 29 mm for the whole year, which is a true desert. Answer: 29 mm.
Tip: Bars are rain; the line is temperature. Rain comes down in bars, temperature goes up and down in a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Four climates across one continent. Say it in your own words, then check understanding with a quick question: ask a pupil from the pre-teach group first, since they met these words and ideas before the lesson. Pupils try to recall before you re-explain.
Your lesson gave you four climate graphs from four African countries: Zimbabwe, Mali, Egypt and South Africa. Their yearly totals could hardly be more different. One place receives just 29 mm of rain in a whole year with an average temperature of 28 °C: a hot desert climate, dry in every month. Another receives 1120 mm with an average of 35 °C: very hot, with heavy rain in a wet season. The other two receive 509 mm with an average of 21 °C, and 831 mm with an average of 25 °C.
Working out which graph belongs to which country is the skill the lesson teaches, and you do it with clues. Think about where each country is: the Sahara covers North Africa, so a desert graph belongs to a northern country. Think about the seasons: your lesson's quiz tells you that in Mali the most rain falls in August, so Mali's graph has its tallest bar in August.
Think about the hemisphere too. South Africa lies south of the Equator, so its seasons are the opposite of ours: the lesson's quiz confirms that in South Africa, August is colder than December. On its graph the temperature line dips in the middle of the year. Use the climate map in your atlas, as the lesson asked, to confirm your matches.
Tip: South of the Equator the seasons flip: June to August is winter in South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Biomes, and what the rain means for people. Say it in your own words, then check understanding with a quick question: ask a pupil from the pre-teach group first, since they met these words and ideas before the lesson. Pupils try to recall before you re-explain.
A biome is a very large area with its own community of plants and animals. Africa has several. The Sahara and the Kalahari are hot desert biomes. Near the Equator, where it is hot and wet all year, there is tropical rainforest. Between the forest and the desert lies the savanna, a biome of grassland with scattered trees; the Serengeti in Tanzania is a famous savanna ecosystem.
Rainfall totals matter to people. Where only 29 mm falls in a year, there is almost no water for farming, so very few people can live there. Where 1120 mm falls, crops can grow, but if most of it arrives in a few months there can be floods, and the long dry season that follows can bring water shortages. Climate helps to explain where Africa's people live, which is the subject of the next chapter.
Tip: Too little rain means drought; a lot of rain in a short season can mean floods. Both are problems for farmers.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Which climate is this?.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climate graph shows just 29 mm of rain in the whole year and an average temperature of 28 °C. Which kind of climate is this?
Support — work through the steps with the group: (1) Look at the rain first. Is 29 mm in a whole year a lot or almost nothing? It is almost nothing. (2) Almost no rain in a year means a desert. (3) Look at the temperature. 28 °C on average is hot. (4) Hot and very dry: which option says that?
Parallel worked example for Support (model it, do not give the task answer): A climate graph shows 1120 mm of rain, mostly in a few months, and an average temperature of 35 °C. Which kind of climate is this? 1120 mm is a lot of rain.; If it falls in a few months, there is a wet season and a dry season.; 35 °C is very hot.. Answer: A very hot climate with a wet season and a dry season..
Core — reveal the hint only on request: Decide wet or dry from the rainfall total, then hot or cool from the temperature.
Stretch — no help; when finished: Explain how you could tell from the shape of a climate graph whether a place is north or south of the Equator.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Which climate is this?.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climate graph shows just 29 mm of rain in the whole year and an average temperature of 28 °C. Which kind of climate is this?
Support — work through the steps with the group: (1) Look at the rain first. Is 29 mm in a whole year a lot or almost nothing? It is almost nothing. (2) Almost no rain in a year means a desert. (3) Look at the temperature. 28 °C on average is hot. (4) Hot and very dry: which option says that?
Parallel worked example for Support (model it, do not give the task answer): A climate graph shows 1120 mm of rain, mostly in a few months, and an average temperature of 35 °C. Which kind of climate is this? 1120 mm is a lot of rain.; If it falls in a few months, there is a wet season and a dry season.; 35 °C is very hot.. Answer: A very hot climate with a wet season and a dry season..
Core — reveal the hint only on request: Decide wet or dry from the rainfall total, then hot or cool from the temperature.
Stretch — no help; when finished: Explain how you could tell from the shape of a climate graph whether a place is north or south of the Equator.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temperature range between two places.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hottest of the lesson's four climate graphs has an average temperature of 35 °C and the coolest has 21 °C. How many degrees warmer is the hottest place than the coolest?
Support — work through the steps with the group: (1) Find the two temperatures: 35 °C and 21 °C. (2) Warmer by how much means find the difference, so subtract the smaller from the larger. (3) 35 − 21: take away 20 to get 15, then take away 1 more to get 14. (4) Give the units: 14 °C.
Parallel worked example for Support (model it, do not give the task answer): Two places have average temperatures of 28 °C and 25 °C. How many degrees warmer is the first? Subtract the smaller from the larger.; 28 − 25 = 3.. Answer: 3 °C.
Core — reveal the hint only on request: Difference means subtract. Count up from 21 to 35 if that is easier.
Stretch — no help; when finished: The 35 °C place has 1120 mm of rain and the 21 °C place has 509 mm. Suggest why the hotter place might still be the better one for growing crops.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temperature range between two places.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hottest of the lesson's four climate graphs has an average temperature of 35 °C and the coolest has 21 °C. How many degrees warmer is the hottest place than the coolest?
Support — work through the steps with the group: (1) Find the two temperatures: 35 °C and 21 °C. (2) Warmer by how much means find the difference, so subtract the smaller from the larger. (3) 35 − 21: take away 20 to get 15, then take away 1 more to get 14. (4) Give the units: 14 °C.
Parallel worked example for Support (model it, do not give the task answer): Two places have average temperatures of 28 °C and 25 °C. How many degrees warmer is the first? Subtract the smaller from the larger.; 28 − 25 = 3.. Answer: 3 °C.
Core — reveal the hint only on request: Difference means subtract. Count up from 21 to 35 if that is easier.
Stretch — no help; when finished: The 35 °C place has 1120 mm of rain and the 21 °C place has 509 mm. Suggest why the hotter place might still be the better one for growing crops.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On a climate graph, what do the bars show?
Answer: D   Rainfall in each month. Bars show monthly rainfall in millimetres. The line shows the average monthly temperature.
Source of this question: gate item 1 re-asked (options rotated) — this chapter has no third quick-check module.
The ebook also holds task 3, "What rainfall means for people",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Which climate is this?. Reveal the answer; pupils mark their own work in a different colour, then read the "why" together. Same destination for every lane, so one answer serves the whole class.
Answer: B   A hot desert climate
Why: 29 mm in a year is almost no rain, so the place is a desert, and an average of 28 °C makes it a hot desert. Equatorial climates are hot and wet; cool, wet climates are not 28 °C on average.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The temperature range between two places. Reveal the answer; pupils mark their own work in a different colour, then read the "why" together. Same destination for every lane, so one answer serves the whole class.
Answer: 14 °C
Why: The difference between two temperatures is found by subtraction: 35 − 21 = 14, so the hottest place is 14 °C warmer than the coolest.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Rainfall in each month
Why: Bars show monthly rainfall in millimetres. The line shows the average monthly temperature.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Africa: A Continent, Not a Country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Africa: A Continent, Not a Country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E6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Africa: A Continent, Not a Country · AQA KS3 → 8035</a:t>
            </a:r>
            <a:endParaRPr lang="en-US" sz="1800" dirty="0"/>
          </a:p>
        </p:txBody>
      </p:sp>
      <p:sp>
        <p:nvSpPr>
          <p:cNvPr id="10" name="deck-title"/>
          <p:cNvSpPr txBox="1"/>
          <p:nvPr/>
        </p:nvSpPr>
        <p:spPr>
          <a:xfrm>
            <a:off x="548640" y="2723388"/>
            <a:ext cx="5287975" cy="7874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Africa's climate</a:t>
            </a:r>
            <a:endParaRPr lang="en-US" sz="4000" dirty="0"/>
          </a:p>
        </p:txBody>
      </p:sp>
      <p:sp>
        <p:nvSpPr>
          <p:cNvPr id="11" name="lessons-card"/>
          <p:cNvSpPr/>
          <p:nvPr/>
        </p:nvSpPr>
        <p:spPr>
          <a:xfrm>
            <a:off x="548640" y="3739388"/>
            <a:ext cx="5287975" cy="980440"/>
          </a:xfrm>
          <a:prstGeom prst="roundRect">
            <a:avLst>
              <a:gd name="adj" fmla="val 7461"/>
            </a:avLst>
          </a:prstGeom>
          <a:solidFill>
            <a:srgbClr val="F2F5F2"/>
          </a:solidFill>
          <a:ln/>
        </p:spPr>
      </p:sp>
      <p:sp>
        <p:nvSpPr>
          <p:cNvPr id="12" name="lessons"/>
          <p:cNvSpPr txBox="1"/>
          <p:nvPr/>
        </p:nvSpPr>
        <p:spPr>
          <a:xfrm>
            <a:off x="685800" y="38308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African climate</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F5F2"/>
          </a:solidFill>
          <a:ln w="12700">
            <a:solidFill>
              <a:srgbClr val="B8C8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is Africa really like, and how have its physical geography, its people and its history shaped the continent today?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On a climate graph, what do the bars show?</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Rainfall in each month</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number of people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Temperature in each month</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height of the land</a:t>
            </a:r>
            <a:endParaRPr lang="en-US" sz="2200" dirty="0"/>
          </a:p>
        </p:txBody>
      </p:sp>
      <p:sp>
        <p:nvSpPr>
          <p:cNvPr id="12"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One of the lesson's climate graphs shows 1120 mm of rain in a year and another shows 29 mm. What is the difference between them, in mm?</a:t>
            </a:r>
            <a:endParaRPr lang="en-US" sz="2200" dirty="0"/>
          </a:p>
          <a:p>
            <a:pPr algn="l" indent="0" marL="0">
              <a:buNone/>
            </a:pPr>
            <a:r>
              <a:rPr lang="en-US" sz="2200" b="1" dirty="0">
                <a:solidFill>
                  <a:srgbClr val="3F6B4A"/>
                </a:solidFill>
                <a:latin typeface="Calibri" pitchFamily="34" charset="0"/>
                <a:ea typeface="Calibri" pitchFamily="34" charset="-122"/>
                <a:cs typeface="Calibri" pitchFamily="34" charset="-120"/>
              </a:rPr>
              <a:t>Answer:  </a:t>
            </a:r>
            <a:pPr algn="l" indent="0" marL="0">
              <a:buNone/>
            </a:pPr>
            <a:r>
              <a:rPr lang="en-US" sz="2200" dirty="0">
                <a:solidFill>
                  <a:srgbClr val="1E2229"/>
                </a:solidFill>
                <a:latin typeface="Calibri" pitchFamily="34" charset="0"/>
                <a:ea typeface="Calibri" pitchFamily="34" charset="-122"/>
                <a:cs typeface="Calibri" pitchFamily="34" charset="-120"/>
              </a:rPr>
              <a:t>________ mm</a:t>
            </a:r>
            <a:endParaRPr lang="en-US" sz="2200" dirty="0"/>
          </a:p>
        </p:txBody>
      </p:sp>
      <p:sp>
        <p:nvSpPr>
          <p:cNvPr id="17"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South Africa, August is ___ than December.</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colder  ·  hotter  ·  wetter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FE4D0"/>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Rainfall in each month</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On a climate graph, what do the bars show?</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Bars show monthly rainfall in millimetres. The line shows the average monthly temperature.</a:t>
            </a:r>
            <a:endParaRPr lang="en-US" sz="2000" dirty="0"/>
          </a:p>
        </p:txBody>
      </p:sp>
      <p:sp>
        <p:nvSpPr>
          <p:cNvPr id="14"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1091 mm</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One of the lesson's climate graphs shows 1120 mm of rain in a year and another shows 29 mm. What is the difference between them, in mm?</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Difference means subtract: 1120 − 29 = 1091 mm.</a:t>
            </a:r>
            <a:endParaRPr lang="en-US" sz="2000" dirty="0"/>
          </a:p>
        </p:txBody>
      </p:sp>
      <p:sp>
        <p:nvSpPr>
          <p:cNvPr id="21"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colder</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In South Africa, August is ___ than December.</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South Africa is south of the Equator, so its winter is in the middle of the year. The lesson's quiz confirms August is colder than December there.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8F6"/>
          </a:solidFill>
          <a:ln w="12700">
            <a:solidFill>
              <a:srgbClr val="B8C8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climate</a:t>
            </a:r>
            <a:endParaRPr lang="en-US" sz="2600" dirty="0"/>
          </a:p>
        </p:txBody>
      </p:sp>
      <p:sp>
        <p:nvSpPr>
          <p:cNvPr id="11" name="word-rule"/>
          <p:cNvSpPr/>
          <p:nvPr/>
        </p:nvSpPr>
        <p:spPr>
          <a:xfrm>
            <a:off x="731520" y="2129028"/>
            <a:ext cx="3149498" cy="0"/>
          </a:xfrm>
          <a:prstGeom prst="line">
            <a:avLst/>
          </a:prstGeom>
          <a:ln w="12700">
            <a:solidFill>
              <a:srgbClr val="B8C8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usual weather of a place, averaged over many years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Egypt has a hot, dry climate.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8F6"/>
          </a:solidFill>
          <a:ln w="12700">
            <a:solidFill>
              <a:srgbClr val="B8C8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climate graph</a:t>
            </a:r>
            <a:endParaRPr lang="en-US" sz="2600" dirty="0"/>
          </a:p>
        </p:txBody>
      </p:sp>
      <p:sp>
        <p:nvSpPr>
          <p:cNvPr id="17" name="word-rule"/>
          <p:cNvSpPr/>
          <p:nvPr/>
        </p:nvSpPr>
        <p:spPr>
          <a:xfrm>
            <a:off x="4521098" y="2129028"/>
            <a:ext cx="3149498" cy="0"/>
          </a:xfrm>
          <a:prstGeom prst="line">
            <a:avLst/>
          </a:prstGeom>
          <a:ln w="12700">
            <a:solidFill>
              <a:srgbClr val="B8C8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graph showing monthly rainfall as bars and monthly temperature as a line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climate graph showed almost no rain all year.</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8F6"/>
          </a:solidFill>
          <a:ln w="12700">
            <a:solidFill>
              <a:srgbClr val="B8C8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rainfall</a:t>
            </a:r>
            <a:endParaRPr lang="en-US" sz="2600" dirty="0"/>
          </a:p>
        </p:txBody>
      </p:sp>
      <p:sp>
        <p:nvSpPr>
          <p:cNvPr id="23" name="word-rule"/>
          <p:cNvSpPr/>
          <p:nvPr/>
        </p:nvSpPr>
        <p:spPr>
          <a:xfrm>
            <a:off x="8310677" y="2129028"/>
            <a:ext cx="3149498" cy="0"/>
          </a:xfrm>
          <a:prstGeom prst="line">
            <a:avLst/>
          </a:prstGeom>
          <a:ln w="12700">
            <a:solidFill>
              <a:srgbClr val="B8C8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amount of rain that falls, measured in millimetres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Total rainfall for the year was 831 mm.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5F8F6"/>
          </a:solidFill>
          <a:ln w="12700">
            <a:solidFill>
              <a:srgbClr val="B8C8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temperature</a:t>
            </a:r>
            <a:endParaRPr lang="en-US" sz="2600" dirty="0"/>
          </a:p>
        </p:txBody>
      </p:sp>
      <p:sp>
        <p:nvSpPr>
          <p:cNvPr id="11" name="word-rule"/>
          <p:cNvSpPr/>
          <p:nvPr/>
        </p:nvSpPr>
        <p:spPr>
          <a:xfrm>
            <a:off x="731520" y="2129028"/>
            <a:ext cx="5044288" cy="0"/>
          </a:xfrm>
          <a:prstGeom prst="line">
            <a:avLst/>
          </a:prstGeom>
          <a:ln w="12700">
            <a:solidFill>
              <a:srgbClr val="B8C8BC"/>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how hot or cold it is, measured in degrees Celsius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average temperature was 28 degrees Celsius.</a:t>
            </a:r>
            <a:endParaRPr lang="en-US" sz="2200" dirty="0"/>
          </a:p>
        </p:txBody>
      </p:sp>
      <p:sp>
        <p:nvSpPr>
          <p:cNvPr id="13" name="word-card"/>
          <p:cNvSpPr/>
          <p:nvPr/>
        </p:nvSpPr>
        <p:spPr>
          <a:xfrm>
            <a:off x="6233008" y="1389888"/>
            <a:ext cx="5410048" cy="4754880"/>
          </a:xfrm>
          <a:prstGeom prst="roundRect">
            <a:avLst>
              <a:gd name="adj" fmla="val 1154"/>
            </a:avLst>
          </a:prstGeom>
          <a:solidFill>
            <a:srgbClr val="F5F8F6"/>
          </a:solidFill>
          <a:ln w="12700">
            <a:solidFill>
              <a:srgbClr val="B8C8BC"/>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biome</a:t>
            </a:r>
            <a:endParaRPr lang="en-US" sz="2600" dirty="0"/>
          </a:p>
        </p:txBody>
      </p:sp>
      <p:sp>
        <p:nvSpPr>
          <p:cNvPr id="17" name="word-rule"/>
          <p:cNvSpPr/>
          <p:nvPr/>
        </p:nvSpPr>
        <p:spPr>
          <a:xfrm>
            <a:off x="6415888" y="2129028"/>
            <a:ext cx="5044288" cy="0"/>
          </a:xfrm>
          <a:prstGeom prst="line">
            <a:avLst/>
          </a:prstGeom>
          <a:ln w="12700">
            <a:solidFill>
              <a:srgbClr val="B8C8BC"/>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very large area with its own plants and animals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savanna is a biome of grassland with scattered trees.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Weather is what the sky is doing today.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Climate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the usual weather of a place over many years.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Africa is so big that its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climate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very different from place to place.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climate graph</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shows two things at once.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Bars show how much rain falls in each month.</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line shows the average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temperature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in each month.</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One place in your lesson has only 29 mm of rain in a whole year.</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Another has 1120 mm.</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Deserts are dry all year.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Near the Equator it is hot and wet.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Some places have a rainy season and a dry season.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Mali, most rain falls in August.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South Africa, August is colder than December.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biome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a large area with its own plants and animals, like a desert or a rainforest.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Weather, climate and climate graphs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Bars are rain; the line is temperature. Rain comes down in bars, temperature goes up and down in a line.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Weather is the condition of the air at one moment: sunny this morning, raining this afternoon.</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Geographers show climate on a climate graph. The months run along the bottom.</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To find the total rainfall for the year, add up the twelve bars.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Worked example: Weather, climate and climate graphs</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F5F2"/>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desert climate graph shows 0 mm of rain for nine months of the year, then 10 mm, 12 mm and 7 mm in the other three. What is the total rainfall for the year?</a:t>
            </a:r>
            <a:endParaRPr lang="en-US" sz="2200" dirty="0"/>
          </a:p>
        </p:txBody>
      </p:sp>
      <p:sp>
        <p:nvSpPr>
          <p:cNvPr id="9" name="step-box"/>
          <p:cNvSpPr/>
          <p:nvPr/>
        </p:nvSpPr>
        <p:spPr>
          <a:xfrm>
            <a:off x="548640" y="2655824"/>
            <a:ext cx="2464994" cy="1974088"/>
          </a:xfrm>
          <a:prstGeom prst="roundRect">
            <a:avLst>
              <a:gd name="adj" fmla="val 3706"/>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Total rainfall means add up every month.</a:t>
            </a:r>
            <a:endParaRPr lang="en-US" sz="1800" dirty="0"/>
          </a:p>
        </p:txBody>
      </p:sp>
      <p:sp>
        <p:nvSpPr>
          <p:cNvPr id="13" name="arrow"/>
          <p:cNvSpPr/>
          <p:nvPr/>
        </p:nvSpPr>
        <p:spPr>
          <a:xfrm>
            <a:off x="3086786" y="3505708"/>
            <a:ext cx="274320" cy="274320"/>
          </a:xfrm>
          <a:prstGeom prst="rightArrow">
            <a:avLst/>
          </a:prstGeom>
          <a:solidFill>
            <a:srgbClr val="B8862B"/>
          </a:solidFill>
          <a:ln/>
        </p:spPr>
      </p:sp>
      <p:sp>
        <p:nvSpPr>
          <p:cNvPr id="14" name="step-box"/>
          <p:cNvSpPr/>
          <p:nvPr/>
        </p:nvSpPr>
        <p:spPr>
          <a:xfrm>
            <a:off x="3425114" y="2655824"/>
            <a:ext cx="2464994" cy="1974088"/>
          </a:xfrm>
          <a:prstGeom prst="roundRect">
            <a:avLst>
              <a:gd name="adj" fmla="val 3706"/>
            </a:avLst>
          </a:prstGeom>
          <a:solidFill>
            <a:srgbClr val="FFFFFF"/>
          </a:solidFill>
          <a:ln w="15875">
            <a:solidFill>
              <a:srgbClr val="95AE9B"/>
            </a:solidFill>
            <a:prstDash val="solid"/>
          </a:ln>
        </p:spPr>
      </p:sp>
      <p:sp>
        <p:nvSpPr>
          <p:cNvPr id="15" name="step-hex"/>
          <p:cNvSpPr/>
          <p:nvPr/>
        </p:nvSpPr>
        <p:spPr>
          <a:xfrm>
            <a:off x="3562274" y="2765552"/>
            <a:ext cx="530352" cy="459285"/>
          </a:xfrm>
          <a:prstGeom prst="hexagon">
            <a:avLst/>
          </a:prstGeom>
          <a:solidFill>
            <a:srgbClr val="3F6B4A"/>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Nine months of 0 mm add nothing.</a:t>
            </a:r>
            <a:endParaRPr lang="en-US" sz="1800" dirty="0"/>
          </a:p>
        </p:txBody>
      </p:sp>
      <p:sp>
        <p:nvSpPr>
          <p:cNvPr id="18" name="arrow"/>
          <p:cNvSpPr/>
          <p:nvPr/>
        </p:nvSpPr>
        <p:spPr>
          <a:xfrm>
            <a:off x="5963260" y="3505708"/>
            <a:ext cx="274320" cy="274320"/>
          </a:xfrm>
          <a:prstGeom prst="rightArrow">
            <a:avLst/>
          </a:prstGeom>
          <a:solidFill>
            <a:srgbClr val="B8862B"/>
          </a:solidFill>
          <a:ln/>
        </p:spPr>
      </p:sp>
      <p:sp>
        <p:nvSpPr>
          <p:cNvPr id="19" name="step-box"/>
          <p:cNvSpPr/>
          <p:nvPr/>
        </p:nvSpPr>
        <p:spPr>
          <a:xfrm>
            <a:off x="6301588" y="2655824"/>
            <a:ext cx="2464994" cy="1974088"/>
          </a:xfrm>
          <a:prstGeom prst="roundRect">
            <a:avLst>
              <a:gd name="adj" fmla="val 3706"/>
            </a:avLst>
          </a:prstGeom>
          <a:solidFill>
            <a:srgbClr val="FFFFFF"/>
          </a:solidFill>
          <a:ln w="15875">
            <a:solidFill>
              <a:srgbClr val="95AE9B"/>
            </a:solidFill>
            <a:prstDash val="solid"/>
          </a:ln>
        </p:spPr>
      </p:sp>
      <p:sp>
        <p:nvSpPr>
          <p:cNvPr id="20" name="step-hex"/>
          <p:cNvSpPr/>
          <p:nvPr/>
        </p:nvSpPr>
        <p:spPr>
          <a:xfrm>
            <a:off x="6438748" y="2765552"/>
            <a:ext cx="530352" cy="459285"/>
          </a:xfrm>
          <a:prstGeom prst="hexagon">
            <a:avLst/>
          </a:prstGeom>
          <a:solidFill>
            <a:srgbClr val="3F6B4A"/>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Add the three wet months: 10 + 12 = 22, and 22 + 7 = 29.</a:t>
            </a:r>
            <a:endParaRPr lang="en-US" sz="1800" dirty="0"/>
          </a:p>
        </p:txBody>
      </p:sp>
      <p:sp>
        <p:nvSpPr>
          <p:cNvPr id="23" name="arrow"/>
          <p:cNvSpPr/>
          <p:nvPr/>
        </p:nvSpPr>
        <p:spPr>
          <a:xfrm>
            <a:off x="8839733" y="3505708"/>
            <a:ext cx="274320" cy="274320"/>
          </a:xfrm>
          <a:prstGeom prst="rightArrow">
            <a:avLst/>
          </a:prstGeom>
          <a:solidFill>
            <a:srgbClr val="B8862B"/>
          </a:solidFill>
          <a:ln/>
        </p:spPr>
      </p:sp>
      <p:sp>
        <p:nvSpPr>
          <p:cNvPr id="24" name="step-box"/>
          <p:cNvSpPr/>
          <p:nvPr/>
        </p:nvSpPr>
        <p:spPr>
          <a:xfrm>
            <a:off x="9178061" y="2655824"/>
            <a:ext cx="2464994" cy="1974088"/>
          </a:xfrm>
          <a:prstGeom prst="roundRect">
            <a:avLst>
              <a:gd name="adj" fmla="val 3706"/>
            </a:avLst>
          </a:prstGeom>
          <a:solidFill>
            <a:srgbClr val="FFFFFF"/>
          </a:solidFill>
          <a:ln w="15875">
            <a:solidFill>
              <a:srgbClr val="95AE9B"/>
            </a:solidFill>
            <a:prstDash val="solid"/>
          </a:ln>
        </p:spPr>
      </p:sp>
      <p:sp>
        <p:nvSpPr>
          <p:cNvPr id="25" name="step-hex"/>
          <p:cNvSpPr/>
          <p:nvPr/>
        </p:nvSpPr>
        <p:spPr>
          <a:xfrm>
            <a:off x="9315221" y="2765552"/>
            <a:ext cx="530352" cy="459285"/>
          </a:xfrm>
          <a:prstGeom prst="hexagon">
            <a:avLst/>
          </a:prstGeom>
          <a:solidFill>
            <a:srgbClr val="3F6B4A"/>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Give the units: 29 mm for the whole year, which is a true desert.</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29 mm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Four climates across one continent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South of the Equator the seasons flip: June to August is winter in South Africa.</a:t>
            </a:r>
            <a:endParaRPr lang="en-US" sz="1800" dirty="0"/>
          </a:p>
        </p:txBody>
      </p:sp>
      <p:sp>
        <p:nvSpPr>
          <p:cNvPr id="11" name="point-card"/>
          <p:cNvSpPr/>
          <p:nvPr/>
        </p:nvSpPr>
        <p:spPr>
          <a:xfrm>
            <a:off x="548640" y="1389888"/>
            <a:ext cx="3515258" cy="3964940"/>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Your lesson gave you four climate graphs from four African countries: Zimbabwe, Mali, Egypt and South Africa.</a:t>
            </a:r>
            <a:endParaRPr lang="en-US" sz="20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Working out which graph belongs to which country is the skill the lesson teaches, and you do it with clues.</a:t>
            </a:r>
            <a:endParaRPr lang="en-US" sz="2000" dirty="0"/>
          </a:p>
        </p:txBody>
      </p:sp>
      <p:sp>
        <p:nvSpPr>
          <p:cNvPr id="19" name="point-card"/>
          <p:cNvSpPr/>
          <p:nvPr/>
        </p:nvSpPr>
        <p:spPr>
          <a:xfrm>
            <a:off x="8127797" y="1389888"/>
            <a:ext cx="3515258" cy="3964940"/>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Think about the hemisphere too. South Africa lies south of the Equator, so its seasons are the opposite of ours: the lesson's quiz confirms that in South Africa, August is colder than December.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Biomes, and what the rain means for people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Too little rain means drought; a lot of rain in a short season can mean floods. Both are problems for farmers.</a:t>
            </a:r>
            <a:endParaRPr lang="en-US" sz="1800" dirty="0"/>
          </a:p>
        </p:txBody>
      </p:sp>
      <p:sp>
        <p:nvSpPr>
          <p:cNvPr id="11" name="point-card"/>
          <p:cNvSpPr/>
          <p:nvPr/>
        </p:nvSpPr>
        <p:spPr>
          <a:xfrm>
            <a:off x="548640" y="1389888"/>
            <a:ext cx="5410048" cy="3686048"/>
          </a:xfrm>
          <a:prstGeom prst="roundRect">
            <a:avLst>
              <a:gd name="adj" fmla="val 1488"/>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biome is a very large area with its own community of plants and animals.</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9F4EC"/>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Rainfall totals matter to people. Where only 29 mm falls in a year, there is almost no water for farming, so very few people can live there.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Which climate is this?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climate graph shows just 29 mm of rain in the whole year and an average temperature of 28 °C. Which kind of climate is this?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hot, wet climate near the Equator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hot desert climate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cool, wet climate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climate with a long rainy season</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Which climate is this?</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climate graph shows just 29 mm of rain in the whole year and an average temperature of 28 °C. Which kind of climate is this?</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2F5F2"/>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Look at the rain first. Is 29 mm in a whole year a lot or almost nothing? It is almost nothing.</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Almost no rain in a year means a desert.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Look at the temperature. 28 °C on average is hot.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Hot and very dry: which option says that?</a:t>
            </a:r>
            <a:endParaRPr lang="en-US" sz="1800" dirty="0"/>
          </a:p>
        </p:txBody>
      </p:sp>
      <p:sp>
        <p:nvSpPr>
          <p:cNvPr id="17" name="col-Core"/>
          <p:cNvSpPr/>
          <p:nvPr/>
        </p:nvSpPr>
        <p:spPr>
          <a:xfrm>
            <a:off x="5490762" y="2593848"/>
            <a:ext cx="2938987" cy="3550920"/>
          </a:xfrm>
          <a:prstGeom prst="roundRect">
            <a:avLst>
              <a:gd name="adj" fmla="val 1867"/>
            </a:avLst>
          </a:prstGeom>
          <a:solidFill>
            <a:srgbClr val="DBE3DD"/>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Decide wet or dry from the rainfall total, then hot or cool from the temperature.</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3F6B4A"/>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you could tell from the shape of a climate graph whether a place is north or south of the Equator.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The task: The temperature range between two places</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The hottest of the lesson's four climate graphs has an average temperature of 35 °C and the coolest has 21 °C. How many degrees warmer is the hottest place than the coolest?</a:t>
            </a:r>
            <a:endParaRPr lang="en-US" sz="2600" dirty="0"/>
          </a:p>
          <a:p>
            <a:pPr algn="ctr" indent="0" marL="0">
              <a:buNone/>
            </a:pPr>
            <a:r>
              <a:rPr lang="en-US" sz="2400" b="1" dirty="0">
                <a:solidFill>
                  <a:srgbClr val="3F6B4A"/>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°C</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The temperature range between two places</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The temperature range between two places</a:t>
            </a:r>
            <a:endParaRPr lang="en-US" sz="2000" dirty="0"/>
          </a:p>
        </p:txBody>
      </p:sp>
      <p:sp>
        <p:nvSpPr>
          <p:cNvPr id="12" name="col-Support"/>
          <p:cNvSpPr/>
          <p:nvPr/>
        </p:nvSpPr>
        <p:spPr>
          <a:xfrm>
            <a:off x="548640" y="2395728"/>
            <a:ext cx="3515258" cy="3749040"/>
          </a:xfrm>
          <a:prstGeom prst="roundRect">
            <a:avLst>
              <a:gd name="adj" fmla="val 1561"/>
            </a:avLst>
          </a:prstGeom>
          <a:solidFill>
            <a:srgbClr val="F2F5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3240938"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two temperatures: 35 °C and 21 °C.</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Warmer by how much means find the difference, so subtract the smaller from the larger.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35 − 21: take away 20 to get 15, then take away 1 more to get 14.</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Give the units: 14 °C.</a:t>
            </a:r>
            <a:endParaRPr lang="en-US" sz="1800" dirty="0"/>
          </a:p>
        </p:txBody>
      </p:sp>
      <p:sp>
        <p:nvSpPr>
          <p:cNvPr id="17" name="col-Core"/>
          <p:cNvSpPr/>
          <p:nvPr/>
        </p:nvSpPr>
        <p:spPr>
          <a:xfrm>
            <a:off x="4338218" y="2395728"/>
            <a:ext cx="3515258" cy="3749040"/>
          </a:xfrm>
          <a:prstGeom prst="roundRect">
            <a:avLst>
              <a:gd name="adj" fmla="val 1561"/>
            </a:avLst>
          </a:prstGeom>
          <a:solidFill>
            <a:srgbClr val="DBE3DD"/>
          </a:solidFill>
          <a:ln/>
        </p:spPr>
      </p:sp>
      <p:sp>
        <p:nvSpPr>
          <p:cNvPr id="18" name="col-hex"/>
          <p:cNvSpPr/>
          <p:nvPr/>
        </p:nvSpPr>
        <p:spPr>
          <a:xfrm>
            <a:off x="4447946"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035808"/>
            <a:ext cx="3240938"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Difference means subtract. Count up from 21 to 35 if that is easier.</a:t>
            </a:r>
            <a:endParaRPr lang="en-US" sz="1800" dirty="0"/>
          </a:p>
        </p:txBody>
      </p:sp>
      <p:sp>
        <p:nvSpPr>
          <p:cNvPr id="22" name="col-Stretch"/>
          <p:cNvSpPr/>
          <p:nvPr/>
        </p:nvSpPr>
        <p:spPr>
          <a:xfrm>
            <a:off x="8127797" y="2395728"/>
            <a:ext cx="3515258" cy="3749040"/>
          </a:xfrm>
          <a:prstGeom prst="roundRect">
            <a:avLst>
              <a:gd name="adj" fmla="val 1561"/>
            </a:avLst>
          </a:prstGeom>
          <a:solidFill>
            <a:srgbClr val="3F6B4A"/>
          </a:solidFill>
          <a:ln/>
        </p:spPr>
      </p:sp>
      <p:sp>
        <p:nvSpPr>
          <p:cNvPr id="23" name="col-hex"/>
          <p:cNvSpPr/>
          <p:nvPr/>
        </p:nvSpPr>
        <p:spPr>
          <a:xfrm>
            <a:off x="8237525"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035808"/>
            <a:ext cx="3240938"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35 °C place has 1120 mm of rain and the 21 °C place has 509 mm. Suggest why the hotter place might still be the better one for growing crops.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On a climate graph, what do the bars show?</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number of people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Temperature in each month</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height of the land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Rainfall in each month</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9F8"/>
          </a:solidFill>
          <a:ln w="12700">
            <a:solidFill>
              <a:srgbClr val="A5B9AA"/>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Which climate is this?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climate graph shows just 29 mm of rain in the whole year and an average temperature of 28 °C. Which kind of climate is this?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A hot desert climate</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29 mm in a year is almost no rain, so the place is a desert, and an average of 28 °C makes it a hot desert. Equatorial climates are hot and wet; cool, wet climates are not 28 °C on average.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Answers: The temperature range between two places</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hottest of the lesson's four climate graphs has an average temperature of 35 °C and the coolest has 21 °C. How many degrees warmer is the hottest place than the coolest?</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14 °C</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difference between two temperatures is found by subtraction: 35 − 21 = 14, so the hottest place is 14 °C warmer than the coolest.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On a climate graph, what do the bars show?</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Rainfall in each month</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Bars show monthly rainfall in millimetres. The line shows the average monthly temperature.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F2F5F2"/>
      </a:lt2>
      <a:accent1>
        <a:srgbClr val="3F6B4A"/>
      </a:accent1>
      <a:accent2>
        <a:srgbClr val="B8862B"/>
      </a:accent2>
      <a:accent3>
        <a:srgbClr val="8CA692"/>
      </a:accent3>
      <a:accent4>
        <a:srgbClr val="815E1E"/>
      </a:accent4>
      <a:accent5>
        <a:srgbClr val="4A505C"/>
      </a:accent5>
      <a:accent6>
        <a:srgbClr val="DEC69B"/>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Africa: A Continent, Not a Country · Chapter 3: Africa's climate</dc:title>
  <dc:subject>Geography · Year 7</dc:subject>
  <dc:creator>Dr Vitor Merissi de Carvalho</dc:creator>
  <cp:lastModifiedBy>Dr Vitor Merissi de Carvalho</cp:lastModifiedBy>
  <cp:revision>1</cp:revision>
  <dcterms:created xsi:type="dcterms:W3CDTF">2026-10-19T16:22:43Z</dcterms:created>
  <dcterms:modified xsi:type="dcterms:W3CDTF">2026-10-19T16:22:43Z</dcterms:modified>
</cp:coreProperties>
</file>