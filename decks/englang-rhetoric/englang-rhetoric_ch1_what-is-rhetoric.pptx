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accbe64-0347-af68-c524-cdc035e1d71e}">
          <p14:sldIdLst>
            <p14:sldId id="256"/>
          </p14:sldIdLst>
        </p14:section>
        <p14:section name="Gate" id="{5e4adc01-1b8a-a959-0029-3291380e5876}">
          <p14:sldIdLst>
            <p14:sldId id="257"/>
            <p14:sldId id="258"/>
          </p14:sldIdLst>
        </p14:section>
        <p14:section name="Pre-teach" id="{50625ab5-b8b2-4ef2-0514-8c282b7e50ea}">
          <p14:sldIdLst>
            <p14:sldId id="259"/>
          </p14:sldIdLst>
        </p14:section>
        <p14:section name="Read-along" id="{a24e1f0c-7129-362d-9afb-7b99648d553e}">
          <p14:sldIdLst>
            <p14:sldId id="260"/>
            <p14:sldId id="261"/>
          </p14:sldIdLst>
        </p14:section>
        <p14:section name="Teach" id="{d7621298-347e-9a6e-5ee4-621d3567160d}">
          <p14:sldIdLst>
            <p14:sldId id="262"/>
            <p14:sldId id="263"/>
            <p14:sldId id="264"/>
            <p14:sldId id="265"/>
            <p14:sldId id="266"/>
            <p14:sldId id="267"/>
          </p14:sldIdLst>
        </p14:section>
        <p14:section name="Routes" id="{46c7adf8-f09e-8d17-51aa-c2e77068d6f4}">
          <p14:sldIdLst>
            <p14:sldId id="268"/>
            <p14:sldId id="269"/>
            <p14:sldId id="270"/>
            <p14:sldId id="271"/>
          </p14:sldIdLst>
        </p14:section>
        <p14:section name="Close" id="{244fd864-26ae-3294-ded1-9c4e484a7cd5}">
          <p14:sldIdLst>
            <p14:sldId id="272"/>
          </p14:sldIdLst>
        </p14:section>
        <p14:section name="Answers" id="{754395ec-d05b-fc86-fb10-a4031b693724}">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of 6: What rhetoric is: Athens, Aristotle and the triad. You will know where rhetoric came from, what ethos, logos and pathos mean, and how to spot them in a speech.
This deck covers the department's lesson: 1 (Introduction to persuasive writing and rhetoric: What is rhetoric, and what are ethos, logos and pathos?).
Read the big question aloud: "What is rhetoric, how do famous speakers use it to persuade, and how do I write a persuasive speech of my own?"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city is seen as the birthplace of rhetoric?  →  C   Athens
2. Persuading someone by appealing to their emotions is called ___.  →  pathos
3. What were the first teachers of rhetoric called?  →  B   Sophists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C   Athens. Athens was a democracy, so men who could persuade the Assembly gained power. That is why rhetoric was studied there first.
2. pathos. Pathos is persuasion through emotion and values.
3. B   Sophists. The Sophists were the first teachers of rhetoric. Their bad reputation comes from arguing anything for money, even things that were untrue.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rhetoric: the art of persuasion. Example: "Rhetoric is the skill of getting people to agree with you."
• persuade: make someone think or do something. Example: "A good speech can persuade a crowd to act."
• ethos: trust in the speaker. Example: "A doctor talking about health has strong ethos."
• logos: logic, reasons and facts. Example: "She used logos by giving three clear facts."
• pathos: appeals to the audience’s feelings. Example: "The story of the lost dog was pure pathos."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14:
1. Rhetoric is the art of persuasion.
2. It means getting people to think or do what you want.
3. Rhetoric began in Athens, in ancient Greece, more than two thousand years ago.
4. Athens was a democracy, so men had to speak well to win votes.
5. The first teachers of rhetoric were called Sophists.
6. Some Sophists would argue anything for money, even if it was untrue.
7. A philosopher called Aristotle wanted rhetoric to serve the truth.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8–14 of 14:
8. He wrote a book called The Art of Rhetoric.
9. He said there are three ways to persuade.
10. Ethos means trust: show you are the right person to speak.
11. Logos means logic: use facts and clear reasons.
12. Pathos means feeling: move your audience’s emotions.
13. Together, these three are called the Aristotelian triad.
14. This term you will study famous speeches, then write your own.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Where rhetoric began. Say it in your own words, then check understanding with a quick question: ask a pupil from the pre-teach group first, since they met these words and ideas before the lesson. Pupils try to recall before you re-explain.
Rhetoric means the art of persuasion: the art of getting people to think and do what you want. Most historians say it was born in Athens, in ancient Greece. Athens was a democracy, and every free man was expected to stand up in the Assembly and argue for or against a new law. A man’s success depended on how well he could speak.
Because speaking well mattered so much, small schools opened to teach it. The teachers were called Sophists, and students paid them large sums. Sophists boasted that they could win any argument on any subject, even one they knew nothing about, using clever wordplay and flowery comparisons. Over time the word ‘sophist’ came to mean someone who twists the truth for money.
The philosopher Aristotle criticised the Sophists for playing on people’s emotions instead of using the truth. But he did not throw rhetoric away. In his book The Art of Rhetoric he set out a system for using it well, so that audiences could be led to see what is true, and so that honest speakers could answer dishonest ones. He preferred to persuade through reason, but he knew that reason alone does not always work.
Tip: Remember the chain: Athens, democracy, Sophists, Aristotle. Each one explains the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Aristotelian triad. Say it in your own words, then check understanding with a quick question: ask a pupil from the pre-teach group first, since they met these words and ideas before the lesson. Pupils try to recall before you re-explain.
Aristotle said there are three means of persuasion. Together they are called the Aristotelian triad, and this whole unit is built on them.
Ethos is credibility and trust. Your writing must present you as someone who knows the topic and shares the audience’s values: why are you the right person to speak? Logos is logic and reason. Your argument must be clearly structured and contain facts as proof. Pathos is emotion and values. Your writing must contain moving language, stories and direct appeals to the audience.
Most strong speeches use all three, but one usually leads. A charity appeal leans on pathos. A science report leans on logos. A head teacher welcoming new parents leans on ethos. When you read a speech, ask which of the three the speaker trusts most.
Worked example — model it step by step, thinking aloud: Which part of the triad does each sentence use? (a) ‘I have taught in this school for twenty years, so I know what our pupils need.’ (b) ‘Picture a child eating lunch alone, every single day.’ (c) ‘Last year, 68 per cent of pupils said the canteen queue was too long.’ (1) (a) tells us why the speaker can be trusted: that is ethos. (2) (b) asks us to imagine a sad picture, so we feel something: that is pathos. (3) (c) gives a number from a survey as proof: that is logos. Answer: (a) ethos, (b) pathos, (c) logos..
Tip: Ethos: trust me. Logos: think about it. Pathos: feel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Aristotelian triad. Say it in your own words, then check understanding with a quick question: ask a pupil from the pre-teach group first, since they met these words and ideas before the lesson. Pupils try to recall before you re-explain.
Aristotle said there are three means of persuasion. Together they are called the Aristotelian triad, and this whole unit is built on them.
Ethos is credibility and trust. Your writing must present you as someone who knows the topic and shares the audience’s values: why are you the right person to speak? Logos is logic and reason. Your argument must be clearly structured and contain facts as proof. Pathos is emotion and values. Your writing must contain moving language, stories and direct appeals to the audience.
Most strong speeches use all three, but one usually leads. A charity appeal leans on pathos. A science report leans on logos. A head teacher welcoming new parents leans on ethos. When you read a speech, ask which of the three the speaker trusts most.
Worked example — model it step by step, thinking aloud: Which part of the triad does each sentence use? (a) ‘I have taught in this school for twenty years, so I know what our pupils need.’ (b) ‘Picture a child eating lunch alone, every single day.’ (c) ‘Last year, 68 per cent of pupils said the canteen queue was too long.’ (1) (a) tells us why the speaker can be trusted: that is ethos. (2) (b) asks us to imagine a sad picture, so we feel something: that is pathos. (3) (c) gives a number from a survey as proof: that is logos. Answer: (a) ethos, (b) pathos, (c) logos..
Tip: Ethos: trust me. Logos: think about it. Pathos: feel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Pronouns that pull people in. Say it in your own words, then check understanding with a quick question: ask a pupil from the pre-teach group first, since they met these words and ideas before the lesson. Pupils try to recall before you re-explain.
Speakers choose their pronouns on purpose. First-person plural pronouns, ‘we’, ‘our’ and ‘us’, put the speaker and the audience on the same side. They make the listener feel included and united with the speaker and the cause. Second-person pronouns, ‘you’ and ‘your’, speak straight to the listener and hand them the responsibility to act.
Read this original speech. An expedition leader is speaking to her exhausted team before the last stage of a long journey. As you read, notice every ‘we’ and every ‘you’, and ask which part of the triad each sentence is working on.
Quotation: "Friends, look at me. Four months ago we left the harbour with twelve sledges and a map that nobody trusted. You have crossed the ice. You have carried the sick. You have eaten cold rations in the dark and never once complained. I have walked every mile beside you, and my feet are as blistered as yours. The pass ahead is three days away. Three days, not three weeks. On the far side there is a valley with grass and running water, and I have seen it with my own eyes. Some of you are afraid of what waits in the mountains. I understand that fear. But think of the faces waiting at home, and ask yourselves what story you want to tell them. We did not come this far to stop at the last hill. Pick up your packs. The valley is waiting for us." (‘The Captain’s Speech’ — original speech written for Ad Astra). Read it aloud; ask what it shows.
Tip: Count the pronouns before you count anything else. They tell you how the speaker sees the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Pronouns that pull people in. Say it in your own words, then check understanding with a quick question: ask a pupil from the pre-teach group first, since they met these words and ideas before the lesson. Pupils try to recall before you re-explain.
Speakers choose their pronouns on purpose. First-person plural pronouns, ‘we’, ‘our’ and ‘us’, put the speaker and the audience on the same side. They make the listener feel included and united with the speaker and the cause. Second-person pronouns, ‘you’ and ‘your’, speak straight to the listener and hand them the responsibility to act.
Read this original speech. An expedition leader is speaking to her exhausted team before the last stage of a long journey. As you read, notice every ‘we’ and every ‘you’, and ask which part of the triad each sentence is working on.
Quotation: "Friends, look at me. Four months ago we left the harbour with twelve sledges and a map that nobody trusted. You have crossed the ice. You have carried the sick. You have eaten cold rations in the dark and never once complained. I have walked every mile beside you, and my feet are as blistered as yours. The pass ahead is three days away. Three days, not three weeks. On the far side there is a valley with grass and running water, and I have seen it with my own eyes. Some of you are afraid of what waits in the mountains. I understand that fear. But think of the faces waiting at home, and ask yourselves what story you want to tell them. We did not come this far to stop at the last hill. Pick up your packs. The valley is waiting for us." (‘The Captain’s Speech’ — original speech written for Ad Astra). Read it aloud; ask what it shows.
Tip: Count the pronouns before you count anything else. They tell you how the speaker sees the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Reading the captain’s speech. Say it in your own words, then check understanding with a quick question: ask a pupil from the pre-teach group first, since they met these words and ideas before the lesson. Pupils try to recall before you re-explain.
The captain opens with ‘we’: “Four months ago we left the harbour”. From the first sentence, the journey belongs to everyone. Then she switches to ‘you’ three times in a row, praising what the team has done. That is pathos, because it makes them feel proud, and it prepares them to be asked for more.
Her ethos comes next: “I have walked every mile beside you”. She is not ordering from a warm tent; she has shared the hardship, so she has earned the right to speak. Her logos is in the numbers: “three days away. Three days, not three weeks”, and a valley she has “seen it with my own eyes”. Finally she names the fear, answers it, and ends with a command and a shared reward.
Tip: When a speaker says ‘I understand that fear’, they are answering an objection before anyone can raise it. You will meet this again as the counterargument.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Match the triad.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term to what it means.
Support — work through the steps with the group: (1) Ethos and ‘ethics’ share a root: both are about character and trust. (2) Logos and ‘logic’ share a root: both are about reasoning. (3) Pathos is the odd one out: it is about feeling. (4) The triad is a group of three, so it is the name for the set.
Parallel worked example for Support (model it, do not give the task answer): A speaker says ‘As the school nurse, I see the results of skipped breakfasts every day.’ Which term fits? She tells us her job.; That explains why we should trust her on this topic.. Answer: Ethos..
Core — reveal the hint only on request: Trust, think, feel. Which word goes with which?
Stretch — no help; when finished: Explain why Aristotle said he preferred logos, and give one reason a speaker might still need pathos.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Match the triad.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term to what it means.
Support — work through the steps with the group: (1) Ethos and ‘ethics’ share a root: both are about character and trust. (2) Logos and ‘logic’ share a root: both are about reasoning. (3) Pathos is the odd one out: it is about feeling. (4) The triad is a group of three, so it is the name for the set.
Parallel worked example for Support (model it, do not give the task answer): A speaker says ‘As the school nurse, I see the results of skipped breakfasts every day.’ Which term fits? She tells us her job.; That explains why we should trust her on this topic.. Answer: Ethos..
Core — reveal the hint only on request: Trust, think, feel. Which word goes with which?
Stretch — no help; when finished: Explain why Aristotle said he preferred logos, and give one reason a speaker might still need pathos.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Find the ethos.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In ‘The Captain’s Speech’, which sentence is the clearest example of ethos?
Support — work through the steps with the group: (1) Ethos is about the speaker: look for sentences that start with ‘I’. (2) Ask which sentence shows the captain has shared the hardship. (3) Rule out sentences that give facts (logos) or stir feelings (pathos).
Parallel worked example for Support (model it, do not give the task answer): Which shows ethos? ‘I have coached this team for nine seasons.’ or ‘We will win if we press high.’ The first tells us the coach’s experience.; The second is a plan, a reason: logos.. Answer: ‘I have coached this team for nine seasons.’ is ethos..
Core — reveal the hint only on request: Which sentence proves the captain has suffered alongside her team?
Stretch — no help; when finished: Explain how the word ‘blistered’ does more for the captain’s ethos than ‘tired’ would.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Find the ethos.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In ‘The Captain’s Speech’, which sentence is the clearest example of ethos?
Support — work through the steps with the group: (1) Ethos is about the speaker: look for sentences that start with ‘I’. (2) Ask which sentence shows the captain has shared the hardship. (3) Rule out sentences that give facts (logos) or stir feelings (pathos).
Parallel worked example for Support (model it, do not give the task answer): Which shows ethos? ‘I have coached this team for nine seasons.’ or ‘We will win if we press high.’ The first tells us the coach’s experience.; The second is a plan, a reason: logos.. Answer: ‘I have coached this team for nine seasons.’ is ethos..
Core — reveal the hint only on request: Which sentence proves the captain has suffered alongside her team?
Stretch — no help; when finished: Explain how the word ‘blistered’ does more for the captain’s ethos than ‘tired’ would.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Which city is seen as the birthplace of rhetoric?
Answer: B   Athens. Athens was a democracy, so men who could persuade the Assembly gained power. That is why rhetoric was studied there first.
Source of this question: gate item 1 re-asked (options rotated) — this chapter has no third quick-check module.
The ebook also holds task 3, "How does the captain persuade?",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Match the triad. Reveal the answer; pupils mark their own work in a different colour, then read the "why" together. Same destination for every lane, so one answer serves the whole class.
Answer: ethos  →  A  Credibility and trust: why you are the right person to speak; logos  →  C  Logic and reason: facts and a clear argument as proof; pathos  →  B  Emotions and values: moving language, stories and appeals; Aristotelian triad  →  D  The name for all three means of persuasion together
Why: Ethos is trust in the speaker, logos is logic and proof, pathos is emotion and values, and the Aristotelian triad is the name for all three.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Find the ethos. Reveal the answer; pupils mark their own work in a different colour, then read the "why" together. Same destination for every lane, so one answer serves the whole class.
Answer: C   “I have walked every mile beside you, and my feet are as blistered as yours.”
Why: The captain shows she has shared every mile and every blister. That earns her the right to ask for more: ethos.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B   Athens
Why: Athens was a democracy, so men who could persuade the Assembly gained power. That is why rhetoric was studied there first.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1E5E6"/>
          </a:solidFill>
          <a:ln w="12700">
            <a:solidFill>
              <a:srgbClr val="F1E5E6"/>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Language · Year 8 · Rhetoric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9F6F0"/>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1E5E6"/>
          </a:solidFill>
          <a:ln w="12700">
            <a:solidFill>
              <a:srgbClr val="F1E5E6"/>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Language · Year 8 · Rhetoric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8C2F39"/>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AD9DA"/>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8C2F39"/>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8C2F39"/>
                </a:solidFill>
                <a:latin typeface="Calibri" pitchFamily="34" charset="0"/>
                <a:ea typeface="Calibri" pitchFamily="34" charset="-122"/>
                <a:cs typeface="Calibri" pitchFamily="34" charset="-120"/>
              </a:rPr>
              <a:t>English Language · Year 8</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1/6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Rhetoric · AQA KS3 → 8700</a:t>
            </a:r>
            <a:endParaRPr lang="en-US" sz="1800" dirty="0"/>
          </a:p>
        </p:txBody>
      </p:sp>
      <p:sp>
        <p:nvSpPr>
          <p:cNvPr id="10" name="deck-title"/>
          <p:cNvSpPr txBox="1"/>
          <p:nvPr/>
        </p:nvSpPr>
        <p:spPr>
          <a:xfrm>
            <a:off x="548640" y="2370328"/>
            <a:ext cx="5287975" cy="1183640"/>
          </a:xfrm>
          <a:prstGeom prst="rect">
            <a:avLst/>
          </a:prstGeom>
          <a:noFill/>
          <a:ln/>
        </p:spPr>
        <p:txBody>
          <a:bodyPr wrap="square" lIns="63500" tIns="63500" rIns="63500" bIns="63500" rtlCol="0" anchor="t"/>
          <a:lstStyle/>
          <a:p>
            <a:pPr algn="l" indent="0" marL="0">
              <a:buNone/>
            </a:pPr>
            <a:r>
              <a:rPr lang="en-US" sz="3200" b="1" dirty="0">
                <a:solidFill>
                  <a:srgbClr val="1E2229"/>
                </a:solidFill>
                <a:latin typeface="Cambria" pitchFamily="34" charset="0"/>
                <a:ea typeface="Cambria" pitchFamily="34" charset="-122"/>
                <a:cs typeface="Cambria" pitchFamily="34" charset="-120"/>
              </a:rPr>
              <a:t>What rhetoric is: Athens, Aristotle and the triad</a:t>
            </a:r>
            <a:endParaRPr lang="en-US" sz="3200" dirty="0"/>
          </a:p>
        </p:txBody>
      </p:sp>
      <p:sp>
        <p:nvSpPr>
          <p:cNvPr id="11" name="lessons-card"/>
          <p:cNvSpPr/>
          <p:nvPr/>
        </p:nvSpPr>
        <p:spPr>
          <a:xfrm>
            <a:off x="548640" y="3782568"/>
            <a:ext cx="5287975" cy="1290320"/>
          </a:xfrm>
          <a:prstGeom prst="roundRect">
            <a:avLst>
              <a:gd name="adj" fmla="val 5669"/>
            </a:avLst>
          </a:prstGeom>
          <a:solidFill>
            <a:srgbClr val="F5EDEE"/>
          </a:solidFill>
          <a:ln/>
        </p:spPr>
      </p:sp>
      <p:sp>
        <p:nvSpPr>
          <p:cNvPr id="12" name="lessons"/>
          <p:cNvSpPr txBox="1"/>
          <p:nvPr/>
        </p:nvSpPr>
        <p:spPr>
          <a:xfrm>
            <a:off x="685800" y="3874008"/>
            <a:ext cx="5013655" cy="11074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8C2F39"/>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Introduction to persuasive writing and rhetoric</a:t>
            </a:r>
            <a:endParaRPr lang="en-US" sz="2000" dirty="0"/>
          </a:p>
        </p:txBody>
      </p:sp>
      <p:sp>
        <p:nvSpPr>
          <p:cNvPr id="13" name="plate-frame"/>
          <p:cNvSpPr/>
          <p:nvPr/>
        </p:nvSpPr>
        <p:spPr>
          <a:xfrm>
            <a:off x="6248095" y="411480"/>
            <a:ext cx="5394960" cy="3130677"/>
          </a:xfrm>
          <a:prstGeom prst="rect">
            <a:avLst/>
          </a:prstGeom>
          <a:solidFill>
            <a:srgbClr val="F3EBDC"/>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English Language, Year 8">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5EDEE"/>
          </a:solidFill>
          <a:ln w="12700">
            <a:solidFill>
              <a:srgbClr val="D3AFB3"/>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8C2F39"/>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What is rhetoric, how do famous speakers use it to persuade, and how do I write a persuasive speech of my own?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9F4F4"/>
          </a:solidFill>
          <a:ln w="12700">
            <a:solidFill>
              <a:srgbClr val="D8B9BD"/>
            </a:solidFill>
            <a:prstDash val="solid"/>
          </a:ln>
        </p:spPr>
      </p:sp>
      <p:sp>
        <p:nvSpPr>
          <p:cNvPr id="8" name="card-hex"/>
          <p:cNvSpPr/>
          <p:nvPr/>
        </p:nvSpPr>
        <p:spPr>
          <a:xfrm>
            <a:off x="731520" y="1572768"/>
            <a:ext cx="640080" cy="554309"/>
          </a:xfrm>
          <a:prstGeom prst="hexagon">
            <a:avLst/>
          </a:prstGeom>
          <a:solidFill>
            <a:srgbClr val="8C2F39"/>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city is seen as the birthplace of rhetoric?</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Sparta</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Rome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Athens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London</a:t>
            </a:r>
            <a:endParaRPr lang="en-US" sz="2400" dirty="0"/>
          </a:p>
        </p:txBody>
      </p:sp>
      <p:sp>
        <p:nvSpPr>
          <p:cNvPr id="12" name="card"/>
          <p:cNvSpPr/>
          <p:nvPr/>
        </p:nvSpPr>
        <p:spPr>
          <a:xfrm>
            <a:off x="4338218" y="1389888"/>
            <a:ext cx="3515258" cy="4754880"/>
          </a:xfrm>
          <a:prstGeom prst="roundRect">
            <a:avLst>
              <a:gd name="adj" fmla="val 1561"/>
            </a:avLst>
          </a:prstGeom>
          <a:solidFill>
            <a:srgbClr val="F9F4F4"/>
          </a:solidFill>
          <a:ln w="12700">
            <a:solidFill>
              <a:srgbClr val="D8B9BD"/>
            </a:solidFill>
            <a:prstDash val="solid"/>
          </a:ln>
        </p:spPr>
      </p:sp>
      <p:sp>
        <p:nvSpPr>
          <p:cNvPr id="13" name="card-hex"/>
          <p:cNvSpPr/>
          <p:nvPr/>
        </p:nvSpPr>
        <p:spPr>
          <a:xfrm>
            <a:off x="4521098" y="1572768"/>
            <a:ext cx="640080" cy="554309"/>
          </a:xfrm>
          <a:prstGeom prst="hexagon">
            <a:avLst/>
          </a:prstGeom>
          <a:solidFill>
            <a:srgbClr val="8C2F39"/>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Persuading someone by appealing to their emotions is called ___.</a:t>
            </a:r>
            <a:endParaRPr lang="en-US" sz="2400" dirty="0"/>
          </a:p>
          <a:p>
            <a:pPr algn="l" indent="0" marL="0">
              <a:buNone/>
            </a:pPr>
            <a:r>
              <a:rPr lang="en-US" sz="2400" b="1" dirty="0">
                <a:solidFill>
                  <a:srgbClr val="8C2F39"/>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pathos  ·  logos  ·  ethos</a:t>
            </a:r>
            <a:endParaRPr lang="en-US" sz="2400" dirty="0"/>
          </a:p>
        </p:txBody>
      </p:sp>
      <p:sp>
        <p:nvSpPr>
          <p:cNvPr id="17" name="card"/>
          <p:cNvSpPr/>
          <p:nvPr/>
        </p:nvSpPr>
        <p:spPr>
          <a:xfrm>
            <a:off x="8127797" y="1389888"/>
            <a:ext cx="3515258" cy="4754880"/>
          </a:xfrm>
          <a:prstGeom prst="roundRect">
            <a:avLst>
              <a:gd name="adj" fmla="val 1561"/>
            </a:avLst>
          </a:prstGeom>
          <a:solidFill>
            <a:srgbClr val="F9F4F4"/>
          </a:solidFill>
          <a:ln w="12700">
            <a:solidFill>
              <a:srgbClr val="D8B9BD"/>
            </a:solidFill>
            <a:prstDash val="solid"/>
          </a:ln>
        </p:spPr>
      </p:sp>
      <p:sp>
        <p:nvSpPr>
          <p:cNvPr id="18" name="card-hex"/>
          <p:cNvSpPr/>
          <p:nvPr/>
        </p:nvSpPr>
        <p:spPr>
          <a:xfrm>
            <a:off x="8310677" y="1572768"/>
            <a:ext cx="640080" cy="554309"/>
          </a:xfrm>
          <a:prstGeom prst="hexagon">
            <a:avLst/>
          </a:prstGeom>
          <a:solidFill>
            <a:srgbClr val="8C2F39"/>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What were the first teachers of rhetoric called?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Scribes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Sophists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Senators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Spartans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9F4F4"/>
          </a:solidFill>
          <a:ln w="12700">
            <a:solidFill>
              <a:srgbClr val="D8B9BD"/>
            </a:solidFill>
            <a:prstDash val="solid"/>
          </a:ln>
        </p:spPr>
      </p:sp>
      <p:sp>
        <p:nvSpPr>
          <p:cNvPr id="8" name="card-hex"/>
          <p:cNvSpPr/>
          <p:nvPr/>
        </p:nvSpPr>
        <p:spPr>
          <a:xfrm>
            <a:off x="731520" y="1572768"/>
            <a:ext cx="640080" cy="554309"/>
          </a:xfrm>
          <a:prstGeom prst="hexagon">
            <a:avLst/>
          </a:prstGeom>
          <a:solidFill>
            <a:srgbClr val="8C2F39"/>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EE3CD"/>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Athens</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Which city is seen as the birthplace of rhetoric?</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Athens was a democracy, so men who could persuade the Assembly gained power. That is why rhetoric was studied there first.</a:t>
            </a:r>
            <a:endParaRPr lang="en-US" sz="2000" dirty="0"/>
          </a:p>
        </p:txBody>
      </p:sp>
      <p:sp>
        <p:nvSpPr>
          <p:cNvPr id="14" name="card"/>
          <p:cNvSpPr/>
          <p:nvPr/>
        </p:nvSpPr>
        <p:spPr>
          <a:xfrm>
            <a:off x="4338218" y="1389888"/>
            <a:ext cx="3515258" cy="4754880"/>
          </a:xfrm>
          <a:prstGeom prst="roundRect">
            <a:avLst>
              <a:gd name="adj" fmla="val 1561"/>
            </a:avLst>
          </a:prstGeom>
          <a:solidFill>
            <a:srgbClr val="F9F4F4"/>
          </a:solidFill>
          <a:ln w="12700">
            <a:solidFill>
              <a:srgbClr val="D8B9BD"/>
            </a:solidFill>
            <a:prstDash val="solid"/>
          </a:ln>
        </p:spPr>
      </p:sp>
      <p:sp>
        <p:nvSpPr>
          <p:cNvPr id="15" name="card-hex"/>
          <p:cNvSpPr/>
          <p:nvPr/>
        </p:nvSpPr>
        <p:spPr>
          <a:xfrm>
            <a:off x="4521098" y="1572768"/>
            <a:ext cx="640080" cy="554309"/>
          </a:xfrm>
          <a:prstGeom prst="hexagon">
            <a:avLst/>
          </a:prstGeom>
          <a:solidFill>
            <a:srgbClr val="8C2F39"/>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EE3CD"/>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pathos</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Persuading someone by appealing to their emotions is called ___.</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Pathos is persuasion through emotion and values.</a:t>
            </a:r>
            <a:endParaRPr lang="en-US" sz="2200" dirty="0"/>
          </a:p>
        </p:txBody>
      </p:sp>
      <p:sp>
        <p:nvSpPr>
          <p:cNvPr id="21" name="card"/>
          <p:cNvSpPr/>
          <p:nvPr/>
        </p:nvSpPr>
        <p:spPr>
          <a:xfrm>
            <a:off x="8127797" y="1389888"/>
            <a:ext cx="3515258" cy="4754880"/>
          </a:xfrm>
          <a:prstGeom prst="roundRect">
            <a:avLst>
              <a:gd name="adj" fmla="val 1561"/>
            </a:avLst>
          </a:prstGeom>
          <a:solidFill>
            <a:srgbClr val="F9F4F4"/>
          </a:solidFill>
          <a:ln w="12700">
            <a:solidFill>
              <a:srgbClr val="D8B9BD"/>
            </a:solidFill>
            <a:prstDash val="solid"/>
          </a:ln>
        </p:spPr>
      </p:sp>
      <p:sp>
        <p:nvSpPr>
          <p:cNvPr id="22" name="card-hex"/>
          <p:cNvSpPr/>
          <p:nvPr/>
        </p:nvSpPr>
        <p:spPr>
          <a:xfrm>
            <a:off x="8310677" y="1572768"/>
            <a:ext cx="640080" cy="554309"/>
          </a:xfrm>
          <a:prstGeom prst="hexagon">
            <a:avLst/>
          </a:prstGeom>
          <a:solidFill>
            <a:srgbClr val="8C2F39"/>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EE3CD"/>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Sophists</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What were the first teachers of rhetoric called?</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The Sophists were the first teachers of rhetoric. Their bad reputation comes from arguing anything for money, even things that were untrue.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8C2F39"/>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877418"/>
          </a:xfrm>
          <a:prstGeom prst="roundRect">
            <a:avLst>
              <a:gd name="adj" fmla="val 6253"/>
            </a:avLst>
          </a:prstGeom>
          <a:solidFill>
            <a:srgbClr val="F8F1F2"/>
          </a:solidFill>
          <a:ln/>
        </p:spPr>
      </p:sp>
      <p:sp>
        <p:nvSpPr>
          <p:cNvPr id="12" name="kw-hex"/>
          <p:cNvSpPr/>
          <p:nvPr/>
        </p:nvSpPr>
        <p:spPr>
          <a:xfrm>
            <a:off x="658368" y="2180778"/>
            <a:ext cx="411480" cy="356342"/>
          </a:xfrm>
          <a:prstGeom prst="hexagon">
            <a:avLst/>
          </a:prstGeom>
          <a:solidFill>
            <a:srgbClr val="8C2F39"/>
          </a:solidFill>
          <a:ln/>
        </p:spPr>
      </p:sp>
      <p:sp>
        <p:nvSpPr>
          <p:cNvPr id="13" name="kw-cell"/>
          <p:cNvSpPr txBox="1"/>
          <p:nvPr/>
        </p:nvSpPr>
        <p:spPr>
          <a:xfrm>
            <a:off x="1143000" y="1920240"/>
            <a:ext cx="2331720" cy="877418"/>
          </a:xfrm>
          <a:prstGeom prst="rect">
            <a:avLst/>
          </a:prstGeom>
          <a:noFill/>
          <a:ln/>
        </p:spPr>
        <p:txBody>
          <a:bodyPr wrap="square" lIns="63500" tIns="63500" rIns="63500" bIns="63500" rtlCol="0" anchor="ctr"/>
          <a:lstStyle/>
          <a:p>
            <a:pPr algn="l" indent="0" marL="0">
              <a:buNone/>
            </a:pPr>
            <a:r>
              <a:rPr lang="en-US" sz="2000" b="1" dirty="0">
                <a:solidFill>
                  <a:srgbClr val="8C2F39"/>
                </a:solidFill>
                <a:latin typeface="Cambria" pitchFamily="34" charset="0"/>
                <a:ea typeface="Cambria" pitchFamily="34" charset="-122"/>
                <a:cs typeface="Cambria" pitchFamily="34" charset="-120"/>
              </a:rPr>
              <a:t>rhetoric</a:t>
            </a:r>
            <a:endParaRPr lang="en-US" sz="2000" dirty="0"/>
          </a:p>
        </p:txBody>
      </p:sp>
      <p:sp>
        <p:nvSpPr>
          <p:cNvPr id="14" name="kw-cell"/>
          <p:cNvSpPr txBox="1"/>
          <p:nvPr/>
        </p:nvSpPr>
        <p:spPr>
          <a:xfrm>
            <a:off x="3657600" y="1920240"/>
            <a:ext cx="3474720" cy="87741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art of persuasion</a:t>
            </a:r>
            <a:endParaRPr lang="en-US" sz="1800" dirty="0"/>
          </a:p>
        </p:txBody>
      </p:sp>
      <p:sp>
        <p:nvSpPr>
          <p:cNvPr id="15" name="kw-cell"/>
          <p:cNvSpPr txBox="1"/>
          <p:nvPr/>
        </p:nvSpPr>
        <p:spPr>
          <a:xfrm>
            <a:off x="7315200" y="1920240"/>
            <a:ext cx="4236415" cy="877418"/>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Rhetoric is the skill of getting people to agree with you.</a:t>
            </a:r>
            <a:endParaRPr lang="en-US" sz="1800" dirty="0"/>
          </a:p>
        </p:txBody>
      </p:sp>
      <p:sp>
        <p:nvSpPr>
          <p:cNvPr id="16" name="kw-row"/>
          <p:cNvSpPr/>
          <p:nvPr/>
        </p:nvSpPr>
        <p:spPr>
          <a:xfrm>
            <a:off x="548640" y="2870810"/>
            <a:ext cx="11094415" cy="877418"/>
          </a:xfrm>
          <a:prstGeom prst="roundRect">
            <a:avLst>
              <a:gd name="adj" fmla="val 6253"/>
            </a:avLst>
          </a:prstGeom>
          <a:solidFill>
            <a:srgbClr val="F8F2E9"/>
          </a:solidFill>
          <a:ln/>
        </p:spPr>
      </p:sp>
      <p:sp>
        <p:nvSpPr>
          <p:cNvPr id="17" name="kw-hex"/>
          <p:cNvSpPr/>
          <p:nvPr/>
        </p:nvSpPr>
        <p:spPr>
          <a:xfrm>
            <a:off x="658368" y="3131348"/>
            <a:ext cx="411480" cy="356342"/>
          </a:xfrm>
          <a:prstGeom prst="hexagon">
            <a:avLst/>
          </a:prstGeom>
          <a:solidFill>
            <a:srgbClr val="B8862B"/>
          </a:solidFill>
          <a:ln/>
        </p:spPr>
      </p:sp>
      <p:sp>
        <p:nvSpPr>
          <p:cNvPr id="18" name="kw-cell"/>
          <p:cNvSpPr txBox="1"/>
          <p:nvPr/>
        </p:nvSpPr>
        <p:spPr>
          <a:xfrm>
            <a:off x="1143000" y="2870810"/>
            <a:ext cx="2331720" cy="877418"/>
          </a:xfrm>
          <a:prstGeom prst="rect">
            <a:avLst/>
          </a:prstGeom>
          <a:noFill/>
          <a:ln/>
        </p:spPr>
        <p:txBody>
          <a:bodyPr wrap="square" lIns="63500" tIns="63500" rIns="63500" bIns="63500" rtlCol="0" anchor="ctr"/>
          <a:lstStyle/>
          <a:p>
            <a:pPr algn="l" indent="0" marL="0">
              <a:buNone/>
            </a:pPr>
            <a:r>
              <a:rPr lang="en-US" sz="2000" b="1" dirty="0">
                <a:solidFill>
                  <a:srgbClr val="8C2F39"/>
                </a:solidFill>
                <a:latin typeface="Cambria" pitchFamily="34" charset="0"/>
                <a:ea typeface="Cambria" pitchFamily="34" charset="-122"/>
                <a:cs typeface="Cambria" pitchFamily="34" charset="-120"/>
              </a:rPr>
              <a:t>persuade</a:t>
            </a:r>
            <a:endParaRPr lang="en-US" sz="2000" dirty="0"/>
          </a:p>
        </p:txBody>
      </p:sp>
      <p:sp>
        <p:nvSpPr>
          <p:cNvPr id="19" name="kw-cell"/>
          <p:cNvSpPr txBox="1"/>
          <p:nvPr/>
        </p:nvSpPr>
        <p:spPr>
          <a:xfrm>
            <a:off x="3657600" y="2870810"/>
            <a:ext cx="3474720" cy="87741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make someone think or do something</a:t>
            </a:r>
            <a:endParaRPr lang="en-US" sz="1800" dirty="0"/>
          </a:p>
        </p:txBody>
      </p:sp>
      <p:sp>
        <p:nvSpPr>
          <p:cNvPr id="20" name="kw-cell"/>
          <p:cNvSpPr txBox="1"/>
          <p:nvPr/>
        </p:nvSpPr>
        <p:spPr>
          <a:xfrm>
            <a:off x="7315200" y="2870810"/>
            <a:ext cx="4236415" cy="877418"/>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 good speech can persuade a crowd to act.</a:t>
            </a:r>
            <a:endParaRPr lang="en-US" sz="1800" dirty="0"/>
          </a:p>
        </p:txBody>
      </p:sp>
      <p:sp>
        <p:nvSpPr>
          <p:cNvPr id="21" name="kw-row"/>
          <p:cNvSpPr/>
          <p:nvPr/>
        </p:nvSpPr>
        <p:spPr>
          <a:xfrm>
            <a:off x="548640" y="3821379"/>
            <a:ext cx="11094415" cy="877418"/>
          </a:xfrm>
          <a:prstGeom prst="roundRect">
            <a:avLst>
              <a:gd name="adj" fmla="val 6253"/>
            </a:avLst>
          </a:prstGeom>
          <a:solidFill>
            <a:srgbClr val="F8F1F2"/>
          </a:solidFill>
          <a:ln/>
        </p:spPr>
      </p:sp>
      <p:sp>
        <p:nvSpPr>
          <p:cNvPr id="22" name="kw-hex"/>
          <p:cNvSpPr/>
          <p:nvPr/>
        </p:nvSpPr>
        <p:spPr>
          <a:xfrm>
            <a:off x="658368" y="4081917"/>
            <a:ext cx="411480" cy="356342"/>
          </a:xfrm>
          <a:prstGeom prst="hexagon">
            <a:avLst/>
          </a:prstGeom>
          <a:solidFill>
            <a:srgbClr val="8C2F39"/>
          </a:solidFill>
          <a:ln/>
        </p:spPr>
      </p:sp>
      <p:sp>
        <p:nvSpPr>
          <p:cNvPr id="23" name="kw-cell"/>
          <p:cNvSpPr txBox="1"/>
          <p:nvPr/>
        </p:nvSpPr>
        <p:spPr>
          <a:xfrm>
            <a:off x="1143000" y="3821379"/>
            <a:ext cx="2331720" cy="877418"/>
          </a:xfrm>
          <a:prstGeom prst="rect">
            <a:avLst/>
          </a:prstGeom>
          <a:noFill/>
          <a:ln/>
        </p:spPr>
        <p:txBody>
          <a:bodyPr wrap="square" lIns="63500" tIns="63500" rIns="63500" bIns="63500" rtlCol="0" anchor="ctr"/>
          <a:lstStyle/>
          <a:p>
            <a:pPr algn="l" indent="0" marL="0">
              <a:buNone/>
            </a:pPr>
            <a:r>
              <a:rPr lang="en-US" sz="2000" b="1" dirty="0">
                <a:solidFill>
                  <a:srgbClr val="8C2F39"/>
                </a:solidFill>
                <a:latin typeface="Cambria" pitchFamily="34" charset="0"/>
                <a:ea typeface="Cambria" pitchFamily="34" charset="-122"/>
                <a:cs typeface="Cambria" pitchFamily="34" charset="-120"/>
              </a:rPr>
              <a:t>ethos</a:t>
            </a:r>
            <a:endParaRPr lang="en-US" sz="2000" dirty="0"/>
          </a:p>
        </p:txBody>
      </p:sp>
      <p:sp>
        <p:nvSpPr>
          <p:cNvPr id="24" name="kw-cell"/>
          <p:cNvSpPr txBox="1"/>
          <p:nvPr/>
        </p:nvSpPr>
        <p:spPr>
          <a:xfrm>
            <a:off x="3657600" y="3821379"/>
            <a:ext cx="3474720" cy="87741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trust in the speaker</a:t>
            </a:r>
            <a:endParaRPr lang="en-US" sz="1800" dirty="0"/>
          </a:p>
        </p:txBody>
      </p:sp>
      <p:sp>
        <p:nvSpPr>
          <p:cNvPr id="25" name="kw-cell"/>
          <p:cNvSpPr txBox="1"/>
          <p:nvPr/>
        </p:nvSpPr>
        <p:spPr>
          <a:xfrm>
            <a:off x="7315200" y="3821379"/>
            <a:ext cx="4236415" cy="877418"/>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 doctor talking about health has strong ethos.</a:t>
            </a:r>
            <a:endParaRPr lang="en-US" sz="1800" dirty="0"/>
          </a:p>
        </p:txBody>
      </p:sp>
      <p:sp>
        <p:nvSpPr>
          <p:cNvPr id="26" name="kw-row"/>
          <p:cNvSpPr/>
          <p:nvPr/>
        </p:nvSpPr>
        <p:spPr>
          <a:xfrm>
            <a:off x="548640" y="4771949"/>
            <a:ext cx="11094415" cy="649834"/>
          </a:xfrm>
          <a:prstGeom prst="roundRect">
            <a:avLst>
              <a:gd name="adj" fmla="val 8443"/>
            </a:avLst>
          </a:prstGeom>
          <a:solidFill>
            <a:srgbClr val="F8F2E9"/>
          </a:solidFill>
          <a:ln/>
        </p:spPr>
      </p:sp>
      <p:sp>
        <p:nvSpPr>
          <p:cNvPr id="27" name="kw-hex"/>
          <p:cNvSpPr/>
          <p:nvPr/>
        </p:nvSpPr>
        <p:spPr>
          <a:xfrm>
            <a:off x="658368" y="4918695"/>
            <a:ext cx="411480" cy="356342"/>
          </a:xfrm>
          <a:prstGeom prst="hexagon">
            <a:avLst/>
          </a:prstGeom>
          <a:solidFill>
            <a:srgbClr val="B8862B"/>
          </a:solidFill>
          <a:ln/>
        </p:spPr>
      </p:sp>
      <p:sp>
        <p:nvSpPr>
          <p:cNvPr id="28" name="kw-cell"/>
          <p:cNvSpPr txBox="1"/>
          <p:nvPr/>
        </p:nvSpPr>
        <p:spPr>
          <a:xfrm>
            <a:off x="1143000" y="4771949"/>
            <a:ext cx="2331720" cy="649834"/>
          </a:xfrm>
          <a:prstGeom prst="rect">
            <a:avLst/>
          </a:prstGeom>
          <a:noFill/>
          <a:ln/>
        </p:spPr>
        <p:txBody>
          <a:bodyPr wrap="square" lIns="63500" tIns="63500" rIns="63500" bIns="63500" rtlCol="0" anchor="ctr"/>
          <a:lstStyle/>
          <a:p>
            <a:pPr algn="l" indent="0" marL="0">
              <a:buNone/>
            </a:pPr>
            <a:r>
              <a:rPr lang="en-US" sz="2000" b="1" dirty="0">
                <a:solidFill>
                  <a:srgbClr val="8C2F39"/>
                </a:solidFill>
                <a:latin typeface="Cambria" pitchFamily="34" charset="0"/>
                <a:ea typeface="Cambria" pitchFamily="34" charset="-122"/>
                <a:cs typeface="Cambria" pitchFamily="34" charset="-120"/>
              </a:rPr>
              <a:t>logos</a:t>
            </a:r>
            <a:endParaRPr lang="en-US" sz="2000" dirty="0"/>
          </a:p>
        </p:txBody>
      </p:sp>
      <p:sp>
        <p:nvSpPr>
          <p:cNvPr id="29" name="kw-cell"/>
          <p:cNvSpPr txBox="1"/>
          <p:nvPr/>
        </p:nvSpPr>
        <p:spPr>
          <a:xfrm>
            <a:off x="3657600" y="4771949"/>
            <a:ext cx="3474720" cy="64983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logic, reasons and facts</a:t>
            </a:r>
            <a:endParaRPr lang="en-US" sz="1800" dirty="0"/>
          </a:p>
        </p:txBody>
      </p:sp>
      <p:sp>
        <p:nvSpPr>
          <p:cNvPr id="30" name="kw-cell"/>
          <p:cNvSpPr txBox="1"/>
          <p:nvPr/>
        </p:nvSpPr>
        <p:spPr>
          <a:xfrm>
            <a:off x="7315200" y="4771949"/>
            <a:ext cx="4236415" cy="64983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She used logos by giving three clear facts.</a:t>
            </a:r>
            <a:endParaRPr lang="en-US" sz="1800" dirty="0"/>
          </a:p>
        </p:txBody>
      </p:sp>
      <p:sp>
        <p:nvSpPr>
          <p:cNvPr id="31" name="kw-row"/>
          <p:cNvSpPr/>
          <p:nvPr/>
        </p:nvSpPr>
        <p:spPr>
          <a:xfrm>
            <a:off x="548640" y="5494934"/>
            <a:ext cx="11094415" cy="649834"/>
          </a:xfrm>
          <a:prstGeom prst="roundRect">
            <a:avLst>
              <a:gd name="adj" fmla="val 8443"/>
            </a:avLst>
          </a:prstGeom>
          <a:solidFill>
            <a:srgbClr val="F8F1F2"/>
          </a:solidFill>
          <a:ln/>
        </p:spPr>
      </p:sp>
      <p:sp>
        <p:nvSpPr>
          <p:cNvPr id="32" name="kw-hex"/>
          <p:cNvSpPr/>
          <p:nvPr/>
        </p:nvSpPr>
        <p:spPr>
          <a:xfrm>
            <a:off x="658368" y="5641680"/>
            <a:ext cx="411480" cy="356342"/>
          </a:xfrm>
          <a:prstGeom prst="hexagon">
            <a:avLst/>
          </a:prstGeom>
          <a:solidFill>
            <a:srgbClr val="8C2F39"/>
          </a:solidFill>
          <a:ln/>
        </p:spPr>
      </p:sp>
      <p:sp>
        <p:nvSpPr>
          <p:cNvPr id="33" name="kw-cell"/>
          <p:cNvSpPr txBox="1"/>
          <p:nvPr/>
        </p:nvSpPr>
        <p:spPr>
          <a:xfrm>
            <a:off x="1143000" y="5494934"/>
            <a:ext cx="2331720" cy="649834"/>
          </a:xfrm>
          <a:prstGeom prst="rect">
            <a:avLst/>
          </a:prstGeom>
          <a:noFill/>
          <a:ln/>
        </p:spPr>
        <p:txBody>
          <a:bodyPr wrap="square" lIns="63500" tIns="63500" rIns="63500" bIns="63500" rtlCol="0" anchor="ctr"/>
          <a:lstStyle/>
          <a:p>
            <a:pPr algn="l" indent="0" marL="0">
              <a:buNone/>
            </a:pPr>
            <a:r>
              <a:rPr lang="en-US" sz="2000" b="1" dirty="0">
                <a:solidFill>
                  <a:srgbClr val="8C2F39"/>
                </a:solidFill>
                <a:latin typeface="Cambria" pitchFamily="34" charset="0"/>
                <a:ea typeface="Cambria" pitchFamily="34" charset="-122"/>
                <a:cs typeface="Cambria" pitchFamily="34" charset="-120"/>
              </a:rPr>
              <a:t>pathos</a:t>
            </a:r>
            <a:endParaRPr lang="en-US" sz="2000" dirty="0"/>
          </a:p>
        </p:txBody>
      </p:sp>
      <p:sp>
        <p:nvSpPr>
          <p:cNvPr id="34" name="kw-cell"/>
          <p:cNvSpPr txBox="1"/>
          <p:nvPr/>
        </p:nvSpPr>
        <p:spPr>
          <a:xfrm>
            <a:off x="3657600" y="5494934"/>
            <a:ext cx="3474720" cy="64983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appeals to the audience’s feelings</a:t>
            </a:r>
            <a:endParaRPr lang="en-US" sz="1800" dirty="0"/>
          </a:p>
        </p:txBody>
      </p:sp>
      <p:sp>
        <p:nvSpPr>
          <p:cNvPr id="35" name="kw-cell"/>
          <p:cNvSpPr txBox="1"/>
          <p:nvPr/>
        </p:nvSpPr>
        <p:spPr>
          <a:xfrm>
            <a:off x="7315200" y="5494934"/>
            <a:ext cx="4236415" cy="64983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story of the lost dog was pure pathos.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8C2F39"/>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9F4F4"/>
          </a:solidFill>
          <a:ln w="12700">
            <a:solidFill>
              <a:srgbClr val="DEC4C7"/>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200" b="1" dirty="0">
                <a:solidFill>
                  <a:srgbClr val="8C2F39"/>
                </a:solidFill>
                <a:latin typeface="Calibri" pitchFamily="34" charset="0"/>
                <a:ea typeface="Calibri" pitchFamily="34" charset="-122"/>
                <a:cs typeface="Calibri" pitchFamily="34" charset="-120"/>
              </a:rPr>
              <a:t>Rhetoric</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is the art of persuasion.</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It means getting people to think or do what you want.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200" b="1" dirty="0">
                <a:solidFill>
                  <a:srgbClr val="8C2F39"/>
                </a:solidFill>
                <a:latin typeface="Calibri" pitchFamily="34" charset="0"/>
                <a:ea typeface="Calibri" pitchFamily="34" charset="-122"/>
                <a:cs typeface="Calibri" pitchFamily="34" charset="-120"/>
              </a:rPr>
              <a:t>Rhetoric</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began in Athens, in ancient Greece, more than two thousand years ago.</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Athens was a democracy, so men had to speak well to win votes.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first teachers of </a:t>
            </a:r>
            <a:pPr algn="l" indent="0" marL="0">
              <a:spcAft>
                <a:spcPts val="600"/>
              </a:spcAft>
              <a:buNone/>
            </a:pPr>
            <a:r>
              <a:rPr lang="en-US" sz="2200" b="1" dirty="0">
                <a:solidFill>
                  <a:srgbClr val="8C2F39"/>
                </a:solidFill>
                <a:latin typeface="Calibri" pitchFamily="34" charset="0"/>
                <a:ea typeface="Calibri" pitchFamily="34" charset="-122"/>
                <a:cs typeface="Calibri" pitchFamily="34" charset="-120"/>
              </a:rPr>
              <a:t>rhetoric</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were called Sophists.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Some Sophists would argue anything for money, even if it was untrue.</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philosopher called Aristotle wanted </a:t>
            </a:r>
            <a:pPr algn="l" indent="0" marL="0">
              <a:spcAft>
                <a:spcPts val="600"/>
              </a:spcAft>
              <a:buNone/>
            </a:pPr>
            <a:r>
              <a:rPr lang="en-US" sz="2200" b="1" dirty="0">
                <a:solidFill>
                  <a:srgbClr val="8C2F39"/>
                </a:solidFill>
                <a:latin typeface="Calibri" pitchFamily="34" charset="0"/>
                <a:ea typeface="Calibri" pitchFamily="34" charset="-122"/>
                <a:cs typeface="Calibri" pitchFamily="34" charset="-120"/>
              </a:rPr>
              <a:t>rhetoric</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to serve the truth.</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8C2F39"/>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9F4F4"/>
          </a:solidFill>
          <a:ln w="12700">
            <a:solidFill>
              <a:srgbClr val="DEC4C7"/>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He wrote a book called The Art of </a:t>
            </a:r>
            <a:pPr algn="l" indent="0" marL="0">
              <a:spcAft>
                <a:spcPts val="600"/>
              </a:spcAft>
              <a:buNone/>
            </a:pPr>
            <a:r>
              <a:rPr lang="en-US" sz="2200" b="1" dirty="0">
                <a:solidFill>
                  <a:srgbClr val="8C2F39"/>
                </a:solidFill>
                <a:latin typeface="Calibri" pitchFamily="34" charset="0"/>
                <a:ea typeface="Calibri" pitchFamily="34" charset="-122"/>
                <a:cs typeface="Calibri" pitchFamily="34" charset="-120"/>
              </a:rPr>
              <a:t>Rhetoric</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He said there are three ways to </a:t>
            </a:r>
            <a:pPr algn="l" indent="0" marL="0">
              <a:spcAft>
                <a:spcPts val="600"/>
              </a:spcAft>
              <a:buNone/>
            </a:pPr>
            <a:r>
              <a:rPr lang="en-US" sz="2200" b="1" dirty="0">
                <a:solidFill>
                  <a:srgbClr val="8C2F39"/>
                </a:solidFill>
                <a:latin typeface="Calibri" pitchFamily="34" charset="0"/>
                <a:ea typeface="Calibri" pitchFamily="34" charset="-122"/>
                <a:cs typeface="Calibri" pitchFamily="34" charset="-120"/>
              </a:rPr>
              <a:t>persuade</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200" b="1" dirty="0">
                <a:solidFill>
                  <a:srgbClr val="8C2F39"/>
                </a:solidFill>
                <a:latin typeface="Calibri" pitchFamily="34" charset="0"/>
                <a:ea typeface="Calibri" pitchFamily="34" charset="-122"/>
                <a:cs typeface="Calibri" pitchFamily="34" charset="-120"/>
              </a:rPr>
              <a:t>Ethos</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means trust: show you are the right person to speak.</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200" b="1" dirty="0">
                <a:solidFill>
                  <a:srgbClr val="8C2F39"/>
                </a:solidFill>
                <a:latin typeface="Calibri" pitchFamily="34" charset="0"/>
                <a:ea typeface="Calibri" pitchFamily="34" charset="-122"/>
                <a:cs typeface="Calibri" pitchFamily="34" charset="-120"/>
              </a:rPr>
              <a:t>Logos</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means logic: use facts and clear reasons.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200" b="1" dirty="0">
                <a:solidFill>
                  <a:srgbClr val="8C2F39"/>
                </a:solidFill>
                <a:latin typeface="Calibri" pitchFamily="34" charset="0"/>
                <a:ea typeface="Calibri" pitchFamily="34" charset="-122"/>
                <a:cs typeface="Calibri" pitchFamily="34" charset="-120"/>
              </a:rPr>
              <a:t>Pathos</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means feeling: move your audience’s emotions.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Together, these three are called the Aristotelian triad.</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14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This term you will study famous speeches, then write your own.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Where rhetoric began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5EFE2"/>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Remember the chain: Athens, democracy, Sophists, Aristotle. Each one explains the next.</a:t>
            </a:r>
            <a:endParaRPr lang="en-US" sz="1800" dirty="0"/>
          </a:p>
        </p:txBody>
      </p:sp>
      <p:sp>
        <p:nvSpPr>
          <p:cNvPr id="11" name="point-card"/>
          <p:cNvSpPr/>
          <p:nvPr/>
        </p:nvSpPr>
        <p:spPr>
          <a:xfrm>
            <a:off x="548640" y="1389888"/>
            <a:ext cx="3515258" cy="3964940"/>
          </a:xfrm>
          <a:prstGeom prst="roundRect">
            <a:avLst>
              <a:gd name="adj" fmla="val 1561"/>
            </a:avLst>
          </a:prstGeom>
          <a:solidFill>
            <a:srgbClr val="F5EDEE"/>
          </a:solidFill>
          <a:ln/>
        </p:spPr>
      </p:sp>
      <p:sp>
        <p:nvSpPr>
          <p:cNvPr id="12" name="point-hex"/>
          <p:cNvSpPr/>
          <p:nvPr/>
        </p:nvSpPr>
        <p:spPr>
          <a:xfrm>
            <a:off x="731520" y="1572768"/>
            <a:ext cx="685800" cy="593903"/>
          </a:xfrm>
          <a:prstGeom prst="hexagon">
            <a:avLst/>
          </a:prstGeom>
          <a:solidFill>
            <a:srgbClr val="8C2F39"/>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Rhetoric means the art of persuasion: the art of getting people to think and do what you want.</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Because speaking well mattered so much, small schools opened to teach it.</a:t>
            </a:r>
            <a:endParaRPr lang="en-US" sz="2400" dirty="0"/>
          </a:p>
        </p:txBody>
      </p:sp>
      <p:sp>
        <p:nvSpPr>
          <p:cNvPr id="19" name="point-card"/>
          <p:cNvSpPr/>
          <p:nvPr/>
        </p:nvSpPr>
        <p:spPr>
          <a:xfrm>
            <a:off x="8127797" y="1389888"/>
            <a:ext cx="3515258" cy="3964940"/>
          </a:xfrm>
          <a:prstGeom prst="roundRect">
            <a:avLst>
              <a:gd name="adj" fmla="val 1561"/>
            </a:avLst>
          </a:prstGeom>
          <a:solidFill>
            <a:srgbClr val="F5EDEE"/>
          </a:solidFill>
          <a:ln/>
        </p:spPr>
      </p:sp>
      <p:sp>
        <p:nvSpPr>
          <p:cNvPr id="20" name="point-hex"/>
          <p:cNvSpPr/>
          <p:nvPr/>
        </p:nvSpPr>
        <p:spPr>
          <a:xfrm>
            <a:off x="8310677" y="1572768"/>
            <a:ext cx="685800" cy="593903"/>
          </a:xfrm>
          <a:prstGeom prst="hexagon">
            <a:avLst/>
          </a:prstGeom>
          <a:solidFill>
            <a:srgbClr val="8C2F39"/>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philosopher Aristotle criticised the Sophists for playing on people’s emotions instead of using the truth.</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The Aristotelian triad</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5EFE2"/>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Ethos: trust me. Logos: think about it. Pathos: feel it.</a:t>
            </a:r>
            <a:endParaRPr lang="en-US" sz="1800" dirty="0"/>
          </a:p>
        </p:txBody>
      </p:sp>
      <p:sp>
        <p:nvSpPr>
          <p:cNvPr id="11" name="point-card"/>
          <p:cNvSpPr/>
          <p:nvPr/>
        </p:nvSpPr>
        <p:spPr>
          <a:xfrm>
            <a:off x="548640" y="1389888"/>
            <a:ext cx="3515258" cy="3964940"/>
          </a:xfrm>
          <a:prstGeom prst="roundRect">
            <a:avLst>
              <a:gd name="adj" fmla="val 1561"/>
            </a:avLst>
          </a:prstGeom>
          <a:solidFill>
            <a:srgbClr val="F5EDEE"/>
          </a:solidFill>
          <a:ln/>
        </p:spPr>
      </p:sp>
      <p:sp>
        <p:nvSpPr>
          <p:cNvPr id="12" name="point-hex"/>
          <p:cNvSpPr/>
          <p:nvPr/>
        </p:nvSpPr>
        <p:spPr>
          <a:xfrm>
            <a:off x="731520" y="1572768"/>
            <a:ext cx="685800" cy="593903"/>
          </a:xfrm>
          <a:prstGeom prst="hexagon">
            <a:avLst/>
          </a:prstGeom>
          <a:solidFill>
            <a:srgbClr val="8C2F39"/>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Aristotle said there are three means of persuasion. Together they are called the Aristotelian triad, and this whole unit is built on them.</a:t>
            </a:r>
            <a:endParaRPr lang="en-US" sz="2200" dirty="0"/>
          </a:p>
        </p:txBody>
      </p:sp>
      <p:sp>
        <p:nvSpPr>
          <p:cNvPr id="15" name="point-card"/>
          <p:cNvSpPr/>
          <p:nvPr/>
        </p:nvSpPr>
        <p:spPr>
          <a:xfrm>
            <a:off x="4338218" y="1389888"/>
            <a:ext cx="3515258" cy="3964940"/>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Ethos is credibility and trust. Your writing must present you as someone who knows the topic and shares the audience’s values: why are you the right person to speak?</a:t>
            </a:r>
            <a:endParaRPr lang="en-US" sz="2200" dirty="0"/>
          </a:p>
        </p:txBody>
      </p:sp>
      <p:sp>
        <p:nvSpPr>
          <p:cNvPr id="19" name="point-card"/>
          <p:cNvSpPr/>
          <p:nvPr/>
        </p:nvSpPr>
        <p:spPr>
          <a:xfrm>
            <a:off x="8127797" y="1389888"/>
            <a:ext cx="3515258" cy="3964940"/>
          </a:xfrm>
          <a:prstGeom prst="roundRect">
            <a:avLst>
              <a:gd name="adj" fmla="val 1561"/>
            </a:avLst>
          </a:prstGeom>
          <a:solidFill>
            <a:srgbClr val="F5EDEE"/>
          </a:solidFill>
          <a:ln/>
        </p:spPr>
      </p:sp>
      <p:sp>
        <p:nvSpPr>
          <p:cNvPr id="20" name="point-hex"/>
          <p:cNvSpPr/>
          <p:nvPr/>
        </p:nvSpPr>
        <p:spPr>
          <a:xfrm>
            <a:off x="8310677" y="1572768"/>
            <a:ext cx="685800" cy="593903"/>
          </a:xfrm>
          <a:prstGeom prst="hexagon">
            <a:avLst/>
          </a:prstGeom>
          <a:solidFill>
            <a:srgbClr val="8C2F39"/>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Most strong speeches use all three, but one usually leads.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Worked example: The Aristotelian triad</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1673352"/>
          </a:xfrm>
          <a:prstGeom prst="roundRect">
            <a:avLst>
              <a:gd name="adj" fmla="val 5464"/>
            </a:avLst>
          </a:prstGeom>
          <a:solidFill>
            <a:srgbClr val="F5EDEE"/>
          </a:solidFill>
          <a:ln/>
        </p:spPr>
      </p:sp>
      <p:sp>
        <p:nvSpPr>
          <p:cNvPr id="8" name="worked-q"/>
          <p:cNvSpPr txBox="1"/>
          <p:nvPr/>
        </p:nvSpPr>
        <p:spPr>
          <a:xfrm>
            <a:off x="731520" y="1481328"/>
            <a:ext cx="10728655" cy="1490472"/>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Which part of the triad does each sentence use? (a) ‘I have taught in this school for twenty years, so I know what our pupils need.’ (b) ‘Picture a child eating lunch alone, every single day.’ (c) ‘Last year, 68 per cent of pupils said the canteen queue was too long.’</a:t>
            </a:r>
            <a:endParaRPr lang="en-US" sz="2200" dirty="0"/>
          </a:p>
        </p:txBody>
      </p:sp>
      <p:sp>
        <p:nvSpPr>
          <p:cNvPr id="9" name="step-box"/>
          <p:cNvSpPr/>
          <p:nvPr/>
        </p:nvSpPr>
        <p:spPr>
          <a:xfrm>
            <a:off x="548640" y="3337560"/>
            <a:ext cx="3423818" cy="1695196"/>
          </a:xfrm>
          <a:prstGeom prst="roundRect">
            <a:avLst>
              <a:gd name="adj" fmla="val 4315"/>
            </a:avLst>
          </a:prstGeom>
          <a:solidFill>
            <a:srgbClr val="FFFFFF"/>
          </a:solidFill>
          <a:ln w="15875">
            <a:solidFill>
              <a:srgbClr val="C08D92"/>
            </a:solidFill>
            <a:prstDash val="solid"/>
          </a:ln>
        </p:spPr>
      </p:sp>
      <p:sp>
        <p:nvSpPr>
          <p:cNvPr id="10" name="step-hex"/>
          <p:cNvSpPr/>
          <p:nvPr/>
        </p:nvSpPr>
        <p:spPr>
          <a:xfrm>
            <a:off x="685800" y="3447288"/>
            <a:ext cx="530352" cy="459285"/>
          </a:xfrm>
          <a:prstGeom prst="hexagon">
            <a:avLst/>
          </a:prstGeom>
          <a:solidFill>
            <a:srgbClr val="8C2F39"/>
          </a:solidFill>
          <a:ln/>
        </p:spPr>
      </p:sp>
      <p:sp>
        <p:nvSpPr>
          <p:cNvPr id="11" name="step-hex-label"/>
          <p:cNvSpPr txBox="1"/>
          <p:nvPr/>
        </p:nvSpPr>
        <p:spPr>
          <a:xfrm>
            <a:off x="685800" y="3447288"/>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931920"/>
            <a:ext cx="314949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 tells us why the speaker can be trusted: that is ethos.</a:t>
            </a:r>
            <a:endParaRPr lang="en-US" sz="1800" dirty="0"/>
          </a:p>
        </p:txBody>
      </p:sp>
      <p:sp>
        <p:nvSpPr>
          <p:cNvPr id="13" name="arrow"/>
          <p:cNvSpPr/>
          <p:nvPr/>
        </p:nvSpPr>
        <p:spPr>
          <a:xfrm>
            <a:off x="4045610" y="4047998"/>
            <a:ext cx="274320" cy="274320"/>
          </a:xfrm>
          <a:prstGeom prst="rightArrow">
            <a:avLst/>
          </a:prstGeom>
          <a:solidFill>
            <a:srgbClr val="B8862B"/>
          </a:solidFill>
          <a:ln/>
        </p:spPr>
      </p:sp>
      <p:sp>
        <p:nvSpPr>
          <p:cNvPr id="14" name="step-box"/>
          <p:cNvSpPr/>
          <p:nvPr/>
        </p:nvSpPr>
        <p:spPr>
          <a:xfrm>
            <a:off x="4383938" y="3337560"/>
            <a:ext cx="3423818" cy="1695196"/>
          </a:xfrm>
          <a:prstGeom prst="roundRect">
            <a:avLst>
              <a:gd name="adj" fmla="val 4315"/>
            </a:avLst>
          </a:prstGeom>
          <a:solidFill>
            <a:srgbClr val="FFFFFF"/>
          </a:solidFill>
          <a:ln w="15875">
            <a:solidFill>
              <a:srgbClr val="C08D92"/>
            </a:solidFill>
            <a:prstDash val="solid"/>
          </a:ln>
        </p:spPr>
      </p:sp>
      <p:sp>
        <p:nvSpPr>
          <p:cNvPr id="15" name="step-hex"/>
          <p:cNvSpPr/>
          <p:nvPr/>
        </p:nvSpPr>
        <p:spPr>
          <a:xfrm>
            <a:off x="4521098" y="3447288"/>
            <a:ext cx="530352" cy="459285"/>
          </a:xfrm>
          <a:prstGeom prst="hexagon">
            <a:avLst/>
          </a:prstGeom>
          <a:solidFill>
            <a:srgbClr val="8C2F39"/>
          </a:solidFill>
          <a:ln/>
        </p:spPr>
      </p:sp>
      <p:sp>
        <p:nvSpPr>
          <p:cNvPr id="16" name="step-hex-label"/>
          <p:cNvSpPr txBox="1"/>
          <p:nvPr/>
        </p:nvSpPr>
        <p:spPr>
          <a:xfrm>
            <a:off x="4521098" y="3447288"/>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4521098" y="3931920"/>
            <a:ext cx="314949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(b) asks us to imagine a sad picture, so we feel something: that is pathos.</a:t>
            </a:r>
            <a:endParaRPr lang="en-US" sz="1800" dirty="0"/>
          </a:p>
        </p:txBody>
      </p:sp>
      <p:sp>
        <p:nvSpPr>
          <p:cNvPr id="18" name="arrow"/>
          <p:cNvSpPr/>
          <p:nvPr/>
        </p:nvSpPr>
        <p:spPr>
          <a:xfrm>
            <a:off x="7880909" y="4047998"/>
            <a:ext cx="274320" cy="274320"/>
          </a:xfrm>
          <a:prstGeom prst="rightArrow">
            <a:avLst/>
          </a:prstGeom>
          <a:solidFill>
            <a:srgbClr val="B8862B"/>
          </a:solidFill>
          <a:ln/>
        </p:spPr>
      </p:sp>
      <p:sp>
        <p:nvSpPr>
          <p:cNvPr id="19" name="step-box"/>
          <p:cNvSpPr/>
          <p:nvPr/>
        </p:nvSpPr>
        <p:spPr>
          <a:xfrm>
            <a:off x="8219237" y="3337560"/>
            <a:ext cx="3423818" cy="1695196"/>
          </a:xfrm>
          <a:prstGeom prst="roundRect">
            <a:avLst>
              <a:gd name="adj" fmla="val 4315"/>
            </a:avLst>
          </a:prstGeom>
          <a:solidFill>
            <a:srgbClr val="FFFFFF"/>
          </a:solidFill>
          <a:ln w="15875">
            <a:solidFill>
              <a:srgbClr val="C08D92"/>
            </a:solidFill>
            <a:prstDash val="solid"/>
          </a:ln>
        </p:spPr>
      </p:sp>
      <p:sp>
        <p:nvSpPr>
          <p:cNvPr id="20" name="step-hex"/>
          <p:cNvSpPr/>
          <p:nvPr/>
        </p:nvSpPr>
        <p:spPr>
          <a:xfrm>
            <a:off x="8356397" y="3447288"/>
            <a:ext cx="530352" cy="459285"/>
          </a:xfrm>
          <a:prstGeom prst="hexagon">
            <a:avLst/>
          </a:prstGeom>
          <a:solidFill>
            <a:srgbClr val="8C2F39"/>
          </a:solidFill>
          <a:ln/>
        </p:spPr>
      </p:sp>
      <p:sp>
        <p:nvSpPr>
          <p:cNvPr id="21" name="step-hex-label"/>
          <p:cNvSpPr txBox="1"/>
          <p:nvPr/>
        </p:nvSpPr>
        <p:spPr>
          <a:xfrm>
            <a:off x="8356397" y="3447288"/>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8356397" y="3931920"/>
            <a:ext cx="314949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 gives a number from a survey as proof: that is logos.</a:t>
            </a:r>
            <a:endParaRPr lang="en-US" sz="1800" dirty="0"/>
          </a:p>
        </p:txBody>
      </p:sp>
      <p:sp>
        <p:nvSpPr>
          <p:cNvPr id="23" name="worked-answer"/>
          <p:cNvSpPr/>
          <p:nvPr/>
        </p:nvSpPr>
        <p:spPr>
          <a:xfrm>
            <a:off x="1463040" y="5592572"/>
            <a:ext cx="9265615" cy="552196"/>
          </a:xfrm>
          <a:prstGeom prst="roundRect">
            <a:avLst>
              <a:gd name="adj" fmla="val 33119"/>
            </a:avLst>
          </a:prstGeom>
          <a:solidFill>
            <a:srgbClr val="EEE3CD"/>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(a) ethos, (b) pathos, (c) logos.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Pronouns that pull people in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Count the pronouns before you count anything else. They tell you how the speaker sees the audience.</a:t>
            </a:r>
            <a:endParaRPr lang="en-US" sz="1800" dirty="0"/>
          </a:p>
        </p:txBody>
      </p:sp>
      <p:sp>
        <p:nvSpPr>
          <p:cNvPr id="11" name="point-card"/>
          <p:cNvSpPr/>
          <p:nvPr/>
        </p:nvSpPr>
        <p:spPr>
          <a:xfrm>
            <a:off x="548640" y="1389888"/>
            <a:ext cx="5410048" cy="3686048"/>
          </a:xfrm>
          <a:prstGeom prst="roundRect">
            <a:avLst>
              <a:gd name="adj" fmla="val 1488"/>
            </a:avLst>
          </a:prstGeom>
          <a:solidFill>
            <a:srgbClr val="F5EDEE"/>
          </a:solidFill>
          <a:ln/>
        </p:spPr>
      </p:sp>
      <p:sp>
        <p:nvSpPr>
          <p:cNvPr id="12" name="point-hex"/>
          <p:cNvSpPr/>
          <p:nvPr/>
        </p:nvSpPr>
        <p:spPr>
          <a:xfrm>
            <a:off x="731520" y="1572768"/>
            <a:ext cx="685800" cy="593903"/>
          </a:xfrm>
          <a:prstGeom prst="hexagon">
            <a:avLst/>
          </a:prstGeom>
          <a:solidFill>
            <a:srgbClr val="8C2F39"/>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Speakers choose their pronouns on purpose. First-person plural pronouns, ‘we’, ‘our’ and ‘us’, put the speaker and the audience on the same side.</a:t>
            </a:r>
            <a:endParaRPr lang="en-US" sz="2400" dirty="0"/>
          </a:p>
        </p:txBody>
      </p:sp>
      <p:sp>
        <p:nvSpPr>
          <p:cNvPr id="15" name="point-card"/>
          <p:cNvSpPr/>
          <p:nvPr/>
        </p:nvSpPr>
        <p:spPr>
          <a:xfrm>
            <a:off x="6233008" y="1389888"/>
            <a:ext cx="5410048" cy="3686048"/>
          </a:xfrm>
          <a:prstGeom prst="roundRect">
            <a:avLst>
              <a:gd name="adj" fmla="val 1488"/>
            </a:avLst>
          </a:prstGeom>
          <a:solidFill>
            <a:srgbClr val="F8F2E9"/>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Read this original speech. An expedition leader is speaking to her exhausted team before the last stage of a long journey.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Pronouns that pull people in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quote-panel"/>
          <p:cNvSpPr/>
          <p:nvPr/>
        </p:nvSpPr>
        <p:spPr>
          <a:xfrm>
            <a:off x="548640" y="1389888"/>
            <a:ext cx="11094415" cy="4754880"/>
          </a:xfrm>
          <a:prstGeom prst="roundRect">
            <a:avLst>
              <a:gd name="adj" fmla="val 1154"/>
            </a:avLst>
          </a:prstGeom>
          <a:solidFill>
            <a:srgbClr val="F5EDEE"/>
          </a:solidFill>
          <a:ln/>
        </p:spPr>
      </p:sp>
      <p:sp>
        <p:nvSpPr>
          <p:cNvPr id="8" name="quote-mark"/>
          <p:cNvSpPr txBox="1"/>
          <p:nvPr/>
        </p:nvSpPr>
        <p:spPr>
          <a:xfrm>
            <a:off x="68580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9" name="quote"/>
          <p:cNvSpPr txBox="1"/>
          <p:nvPr/>
        </p:nvSpPr>
        <p:spPr>
          <a:xfrm>
            <a:off x="1600200" y="1664208"/>
            <a:ext cx="9768535" cy="4206240"/>
          </a:xfrm>
          <a:prstGeom prst="rect">
            <a:avLst/>
          </a:prstGeom>
          <a:noFill/>
          <a:ln/>
        </p:spPr>
        <p:txBody>
          <a:bodyPr wrap="square" lIns="63500" tIns="63500" rIns="63500" bIns="63500" rtlCol="0" anchor="ctr"/>
          <a:lstStyle/>
          <a:p>
            <a:pPr algn="l" indent="0" marL="0">
              <a:spcAft>
                <a:spcPts val="1000"/>
              </a:spcAft>
              <a:buNone/>
            </a:pPr>
            <a:r>
              <a:rPr lang="en-US" sz="2200" i="1" dirty="0">
                <a:solidFill>
                  <a:srgbClr val="1E2229"/>
                </a:solidFill>
                <a:latin typeface="Cambria" pitchFamily="34" charset="0"/>
                <a:ea typeface="Cambria" pitchFamily="34" charset="-122"/>
                <a:cs typeface="Cambria" pitchFamily="34" charset="-120"/>
              </a:rPr>
              <a:t>Friends, look at me. Four months ago we left the harbour with twelve sledges and a map that nobody trusted. You have crossed the ice. You have carried the sick. You have eaten cold rations in the dark and never once complained. I have walked every mile beside you, and my feet are as blistered as yours. The pass ahead is three days away. Three days, not three weeks. On the far side there is a valley with grass and running water, and I have seen it with my own eyes. Some of you are afraid of what waits in the mountains. I understand that fear. But think of the faces waiting at home, and ask yourselves what story you want to tell them. We did not come this far to stop at the last hill. Pick up your packs. The valley is waiting for us.</a:t>
            </a:r>
            <a:endParaRPr lang="en-US" sz="2200" dirty="0"/>
          </a:p>
          <a:p>
            <a:pPr algn="l" indent="0" marL="0">
              <a:buNone/>
            </a:pPr>
            <a:r>
              <a:rPr lang="en-US" sz="1800" dirty="0">
                <a:solidFill>
                  <a:srgbClr val="4A505C"/>
                </a:solidFill>
                <a:latin typeface="Calibri" pitchFamily="34" charset="0"/>
                <a:ea typeface="Calibri" pitchFamily="34" charset="-122"/>
                <a:cs typeface="Calibri" pitchFamily="34" charset="-120"/>
              </a:rPr>
              <a:t>— ‘The Captain’s Speech’ — original speech written for Ad Astra</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Reading the captain’s speech</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When a speaker says ‘I understand that fear’, they are answering an objection before anyone can raise it. You will meet this again as the counterargument.</a:t>
            </a:r>
            <a:endParaRPr lang="en-US" sz="1800" dirty="0"/>
          </a:p>
        </p:txBody>
      </p:sp>
      <p:sp>
        <p:nvSpPr>
          <p:cNvPr id="11" name="point-card"/>
          <p:cNvSpPr/>
          <p:nvPr/>
        </p:nvSpPr>
        <p:spPr>
          <a:xfrm>
            <a:off x="548640" y="1389888"/>
            <a:ext cx="5410048" cy="3686048"/>
          </a:xfrm>
          <a:prstGeom prst="roundRect">
            <a:avLst>
              <a:gd name="adj" fmla="val 1488"/>
            </a:avLst>
          </a:prstGeom>
          <a:solidFill>
            <a:srgbClr val="F5EDEE"/>
          </a:solidFill>
          <a:ln/>
        </p:spPr>
      </p:sp>
      <p:sp>
        <p:nvSpPr>
          <p:cNvPr id="12" name="point-hex"/>
          <p:cNvSpPr/>
          <p:nvPr/>
        </p:nvSpPr>
        <p:spPr>
          <a:xfrm>
            <a:off x="731520" y="1572768"/>
            <a:ext cx="685800" cy="593903"/>
          </a:xfrm>
          <a:prstGeom prst="hexagon">
            <a:avLst/>
          </a:prstGeom>
          <a:solidFill>
            <a:srgbClr val="8C2F39"/>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captain opens with ‘we’: “Four months ago we left the harbour”.</a:t>
            </a:r>
            <a:endParaRPr lang="en-US" sz="2400" dirty="0"/>
          </a:p>
        </p:txBody>
      </p:sp>
      <p:sp>
        <p:nvSpPr>
          <p:cNvPr id="15" name="point-card"/>
          <p:cNvSpPr/>
          <p:nvPr/>
        </p:nvSpPr>
        <p:spPr>
          <a:xfrm>
            <a:off x="6233008" y="1389888"/>
            <a:ext cx="5410048" cy="3686048"/>
          </a:xfrm>
          <a:prstGeom prst="roundRect">
            <a:avLst>
              <a:gd name="adj" fmla="val 1488"/>
            </a:avLst>
          </a:prstGeom>
          <a:solidFill>
            <a:srgbClr val="F8F2E9"/>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Her ethos comes next: “I have walked every mile beside you”.</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The task: Match the triad</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term to what it means.</a:t>
            </a:r>
            <a:endParaRPr lang="en-US" sz="2400" dirty="0"/>
          </a:p>
        </p:txBody>
      </p:sp>
      <p:sp>
        <p:nvSpPr>
          <p:cNvPr id="11" name="match-card"/>
          <p:cNvSpPr/>
          <p:nvPr/>
        </p:nvSpPr>
        <p:spPr>
          <a:xfrm>
            <a:off x="777240" y="2468331"/>
            <a:ext cx="3081437" cy="975243"/>
          </a:xfrm>
          <a:prstGeom prst="roundRect">
            <a:avLst>
              <a:gd name="adj" fmla="val 7501"/>
            </a:avLst>
          </a:prstGeom>
          <a:solidFill>
            <a:srgbClr val="F8F1F2"/>
          </a:solidFill>
          <a:ln/>
        </p:spPr>
      </p:sp>
      <p:sp>
        <p:nvSpPr>
          <p:cNvPr id="12" name="match-hex"/>
          <p:cNvSpPr/>
          <p:nvPr/>
        </p:nvSpPr>
        <p:spPr>
          <a:xfrm>
            <a:off x="850392" y="2789660"/>
            <a:ext cx="384048" cy="332586"/>
          </a:xfrm>
          <a:prstGeom prst="hexagon">
            <a:avLst/>
          </a:prstGeom>
          <a:solidFill>
            <a:srgbClr val="8C2F39"/>
          </a:solidFill>
          <a:ln/>
        </p:spPr>
      </p:sp>
      <p:sp>
        <p:nvSpPr>
          <p:cNvPr id="13" name="match-hex-label"/>
          <p:cNvSpPr txBox="1"/>
          <p:nvPr/>
        </p:nvSpPr>
        <p:spPr>
          <a:xfrm>
            <a:off x="850392" y="2789660"/>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9752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ethos</a:t>
            </a:r>
            <a:endParaRPr lang="en-US" sz="2200" dirty="0"/>
          </a:p>
        </p:txBody>
      </p:sp>
      <p:sp>
        <p:nvSpPr>
          <p:cNvPr id="15" name="match-card"/>
          <p:cNvSpPr/>
          <p:nvPr/>
        </p:nvSpPr>
        <p:spPr>
          <a:xfrm>
            <a:off x="4224437" y="2468331"/>
            <a:ext cx="7190019" cy="975243"/>
          </a:xfrm>
          <a:prstGeom prst="roundRect">
            <a:avLst>
              <a:gd name="adj" fmla="val 7501"/>
            </a:avLst>
          </a:prstGeom>
          <a:solidFill>
            <a:srgbClr val="F8F2E9"/>
          </a:solidFill>
          <a:ln/>
        </p:spPr>
      </p:sp>
      <p:sp>
        <p:nvSpPr>
          <p:cNvPr id="16" name="match-hex"/>
          <p:cNvSpPr/>
          <p:nvPr/>
        </p:nvSpPr>
        <p:spPr>
          <a:xfrm>
            <a:off x="4297589" y="2789660"/>
            <a:ext cx="384048" cy="332586"/>
          </a:xfrm>
          <a:prstGeom prst="hexagon">
            <a:avLst/>
          </a:prstGeom>
          <a:solidFill>
            <a:srgbClr val="B8862B"/>
          </a:solidFill>
          <a:ln/>
        </p:spPr>
      </p:sp>
      <p:sp>
        <p:nvSpPr>
          <p:cNvPr id="17" name="match-hex-label"/>
          <p:cNvSpPr txBox="1"/>
          <p:nvPr/>
        </p:nvSpPr>
        <p:spPr>
          <a:xfrm>
            <a:off x="4297589" y="2789660"/>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9752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Credibility and trust: why you are the right person to speak</a:t>
            </a:r>
            <a:endParaRPr lang="en-US" sz="2200" dirty="0"/>
          </a:p>
        </p:txBody>
      </p:sp>
      <p:sp>
        <p:nvSpPr>
          <p:cNvPr id="19" name="match-card"/>
          <p:cNvSpPr/>
          <p:nvPr/>
        </p:nvSpPr>
        <p:spPr>
          <a:xfrm>
            <a:off x="777240" y="3535015"/>
            <a:ext cx="3081437" cy="975243"/>
          </a:xfrm>
          <a:prstGeom prst="roundRect">
            <a:avLst>
              <a:gd name="adj" fmla="val 7501"/>
            </a:avLst>
          </a:prstGeom>
          <a:solidFill>
            <a:srgbClr val="F8F1F2"/>
          </a:solidFill>
          <a:ln/>
        </p:spPr>
      </p:sp>
      <p:sp>
        <p:nvSpPr>
          <p:cNvPr id="20" name="match-hex"/>
          <p:cNvSpPr/>
          <p:nvPr/>
        </p:nvSpPr>
        <p:spPr>
          <a:xfrm>
            <a:off x="850392" y="3856343"/>
            <a:ext cx="384048" cy="332586"/>
          </a:xfrm>
          <a:prstGeom prst="hexagon">
            <a:avLst/>
          </a:prstGeom>
          <a:solidFill>
            <a:srgbClr val="8C2F39"/>
          </a:solidFill>
          <a:ln/>
        </p:spPr>
      </p:sp>
      <p:sp>
        <p:nvSpPr>
          <p:cNvPr id="21" name="match-hex-label"/>
          <p:cNvSpPr txBox="1"/>
          <p:nvPr/>
        </p:nvSpPr>
        <p:spPr>
          <a:xfrm>
            <a:off x="850392" y="38563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535015"/>
            <a:ext cx="2487077" cy="9752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logos</a:t>
            </a:r>
            <a:endParaRPr lang="en-US" sz="2200" dirty="0"/>
          </a:p>
        </p:txBody>
      </p:sp>
      <p:sp>
        <p:nvSpPr>
          <p:cNvPr id="23" name="match-card"/>
          <p:cNvSpPr/>
          <p:nvPr/>
        </p:nvSpPr>
        <p:spPr>
          <a:xfrm>
            <a:off x="4224437" y="3535015"/>
            <a:ext cx="7190019" cy="975243"/>
          </a:xfrm>
          <a:prstGeom prst="roundRect">
            <a:avLst>
              <a:gd name="adj" fmla="val 7501"/>
            </a:avLst>
          </a:prstGeom>
          <a:solidFill>
            <a:srgbClr val="F8F2E9"/>
          </a:solidFill>
          <a:ln/>
        </p:spPr>
      </p:sp>
      <p:sp>
        <p:nvSpPr>
          <p:cNvPr id="24" name="match-hex"/>
          <p:cNvSpPr/>
          <p:nvPr/>
        </p:nvSpPr>
        <p:spPr>
          <a:xfrm>
            <a:off x="4297589" y="3856343"/>
            <a:ext cx="384048" cy="332586"/>
          </a:xfrm>
          <a:prstGeom prst="hexagon">
            <a:avLst/>
          </a:prstGeom>
          <a:solidFill>
            <a:srgbClr val="B8862B"/>
          </a:solidFill>
          <a:ln/>
        </p:spPr>
      </p:sp>
      <p:sp>
        <p:nvSpPr>
          <p:cNvPr id="25" name="match-hex-label"/>
          <p:cNvSpPr txBox="1"/>
          <p:nvPr/>
        </p:nvSpPr>
        <p:spPr>
          <a:xfrm>
            <a:off x="4297589" y="38563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535015"/>
            <a:ext cx="6595659" cy="9752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Emotions and values: moving language, stories and appeals</a:t>
            </a:r>
            <a:endParaRPr lang="en-US" sz="2200" dirty="0"/>
          </a:p>
        </p:txBody>
      </p:sp>
      <p:sp>
        <p:nvSpPr>
          <p:cNvPr id="27" name="match-card"/>
          <p:cNvSpPr/>
          <p:nvPr/>
        </p:nvSpPr>
        <p:spPr>
          <a:xfrm>
            <a:off x="777240" y="4601698"/>
            <a:ext cx="3081437" cy="634375"/>
          </a:xfrm>
          <a:prstGeom prst="roundRect">
            <a:avLst>
              <a:gd name="adj" fmla="val 11531"/>
            </a:avLst>
          </a:prstGeom>
          <a:solidFill>
            <a:srgbClr val="F8F1F2"/>
          </a:solidFill>
          <a:ln/>
        </p:spPr>
      </p:sp>
      <p:sp>
        <p:nvSpPr>
          <p:cNvPr id="28" name="match-hex"/>
          <p:cNvSpPr/>
          <p:nvPr/>
        </p:nvSpPr>
        <p:spPr>
          <a:xfrm>
            <a:off x="850392" y="4752592"/>
            <a:ext cx="384048" cy="332586"/>
          </a:xfrm>
          <a:prstGeom prst="hexagon">
            <a:avLst/>
          </a:prstGeom>
          <a:solidFill>
            <a:srgbClr val="8C2F39"/>
          </a:solidFill>
          <a:ln/>
        </p:spPr>
      </p:sp>
      <p:sp>
        <p:nvSpPr>
          <p:cNvPr id="29" name="match-hex-label"/>
          <p:cNvSpPr txBox="1"/>
          <p:nvPr/>
        </p:nvSpPr>
        <p:spPr>
          <a:xfrm>
            <a:off x="850392" y="47525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601698"/>
            <a:ext cx="2487077" cy="63437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pathos</a:t>
            </a:r>
            <a:endParaRPr lang="en-US" sz="2200" dirty="0"/>
          </a:p>
        </p:txBody>
      </p:sp>
      <p:sp>
        <p:nvSpPr>
          <p:cNvPr id="31" name="match-card"/>
          <p:cNvSpPr/>
          <p:nvPr/>
        </p:nvSpPr>
        <p:spPr>
          <a:xfrm>
            <a:off x="4224437" y="4601698"/>
            <a:ext cx="7190019" cy="634375"/>
          </a:xfrm>
          <a:prstGeom prst="roundRect">
            <a:avLst>
              <a:gd name="adj" fmla="val 11531"/>
            </a:avLst>
          </a:prstGeom>
          <a:solidFill>
            <a:srgbClr val="F8F2E9"/>
          </a:solidFill>
          <a:ln/>
        </p:spPr>
      </p:sp>
      <p:sp>
        <p:nvSpPr>
          <p:cNvPr id="32" name="match-hex"/>
          <p:cNvSpPr/>
          <p:nvPr/>
        </p:nvSpPr>
        <p:spPr>
          <a:xfrm>
            <a:off x="4297589" y="4752592"/>
            <a:ext cx="384048" cy="332586"/>
          </a:xfrm>
          <a:prstGeom prst="hexagon">
            <a:avLst/>
          </a:prstGeom>
          <a:solidFill>
            <a:srgbClr val="B8862B"/>
          </a:solidFill>
          <a:ln/>
        </p:spPr>
      </p:sp>
      <p:sp>
        <p:nvSpPr>
          <p:cNvPr id="33" name="match-hex-label"/>
          <p:cNvSpPr txBox="1"/>
          <p:nvPr/>
        </p:nvSpPr>
        <p:spPr>
          <a:xfrm>
            <a:off x="4297589" y="47525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4601698"/>
            <a:ext cx="6595659" cy="63437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Logic and reason: facts and a clear argument as proof</a:t>
            </a:r>
            <a:endParaRPr lang="en-US" sz="2200" dirty="0"/>
          </a:p>
        </p:txBody>
      </p:sp>
      <p:sp>
        <p:nvSpPr>
          <p:cNvPr id="35" name="match-card"/>
          <p:cNvSpPr/>
          <p:nvPr/>
        </p:nvSpPr>
        <p:spPr>
          <a:xfrm>
            <a:off x="777240" y="5327513"/>
            <a:ext cx="3081437" cy="634375"/>
          </a:xfrm>
          <a:prstGeom prst="roundRect">
            <a:avLst>
              <a:gd name="adj" fmla="val 11531"/>
            </a:avLst>
          </a:prstGeom>
          <a:solidFill>
            <a:srgbClr val="F8F1F2"/>
          </a:solidFill>
          <a:ln/>
        </p:spPr>
      </p:sp>
      <p:sp>
        <p:nvSpPr>
          <p:cNvPr id="36" name="match-hex"/>
          <p:cNvSpPr/>
          <p:nvPr/>
        </p:nvSpPr>
        <p:spPr>
          <a:xfrm>
            <a:off x="850392" y="5478408"/>
            <a:ext cx="384048" cy="332586"/>
          </a:xfrm>
          <a:prstGeom prst="hexagon">
            <a:avLst/>
          </a:prstGeom>
          <a:solidFill>
            <a:srgbClr val="8C2F39"/>
          </a:solidFill>
          <a:ln/>
        </p:spPr>
      </p:sp>
      <p:sp>
        <p:nvSpPr>
          <p:cNvPr id="37" name="match-hex-label"/>
          <p:cNvSpPr txBox="1"/>
          <p:nvPr/>
        </p:nvSpPr>
        <p:spPr>
          <a:xfrm>
            <a:off x="850392" y="547840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327513"/>
            <a:ext cx="2487077" cy="63437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Aristotelian triad</a:t>
            </a:r>
            <a:endParaRPr lang="en-US" sz="2200" dirty="0"/>
          </a:p>
        </p:txBody>
      </p:sp>
      <p:sp>
        <p:nvSpPr>
          <p:cNvPr id="39" name="match-card"/>
          <p:cNvSpPr/>
          <p:nvPr/>
        </p:nvSpPr>
        <p:spPr>
          <a:xfrm>
            <a:off x="4224437" y="5327513"/>
            <a:ext cx="7190019" cy="634375"/>
          </a:xfrm>
          <a:prstGeom prst="roundRect">
            <a:avLst>
              <a:gd name="adj" fmla="val 11531"/>
            </a:avLst>
          </a:prstGeom>
          <a:solidFill>
            <a:srgbClr val="F8F2E9"/>
          </a:solidFill>
          <a:ln/>
        </p:spPr>
      </p:sp>
      <p:sp>
        <p:nvSpPr>
          <p:cNvPr id="40" name="match-hex"/>
          <p:cNvSpPr/>
          <p:nvPr/>
        </p:nvSpPr>
        <p:spPr>
          <a:xfrm>
            <a:off x="4297589" y="5478408"/>
            <a:ext cx="384048" cy="332586"/>
          </a:xfrm>
          <a:prstGeom prst="hexagon">
            <a:avLst/>
          </a:prstGeom>
          <a:solidFill>
            <a:srgbClr val="B8862B"/>
          </a:solidFill>
          <a:ln/>
        </p:spPr>
      </p:sp>
      <p:sp>
        <p:nvSpPr>
          <p:cNvPr id="41" name="match-hex-label"/>
          <p:cNvSpPr txBox="1"/>
          <p:nvPr/>
        </p:nvSpPr>
        <p:spPr>
          <a:xfrm>
            <a:off x="4297589" y="547840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5327513"/>
            <a:ext cx="6595659" cy="63437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name for all three means of persuasion together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Same task, three ways in: Match the triad</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term to what it means.</a:t>
            </a:r>
            <a:endParaRPr lang="en-US" sz="2000" dirty="0"/>
          </a:p>
        </p:txBody>
      </p:sp>
      <p:sp>
        <p:nvSpPr>
          <p:cNvPr id="12" name="col-Support"/>
          <p:cNvSpPr/>
          <p:nvPr/>
        </p:nvSpPr>
        <p:spPr>
          <a:xfrm>
            <a:off x="548640" y="2578608"/>
            <a:ext cx="4667802" cy="3566160"/>
          </a:xfrm>
          <a:prstGeom prst="roundRect">
            <a:avLst>
              <a:gd name="adj" fmla="val 1538"/>
            </a:avLst>
          </a:prstGeom>
          <a:solidFill>
            <a:srgbClr val="F5EDEE"/>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Ethos and ‘ethics’ share a root: both are about character and trust.</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Logos and ‘logic’ share a root: both are about reasoning.</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Pathos is the odd one out: it is about feeling.</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triad is a group of three, so it is the name for the set.</a:t>
            </a:r>
            <a:endParaRPr lang="en-US" sz="1800" dirty="0"/>
          </a:p>
        </p:txBody>
      </p:sp>
      <p:sp>
        <p:nvSpPr>
          <p:cNvPr id="17" name="col-Core"/>
          <p:cNvSpPr/>
          <p:nvPr/>
        </p:nvSpPr>
        <p:spPr>
          <a:xfrm>
            <a:off x="5490762" y="2578608"/>
            <a:ext cx="2938987" cy="3566160"/>
          </a:xfrm>
          <a:prstGeom prst="roundRect">
            <a:avLst>
              <a:gd name="adj" fmla="val 1867"/>
            </a:avLst>
          </a:prstGeom>
          <a:solidFill>
            <a:srgbClr val="E7D4D6"/>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70262E"/>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Trust, think, feel. Which word goes with which?</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8C2F39"/>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Aristotle said he preferred logos, and give one reason a speaker might still need pathos.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The task: Find the ethos</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In ‘The Captain’s Speech’, which sentence is the clearest example of ethos?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pass ahead is three days away.”</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“Pick up your packs.”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 have walked every mile beside you, and my feet are as blistered as yours.”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“But think of the faces waiting at home”</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Same task, three ways in: Find the ethos</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In ‘The Captain’s Speech’, which sentence is the clearest example of ethos?</a:t>
            </a:r>
            <a:endParaRPr lang="en-US" sz="2000" dirty="0"/>
          </a:p>
        </p:txBody>
      </p:sp>
      <p:sp>
        <p:nvSpPr>
          <p:cNvPr id="12" name="col-Support"/>
          <p:cNvSpPr/>
          <p:nvPr/>
        </p:nvSpPr>
        <p:spPr>
          <a:xfrm>
            <a:off x="548640" y="2578608"/>
            <a:ext cx="3515258" cy="3566160"/>
          </a:xfrm>
          <a:prstGeom prst="roundRect">
            <a:avLst>
              <a:gd name="adj" fmla="val 1561"/>
            </a:avLst>
          </a:prstGeom>
          <a:solidFill>
            <a:srgbClr val="F5EDEE"/>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3240938"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Ethos is about the speaker: look for sentences that start with ‘I’.</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which sentence shows the captain has shared the hardship.</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Rule out sentences that give facts (logos) or stir feelings (pathos).</a:t>
            </a:r>
            <a:endParaRPr lang="en-US" sz="1800" dirty="0"/>
          </a:p>
        </p:txBody>
      </p:sp>
      <p:sp>
        <p:nvSpPr>
          <p:cNvPr id="17" name="col-Core"/>
          <p:cNvSpPr/>
          <p:nvPr/>
        </p:nvSpPr>
        <p:spPr>
          <a:xfrm>
            <a:off x="4338218" y="2578608"/>
            <a:ext cx="3515258" cy="3566160"/>
          </a:xfrm>
          <a:prstGeom prst="roundRect">
            <a:avLst>
              <a:gd name="adj" fmla="val 1561"/>
            </a:avLst>
          </a:prstGeom>
          <a:solidFill>
            <a:srgbClr val="E7D4D6"/>
          </a:solidFill>
          <a:ln/>
        </p:spPr>
      </p:sp>
      <p:sp>
        <p:nvSpPr>
          <p:cNvPr id="18" name="col-hex"/>
          <p:cNvSpPr/>
          <p:nvPr/>
        </p:nvSpPr>
        <p:spPr>
          <a:xfrm>
            <a:off x="4447946"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18688"/>
            <a:ext cx="3240938" cy="2816352"/>
          </a:xfrm>
          <a:prstGeom prst="rect">
            <a:avLst/>
          </a:prstGeom>
          <a:noFill/>
          <a:ln/>
        </p:spPr>
        <p:txBody>
          <a:bodyPr wrap="square" lIns="63500" tIns="63500" rIns="63500" bIns="63500" rtlCol="0" anchor="t"/>
          <a:lstStyle/>
          <a:p>
            <a:pPr algn="l" indent="0" marL="0">
              <a:buNone/>
            </a:pPr>
            <a:r>
              <a:rPr lang="en-US" sz="1800" b="1" dirty="0">
                <a:solidFill>
                  <a:srgbClr val="70262E"/>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Which sentence proves the captain has suffered alongside her team?</a:t>
            </a:r>
            <a:endParaRPr lang="en-US" sz="1800" dirty="0"/>
          </a:p>
        </p:txBody>
      </p:sp>
      <p:sp>
        <p:nvSpPr>
          <p:cNvPr id="22" name="col-Stretch"/>
          <p:cNvSpPr/>
          <p:nvPr/>
        </p:nvSpPr>
        <p:spPr>
          <a:xfrm>
            <a:off x="8127797" y="2578608"/>
            <a:ext cx="3515258" cy="3566160"/>
          </a:xfrm>
          <a:prstGeom prst="roundRect">
            <a:avLst>
              <a:gd name="adj" fmla="val 1561"/>
            </a:avLst>
          </a:prstGeom>
          <a:solidFill>
            <a:srgbClr val="8C2F39"/>
          </a:solidFill>
          <a:ln/>
        </p:spPr>
      </p:sp>
      <p:sp>
        <p:nvSpPr>
          <p:cNvPr id="23" name="col-hex"/>
          <p:cNvSpPr/>
          <p:nvPr/>
        </p:nvSpPr>
        <p:spPr>
          <a:xfrm>
            <a:off x="8237525"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18688"/>
            <a:ext cx="3240938"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how the word ‘blistered’ does more for the captain’s ethos than ‘tired’ would.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8C2F39"/>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8C2F39"/>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24332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Which city is seen as the birthplace of rhetoric?</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Rome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Athens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London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Sparta</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9F4F4"/>
          </a:solidFill>
          <a:ln w="12700">
            <a:solidFill>
              <a:srgbClr val="C79A9F"/>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 Match the triad</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ethos  →  A  Credibility and trust: why you are the right person to speak</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logos  →  C  Logic and reason: facts and a clear argument as proof</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pathos  →  B  Emotions and values: moving language, stories and appeals</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Aristotelian triad  →  D  The name for all three means of persuasion together</a:t>
            </a:r>
            <a:endParaRPr lang="en-US" sz="2400" dirty="0"/>
          </a:p>
        </p:txBody>
      </p:sp>
      <p:sp>
        <p:nvSpPr>
          <p:cNvPr id="10" name="why-panel"/>
          <p:cNvSpPr/>
          <p:nvPr/>
        </p:nvSpPr>
        <p:spPr>
          <a:xfrm>
            <a:off x="7223760" y="1389888"/>
            <a:ext cx="4419295" cy="4754880"/>
          </a:xfrm>
          <a:prstGeom prst="roundRect">
            <a:avLst>
              <a:gd name="adj" fmla="val 1035"/>
            </a:avLst>
          </a:prstGeom>
          <a:solidFill>
            <a:srgbClr val="F5EDEE"/>
          </a:solidFill>
          <a:ln/>
        </p:spPr>
      </p:sp>
      <p:sp>
        <p:nvSpPr>
          <p:cNvPr id="11" name="why-hex"/>
          <p:cNvSpPr/>
          <p:nvPr/>
        </p:nvSpPr>
        <p:spPr>
          <a:xfrm>
            <a:off x="7406640" y="1572768"/>
            <a:ext cx="685800" cy="593903"/>
          </a:xfrm>
          <a:prstGeom prst="hexagon">
            <a:avLst/>
          </a:prstGeom>
          <a:solidFill>
            <a:srgbClr val="8C2F39"/>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Ethos is trust in the speaker, logos is logic and proof, pathos is emotion and values, and the Aristotelian triad is the name for all three.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 Find the ethos</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In ‘The Captain’s Speech’, which sentence is the clearest example of ethos?</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C   “I have walked every mile beside you, and my feet are as blistered as yours.”</a:t>
            </a:r>
            <a:endParaRPr lang="en-US" sz="1800" dirty="0"/>
          </a:p>
        </p:txBody>
      </p:sp>
      <p:sp>
        <p:nvSpPr>
          <p:cNvPr id="10" name="why-panel"/>
          <p:cNvSpPr/>
          <p:nvPr/>
        </p:nvSpPr>
        <p:spPr>
          <a:xfrm>
            <a:off x="7223760" y="1389888"/>
            <a:ext cx="4419295" cy="4754880"/>
          </a:xfrm>
          <a:prstGeom prst="roundRect">
            <a:avLst>
              <a:gd name="adj" fmla="val 1035"/>
            </a:avLst>
          </a:prstGeom>
          <a:solidFill>
            <a:srgbClr val="F5EDEE"/>
          </a:solidFill>
          <a:ln/>
        </p:spPr>
      </p:sp>
      <p:sp>
        <p:nvSpPr>
          <p:cNvPr id="11" name="why-hex"/>
          <p:cNvSpPr/>
          <p:nvPr/>
        </p:nvSpPr>
        <p:spPr>
          <a:xfrm>
            <a:off x="7406640" y="1572768"/>
            <a:ext cx="685800" cy="593903"/>
          </a:xfrm>
          <a:prstGeom prst="hexagon">
            <a:avLst/>
          </a:prstGeom>
          <a:solidFill>
            <a:srgbClr val="8C2F39"/>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captain shows she has shared every mile and every blister. That earns her the right to ask for more: ethos.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city is seen as the birthplace of rhetoric?</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Athens</a:t>
            </a:r>
            <a:endParaRPr lang="en-US" sz="1800" dirty="0"/>
          </a:p>
        </p:txBody>
      </p:sp>
      <p:sp>
        <p:nvSpPr>
          <p:cNvPr id="10" name="why-panel"/>
          <p:cNvSpPr/>
          <p:nvPr/>
        </p:nvSpPr>
        <p:spPr>
          <a:xfrm>
            <a:off x="7223760" y="1389888"/>
            <a:ext cx="4419295" cy="4754880"/>
          </a:xfrm>
          <a:prstGeom prst="roundRect">
            <a:avLst>
              <a:gd name="adj" fmla="val 1035"/>
            </a:avLst>
          </a:prstGeom>
          <a:solidFill>
            <a:srgbClr val="F5EDEE"/>
          </a:solidFill>
          <a:ln/>
        </p:spPr>
      </p:sp>
      <p:sp>
        <p:nvSpPr>
          <p:cNvPr id="11" name="why-hex"/>
          <p:cNvSpPr/>
          <p:nvPr/>
        </p:nvSpPr>
        <p:spPr>
          <a:xfrm>
            <a:off x="7406640" y="1572768"/>
            <a:ext cx="685800" cy="593903"/>
          </a:xfrm>
          <a:prstGeom prst="hexagon">
            <a:avLst/>
          </a:prstGeom>
          <a:solidFill>
            <a:srgbClr val="8C2F39"/>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Athens was a democracy, so men who could persuade the Assembly gained power. That is why rhetoric was studied there first.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english">
  <a:themeElements>
    <a:clrScheme name="Ad Astra english">
      <a:dk1>
        <a:srgbClr val="1E2229"/>
      </a:dk1>
      <a:lt1>
        <a:srgbClr val="FFFFFF"/>
      </a:lt1>
      <a:dk2>
        <a:srgbClr val="70262E"/>
      </a:dk2>
      <a:lt2>
        <a:srgbClr val="F5EDEE"/>
      </a:lt2>
      <a:accent1>
        <a:srgbClr val="8C2F39"/>
      </a:accent1>
      <a:accent2>
        <a:srgbClr val="B8862B"/>
      </a:accent2>
      <a:accent3>
        <a:srgbClr val="BA8288"/>
      </a:accent3>
      <a:accent4>
        <a:srgbClr val="815E1E"/>
      </a:accent4>
      <a:accent5>
        <a:srgbClr val="4A505C"/>
      </a:accent5>
      <a:accent6>
        <a:srgbClr val="DDC498"/>
      </a:accent6>
      <a:hlink>
        <a:srgbClr val="8C2F39"/>
      </a:hlink>
      <a:folHlink>
        <a:srgbClr val="622128"/>
      </a:folHlink>
    </a:clrScheme>
    <a:fontScheme name="Ad Astra englis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Rhetoric · Chapter 1: What rhetoric is: Athens, Aristotle and the triad</dc:title>
  <dc:subject>English Language · Year 8</dc:subject>
  <dc:creator>Dr Vitor Merissi de Carvalho</dc:creator>
  <cp:lastModifiedBy>Dr Vitor Merissi de Carvalho</cp:lastModifiedBy>
  <cp:revision>1</cp:revision>
  <dcterms:created xsi:type="dcterms:W3CDTF">2026-10-19T06:07:26Z</dcterms:created>
  <dcterms:modified xsi:type="dcterms:W3CDTF">2026-10-19T06:07:26Z</dcterms:modified>
</cp:coreProperties>
</file>