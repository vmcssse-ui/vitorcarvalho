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da162f8-f712-d451-dbb3-5656a17f406c}">
          <p14:sldIdLst>
            <p14:sldId id="256"/>
          </p14:sldIdLst>
        </p14:section>
        <p14:section name="Gate" id="{58da959d-70a5-e831-f7c3-75518fe39e61}">
          <p14:sldIdLst>
            <p14:sldId id="257"/>
            <p14:sldId id="258"/>
          </p14:sldIdLst>
        </p14:section>
        <p14:section name="Pre-teach" id="{c73379c1-da38-d79f-d698-822daee97d4e}">
          <p14:sldIdLst>
            <p14:sldId id="259"/>
          </p14:sldIdLst>
        </p14:section>
        <p14:section name="Read-along" id="{e3cb56ee-c3f4-1084-2140-8a4665392e3f}">
          <p14:sldIdLst>
            <p14:sldId id="260"/>
            <p14:sldId id="261"/>
          </p14:sldIdLst>
        </p14:section>
        <p14:section name="Teach" id="{757c4834-6fe7-226a-7a86-51b53db7b13a}">
          <p14:sldIdLst>
            <p14:sldId id="262"/>
            <p14:sldId id="263"/>
            <p14:sldId id="264"/>
            <p14:sldId id="265"/>
            <p14:sldId id="266"/>
          </p14:sldIdLst>
        </p14:section>
        <p14:section name="Routes" id="{1d9b84d0-6a5e-de82-4ec9-62df266df2b3}">
          <p14:sldIdLst>
            <p14:sldId id="267"/>
            <p14:sldId id="268"/>
            <p14:sldId id="269"/>
            <p14:sldId id="270"/>
            <p14:sldId id="271"/>
            <p14:sldId id="272"/>
          </p14:sldIdLst>
        </p14:section>
        <p14:section name="Close" id="{4ef962a2-76da-1bfa-5df9-23f395e036a7}">
          <p14:sldIdLst>
            <p14:sldId id="273"/>
          </p14:sldIdLst>
        </p14:section>
        <p14:section name="Answers" id="{81b6182a-012c-ade6-7315-c50629180bec}">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Twelve rhetorical methods. You will know the twelve rhetorical methods by name, find them in a speech, and write about why one of them works.
This deck covers the department's lesson: 3 (Rhetorical methods: What are rhetorical methods?).
Read the big question aloud: "What is rhetoric, how do famous speakers use it to persuade, and how do I write a persuasive speech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tricolon?  →  C   A series of three parallel words, phrases or clauses
2. The repetition of a word or phrase at the beginning of several sentences is called ___.  →  anaphora
3. “So keep the oak.” is an example of which method?  →  A   Imperative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 series of three parallel words, phrases or clauses. Tri means three. A tricolon is three parallel words, phrases or clauses, such as ‘shade, shelter and clean air’.
2. anaphora. Anaphora is repetition at the beginning of sentences or clauses.
3. A   Imperative. ‘Keep’ is a command verb, so the sentence is an imperative.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anecdote: a short story about a real event or person. Example: "She opened with an anecdote about her grandad."
• tricolon: a list of three parallel words or phrases. Example: "‘Shade, shelter, clean air’ is a tricolon."
• anaphora: repeating the same words at the start of sentences. Example: "Starting three sentences with ‘It’ is anaphora."
• imperative: a command. Example: "‘Keep the oak’ is an imperative."
• direct address: speaking straight to the audience. Example: "Saying ‘you’ to the council is direct address."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Rhetorical methods are the tools a speaker uses to persuade.
2. Your class studies twelve of them.
3. An anecdote is a short story about a real event or person.
4. A rhetorical question does not need an answer.
5. Emotive language makes the audience feel an emotion.
6. Statistics are facts or data from a study.
7. A tricolon is a list of three parallel words or phrases.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A maxim is a short statement of a general truth.
9. An opinion is a view that may not be based on fact.
10. Direct address speaks straight to the audience, often with ‘you’.
11. Anaphora repeats the same words at the start of several sentences.
12. An imperative is a command.
13. Hyperbole is exaggeration that is not meant literally.
14. An analogy compares two things to explain one of them.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twelve methods. Say it in your own words, then check understanding with a quick question: ask a pupil from the pre-teach group first, since they met these words and ideas before the lesson. Pupils try to recall before you re-explain.
Your teachers teach twelve rhetorical methods, each with its own icon so you can picture it. Four tell or feel: an anecdote is a short, interesting story about a real event or person; emotive language makes the audience feel a particular emotion; hyperbole is an exaggerated claim not meant to be taken literally; a maxim is a short statement of a general truth, such as ‘Actions speak louder than words.’
Three prove or claim: statistics are facts or data from a study; an analogy is a comparison that explains; an opinion is a view or judgement that is not necessarily based on fact. Two make patterns: a tricolon is a series of three parallel words, phrases or clauses; anaphora repeats a word or phrase at the beginning of several sentences.
Three speak to the listener: direct address names the audience or uses personal pronouns such as ‘you’; a rhetorical question is a question that does not require an answer; an imperative is a command. Learn the names. In your analysis you must use the correct name for each method.
Tip: Dual code it: draw a tiny icon for each method next to its name. A picture is faster to recall than a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Spotting methods in a speech. Say it in your own words, then check understanding with a quick question: ask a pupil from the pre-teach group first, since they met these words and ideas before the lesson. Pupils try to recall before you re-explain.
Here is an original speech. A Year 8 pupil is speaking to the town council, which plans to cut down an old oak tree to make room for parking. Read it once for the argument, then a second time with a pencil, labelling every method you can find. There are at least ten.
Notice how often one phrase uses two methods at once. A list of three that exaggerates is both a tricolon and hyperbole. Three sentences that start the same way are anaphora, and if there are exactly three they are also a tricolon. When that happens, name both.
Quotation: "Councillors, thank you for listening to a twelve-year-old. When I was six, my grandad lifted me into the branches of the oak at the end of Elm Street, and I have climbed it every summer since. Now you want to cut it down for four parking spaces. Four. That oak is older than this building, older than this town, older than every one of us put together. It shades our walk to school. It shelters a hundred birds. It cleans the air we breathe. Three hundred and twelve people signed our petition in one weekend. Would you knock down a library to park a car? That tree is a library of living things. Actions speak louder than words, and I believe this council is better than a car park. So keep the oak. Plant more like it. Give our street back its shade. Please. You hold the saw, and you hold the choice." (‘The Last Tree on Elm Street’ — original speech written for Ad Astra). Read it aloud; ask what it shows.
Tip: Label the method, then ask the harder question: what does it make the audience feel or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Spotting methods in a speech. Say it in your own words, then check understanding with a quick question: ask a pupil from the pre-teach group first, since they met these words and ideas before the lesson. Pupils try to recall before you re-explain.
Here is an original speech. A Year 8 pupil is speaking to the town council, which plans to cut down an old oak tree to make room for parking. Read it once for the argument, then a second time with a pencil, labelling every method you can find. There are at least ten.
Notice how often one phrase uses two methods at once. A list of three that exaggerates is both a tricolon and hyperbole. Three sentences that start the same way are anaphora, and if there are exactly three they are also a tricolon. When that happens, name both.
Quotation: "Councillors, thank you for listening to a twelve-year-old. When I was six, my grandad lifted me into the branches of the oak at the end of Elm Street, and I have climbed it every summer since. Now you want to cut it down for four parking spaces. Four. That oak is older than this building, older than this town, older than every one of us put together. It shades our walk to school. It shelters a hundred birds. It cleans the air we breathe. Three hundred and twelve people signed our petition in one weekend. Would you knock down a library to park a car? That tree is a library of living things. Actions speak louder than words, and I believe this council is better than a car park. So keep the oak. Plant more like it. Give our street back its shade. Please. You hold the saw, and you hold the choice." (‘The Last Tree on Elm Street’ — original speech written for Ad Astra). Read it aloud; ask what it shows.
Tip: Label the method, then ask the harder question: what does it make the audience feel or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about a method: name, quote, explain. Say it in your own words, then check understanding with a quick question: ask a pupil from the pre-teach group first, since they met these words and ideas before the lesson. Pupils try to recall before you re-explain.
Your analysis question for this unit is always the same shape: How does the speaker use rhetorical methods to persuade the audience? Three rules: use quotations; focus on one method at a time and explain in detail why it is effective; and use the correct name for the method.
A useful frame: ‘The speaker uses [method] in the quotation ‘…’. This is persuasive because… It makes the audience feel… so they are more likely to…’. The last part matters most. Naming a method earns little on its own; explaining what it does to the listener is where the marks are.
Worked example — model it step by step, thinking aloud: Write a name, quote, explain sentence about the rhetorical question in ‘The Last Tree on Elm Street’. (1) Name: the speaker uses a rhetorical question. (2) Quote: “Would you knock down a library to park a car?” (3) Explain: the councillors must answer ‘no’ in their heads, and the question also contains an analogy, tree as library, so cutting it down suddenly looks like destroying knowledge. Answer: The speaker uses a rhetorical question, “Would you knock down a library to park a car?”, which forces the councillors to answer ‘no’ in their own heads. Because the question also compares the tree to a library, cutting it down starts to feel like destroying something precious and irreplaceable..
Tip: Quote short. Four to eight words is usually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about a method: name, quote, explain. Say it in your own words, then check understanding with a quick question: ask a pupil from the pre-teach group first, since they met these words and ideas before the lesson. Pupils try to recall before you re-explain.
Your analysis question for this unit is always the same shape: How does the speaker use rhetorical methods to persuade the audience? Three rules: use quotations; focus on one method at a time and explain in detail why it is effective; and use the correct name for the method.
A useful frame: ‘The speaker uses [method] in the quotation ‘…’. This is persuasive because… It makes the audience feel… so they are more likely to…’. The last part matters most. Naming a method earns little on its own; explaining what it does to the listener is where the marks are.
Worked example — model it step by step, thinking aloud: Write a name, quote, explain sentence about the rhetorical question in ‘The Last Tree on Elm Street’. (1) Name: the speaker uses a rhetorical question. (2) Quote: “Would you knock down a library to park a car?” (3) Explain: the councillors must answer ‘no’ in their heads, and the question also contains an analogy, tree as library, so cutting it down suddenly looks like destroying knowledge. Answer: The speaker uses a rhetorical question, “Would you knock down a library to park a car?”, which forces the councillors to answer ‘no’ in their own heads. Because the question also compares the tree to a library, cutting it down starts to feel like destroying something precious and irreplaceable..
Tip: Quote short. Four to eight words is usually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method.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‘The Last Tree on Elm Street’ to the method it shows.
Support — work through the steps with the group: (1) A story about the past, with ‘When I was…’, is an anecdote. (2) A number from a count is a statistic. (3) A short saying that is true for everyone is a maxim. (4) A question mark with no answer expected is a rhetorical question. (5) A sentence that starts with a command verb is an imperative.
Parallel worked example for Support (model it, do not give the task answer): Name the method: ‘Last year, 40 pupils were late to first lesson because of the bus.’ There is a number.; It comes from a count of real pupils.. Answer: A statistic..
Core — reveal the hint only on request: Look at how each quotation begins: a time, a number, a saying, a question word or a command verb.
Stretch — no help; when finished: Find a phrase in the speech that uses two methods at once, and name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method.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‘The Last Tree on Elm Street’ to the method it shows.
Support — work through the steps with the group: (1) A story about the past, with ‘When I was…’, is an anecdote. (2) A number from a count is a statistic. (3) A short saying that is true for everyone is a maxim. (4) A question mark with no answer expected is a rhetorical question. (5) A sentence that starts with a command verb is an imperative.
Parallel worked example for Support (model it, do not give the task answer): Name the method: ‘Last year, 40 pupils were late to first lesson because of the bus.’ There is a number.; It comes from a count of real pupils.. Answer: A statistic..
Core — reveal the hint only on request: Look at how each quotation begins: a time, a number, a saying, a question word or a command verb.
Stretch — no help; when finished: Find a phrase in the speech that uses two methods at once, and name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method.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‘The Last Tree on Elm Street’ to the method it shows.
Support — work through the steps with the group: (1) A story about the past, with ‘When I was…’, is an anecdote. (2) A number from a count is a statistic. (3) A short saying that is true for everyone is a maxim. (4) A question mark with no answer expected is a rhetorical question. (5) A sentence that starts with a command verb is an imperative.
Parallel worked example for Support (model it, do not give the task answer): Name the method: ‘Last year, 40 pupils were late to first lesson because of the bus.’ There is a number.; It comes from a count of real pupils.. Answer: A statistic..
Core — reveal the hint only on request: Look at how each quotation begins: a time, a number, a saying, a question word or a command verb.
Stretch — no help; when finished: Find a phrase in the speech that uses two methods at once, and name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method.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quotation from ‘The Last Tree on Elm Street’ to the method it shows.
Support — work through the steps with the group: (1) A story about the past, with ‘When I was…’, is an anecdote. (2) A number from a count is a statistic. (3) A short saying that is true for everyone is a maxim. (4) A question mark with no answer expected is a rhetorical question. (5) A sentence that starts with a command verb is an imperative.
Parallel worked example for Support (model it, do not give the task answer): Name the method: ‘Last year, 40 pupils were late to first lesson because of the bus.’ There is a number.; It comes from a count of real pupils.. Answer: A statistic..
Core — reveal the hint only on request: Look at how each quotation begins: a time, a number, a saying, a question word or a command verb.
Stretch — no help; when finished: Find a phrase in the speech that uses two methods at once, and name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Two methods at once.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“older than this building, older than this town, older than every one of us put together” uses two methods together. Which two?
Support — work through the steps with the group: (1) Count the parts of the list. (2) Ask whether the oak really is older than everyone’s ages added together. (3) A list of three is a tricolon; an exaggeration is hyperbole.
Parallel worked example for Support (model it, do not give the task answer): Which two methods? ‘We waited for hours, for days, for a lifetime.’ Three parts: a tricolon.; ‘A lifetime’ is not literally true: hyperbole.. Answer: Tricolon and hyperbole..
Core — reveal the hint only on request: How many parts does the list have, and is the last one literally true?
Stretch — no help; when finished: Explain why putting the exaggeration last in the list of three makes it hit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Two methods at once.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“older than this building, older than this town, older than every one of us put together” uses two methods together. Which two?
Support — work through the steps with the group: (1) Count the parts of the list. (2) Ask whether the oak really is older than everyone’s ages added together. (3) A list of three is a tricolon; an exaggeration is hyperbole.
Parallel worked example for Support (model it, do not give the task answer): Which two methods? ‘We waited for hours, for days, for a lifetime.’ Three parts: a tricolon.; ‘A lifetime’ is not literally true: hyperbole.. Answer: Tricolon and hyperbole..
Core — reveal the hint only on request: How many parts does the list have, and is the last one literally true?
Stretch — no help; when finished: Explain why putting the exaggeration last in the list of three makes it hit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 tricolon?
Answer: B   A series of three parallel words, phrases or clauses. Tri means three. A tricolon is three parallel words, phrases or clauses, such as ‘shade, shelter and clean air’.
Source of this question: gate item 1 re-asked (options rotated) — this chapter has no third quick-check module.
The ebook also holds task 3, "How does the speaker persuade?",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the method. Reveal the answer; pupils mark their own work in a different colour, then read the "why" together. Same destination for every lane, so one answer serves the whole class.
Answer: “When I was six, my grandad lifted me into the branches of the oak”  →  D  anecdote; “Three hundred and twelve people signed our petition in one weekend.”  →  E  statistic; “Actions speak louder than words”  →  C  maxim; “Would you knock down a library to park a car?”  →  A  rhetorical question; “Plant more like it.”  →  B  imperative
Why: Each method has a tell-tale sign: a story, a number, a saying, a question or a command.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Two methods at once. Reveal the answer; pupils mark their own work in a different colour, then read the "why" together. Same destination for every lane, so one answer serves the whole class.
Answer: A   Tricolon and hyperbole
Why: Three parallel parts make a tricolon, and ‘older than every one of us put together’ is an exaggeration, so the phrase is also hyperbole.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series of three parallel words, phrases or clauses
Why: Tri means three. A tricolon is three parallel words, phrases or clauses, such as ‘shade, shelter and clean air’.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AD9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Rhetoric · AQA KS3 → 8700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Twelve rhetorical methods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5EDEE"/>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Rhetorical methods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5EDEE"/>
          </a:solidFill>
          <a:ln w="12700">
            <a:solidFill>
              <a:srgbClr val="D3AFB3"/>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rhetoric, how do famous speakers use it to persuade, and how do I write a persuasive speech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a tricolon?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question that does not need an answer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command</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series of three parallel words, phrases or clauses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short statement of a general truth</a:t>
            </a:r>
            <a:endParaRPr lang="en-US" sz="2200" dirty="0"/>
          </a:p>
        </p:txBody>
      </p:sp>
      <p:sp>
        <p:nvSpPr>
          <p:cNvPr id="12" name="card"/>
          <p:cNvSpPr/>
          <p:nvPr/>
        </p:nvSpPr>
        <p:spPr>
          <a:xfrm>
            <a:off x="4338218" y="1389888"/>
            <a:ext cx="3515258" cy="4754880"/>
          </a:xfrm>
          <a:prstGeom prst="roundRect">
            <a:avLst>
              <a:gd name="adj" fmla="val 1561"/>
            </a:avLst>
          </a:prstGeom>
          <a:solidFill>
            <a:srgbClr val="F9F4F4"/>
          </a:solidFill>
          <a:ln w="12700">
            <a:solidFill>
              <a:srgbClr val="D8B9BD"/>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repetition of a word or phrase at the beginning of several sentences is called ___.</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anaphora  ·  analogy  ·  anecdote</a:t>
            </a:r>
            <a:endParaRPr lang="en-US" sz="2400" dirty="0"/>
          </a:p>
        </p:txBody>
      </p:sp>
      <p:sp>
        <p:nvSpPr>
          <p:cNvPr id="17" name="card"/>
          <p:cNvSpPr/>
          <p:nvPr/>
        </p:nvSpPr>
        <p:spPr>
          <a:xfrm>
            <a:off x="8127797" y="1389888"/>
            <a:ext cx="3515258" cy="4754880"/>
          </a:xfrm>
          <a:prstGeom prst="roundRect">
            <a:avLst>
              <a:gd name="adj" fmla="val 1561"/>
            </a:avLst>
          </a:prstGeom>
          <a:solidFill>
            <a:srgbClr val="F9F4F4"/>
          </a:solidFill>
          <a:ln w="12700">
            <a:solidFill>
              <a:srgbClr val="D8B9BD"/>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“So keep the oak.” is an example of which method?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Imperative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Anecdote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Statistic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Maxim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series of three parallel words, phrases or clauses</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 tricolon?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Tri means three. A tricolon is three parallel words, phrases or clauses, such as ‘shade, shelter and clean air’.</a:t>
            </a:r>
            <a:endParaRPr lang="en-US" sz="2000" dirty="0"/>
          </a:p>
        </p:txBody>
      </p:sp>
      <p:sp>
        <p:nvSpPr>
          <p:cNvPr id="14" name="card"/>
          <p:cNvSpPr/>
          <p:nvPr/>
        </p:nvSpPr>
        <p:spPr>
          <a:xfrm>
            <a:off x="4338218" y="1389888"/>
            <a:ext cx="3515258" cy="4754880"/>
          </a:xfrm>
          <a:prstGeom prst="roundRect">
            <a:avLst>
              <a:gd name="adj" fmla="val 1561"/>
            </a:avLst>
          </a:prstGeom>
          <a:solidFill>
            <a:srgbClr val="F9F4F4"/>
          </a:solidFill>
          <a:ln w="12700">
            <a:solidFill>
              <a:srgbClr val="D8B9BD"/>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anaphora</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repetition of a word or phrase at the beginning of several sentences is called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Anaphora is repetition at the beginning of sentences or clauses.</a:t>
            </a:r>
            <a:endParaRPr lang="en-US" sz="2200" dirty="0"/>
          </a:p>
        </p:txBody>
      </p:sp>
      <p:sp>
        <p:nvSpPr>
          <p:cNvPr id="21" name="card"/>
          <p:cNvSpPr/>
          <p:nvPr/>
        </p:nvSpPr>
        <p:spPr>
          <a:xfrm>
            <a:off x="8127797" y="1389888"/>
            <a:ext cx="3515258" cy="4754880"/>
          </a:xfrm>
          <a:prstGeom prst="roundRect">
            <a:avLst>
              <a:gd name="adj" fmla="val 1561"/>
            </a:avLst>
          </a:prstGeom>
          <a:solidFill>
            <a:srgbClr val="F9F4F4"/>
          </a:solidFill>
          <a:ln w="12700">
            <a:solidFill>
              <a:srgbClr val="D8B9BD"/>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Imperative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“So keep the oak.” is an example of which method?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‘Keep’ is a command verb, so the sentence is an imperative.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7692"/>
          </a:xfrm>
          <a:prstGeom prst="roundRect">
            <a:avLst>
              <a:gd name="adj" fmla="val 6549"/>
            </a:avLst>
          </a:prstGeom>
          <a:solidFill>
            <a:srgbClr val="F8F1F2"/>
          </a:solidFill>
          <a:ln/>
        </p:spPr>
      </p:sp>
      <p:sp>
        <p:nvSpPr>
          <p:cNvPr id="12" name="kw-hex"/>
          <p:cNvSpPr/>
          <p:nvPr/>
        </p:nvSpPr>
        <p:spPr>
          <a:xfrm>
            <a:off x="658368" y="2160915"/>
            <a:ext cx="411480" cy="356342"/>
          </a:xfrm>
          <a:prstGeom prst="hexagon">
            <a:avLst/>
          </a:prstGeom>
          <a:solidFill>
            <a:srgbClr val="8C2F39"/>
          </a:solidFill>
          <a:ln/>
        </p:spPr>
      </p:sp>
      <p:sp>
        <p:nvSpPr>
          <p:cNvPr id="13" name="kw-cell"/>
          <p:cNvSpPr txBox="1"/>
          <p:nvPr/>
        </p:nvSpPr>
        <p:spPr>
          <a:xfrm>
            <a:off x="1143000" y="1920240"/>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anecdote</a:t>
            </a:r>
            <a:endParaRPr lang="en-US" sz="2200" dirty="0"/>
          </a:p>
        </p:txBody>
      </p:sp>
      <p:sp>
        <p:nvSpPr>
          <p:cNvPr id="14" name="kw-cell"/>
          <p:cNvSpPr txBox="1"/>
          <p:nvPr/>
        </p:nvSpPr>
        <p:spPr>
          <a:xfrm>
            <a:off x="3657600" y="1920240"/>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short story about a real event or person</a:t>
            </a:r>
            <a:endParaRPr lang="en-US" sz="2000" dirty="0"/>
          </a:p>
        </p:txBody>
      </p:sp>
      <p:sp>
        <p:nvSpPr>
          <p:cNvPr id="15" name="kw-cell"/>
          <p:cNvSpPr txBox="1"/>
          <p:nvPr/>
        </p:nvSpPr>
        <p:spPr>
          <a:xfrm>
            <a:off x="7315200" y="1920240"/>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She opened with an anecdote about her grandad.</a:t>
            </a:r>
            <a:endParaRPr lang="en-US" sz="2000" dirty="0"/>
          </a:p>
        </p:txBody>
      </p:sp>
      <p:sp>
        <p:nvSpPr>
          <p:cNvPr id="16" name="kw-row"/>
          <p:cNvSpPr/>
          <p:nvPr/>
        </p:nvSpPr>
        <p:spPr>
          <a:xfrm>
            <a:off x="548640" y="2831084"/>
            <a:ext cx="11094415" cy="837692"/>
          </a:xfrm>
          <a:prstGeom prst="roundRect">
            <a:avLst>
              <a:gd name="adj" fmla="val 6549"/>
            </a:avLst>
          </a:prstGeom>
          <a:solidFill>
            <a:srgbClr val="F8F2E9"/>
          </a:solidFill>
          <a:ln/>
        </p:spPr>
      </p:sp>
      <p:sp>
        <p:nvSpPr>
          <p:cNvPr id="17" name="kw-hex"/>
          <p:cNvSpPr/>
          <p:nvPr/>
        </p:nvSpPr>
        <p:spPr>
          <a:xfrm>
            <a:off x="658368" y="3071759"/>
            <a:ext cx="411480" cy="356342"/>
          </a:xfrm>
          <a:prstGeom prst="hexagon">
            <a:avLst/>
          </a:prstGeom>
          <a:solidFill>
            <a:srgbClr val="B8862B"/>
          </a:solidFill>
          <a:ln/>
        </p:spPr>
      </p:sp>
      <p:sp>
        <p:nvSpPr>
          <p:cNvPr id="18" name="kw-cell"/>
          <p:cNvSpPr txBox="1"/>
          <p:nvPr/>
        </p:nvSpPr>
        <p:spPr>
          <a:xfrm>
            <a:off x="1143000" y="2831084"/>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tricolon</a:t>
            </a:r>
            <a:endParaRPr lang="en-US" sz="2200" dirty="0"/>
          </a:p>
        </p:txBody>
      </p:sp>
      <p:sp>
        <p:nvSpPr>
          <p:cNvPr id="19" name="kw-cell"/>
          <p:cNvSpPr txBox="1"/>
          <p:nvPr/>
        </p:nvSpPr>
        <p:spPr>
          <a:xfrm>
            <a:off x="3657600" y="2831084"/>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list of three parallel words or phrases</a:t>
            </a:r>
            <a:endParaRPr lang="en-US" sz="2000" dirty="0"/>
          </a:p>
        </p:txBody>
      </p:sp>
      <p:sp>
        <p:nvSpPr>
          <p:cNvPr id="20" name="kw-cell"/>
          <p:cNvSpPr txBox="1"/>
          <p:nvPr/>
        </p:nvSpPr>
        <p:spPr>
          <a:xfrm>
            <a:off x="7315200" y="2831084"/>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‘Shade, shelter, clean air’ is a tricolon.</a:t>
            </a:r>
            <a:endParaRPr lang="en-US" sz="2000" dirty="0"/>
          </a:p>
        </p:txBody>
      </p:sp>
      <p:sp>
        <p:nvSpPr>
          <p:cNvPr id="21" name="kw-row"/>
          <p:cNvSpPr/>
          <p:nvPr/>
        </p:nvSpPr>
        <p:spPr>
          <a:xfrm>
            <a:off x="548640" y="3741928"/>
            <a:ext cx="11094415" cy="837692"/>
          </a:xfrm>
          <a:prstGeom prst="roundRect">
            <a:avLst>
              <a:gd name="adj" fmla="val 6549"/>
            </a:avLst>
          </a:prstGeom>
          <a:solidFill>
            <a:srgbClr val="F8F1F2"/>
          </a:solidFill>
          <a:ln/>
        </p:spPr>
      </p:sp>
      <p:sp>
        <p:nvSpPr>
          <p:cNvPr id="22" name="kw-hex"/>
          <p:cNvSpPr/>
          <p:nvPr/>
        </p:nvSpPr>
        <p:spPr>
          <a:xfrm>
            <a:off x="658368" y="3982603"/>
            <a:ext cx="411480" cy="356342"/>
          </a:xfrm>
          <a:prstGeom prst="hexagon">
            <a:avLst/>
          </a:prstGeom>
          <a:solidFill>
            <a:srgbClr val="8C2F39"/>
          </a:solidFill>
          <a:ln/>
        </p:spPr>
      </p:sp>
      <p:sp>
        <p:nvSpPr>
          <p:cNvPr id="23" name="kw-cell"/>
          <p:cNvSpPr txBox="1"/>
          <p:nvPr/>
        </p:nvSpPr>
        <p:spPr>
          <a:xfrm>
            <a:off x="1143000" y="3741928"/>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anaphora</a:t>
            </a:r>
            <a:endParaRPr lang="en-US" sz="2200" dirty="0"/>
          </a:p>
        </p:txBody>
      </p:sp>
      <p:sp>
        <p:nvSpPr>
          <p:cNvPr id="24" name="kw-cell"/>
          <p:cNvSpPr txBox="1"/>
          <p:nvPr/>
        </p:nvSpPr>
        <p:spPr>
          <a:xfrm>
            <a:off x="3657600" y="3741928"/>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repeating the same words at the start of sentences</a:t>
            </a:r>
            <a:endParaRPr lang="en-US" sz="2000" dirty="0"/>
          </a:p>
        </p:txBody>
      </p:sp>
      <p:sp>
        <p:nvSpPr>
          <p:cNvPr id="25" name="kw-cell"/>
          <p:cNvSpPr txBox="1"/>
          <p:nvPr/>
        </p:nvSpPr>
        <p:spPr>
          <a:xfrm>
            <a:off x="7315200" y="3741928"/>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Starting three sentences with ‘It’ is anaphora.</a:t>
            </a:r>
            <a:endParaRPr lang="en-US" sz="2000" dirty="0"/>
          </a:p>
        </p:txBody>
      </p:sp>
      <p:sp>
        <p:nvSpPr>
          <p:cNvPr id="26" name="kw-row"/>
          <p:cNvSpPr/>
          <p:nvPr/>
        </p:nvSpPr>
        <p:spPr>
          <a:xfrm>
            <a:off x="548640" y="4652772"/>
            <a:ext cx="11094415" cy="581152"/>
          </a:xfrm>
          <a:prstGeom prst="roundRect">
            <a:avLst>
              <a:gd name="adj" fmla="val 9441"/>
            </a:avLst>
          </a:prstGeom>
          <a:solidFill>
            <a:srgbClr val="F8F2E9"/>
          </a:solidFill>
          <a:ln/>
        </p:spPr>
      </p:sp>
      <p:sp>
        <p:nvSpPr>
          <p:cNvPr id="27" name="kw-hex"/>
          <p:cNvSpPr/>
          <p:nvPr/>
        </p:nvSpPr>
        <p:spPr>
          <a:xfrm>
            <a:off x="658368" y="4765177"/>
            <a:ext cx="411480" cy="356342"/>
          </a:xfrm>
          <a:prstGeom prst="hexagon">
            <a:avLst/>
          </a:prstGeom>
          <a:solidFill>
            <a:srgbClr val="B8862B"/>
          </a:solidFill>
          <a:ln/>
        </p:spPr>
      </p:sp>
      <p:sp>
        <p:nvSpPr>
          <p:cNvPr id="28" name="kw-cell"/>
          <p:cNvSpPr txBox="1"/>
          <p:nvPr/>
        </p:nvSpPr>
        <p:spPr>
          <a:xfrm>
            <a:off x="1143000" y="4652772"/>
            <a:ext cx="2331720" cy="58115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imperative</a:t>
            </a:r>
            <a:endParaRPr lang="en-US" sz="2200" dirty="0"/>
          </a:p>
        </p:txBody>
      </p:sp>
      <p:sp>
        <p:nvSpPr>
          <p:cNvPr id="29" name="kw-cell"/>
          <p:cNvSpPr txBox="1"/>
          <p:nvPr/>
        </p:nvSpPr>
        <p:spPr>
          <a:xfrm>
            <a:off x="3657600" y="4652772"/>
            <a:ext cx="3474720" cy="5811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command</a:t>
            </a:r>
            <a:endParaRPr lang="en-US" sz="2000" dirty="0"/>
          </a:p>
        </p:txBody>
      </p:sp>
      <p:sp>
        <p:nvSpPr>
          <p:cNvPr id="30" name="kw-cell"/>
          <p:cNvSpPr txBox="1"/>
          <p:nvPr/>
        </p:nvSpPr>
        <p:spPr>
          <a:xfrm>
            <a:off x="7315200" y="4652772"/>
            <a:ext cx="4236415" cy="58115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‘Keep the oak’ is an imperative.</a:t>
            </a:r>
            <a:endParaRPr lang="en-US" sz="2000" dirty="0"/>
          </a:p>
        </p:txBody>
      </p:sp>
      <p:sp>
        <p:nvSpPr>
          <p:cNvPr id="31" name="kw-row"/>
          <p:cNvSpPr/>
          <p:nvPr/>
        </p:nvSpPr>
        <p:spPr>
          <a:xfrm>
            <a:off x="548640" y="5307076"/>
            <a:ext cx="11094415" cy="837692"/>
          </a:xfrm>
          <a:prstGeom prst="roundRect">
            <a:avLst>
              <a:gd name="adj" fmla="val 6549"/>
            </a:avLst>
          </a:prstGeom>
          <a:solidFill>
            <a:srgbClr val="F8F1F2"/>
          </a:solidFill>
          <a:ln/>
        </p:spPr>
      </p:sp>
      <p:sp>
        <p:nvSpPr>
          <p:cNvPr id="32" name="kw-hex"/>
          <p:cNvSpPr/>
          <p:nvPr/>
        </p:nvSpPr>
        <p:spPr>
          <a:xfrm>
            <a:off x="658368" y="5547751"/>
            <a:ext cx="411480" cy="356342"/>
          </a:xfrm>
          <a:prstGeom prst="hexagon">
            <a:avLst/>
          </a:prstGeom>
          <a:solidFill>
            <a:srgbClr val="8C2F39"/>
          </a:solidFill>
          <a:ln/>
        </p:spPr>
      </p:sp>
      <p:sp>
        <p:nvSpPr>
          <p:cNvPr id="33" name="kw-cell"/>
          <p:cNvSpPr txBox="1"/>
          <p:nvPr/>
        </p:nvSpPr>
        <p:spPr>
          <a:xfrm>
            <a:off x="1143000" y="5307076"/>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direct address</a:t>
            </a:r>
            <a:endParaRPr lang="en-US" sz="2200" dirty="0"/>
          </a:p>
        </p:txBody>
      </p:sp>
      <p:sp>
        <p:nvSpPr>
          <p:cNvPr id="34" name="kw-cell"/>
          <p:cNvSpPr txBox="1"/>
          <p:nvPr/>
        </p:nvSpPr>
        <p:spPr>
          <a:xfrm>
            <a:off x="3657600" y="5307076"/>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speaking straight to the audience</a:t>
            </a:r>
            <a:endParaRPr lang="en-US" sz="2000" dirty="0"/>
          </a:p>
        </p:txBody>
      </p:sp>
      <p:sp>
        <p:nvSpPr>
          <p:cNvPr id="35" name="kw-cell"/>
          <p:cNvSpPr txBox="1"/>
          <p:nvPr/>
        </p:nvSpPr>
        <p:spPr>
          <a:xfrm>
            <a:off x="7315200" y="5307076"/>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Saying ‘you’ to the council is direct address.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Rhetorical methods are the tools a speaker uses to persuade.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Your class studies twelve of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anecdote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short story about a real event or person.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rhetorical question does not need an answer.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Emotive language makes the audience feel an emotion.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Statistics are facts or data from a study.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tricolon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list of three parallel words or phrases.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maxim is a short statement of a general truth.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opinion is a view that may not be based on fact.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Direct address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speaks straight to the audience, often with ‘you’.</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Anaphora</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repeats the same words at the start of several sentences.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imperative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command.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Hyperbole is exaggeration that is not meant literally.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analogy compares two things to explain one of them.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twelve methods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Dual code it: draw a tiny icon for each method next to its name. A picture is faster to recall than a definition.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teachers teach twelve rhetorical methods, each with its own icon so you can picture it.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Three prove or claim: statistics are facts or data from a study; an analogy is a comparison that explains; an opinion is a view or judgement that is not necessarily based on fact.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5EDEE"/>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Three speak to the listener: direct address names the audience or uses personal pronouns such as ‘you’; a rhetorical question is a question that does not require an answer; an imperative is a command.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Spotting methods in a speech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Label the method, then ask the harder question: what does it make the audience feel or think?</a:t>
            </a:r>
            <a:endParaRPr lang="en-US" sz="1800" dirty="0"/>
          </a:p>
        </p:txBody>
      </p:sp>
      <p:sp>
        <p:nvSpPr>
          <p:cNvPr id="11" name="point-card"/>
          <p:cNvSpPr/>
          <p:nvPr/>
        </p:nvSpPr>
        <p:spPr>
          <a:xfrm>
            <a:off x="548640" y="1389888"/>
            <a:ext cx="5410048" cy="3964940"/>
          </a:xfrm>
          <a:prstGeom prst="roundRect">
            <a:avLst>
              <a:gd name="adj" fmla="val 1384"/>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is an original speech. A Year 8 pupil is speaking to the town council, which plans to cut down an old oak tree to make room for parking.</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Notice how often one phrase uses two methods at once.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Spotting methods in a speech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5EDEE"/>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Councillors, thank you for listening to a twelve-year-old. When I was six, my grandad lifted me into the branches of the oak at the end of Elm Street, and I have climbed it every summer since. Now you want to cut it down for four parking spaces. Four. That oak is older than this building, older than this town, older than every one of us put together. It shades our walk to school. It shelters a hundred birds. It cleans the air we breathe. Three hundred and twelve people signed our petition in one weekend. Would you knock down a library to park a car? That tree is a library of living things. Actions speak louder than words, and I believe this council is better than a car park. So keep the oak. Plant more like it. Give our street back its shade. Please. You hold the saw, and you hold the choice.</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‘The Last Tree on Elm Street’ — original speech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Writing about a method: name, quote, explain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Quote short. Four to eight words is usually enough.</a:t>
            </a:r>
            <a:endParaRPr lang="en-US" sz="1800" dirty="0"/>
          </a:p>
        </p:txBody>
      </p:sp>
      <p:sp>
        <p:nvSpPr>
          <p:cNvPr id="11" name="point-card"/>
          <p:cNvSpPr/>
          <p:nvPr/>
        </p:nvSpPr>
        <p:spPr>
          <a:xfrm>
            <a:off x="548640" y="1389888"/>
            <a:ext cx="5410048" cy="3964940"/>
          </a:xfrm>
          <a:prstGeom prst="roundRect">
            <a:avLst>
              <a:gd name="adj" fmla="val 1384"/>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analysis question for this unit is always the same shape: How does the speaker use rhetorical methods to persuade the audience?</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useful frame: ‘The speaker uses [method] in the quotation ‘…’.</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Writing about a method: name, quote, explain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5EDEE"/>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Write a name, quote, explain sentence about the rhetorical question in ‘The Last Tree on Elm Street’.</a:t>
            </a:r>
            <a:endParaRPr lang="en-US" sz="2000" dirty="0"/>
          </a:p>
        </p:txBody>
      </p:sp>
      <p:sp>
        <p:nvSpPr>
          <p:cNvPr id="9" name="step-box"/>
          <p:cNvSpPr/>
          <p:nvPr/>
        </p:nvSpPr>
        <p:spPr>
          <a:xfrm>
            <a:off x="548640" y="2502408"/>
            <a:ext cx="11094415" cy="589915"/>
          </a:xfrm>
          <a:prstGeom prst="roundRect">
            <a:avLst>
              <a:gd name="adj" fmla="val 12400"/>
            </a:avLst>
          </a:prstGeom>
          <a:solidFill>
            <a:srgbClr val="FFFFFF"/>
          </a:solidFill>
          <a:ln w="15875">
            <a:solidFill>
              <a:srgbClr val="C08D92"/>
            </a:solidFill>
            <a:prstDash val="solid"/>
          </a:ln>
        </p:spPr>
      </p:sp>
      <p:sp>
        <p:nvSpPr>
          <p:cNvPr id="10" name="step-hex"/>
          <p:cNvSpPr/>
          <p:nvPr/>
        </p:nvSpPr>
        <p:spPr>
          <a:xfrm>
            <a:off x="685800" y="2599398"/>
            <a:ext cx="457200" cy="395935"/>
          </a:xfrm>
          <a:prstGeom prst="hexagon">
            <a:avLst/>
          </a:prstGeom>
          <a:solidFill>
            <a:srgbClr val="8C2F39"/>
          </a:solidFill>
          <a:ln/>
        </p:spPr>
      </p:sp>
      <p:sp>
        <p:nvSpPr>
          <p:cNvPr id="11" name="step-hex-label"/>
          <p:cNvSpPr txBox="1"/>
          <p:nvPr/>
        </p:nvSpPr>
        <p:spPr>
          <a:xfrm>
            <a:off x="685800" y="259939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8991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speaker uses a rhetorical question.</a:t>
            </a:r>
            <a:endParaRPr lang="en-US" sz="1800" dirty="0"/>
          </a:p>
        </p:txBody>
      </p:sp>
      <p:sp>
        <p:nvSpPr>
          <p:cNvPr id="13" name="step-box"/>
          <p:cNvSpPr/>
          <p:nvPr/>
        </p:nvSpPr>
        <p:spPr>
          <a:xfrm>
            <a:off x="548640" y="3165475"/>
            <a:ext cx="11094415" cy="589915"/>
          </a:xfrm>
          <a:prstGeom prst="roundRect">
            <a:avLst>
              <a:gd name="adj" fmla="val 12400"/>
            </a:avLst>
          </a:prstGeom>
          <a:solidFill>
            <a:srgbClr val="FFFFFF"/>
          </a:solidFill>
          <a:ln w="15875">
            <a:solidFill>
              <a:srgbClr val="C08D92"/>
            </a:solidFill>
            <a:prstDash val="solid"/>
          </a:ln>
        </p:spPr>
      </p:sp>
      <p:sp>
        <p:nvSpPr>
          <p:cNvPr id="14" name="step-hex"/>
          <p:cNvSpPr/>
          <p:nvPr/>
        </p:nvSpPr>
        <p:spPr>
          <a:xfrm>
            <a:off x="685800" y="3262465"/>
            <a:ext cx="457200" cy="395935"/>
          </a:xfrm>
          <a:prstGeom prst="hexagon">
            <a:avLst/>
          </a:prstGeom>
          <a:solidFill>
            <a:srgbClr val="8C2F39"/>
          </a:solidFill>
          <a:ln/>
        </p:spPr>
      </p:sp>
      <p:sp>
        <p:nvSpPr>
          <p:cNvPr id="15" name="step-hex-label"/>
          <p:cNvSpPr txBox="1"/>
          <p:nvPr/>
        </p:nvSpPr>
        <p:spPr>
          <a:xfrm>
            <a:off x="685800" y="3262465"/>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65475"/>
            <a:ext cx="10180015" cy="58991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Quote: “Would you knock down a library to park a car?”</a:t>
            </a:r>
            <a:endParaRPr lang="en-US" sz="1800" dirty="0"/>
          </a:p>
        </p:txBody>
      </p:sp>
      <p:sp>
        <p:nvSpPr>
          <p:cNvPr id="17" name="step-box"/>
          <p:cNvSpPr/>
          <p:nvPr/>
        </p:nvSpPr>
        <p:spPr>
          <a:xfrm>
            <a:off x="548640" y="3828542"/>
            <a:ext cx="11094415" cy="854075"/>
          </a:xfrm>
          <a:prstGeom prst="roundRect">
            <a:avLst>
              <a:gd name="adj" fmla="val 8565"/>
            </a:avLst>
          </a:prstGeom>
          <a:solidFill>
            <a:srgbClr val="FFFFFF"/>
          </a:solidFill>
          <a:ln w="15875">
            <a:solidFill>
              <a:srgbClr val="C08D92"/>
            </a:solidFill>
            <a:prstDash val="solid"/>
          </a:ln>
        </p:spPr>
      </p:sp>
      <p:sp>
        <p:nvSpPr>
          <p:cNvPr id="18" name="step-hex"/>
          <p:cNvSpPr/>
          <p:nvPr/>
        </p:nvSpPr>
        <p:spPr>
          <a:xfrm>
            <a:off x="685800" y="4057612"/>
            <a:ext cx="457200" cy="395935"/>
          </a:xfrm>
          <a:prstGeom prst="hexagon">
            <a:avLst/>
          </a:prstGeom>
          <a:solidFill>
            <a:srgbClr val="8C2F39"/>
          </a:solidFill>
          <a:ln/>
        </p:spPr>
      </p:sp>
      <p:sp>
        <p:nvSpPr>
          <p:cNvPr id="19" name="step-hex-label"/>
          <p:cNvSpPr txBox="1"/>
          <p:nvPr/>
        </p:nvSpPr>
        <p:spPr>
          <a:xfrm>
            <a:off x="685800" y="40576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28542"/>
            <a:ext cx="10180015" cy="854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the councillors must answer ‘no’ in their heads, and the question also contains an analogy, tree as library, so cutting it down suddenly looks like destroying knowledge.</a:t>
            </a:r>
            <a:endParaRPr lang="en-US" sz="1800" dirty="0"/>
          </a:p>
        </p:txBody>
      </p:sp>
      <p:sp>
        <p:nvSpPr>
          <p:cNvPr id="21" name="worked-answer"/>
          <p:cNvSpPr/>
          <p:nvPr/>
        </p:nvSpPr>
        <p:spPr>
          <a:xfrm>
            <a:off x="548640" y="4865497"/>
            <a:ext cx="11094415" cy="1109980"/>
          </a:xfrm>
          <a:prstGeom prst="roundRect">
            <a:avLst>
              <a:gd name="adj" fmla="val 12357"/>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speaker uses a rhetorical question, “Would you knock down a library to park a car?”, which forces the councillors to answer ‘no’ in their own heads. Because the question also compares the tree to a library, cutting it down starts to feel like destroying something precious and irreplaceable.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Name the method</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quotation from ‘The Last Tree on Elm Street’ to the method it shows.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(1 of 2): Name the method</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quotation from ‘The Last Tree on Elm Street’ to the method it shows.</a:t>
            </a:r>
            <a:endParaRPr lang="en-US" sz="2400" dirty="0"/>
          </a:p>
        </p:txBody>
      </p:sp>
      <p:sp>
        <p:nvSpPr>
          <p:cNvPr id="11" name="match-card"/>
          <p:cNvSpPr/>
          <p:nvPr/>
        </p:nvSpPr>
        <p:spPr>
          <a:xfrm>
            <a:off x="777240" y="2672080"/>
            <a:ext cx="5135728" cy="1149265"/>
          </a:xfrm>
          <a:prstGeom prst="roundRect">
            <a:avLst>
              <a:gd name="adj" fmla="val 6365"/>
            </a:avLst>
          </a:prstGeom>
          <a:solidFill>
            <a:srgbClr val="F8F1F2"/>
          </a:solidFill>
          <a:ln/>
        </p:spPr>
      </p:sp>
      <p:sp>
        <p:nvSpPr>
          <p:cNvPr id="12" name="match-hex"/>
          <p:cNvSpPr/>
          <p:nvPr/>
        </p:nvSpPr>
        <p:spPr>
          <a:xfrm>
            <a:off x="850392" y="3080420"/>
            <a:ext cx="384048" cy="332586"/>
          </a:xfrm>
          <a:prstGeom prst="hexagon">
            <a:avLst/>
          </a:prstGeom>
          <a:solidFill>
            <a:srgbClr val="8C2F39"/>
          </a:solidFill>
          <a:ln/>
        </p:spPr>
      </p:sp>
      <p:sp>
        <p:nvSpPr>
          <p:cNvPr id="13" name="match-hex-label"/>
          <p:cNvSpPr txBox="1"/>
          <p:nvPr/>
        </p:nvSpPr>
        <p:spPr>
          <a:xfrm>
            <a:off x="850392" y="308042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11492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I was six, my grandad lifted me into the branches of the oak”</a:t>
            </a:r>
            <a:endParaRPr lang="en-US" sz="2200" dirty="0"/>
          </a:p>
        </p:txBody>
      </p:sp>
      <p:sp>
        <p:nvSpPr>
          <p:cNvPr id="15" name="match-card"/>
          <p:cNvSpPr/>
          <p:nvPr/>
        </p:nvSpPr>
        <p:spPr>
          <a:xfrm>
            <a:off x="6278728" y="2672080"/>
            <a:ext cx="5135728" cy="1149265"/>
          </a:xfrm>
          <a:prstGeom prst="roundRect">
            <a:avLst>
              <a:gd name="adj" fmla="val 6365"/>
            </a:avLst>
          </a:prstGeom>
          <a:solidFill>
            <a:srgbClr val="F8F2E9"/>
          </a:solidFill>
          <a:ln/>
        </p:spPr>
      </p:sp>
      <p:sp>
        <p:nvSpPr>
          <p:cNvPr id="16" name="match-hex"/>
          <p:cNvSpPr/>
          <p:nvPr/>
        </p:nvSpPr>
        <p:spPr>
          <a:xfrm>
            <a:off x="6351880" y="3080420"/>
            <a:ext cx="384048" cy="332586"/>
          </a:xfrm>
          <a:prstGeom prst="hexagon">
            <a:avLst/>
          </a:prstGeom>
          <a:solidFill>
            <a:srgbClr val="B8862B"/>
          </a:solidFill>
          <a:ln/>
        </p:spPr>
      </p:sp>
      <p:sp>
        <p:nvSpPr>
          <p:cNvPr id="17" name="match-hex-label"/>
          <p:cNvSpPr txBox="1"/>
          <p:nvPr/>
        </p:nvSpPr>
        <p:spPr>
          <a:xfrm>
            <a:off x="6351880" y="308042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11492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statistic</a:t>
            </a:r>
            <a:endParaRPr lang="en-US" sz="2200" dirty="0"/>
          </a:p>
        </p:txBody>
      </p:sp>
      <p:sp>
        <p:nvSpPr>
          <p:cNvPr id="19" name="match-card"/>
          <p:cNvSpPr/>
          <p:nvPr/>
        </p:nvSpPr>
        <p:spPr>
          <a:xfrm>
            <a:off x="777240" y="3912785"/>
            <a:ext cx="5135728" cy="1149265"/>
          </a:xfrm>
          <a:prstGeom prst="roundRect">
            <a:avLst>
              <a:gd name="adj" fmla="val 6365"/>
            </a:avLst>
          </a:prstGeom>
          <a:solidFill>
            <a:srgbClr val="F8F1F2"/>
          </a:solidFill>
          <a:ln/>
        </p:spPr>
      </p:sp>
      <p:sp>
        <p:nvSpPr>
          <p:cNvPr id="20" name="match-hex"/>
          <p:cNvSpPr/>
          <p:nvPr/>
        </p:nvSpPr>
        <p:spPr>
          <a:xfrm>
            <a:off x="850392" y="4321125"/>
            <a:ext cx="384048" cy="332586"/>
          </a:xfrm>
          <a:prstGeom prst="hexagon">
            <a:avLst/>
          </a:prstGeom>
          <a:solidFill>
            <a:srgbClr val="8C2F39"/>
          </a:solidFill>
          <a:ln/>
        </p:spPr>
      </p:sp>
      <p:sp>
        <p:nvSpPr>
          <p:cNvPr id="21" name="match-hex-label"/>
          <p:cNvSpPr txBox="1"/>
          <p:nvPr/>
        </p:nvSpPr>
        <p:spPr>
          <a:xfrm>
            <a:off x="850392" y="43211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12785"/>
            <a:ext cx="4541368" cy="11492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“Three hundred and twelve people signed our petition in one weekend.”</a:t>
            </a:r>
            <a:endParaRPr lang="en-US" sz="2200" dirty="0"/>
          </a:p>
        </p:txBody>
      </p:sp>
      <p:sp>
        <p:nvSpPr>
          <p:cNvPr id="23" name="match-card"/>
          <p:cNvSpPr/>
          <p:nvPr/>
        </p:nvSpPr>
        <p:spPr>
          <a:xfrm>
            <a:off x="6278728" y="3912785"/>
            <a:ext cx="5135728" cy="1149265"/>
          </a:xfrm>
          <a:prstGeom prst="roundRect">
            <a:avLst>
              <a:gd name="adj" fmla="val 6365"/>
            </a:avLst>
          </a:prstGeom>
          <a:solidFill>
            <a:srgbClr val="F8F2E9"/>
          </a:solidFill>
          <a:ln/>
        </p:spPr>
      </p:sp>
      <p:sp>
        <p:nvSpPr>
          <p:cNvPr id="24" name="match-hex"/>
          <p:cNvSpPr/>
          <p:nvPr/>
        </p:nvSpPr>
        <p:spPr>
          <a:xfrm>
            <a:off x="6351880" y="4321125"/>
            <a:ext cx="384048" cy="332586"/>
          </a:xfrm>
          <a:prstGeom prst="hexagon">
            <a:avLst/>
          </a:prstGeom>
          <a:solidFill>
            <a:srgbClr val="B8862B"/>
          </a:solidFill>
          <a:ln/>
        </p:spPr>
      </p:sp>
      <p:sp>
        <p:nvSpPr>
          <p:cNvPr id="25" name="match-hex-label"/>
          <p:cNvSpPr txBox="1"/>
          <p:nvPr/>
        </p:nvSpPr>
        <p:spPr>
          <a:xfrm>
            <a:off x="6351880" y="432112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912785"/>
            <a:ext cx="4541368" cy="114926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maxim</a:t>
            </a:r>
            <a:endParaRPr lang="en-US" sz="2200" dirty="0"/>
          </a:p>
        </p:txBody>
      </p:sp>
      <p:sp>
        <p:nvSpPr>
          <p:cNvPr id="27" name="match-card"/>
          <p:cNvSpPr/>
          <p:nvPr/>
        </p:nvSpPr>
        <p:spPr>
          <a:xfrm>
            <a:off x="777240" y="5153491"/>
            <a:ext cx="5135728" cy="808397"/>
          </a:xfrm>
          <a:prstGeom prst="roundRect">
            <a:avLst>
              <a:gd name="adj" fmla="val 9049"/>
            </a:avLst>
          </a:prstGeom>
          <a:solidFill>
            <a:srgbClr val="F8F1F2"/>
          </a:solidFill>
          <a:ln/>
        </p:spPr>
      </p:sp>
      <p:sp>
        <p:nvSpPr>
          <p:cNvPr id="28" name="match-hex"/>
          <p:cNvSpPr/>
          <p:nvPr/>
        </p:nvSpPr>
        <p:spPr>
          <a:xfrm>
            <a:off x="850392" y="5391397"/>
            <a:ext cx="384048" cy="332586"/>
          </a:xfrm>
          <a:prstGeom prst="hexagon">
            <a:avLst/>
          </a:prstGeom>
          <a:solidFill>
            <a:srgbClr val="8C2F39"/>
          </a:solidFill>
          <a:ln/>
        </p:spPr>
      </p:sp>
      <p:sp>
        <p:nvSpPr>
          <p:cNvPr id="29" name="match-hex-label"/>
          <p:cNvSpPr txBox="1"/>
          <p:nvPr/>
        </p:nvSpPr>
        <p:spPr>
          <a:xfrm>
            <a:off x="850392" y="53913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5153491"/>
            <a:ext cx="4541368" cy="80839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“Actions speak louder than words”</a:t>
            </a:r>
            <a:endParaRPr lang="en-US" sz="2200" dirty="0"/>
          </a:p>
        </p:txBody>
      </p:sp>
      <p:sp>
        <p:nvSpPr>
          <p:cNvPr id="31" name="match-card"/>
          <p:cNvSpPr/>
          <p:nvPr/>
        </p:nvSpPr>
        <p:spPr>
          <a:xfrm>
            <a:off x="6278728" y="5153491"/>
            <a:ext cx="5135728" cy="808397"/>
          </a:xfrm>
          <a:prstGeom prst="roundRect">
            <a:avLst>
              <a:gd name="adj" fmla="val 9049"/>
            </a:avLst>
          </a:prstGeom>
          <a:solidFill>
            <a:srgbClr val="F8F2E9"/>
          </a:solidFill>
          <a:ln/>
        </p:spPr>
      </p:sp>
      <p:sp>
        <p:nvSpPr>
          <p:cNvPr id="32" name="match-hex"/>
          <p:cNvSpPr/>
          <p:nvPr/>
        </p:nvSpPr>
        <p:spPr>
          <a:xfrm>
            <a:off x="6351880" y="5391397"/>
            <a:ext cx="384048" cy="332586"/>
          </a:xfrm>
          <a:prstGeom prst="hexagon">
            <a:avLst/>
          </a:prstGeom>
          <a:solidFill>
            <a:srgbClr val="B8862B"/>
          </a:solidFill>
          <a:ln/>
        </p:spPr>
      </p:sp>
      <p:sp>
        <p:nvSpPr>
          <p:cNvPr id="33" name="match-hex-label"/>
          <p:cNvSpPr txBox="1"/>
          <p:nvPr/>
        </p:nvSpPr>
        <p:spPr>
          <a:xfrm>
            <a:off x="6351880" y="53913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5153491"/>
            <a:ext cx="4541368" cy="80839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anecdote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(2 of 2): Name the method</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quotation from ‘The Last Tree on Elm Street’ to the method it shows.</a:t>
            </a:r>
            <a:endParaRPr lang="en-US" sz="2400" dirty="0"/>
          </a:p>
        </p:txBody>
      </p:sp>
      <p:sp>
        <p:nvSpPr>
          <p:cNvPr id="11" name="match-card"/>
          <p:cNvSpPr/>
          <p:nvPr/>
        </p:nvSpPr>
        <p:spPr>
          <a:xfrm>
            <a:off x="777240" y="2672080"/>
            <a:ext cx="5135728" cy="1165352"/>
          </a:xfrm>
          <a:prstGeom prst="roundRect">
            <a:avLst>
              <a:gd name="adj" fmla="val 6277"/>
            </a:avLst>
          </a:prstGeom>
          <a:solidFill>
            <a:srgbClr val="F8F1F2"/>
          </a:solidFill>
          <a:ln/>
        </p:spPr>
      </p:sp>
      <p:sp>
        <p:nvSpPr>
          <p:cNvPr id="12" name="match-hex"/>
          <p:cNvSpPr/>
          <p:nvPr/>
        </p:nvSpPr>
        <p:spPr>
          <a:xfrm>
            <a:off x="850392" y="3088463"/>
            <a:ext cx="384048" cy="332586"/>
          </a:xfrm>
          <a:prstGeom prst="hexagon">
            <a:avLst/>
          </a:prstGeom>
          <a:solidFill>
            <a:srgbClr val="8C2F39"/>
          </a:solidFill>
          <a:ln/>
        </p:spPr>
      </p:sp>
      <p:sp>
        <p:nvSpPr>
          <p:cNvPr id="13" name="match-hex-label"/>
          <p:cNvSpPr txBox="1"/>
          <p:nvPr/>
        </p:nvSpPr>
        <p:spPr>
          <a:xfrm>
            <a:off x="850392"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“Would you knock down a library to park a car?”</a:t>
            </a:r>
            <a:endParaRPr lang="en-US" sz="2200" dirty="0"/>
          </a:p>
        </p:txBody>
      </p:sp>
      <p:sp>
        <p:nvSpPr>
          <p:cNvPr id="15" name="match-card"/>
          <p:cNvSpPr/>
          <p:nvPr/>
        </p:nvSpPr>
        <p:spPr>
          <a:xfrm>
            <a:off x="6278728" y="2672080"/>
            <a:ext cx="5135728" cy="1165352"/>
          </a:xfrm>
          <a:prstGeom prst="roundRect">
            <a:avLst>
              <a:gd name="adj" fmla="val 6277"/>
            </a:avLst>
          </a:prstGeom>
          <a:solidFill>
            <a:srgbClr val="F8F2E9"/>
          </a:solidFill>
          <a:ln/>
        </p:spPr>
      </p:sp>
      <p:sp>
        <p:nvSpPr>
          <p:cNvPr id="16" name="match-hex"/>
          <p:cNvSpPr/>
          <p:nvPr/>
        </p:nvSpPr>
        <p:spPr>
          <a:xfrm>
            <a:off x="6351880" y="3088463"/>
            <a:ext cx="384048" cy="332586"/>
          </a:xfrm>
          <a:prstGeom prst="hexagon">
            <a:avLst/>
          </a:prstGeom>
          <a:solidFill>
            <a:srgbClr val="B8862B"/>
          </a:solidFill>
          <a:ln/>
        </p:spPr>
      </p:sp>
      <p:sp>
        <p:nvSpPr>
          <p:cNvPr id="17" name="match-hex-label"/>
          <p:cNvSpPr txBox="1"/>
          <p:nvPr/>
        </p:nvSpPr>
        <p:spPr>
          <a:xfrm>
            <a:off x="6351880"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imperative</a:t>
            </a:r>
            <a:endParaRPr lang="en-US" sz="2200" dirty="0"/>
          </a:p>
        </p:txBody>
      </p:sp>
      <p:sp>
        <p:nvSpPr>
          <p:cNvPr id="19" name="match-card"/>
          <p:cNvSpPr/>
          <p:nvPr/>
        </p:nvSpPr>
        <p:spPr>
          <a:xfrm>
            <a:off x="777240" y="3928872"/>
            <a:ext cx="5135728" cy="824484"/>
          </a:xfrm>
          <a:prstGeom prst="roundRect">
            <a:avLst>
              <a:gd name="adj" fmla="val 8872"/>
            </a:avLst>
          </a:prstGeom>
          <a:solidFill>
            <a:srgbClr val="F8F1F2"/>
          </a:solidFill>
          <a:ln/>
        </p:spPr>
      </p:sp>
      <p:sp>
        <p:nvSpPr>
          <p:cNvPr id="20" name="match-hex"/>
          <p:cNvSpPr/>
          <p:nvPr/>
        </p:nvSpPr>
        <p:spPr>
          <a:xfrm>
            <a:off x="850392" y="4174821"/>
            <a:ext cx="384048" cy="332586"/>
          </a:xfrm>
          <a:prstGeom prst="hexagon">
            <a:avLst/>
          </a:prstGeom>
          <a:solidFill>
            <a:srgbClr val="8C2F39"/>
          </a:solidFill>
          <a:ln/>
        </p:spPr>
      </p:sp>
      <p:sp>
        <p:nvSpPr>
          <p:cNvPr id="21" name="match-hex-label"/>
          <p:cNvSpPr txBox="1"/>
          <p:nvPr/>
        </p:nvSpPr>
        <p:spPr>
          <a:xfrm>
            <a:off x="850392" y="417482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28872"/>
            <a:ext cx="4541368"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“Plant more like it.”</a:t>
            </a:r>
            <a:endParaRPr lang="en-US" sz="2200" dirty="0"/>
          </a:p>
        </p:txBody>
      </p:sp>
      <p:sp>
        <p:nvSpPr>
          <p:cNvPr id="23" name="match-card"/>
          <p:cNvSpPr/>
          <p:nvPr/>
        </p:nvSpPr>
        <p:spPr>
          <a:xfrm>
            <a:off x="6278728" y="3928872"/>
            <a:ext cx="5135728" cy="824484"/>
          </a:xfrm>
          <a:prstGeom prst="roundRect">
            <a:avLst>
              <a:gd name="adj" fmla="val 8872"/>
            </a:avLst>
          </a:prstGeom>
          <a:solidFill>
            <a:srgbClr val="F8F2E9"/>
          </a:solidFill>
          <a:ln/>
        </p:spPr>
      </p:sp>
      <p:sp>
        <p:nvSpPr>
          <p:cNvPr id="24" name="match-hex"/>
          <p:cNvSpPr/>
          <p:nvPr/>
        </p:nvSpPr>
        <p:spPr>
          <a:xfrm>
            <a:off x="6351880" y="4174821"/>
            <a:ext cx="384048" cy="332586"/>
          </a:xfrm>
          <a:prstGeom prst="hexagon">
            <a:avLst/>
          </a:prstGeom>
          <a:solidFill>
            <a:srgbClr val="B8862B"/>
          </a:solidFill>
          <a:ln/>
        </p:spPr>
      </p:sp>
      <p:sp>
        <p:nvSpPr>
          <p:cNvPr id="25" name="match-hex-label"/>
          <p:cNvSpPr txBox="1"/>
          <p:nvPr/>
        </p:nvSpPr>
        <p:spPr>
          <a:xfrm>
            <a:off x="6351880" y="417482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928872"/>
            <a:ext cx="4541368"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rhetorical question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Name the method</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Name the method</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5EDEE"/>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story about the past, with ‘When I was…’, is an anecdote.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number from a count is a statistic.</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short saying that is true for everyone is a maxim.</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question mark with no answer expected is a rhetorical question.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sentence that starts with a command verb is an imperative.</a:t>
            </a:r>
            <a:endParaRPr lang="en-US" sz="1800" dirty="0"/>
          </a:p>
        </p:txBody>
      </p:sp>
      <p:sp>
        <p:nvSpPr>
          <p:cNvPr id="17" name="col-Core"/>
          <p:cNvSpPr/>
          <p:nvPr/>
        </p:nvSpPr>
        <p:spPr>
          <a:xfrm>
            <a:off x="5490762" y="2395728"/>
            <a:ext cx="2938987" cy="3749040"/>
          </a:xfrm>
          <a:prstGeom prst="roundRect">
            <a:avLst>
              <a:gd name="adj" fmla="val 1867"/>
            </a:avLst>
          </a:prstGeom>
          <a:solidFill>
            <a:srgbClr val="E7D4D6"/>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Look at how each quotation begins: a time, a number, a saying, a question word or a command verb.</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8C2F39"/>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Find a phrase in the speech that uses two methods at once, and name both.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Two methods at once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“older than this building, older than this town, older than every one of us put together” uses two methods together. Which two?</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Tricolon and hyperbole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Anecdote and statistic</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Maxim and imperative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Analogy and anaphora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Two methods at once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“older than this building, older than this town, older than every one of us put together” uses two methods together. Which two?</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5ED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Count the parts of the list.</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Ask whether the oak really is older than everyone’s ages added together.</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list of three is a tricolon; an exaggeration is hyperbole.</a:t>
            </a:r>
            <a:endParaRPr lang="en-US" sz="2000" dirty="0"/>
          </a:p>
        </p:txBody>
      </p:sp>
      <p:sp>
        <p:nvSpPr>
          <p:cNvPr id="17" name="col-Core"/>
          <p:cNvSpPr/>
          <p:nvPr/>
        </p:nvSpPr>
        <p:spPr>
          <a:xfrm>
            <a:off x="4338218" y="2593848"/>
            <a:ext cx="3515258" cy="3550920"/>
          </a:xfrm>
          <a:prstGeom prst="roundRect">
            <a:avLst>
              <a:gd name="adj" fmla="val 1561"/>
            </a:avLst>
          </a:prstGeom>
          <a:solidFill>
            <a:srgbClr val="E7D4D6"/>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How many parts does the list have, and is the last one literally true?</a:t>
            </a:r>
            <a:endParaRPr lang="en-US" sz="2000" dirty="0"/>
          </a:p>
        </p:txBody>
      </p:sp>
      <p:sp>
        <p:nvSpPr>
          <p:cNvPr id="22" name="col-Stretch"/>
          <p:cNvSpPr/>
          <p:nvPr/>
        </p:nvSpPr>
        <p:spPr>
          <a:xfrm>
            <a:off x="8127797" y="2593848"/>
            <a:ext cx="3515258" cy="3550920"/>
          </a:xfrm>
          <a:prstGeom prst="roundRect">
            <a:avLst>
              <a:gd name="adj" fmla="val 1561"/>
            </a:avLst>
          </a:prstGeom>
          <a:solidFill>
            <a:srgbClr val="8C2F39"/>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putting the exaggeration last in the list of three makes it hit harder.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 tricolon?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command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series of three parallel words, phrases or clauses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short statement of a general truth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question that does not need an answer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9F4F4"/>
          </a:solidFill>
          <a:ln w="12700">
            <a:solidFill>
              <a:srgbClr val="C79A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Name the method</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“When I was six, my grandad lifted me into the branches of the oak”  →  D  anecdote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“Three hundred and twelve people signed our petition in one weekend.”  →  E  statistic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“Actions speak louder than words”  →  C  maxim</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“Would you knock down a library to park a car?”  →  A  rhetorical question</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“Plant more like it.”  →  B  imperative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method has a tell-tale sign: a story, a number, a saying, a question or a command.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Two methods at once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“older than this building, older than this town, older than every one of us put together” uses two methods together. Which two?</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Tricolon and hyperbole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Three parallel parts make a tricolon, and ‘older than every one of us put together’ is an exaggeration, so the phrase is also hyperbole.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 tricolon?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series of three parallel words, phrases or clauses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Tri means three. A tricolon is three parallel words, phrases or clauses, such as ‘shade, shelter and clean air’.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5EDEE"/>
      </a:lt2>
      <a:accent1>
        <a:srgbClr val="8C2F39"/>
      </a:accent1>
      <a:accent2>
        <a:srgbClr val="B8862B"/>
      </a:accent2>
      <a:accent3>
        <a:srgbClr val="BA8288"/>
      </a:accent3>
      <a:accent4>
        <a:srgbClr val="815E1E"/>
      </a:accent4>
      <a:accent5>
        <a:srgbClr val="4A505C"/>
      </a:accent5>
      <a:accent6>
        <a:srgbClr val="DDC498"/>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Rhetoric · Chapter 3: Twelve rhetorical methods</dc:title>
  <dc:subject>English Language · Year 8</dc:subject>
  <dc:creator>Dr Vitor Merissi de Carvalho</dc:creator>
  <cp:lastModifiedBy>Dr Vitor Merissi de Carvalho</cp:lastModifiedBy>
  <cp:revision>1</cp:revision>
  <dcterms:created xsi:type="dcterms:W3CDTF">2026-10-18T17:47:05Z</dcterms:created>
  <dcterms:modified xsi:type="dcterms:W3CDTF">2026-10-18T17:47:05Z</dcterms:modified>
</cp:coreProperties>
</file>