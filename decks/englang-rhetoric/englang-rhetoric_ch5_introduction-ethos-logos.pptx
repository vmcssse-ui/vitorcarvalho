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e0b27bf-4089-6feb-cd8a-9291c3818118}">
          <p14:sldIdLst>
            <p14:sldId id="256"/>
          </p14:sldIdLst>
        </p14:section>
        <p14:section name="Gate" id="{21c1238d-41ff-fb44-48d8-21d68fd374e5}">
          <p14:sldIdLst>
            <p14:sldId id="257"/>
            <p14:sldId id="258"/>
          </p14:sldIdLst>
        </p14:section>
        <p14:section name="Pre-teach" id="{19f38c46-afef-d241-6438-b7aef7bc89c4}">
          <p14:sldIdLst>
            <p14:sldId id="259"/>
          </p14:sldIdLst>
        </p14:section>
        <p14:section name="Read-along" id="{8ea3e172-5125-eb87-fa1b-d50f90050da0}">
          <p14:sldIdLst>
            <p14:sldId id="260"/>
            <p14:sldId id="261"/>
          </p14:sldIdLst>
        </p14:section>
        <p14:section name="Teach" id="{bd87193e-383d-d546-f949-84f52bec6058}">
          <p14:sldIdLst>
            <p14:sldId id="262"/>
            <p14:sldId id="263"/>
            <p14:sldId id="264"/>
            <p14:sldId id="265"/>
            <p14:sldId id="266"/>
            <p14:sldId id="267"/>
          </p14:sldIdLst>
        </p14:section>
        <p14:section name="Routes" id="{e24db33f-1a68-9b97-6532-b49906c84e4a}">
          <p14:sldIdLst>
            <p14:sldId id="268"/>
            <p14:sldId id="269"/>
            <p14:sldId id="270"/>
            <p14:sldId id="271"/>
          </p14:sldIdLst>
        </p14:section>
        <p14:section name="Close" id="{d81dddf4-6c57-5928-db1b-f224222629e3}">
          <p14:sldIdLst>
            <p14:sldId id="272"/>
          </p14:sldIdLst>
        </p14:section>
        <p14:section name="Answers" id="{ff74cb6e-f54e-c4b0-f9f3-257ddfd0e054}">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Structuring your speech: introduction, ethos and the logos argument. You will know the six-part structure of a persuasive speech, write an introduction that earns trust, and build your first argument on facts.
This deck covers the department's lessons: 7 (Writing your introduction: How should persuasive writing be structured, and what is the purpose of an introduction?); 8 (Developing an argument (logos): How can logos be used to establish an argument?).
Read the big question aloud: "What is rhetoric, how do famous speakers use it to persuade, and how do I write a persuasive speech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the six-part structure, which part comes straight after the introduction?  →  B   Ethos
2. Your first argument should use ___ to make your point clear and logical.  →  logos
3. Which sentence from the model speech is the clearest example of logos?  →  B   “last winter it recorded unsafe levels on sixty-three days”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Ethos. Introduction, ethos, argument one (logos), counterargument, argument two (pathos), conclusion.
2. logos. Argument one is built on logos: facts, statistics and a clear line of reasoning.
3. B   “last winter it recorded unsafe levels on sixty-three days”. A counted number from the town’s air monitor is checkable proof: logos.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structure: the order of the parts of a piece of writing. Example: "A clear structure helps the audience follow you."
• introduction: the opening that tells the audience your argument. Example: "Your introduction should say what you want to achieve."
• ethos: showing why you are the right person to speak. Example: "Build your ethos early, in the second part."
• argument: a point you make, with reasons and evidence. Example: "Your first argument should be built on facts."
• statistic: a fact in number form. Example: "One strong statistic can carry a whole paragraph."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persuasive speech has a clear structure.
2. First comes the introduction, which tells the audience your argument.
3. Next you establish your ethos: why you are the right person to speak.
4. Then comes your first argument, built on logos.
5. After that, you answer the counterargument.
6. Your second argument uses pathos.
7. Finally, the conclusion brings all three appeals together.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 good introduction says what you want to achieve.
9. It includes the audience in your purpose.
10. It uses rhetorical methods from the very first line.
11. A logos argument names a problem and explains how to fix it.
12. Facts and statistics make your argument hard to argue with.
13. Choose a serious topic you care about.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six-part structure. Say it in your own words, then check understanding with a quick question: ask a pupil from the pre-teach group first, since they met these words and ideas before the lesson. Pupils try to recall before you re-explain.
Your teachers give persuasive writing a six-part structure. 1 Introduction: introduce your argument to your audience. 2 Ethos: establish why you are the best person to present this argument. 3 Argument one, logos: present and explain your first point, using facts to make it clear. 4 Counterargument: consider what the opposing side would say, and explain why they are wrong. 5 Argument two, pathos: present your second point so the audience feels a particular emotion. 6 Conclusion: finish with logos, pathos and ethos for the final time.
You will build your own speech in this order across the next four lessons, one part at a time, on a serious topic you choose. This chapter covers parts 1 to 3; the next chapter covers parts 4 to 6.
This is the same skill GCSE English Language rewards in Paper 2, Question 5, where you write to present a viewpoint. That question is worth 40 marks: 24 for AO5 (communicating clearly and imaginatively, and organising your writing) and 16 for AO6 (vocabulary, sentence structures, spelling and punctuation). What you learn here in Year 8 is the foundation.
Tip: Six parts, in order: introduce, trust, think, answer, feel,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the introduction. Say it in your own words, then check understanding with a quick question: ask a pupil from the pre-teach group first, since they met these words and ideas before the lesson. Pupils try to recall before you re-explain.
An introduction has four jobs: explain what you are trying to achieve; include your audience in your purpose; begin to establish your ethos; and use rhetorical methods from the first line. The speeches you have studied open by naming the problem and the campaign, by asking the audience for help, and by telling the audience who the speaker is and why they care.
Choose a topic that matters: climate change, women’s rights, racial equality, world affairs, something in your own town. Here is the opening of an original model speech, ‘Clean Air for Hollowmere’, which you will follow part by part. A pupil is speaking at a town meeting about traffic pollution. The first paragraph is the introduction; the second establishes ethos.
Quotation: "Good evening, Hollowmere. I am here tonight because the air in our town is making us ill, and because I believe we can change it. Imagine walking your child to school without checking the pollution app first. That is the town I want us to build together." (‘Clean Air for Hollowmere’, part 1: Introduction — original model speech written for Ad Astra). Read it aloud; ask what it shows.
Tip: Useful openers: ‘I am here today to talk to you about…’, ‘Imagine a world where…’, ‘Today we face a problem we cannot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Establishing ethos. Say it in your own words, then check understanding with a quick question: ask a pupil from the pre-teach group first, since they met these words and ideas before the lesson. Pupils try to recall before you re-explain.
Ethos answers the audience’s silent question: why should we listen to you? You do not need to be an expert. You need to show that you know the topic first-hand, that you have done the work, and that you share the audience’s values. Notice how the model speaker turns being a pupil into a strength rather than apologising for it.
Quotation: "I have lived on Mill Road for all of my fourteen years. I have counted the lorries that pass my window each morning: forty-one before eight o’clock, every single day this term. I am not a scientist. I am a pupil who has done the work, and I am asking you to listen." (‘Clean Air for Hollowmere’, part 2: Ethos — original model speech written for Ad Astra). Read it aloud; ask what it shows.
Tip: ‘I am not a scientist’ is honest, and honesty is ethos too. Then show what you have done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first argument: logos. Say it in your own words, then check understanding with a quick question: ask a pupil from the pre-teach group first, since they met these words and ideas before the lesson. Pupils try to recall before you re-explain.
Your first argument must make the audience think. Build it with logos: cite facts and statistics, name the issue, then explain how it can be fixed. The wartime speech you studied in class works this way: the speaker gives exact numbers of troops and divisions so that the audience accepts his explanation, says he is not blaming anyone, and then turns everyone’s attention to the future. Precise numbers are hard to argue with; vague ones are easy to dismiss.
Here is the logos argument of the model speech. Count the facts, and notice the pattern: problem, evidence, solution.
Worked example — model it step by step, thinking aloud: Find the problem, the evidence and the solution in the logos paragraph. (1) Problem: the air is unsafe. Evidence: “unsafe levels on sixty-three days” and asthma admissions “rose by a fifth”. (2) Solution: a school street for one hour each morning. (3) Proof the solution works: “Two towns in our county have tried it”. Answer: Problem (unsafe air), evidence (sixty-three days, admissions up by a fifth), solution (a school street), proof (two towns tried it). That is a logical argument..
Quotation: "Here are the facts. Our town has one air monitor, and last winter it recorded unsafe levels on sixty-three days. Sixty-three. The hospital reports that asthma admissions rose by a fifth in the same period. The solution is not a mystery. A school street, closed to traffic for one hour each morning, costs less than one new set of traffic lights. Two towns in our county have tried it, and both report cleaner air within a month." (‘Clean Air for Hollowmere’, part 3: Argument one (logos) — original model speech written for Ad Astra). Read it aloud; ask what it shows.
Tip: Starters for logos: ‘The facts are clear…’, ‘It is no secret that…’, ‘It is time we faced the fact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first argument: logos. Say it in your own words, then check understanding with a quick question: ask a pupil from the pre-teach group first, since they met these words and ideas before the lesson. Pupils try to recall before you re-explain.
Your first argument must make the audience think. Build it with logos: cite facts and statistics, name the issue, then explain how it can be fixed. The wartime speech you studied in class works this way: the speaker gives exact numbers of troops and divisions so that the audience accepts his explanation, says he is not blaming anyone, and then turns everyone’s attention to the future. Precise numbers are hard to argue with; vague ones are easy to dismiss.
Here is the logos argument of the model speech. Count the facts, and notice the pattern: problem, evidence, solution.
Worked example — model it step by step, thinking aloud: Find the problem, the evidence and the solution in the logos paragraph. (1) Problem: the air is unsafe. Evidence: “unsafe levels on sixty-three days” and asthma admissions “rose by a fifth”. (2) Solution: a school street for one hour each morning. (3) Proof the solution works: “Two towns in our county have tried it”. Answer: Problem (unsafe air), evidence (sixty-three days, admissions up by a fifth), solution (a school street), proof (two towns tried it). That is a logical argument..
Quotation: "Here are the facts. Our town has one air monitor, and last winter it recorded unsafe levels on sixty-three days. Sixty-three. The hospital reports that asthma admissions rose by a fifth in the same period. The solution is not a mystery. A school street, closed to traffic for one hour each morning, costs less than one new set of traffic lights. Two towns in our county have tried it, and both report cleaner air within a month." (‘Clean Air for Hollowmere’, part 3: Argument one (logos) — original model speech written for Ad Astra). Read it aloud; ask what it shows.
Tip: Starters for logos: ‘The facts are clear…’, ‘It is no secret that…’, ‘It is time we faced the fact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first argument: logos. Say it in your own words, then check understanding with a quick question: ask a pupil from the pre-teach group first, since they met these words and ideas before the lesson. Pupils try to recall before you re-explain.
Your first argument must make the audience think. Build it with logos: cite facts and statistics, name the issue, then explain how it can be fixed. The wartime speech you studied in class works this way: the speaker gives exact numbers of troops and divisions so that the audience accepts his explanation, says he is not blaming anyone, and then turns everyone’s attention to the future. Precise numbers are hard to argue with; vague ones are easy to dismiss.
Here is the logos argument of the model speech. Count the facts, and notice the pattern: problem, evidence, solution.
Worked example — model it step by step, thinking aloud: Find the problem, the evidence and the solution in the logos paragraph. (1) Problem: the air is unsafe. Evidence: “unsafe levels on sixty-three days” and asthma admissions “rose by a fifth”. (2) Solution: a school street for one hour each morning. (3) Proof the solution works: “Two towns in our county have tried it”. Answer: Problem (unsafe air), evidence (sixty-three days, admissions up by a fifth), solution (a school street), proof (two towns tried it). That is a logical argument..
Quotation: "Here are the facts. Our town has one air monitor, and last winter it recorded unsafe levels on sixty-three days. Sixty-three. The hospital reports that asthma admissions rose by a fifth in the same period. The solution is not a mystery. A school street, closed to traffic for one hour each morning, costs less than one new set of traffic lights. Two towns in our county have tried it, and both report cleaner air within a month." (‘Clean Air for Hollowmere’, part 3: Argument one (logos) — original model speech written for Ad Astra). Read it aloud; ask what it shows.
Tip: Starters for logos: ‘The facts are clear…’, ‘It is no secret that…’, ‘It is time we faced the fact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Order the speech.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six parts of a persuasive speech in order.
Support — work through the steps with the group: (1) Introductions always come first and conclusions always come last. (2) Trust comes before facts: ethos is second. (3) Facts come before feelings: logos before pathos. (4) The counterargument sits between your two arguments.
Parallel worked example for Support (model it, do not give the task answer): Order these parts of a job application letter: why I want the job; my experience; greeting and purpose; closing request for an interview. Greeting and purpose first.; Experience (trust) next.; Then the reasons.; The request last.. Answer: Greeting and purpose; my experience; why I want the job; closing request..
Core — reveal the hint only on request: Introduce, trust, think, answer, feel, finish.
Stretch — no help; when finished: Explain why your teachers put the logos argument before the pathos argument, and what might go wrong if you swapped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Order the speech.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six parts of a persuasive speech in order.
Support — work through the steps with the group: (1) Introductions always come first and conclusions always come last. (2) Trust comes before facts: ethos is second. (3) Facts come before feelings: logos before pathos. (4) The counterargument sits between your two arguments.
Parallel worked example for Support (model it, do not give the task answer): Order these parts of a job application letter: why I want the job; my experience; greeting and purpose; closing request for an interview. Greeting and purpose first.; Experience (trust) next.; Then the reasons.; The request last.. Answer: Greeting and purpose; my experience; why I want the job; closing request..
Core — reveal the hint only on request: Introduce, trust, think, answer, feel, finish.
Stretch — no help; when finished: Explain why your teachers put the logos argument before the pathos argument, and what might go wrong if you swapped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Write your introduction.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Write the introduction to a speech that persuades your audience to do more to tackle climate change. Explain what you want to achieve, include your audience in your purpose, begin to establish your ethos, and use at least one rhetorical method.
Support — work through the steps with the group: (1) Hook: start with a picture, a question or a surprising fact, not ‘Today I am going to talk about…’. (2) Purpose: write one sentence that says what you want the audience to do. (3) Audience: use ‘we’ or ‘you’ at least twice. (4) Ethos: add one sentence about why you, in particular, care. (5) Check for one rhetorical method: a rhetorical question, a tricolon or direct address.
Parallel worked example for Support (model it, do not give the task answer): Write a two-sentence introduction to a speech persuading your year group to join the school litter pick. Hook with a picture: the field after lunch.; Purpose with ‘we’: what you want them to do.. Answer: Picture our field at two o’clock: crisp packets in the hedge, a bottle in every goalmouth. We can clear it in twenty minutes on Friday, and I want every one of you there..
Core — reveal the hint only on request: Begin with the river, the heat or the storm you remember, not with the word ‘climate’.
Stretch — no help; when finished: Rewrite your introduction so that it ends on a rhetorical question, and explain what the question makes the audience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Write your introduction.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Write the introduction to a speech that persuades your audience to do more to tackle climate change. Explain what you want to achieve, include your audience in your purpose, begin to establish your ethos, and use at least one rhetorical method.
Support — work through the steps with the group: (1) Hook: start with a picture, a question or a surprising fact, not ‘Today I am going to talk about…’. (2) Purpose: write one sentence that says what you want the audience to do. (3) Audience: use ‘we’ or ‘you’ at least twice. (4) Ethos: add one sentence about why you, in particular, care. (5) Check for one rhetorical method: a rhetorical question, a tricolon or direct address.
Parallel worked example for Support (model it, do not give the task answer): Write a two-sentence introduction to a speech persuading your year group to join the school litter pick. Hook with a picture: the field after lunch.; Purpose with ‘we’: what you want them to do.. Answer: Picture our field at two o’clock: crisp packets in the hedge, a bottle in every goalmouth. We can clear it in twenty minutes on Friday, and I want every one of you there..
Core — reveal the hint only on request: Begin with the river, the heat or the storm you remember, not with the word ‘climate’.
Stretch — no help; when finished: Rewrite your introduction so that it ends on a rhetorical question, and explain what the question makes the audience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the six-part structure, which part comes straight after the introduction?
Answer: A   Ethos. Introduction, ethos, argument one (logos), counterargument, argument two (pathos), conclusion.
Source of this question: gate item 1 re-asked (options rotated) — this chapter has no third quick-check module.
The ebook also holds task 3, "Write your logos argument",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Order the speech. Reveal the answer; pupils mark their own work in a different colour, then read the "why" together. Same destination for every lane, so one answer serves the whole class.
Answer: Introduction: introduce your argument to the audience  (D); Ethos: show why you are the best person to make this argument  (B); Argument one: your first point, built on logos  (C); Counterargument: what the other side would say, and why they are wrong  (F); Argument two: your second point, built on pathos  (E); Conclusion: logos, pathos and ethos one last time  (A)
Why: Introduction, ethos, logos, counterargument, pathos, conclusion. Trust first, then facts, then the other side, then feeling, then the finish.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Write your introduction. Reveal the answer; pupils mark their own work in a different colour, then read the "why" together. Same destination for every lane, so one answer serves the whole class.
Answer: I say clearly what I want to achieve.; I include the audience in my purpose, using ‘we’ or ‘you’.; I begin to establish my ethos: why I care and what I know.; I use at least one rhetorical method in my opening lines.; My first sentence is a hook, not a label.
Why: A strong introduction hooks, states its purpose, includes the audience and begins to earn trust, all within a few sentences.
Model answer: Last summer, the river at the bottom of our road dried to a trickle, and the fish lay on the mud. I am fourteen, and I have never seen that before. I am here today because the climate is changing faster than our habits are, and because I believe this school can be the place where our habits change first. We are not powerless. We are a thousand people under one roof, and a thousand people can move a town. Will you help me show them how?
Success criteria: I say clearly what I want to achieve.; I include the audience in my purpose, using ‘we’ or ‘you’.; I begin to establish my ethos: why I care and what I know.; I use at least one rhetorical method in my opening lines.; My first sentence is a hook, not a label.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Ethos
Why: Introduction, ethos, argument one (logos), counterargument, argument two (pathos), conclusion.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AD9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Rhetoric · AQA KS3 → 8700</a:t>
            </a:r>
            <a:endParaRPr lang="en-US" sz="1800" dirty="0"/>
          </a:p>
        </p:txBody>
      </p:sp>
      <p:sp>
        <p:nvSpPr>
          <p:cNvPr id="10" name="deck-title"/>
          <p:cNvSpPr txBox="1"/>
          <p:nvPr/>
        </p:nvSpPr>
        <p:spPr>
          <a:xfrm>
            <a:off x="548640" y="218617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Structuring your speech: introduction, ethos and the logos argument</a:t>
            </a:r>
            <a:endParaRPr lang="en-US" sz="2800" dirty="0"/>
          </a:p>
        </p:txBody>
      </p:sp>
      <p:sp>
        <p:nvSpPr>
          <p:cNvPr id="11" name="lessons-card"/>
          <p:cNvSpPr/>
          <p:nvPr/>
        </p:nvSpPr>
        <p:spPr>
          <a:xfrm>
            <a:off x="548640" y="3928618"/>
            <a:ext cx="5287975" cy="1328420"/>
          </a:xfrm>
          <a:prstGeom prst="roundRect">
            <a:avLst>
              <a:gd name="adj" fmla="val 5507"/>
            </a:avLst>
          </a:prstGeom>
          <a:solidFill>
            <a:srgbClr val="F5EDEE"/>
          </a:solidFill>
          <a:ln/>
        </p:spPr>
      </p:sp>
      <p:sp>
        <p:nvSpPr>
          <p:cNvPr id="12" name="lessons"/>
          <p:cNvSpPr txBox="1"/>
          <p:nvPr/>
        </p:nvSpPr>
        <p:spPr>
          <a:xfrm>
            <a:off x="685800" y="40200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Writing your introduction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Developing an argument (logos)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5EDEE"/>
          </a:solidFill>
          <a:ln w="12700">
            <a:solidFill>
              <a:srgbClr val="D3AFB3"/>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rhetoric, how do famous speakers use it to persuade, and how do I write a persuasive speech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the six-part structure, which part comes straight after the introduction?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Conclusion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Ethos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Argument two (pathos)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Counterargument</a:t>
            </a:r>
            <a:endParaRPr lang="en-US" sz="1800" dirty="0"/>
          </a:p>
        </p:txBody>
      </p:sp>
      <p:sp>
        <p:nvSpPr>
          <p:cNvPr id="12" name="card"/>
          <p:cNvSpPr/>
          <p:nvPr/>
        </p:nvSpPr>
        <p:spPr>
          <a:xfrm>
            <a:off x="3459404" y="1389888"/>
            <a:ext cx="2636444" cy="4754880"/>
          </a:xfrm>
          <a:prstGeom prst="roundRect">
            <a:avLst>
              <a:gd name="adj" fmla="val 2081"/>
            </a:avLst>
          </a:prstGeom>
          <a:solidFill>
            <a:srgbClr val="F9F4F4"/>
          </a:solidFill>
          <a:ln w="12700">
            <a:solidFill>
              <a:srgbClr val="D8B9BD"/>
            </a:solidFill>
            <a:prstDash val="solid"/>
          </a:ln>
        </p:spPr>
      </p:sp>
      <p:sp>
        <p:nvSpPr>
          <p:cNvPr id="13" name="card-hex"/>
          <p:cNvSpPr/>
          <p:nvPr/>
        </p:nvSpPr>
        <p:spPr>
          <a:xfrm>
            <a:off x="3642284" y="1572768"/>
            <a:ext cx="640080" cy="554309"/>
          </a:xfrm>
          <a:prstGeom prst="hexagon">
            <a:avLst/>
          </a:prstGeom>
          <a:solidFill>
            <a:srgbClr val="8C2F39"/>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Your first argument should use ___ to make your point clear and logical.</a:t>
            </a:r>
            <a:endParaRPr lang="en-US" sz="2200" dirty="0"/>
          </a:p>
          <a:p>
            <a:pPr algn="l" indent="0" marL="0">
              <a:buNone/>
            </a:pPr>
            <a:r>
              <a:rPr lang="en-US" sz="2200" b="1" dirty="0">
                <a:solidFill>
                  <a:srgbClr val="8C2F39"/>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logos  ·  pathos  ·  hyperbole</a:t>
            </a:r>
            <a:endParaRPr lang="en-US" sz="2200" dirty="0"/>
          </a:p>
        </p:txBody>
      </p:sp>
      <p:sp>
        <p:nvSpPr>
          <p:cNvPr id="17" name="card"/>
          <p:cNvSpPr/>
          <p:nvPr/>
        </p:nvSpPr>
        <p:spPr>
          <a:xfrm>
            <a:off x="6370168" y="1389888"/>
            <a:ext cx="5272888" cy="4754880"/>
          </a:xfrm>
          <a:prstGeom prst="roundRect">
            <a:avLst>
              <a:gd name="adj" fmla="val 1154"/>
            </a:avLst>
          </a:prstGeom>
          <a:solidFill>
            <a:srgbClr val="F9F4F4"/>
          </a:solidFill>
          <a:ln w="12700">
            <a:solidFill>
              <a:srgbClr val="D8B9BD"/>
            </a:solidFill>
            <a:prstDash val="solid"/>
          </a:ln>
        </p:spPr>
      </p:sp>
      <p:sp>
        <p:nvSpPr>
          <p:cNvPr id="18" name="card-hex"/>
          <p:cNvSpPr/>
          <p:nvPr/>
        </p:nvSpPr>
        <p:spPr>
          <a:xfrm>
            <a:off x="6553048" y="1572768"/>
            <a:ext cx="640080" cy="554309"/>
          </a:xfrm>
          <a:prstGeom prst="hexagon">
            <a:avLst/>
          </a:prstGeom>
          <a:solidFill>
            <a:srgbClr val="8C2F39"/>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sentence from the model speech is the clearest example of logos?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“Good evening, Hollowmere.”</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“last winter it recorded unsafe levels on sixty-three days”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“Imagine walking your child to school without checking the pollution app first.”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 am a pupil who has done the work”</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Ethos</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the six-part structure, which part comes straight after the introduction?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Introduction, ethos, argument one (logos), counterargument, argument two (pathos), conclusion.</a:t>
            </a:r>
            <a:endParaRPr lang="en-US" sz="1800" dirty="0"/>
          </a:p>
        </p:txBody>
      </p:sp>
      <p:sp>
        <p:nvSpPr>
          <p:cNvPr id="14" name="card"/>
          <p:cNvSpPr/>
          <p:nvPr/>
        </p:nvSpPr>
        <p:spPr>
          <a:xfrm>
            <a:off x="3459404" y="1389888"/>
            <a:ext cx="2636444" cy="4754880"/>
          </a:xfrm>
          <a:prstGeom prst="roundRect">
            <a:avLst>
              <a:gd name="adj" fmla="val 2081"/>
            </a:avLst>
          </a:prstGeom>
          <a:solidFill>
            <a:srgbClr val="F9F4F4"/>
          </a:solidFill>
          <a:ln w="12700">
            <a:solidFill>
              <a:srgbClr val="D8B9BD"/>
            </a:solidFill>
            <a:prstDash val="solid"/>
          </a:ln>
        </p:spPr>
      </p:sp>
      <p:sp>
        <p:nvSpPr>
          <p:cNvPr id="15" name="card-hex"/>
          <p:cNvSpPr/>
          <p:nvPr/>
        </p:nvSpPr>
        <p:spPr>
          <a:xfrm>
            <a:off x="3642284" y="1572768"/>
            <a:ext cx="640080" cy="554309"/>
          </a:xfrm>
          <a:prstGeom prst="hexagon">
            <a:avLst/>
          </a:prstGeom>
          <a:solidFill>
            <a:srgbClr val="8C2F39"/>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logos</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Your first argument should use ___ to make your point clear and logical.</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Argument one is built on logos: facts, statistics and a clear line of reasoning.</a:t>
            </a:r>
            <a:endParaRPr lang="en-US" sz="1800" dirty="0"/>
          </a:p>
        </p:txBody>
      </p:sp>
      <p:sp>
        <p:nvSpPr>
          <p:cNvPr id="21" name="card"/>
          <p:cNvSpPr/>
          <p:nvPr/>
        </p:nvSpPr>
        <p:spPr>
          <a:xfrm>
            <a:off x="6370168" y="1389888"/>
            <a:ext cx="5272888" cy="4754880"/>
          </a:xfrm>
          <a:prstGeom prst="roundRect">
            <a:avLst>
              <a:gd name="adj" fmla="val 1154"/>
            </a:avLst>
          </a:prstGeom>
          <a:solidFill>
            <a:srgbClr val="F9F4F4"/>
          </a:solidFill>
          <a:ln w="12700">
            <a:solidFill>
              <a:srgbClr val="D8B9BD"/>
            </a:solidFill>
            <a:prstDash val="solid"/>
          </a:ln>
        </p:spPr>
      </p:sp>
      <p:sp>
        <p:nvSpPr>
          <p:cNvPr id="22" name="card-hex"/>
          <p:cNvSpPr/>
          <p:nvPr/>
        </p:nvSpPr>
        <p:spPr>
          <a:xfrm>
            <a:off x="6553048" y="1572768"/>
            <a:ext cx="640080" cy="554309"/>
          </a:xfrm>
          <a:prstGeom prst="hexagon">
            <a:avLst/>
          </a:prstGeom>
          <a:solidFill>
            <a:srgbClr val="8C2F39"/>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EE3CD"/>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“last winter it recorded unsafe levels on sixty-three days”</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sentence from the model speech is the clearest example of logos?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counted number from the town’s air monitor is checkable proof: logos.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8F1F2"/>
          </a:solidFill>
          <a:ln/>
        </p:spPr>
      </p:sp>
      <p:sp>
        <p:nvSpPr>
          <p:cNvPr id="12" name="kw-hex"/>
          <p:cNvSpPr/>
          <p:nvPr/>
        </p:nvSpPr>
        <p:spPr>
          <a:xfrm>
            <a:off x="658368" y="2135261"/>
            <a:ext cx="411480" cy="356342"/>
          </a:xfrm>
          <a:prstGeom prst="hexagon">
            <a:avLst/>
          </a:prstGeom>
          <a:solidFill>
            <a:srgbClr val="8C2F39"/>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structure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order of the parts of a piece of writing</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clear structure helps the audience follow you.</a:t>
            </a:r>
            <a:endParaRPr lang="en-US" sz="1800" dirty="0"/>
          </a:p>
        </p:txBody>
      </p:sp>
      <p:sp>
        <p:nvSpPr>
          <p:cNvPr id="16" name="kw-row"/>
          <p:cNvSpPr/>
          <p:nvPr/>
        </p:nvSpPr>
        <p:spPr>
          <a:xfrm>
            <a:off x="548640" y="2779776"/>
            <a:ext cx="11094415" cy="786384"/>
          </a:xfrm>
          <a:prstGeom prst="roundRect">
            <a:avLst>
              <a:gd name="adj" fmla="val 6977"/>
            </a:avLst>
          </a:prstGeom>
          <a:solidFill>
            <a:srgbClr val="F8F2E9"/>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introduction</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opening that tells the audience your argument</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Your introduction should say what you want to achieve.</a:t>
            </a:r>
            <a:endParaRPr lang="en-US" sz="1800" dirty="0"/>
          </a:p>
        </p:txBody>
      </p:sp>
      <p:sp>
        <p:nvSpPr>
          <p:cNvPr id="21" name="kw-row"/>
          <p:cNvSpPr/>
          <p:nvPr/>
        </p:nvSpPr>
        <p:spPr>
          <a:xfrm>
            <a:off x="548640" y="3639312"/>
            <a:ext cx="11094415" cy="786384"/>
          </a:xfrm>
          <a:prstGeom prst="roundRect">
            <a:avLst>
              <a:gd name="adj" fmla="val 6977"/>
            </a:avLst>
          </a:prstGeom>
          <a:solidFill>
            <a:srgbClr val="F8F1F2"/>
          </a:solidFill>
          <a:ln/>
        </p:spPr>
      </p:sp>
      <p:sp>
        <p:nvSpPr>
          <p:cNvPr id="22" name="kw-hex"/>
          <p:cNvSpPr/>
          <p:nvPr/>
        </p:nvSpPr>
        <p:spPr>
          <a:xfrm>
            <a:off x="658368" y="3854333"/>
            <a:ext cx="411480" cy="356342"/>
          </a:xfrm>
          <a:prstGeom prst="hexagon">
            <a:avLst/>
          </a:prstGeom>
          <a:solidFill>
            <a:srgbClr val="8C2F39"/>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ethos</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showing why you are the right person to speak</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Build your ethos early, in the second part.</a:t>
            </a:r>
            <a:endParaRPr lang="en-US" sz="1800" dirty="0"/>
          </a:p>
        </p:txBody>
      </p:sp>
      <p:sp>
        <p:nvSpPr>
          <p:cNvPr id="26" name="kw-row"/>
          <p:cNvSpPr/>
          <p:nvPr/>
        </p:nvSpPr>
        <p:spPr>
          <a:xfrm>
            <a:off x="548640" y="4498848"/>
            <a:ext cx="11094415" cy="786384"/>
          </a:xfrm>
          <a:prstGeom prst="roundRect">
            <a:avLst>
              <a:gd name="adj" fmla="val 6977"/>
            </a:avLst>
          </a:prstGeom>
          <a:solidFill>
            <a:srgbClr val="F8F2E9"/>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argument</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point you make, with reasons and evidence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Your first argument should be built on facts.</a:t>
            </a:r>
            <a:endParaRPr lang="en-US" sz="1800" dirty="0"/>
          </a:p>
        </p:txBody>
      </p:sp>
      <p:sp>
        <p:nvSpPr>
          <p:cNvPr id="31" name="kw-row"/>
          <p:cNvSpPr/>
          <p:nvPr/>
        </p:nvSpPr>
        <p:spPr>
          <a:xfrm>
            <a:off x="548640" y="5358384"/>
            <a:ext cx="11094415" cy="786384"/>
          </a:xfrm>
          <a:prstGeom prst="roundRect">
            <a:avLst>
              <a:gd name="adj" fmla="val 6977"/>
            </a:avLst>
          </a:prstGeom>
          <a:solidFill>
            <a:srgbClr val="F8F1F2"/>
          </a:solidFill>
          <a:ln/>
        </p:spPr>
      </p:sp>
      <p:sp>
        <p:nvSpPr>
          <p:cNvPr id="32" name="kw-hex"/>
          <p:cNvSpPr/>
          <p:nvPr/>
        </p:nvSpPr>
        <p:spPr>
          <a:xfrm>
            <a:off x="658368" y="5573405"/>
            <a:ext cx="411480" cy="356342"/>
          </a:xfrm>
          <a:prstGeom prst="hexagon">
            <a:avLst/>
          </a:prstGeom>
          <a:solidFill>
            <a:srgbClr val="8C2F39"/>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8C2F39"/>
                </a:solidFill>
                <a:latin typeface="Cambria" pitchFamily="34" charset="0"/>
                <a:ea typeface="Cambria" pitchFamily="34" charset="-122"/>
                <a:cs typeface="Cambria" pitchFamily="34" charset="-120"/>
              </a:rPr>
              <a:t>statistic</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fact in number form</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One strong statistic can carry a whole paragraph.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persuasive speech has a clear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structure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First comes the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introduction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which tells the audience your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argument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Next you establish your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ethos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why you are the right person to speak.</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comes your first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argument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built on logos.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After that, you answer the counterargument.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Your second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argument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uses pathos.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Finally, the conclusion brings all three appeals together.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good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introduction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says what you want to achieve.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includes the audience in your purpose.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uses rhetorical methods from the very first line.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logos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argument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names a problem and explains how to fix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Facts and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statistics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make your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argument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hard to argue with.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Choose a serious topic you care about.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six-part structure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Six parts, in order: introduce, trust, think, answer, feel, finish.</a:t>
            </a:r>
            <a:endParaRPr lang="en-US" sz="1800" dirty="0"/>
          </a:p>
        </p:txBody>
      </p:sp>
      <p:sp>
        <p:nvSpPr>
          <p:cNvPr id="11" name="point-card"/>
          <p:cNvSpPr/>
          <p:nvPr/>
        </p:nvSpPr>
        <p:spPr>
          <a:xfrm>
            <a:off x="548640" y="1389888"/>
            <a:ext cx="3515258" cy="3964940"/>
          </a:xfrm>
          <a:prstGeom prst="roundRect">
            <a:avLst>
              <a:gd name="adj" fmla="val 1561"/>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teachers give persuasive writing a six-part structure. 1 Introduction: introduce your argument to your audience.</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 will build your own speech in this order across the next four lessons, one part at a time, on a serious topic you choose.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5EDEE"/>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This is the same skill GCSE English Language rewards in Paper 2, Question 5, where you write to present a viewpoint.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Writing the introduction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5EFE2"/>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Useful openers: ‘I am here today to talk to you about…’, ‘Imagine a world where…’, ‘Today we face a problem we cannot ignore…’.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5ED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Good evening, Hollowmere. I am here tonight because the air in our town is making us ill, and because I believe we can change it. Imagine walking your child to school without checking the pollution app first. That is the town I want us to build together.</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‘Clean Air for Hollowmere’, part 1: Introduction — original model speech written for Ad Astra</a:t>
            </a:r>
            <a:endParaRPr lang="en-US" sz="2200" dirty="0"/>
          </a:p>
        </p:txBody>
      </p:sp>
      <p:sp>
        <p:nvSpPr>
          <p:cNvPr id="14" name="bullet-card"/>
          <p:cNvSpPr/>
          <p:nvPr/>
        </p:nvSpPr>
        <p:spPr>
          <a:xfrm>
            <a:off x="548640" y="1389888"/>
            <a:ext cx="5074920" cy="1769872"/>
          </a:xfrm>
          <a:prstGeom prst="roundRect">
            <a:avLst>
              <a:gd name="adj" fmla="val 4133"/>
            </a:avLst>
          </a:prstGeom>
          <a:solidFill>
            <a:srgbClr val="F8F1F2"/>
          </a:solidFill>
          <a:ln/>
        </p:spPr>
      </p:sp>
      <p:sp>
        <p:nvSpPr>
          <p:cNvPr id="15" name="bullet-hex"/>
          <p:cNvSpPr/>
          <p:nvPr/>
        </p:nvSpPr>
        <p:spPr>
          <a:xfrm>
            <a:off x="676656" y="2108531"/>
            <a:ext cx="384048" cy="332586"/>
          </a:xfrm>
          <a:prstGeom prst="hexagon">
            <a:avLst/>
          </a:prstGeom>
          <a:solidFill>
            <a:srgbClr val="8C2F39"/>
          </a:solidFill>
          <a:ln/>
        </p:spPr>
      </p:sp>
      <p:sp>
        <p:nvSpPr>
          <p:cNvPr id="16" name="bullet"/>
          <p:cNvSpPr txBox="1"/>
          <p:nvPr/>
        </p:nvSpPr>
        <p:spPr>
          <a:xfrm>
            <a:off x="1143000" y="1389888"/>
            <a:ext cx="4389120" cy="1769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introduction has four jobs: explain what you are trying to achieve; include your audience in your purpose; begin to establish your ethos; and use rhetorical methods from the first line.</a:t>
            </a:r>
            <a:endParaRPr lang="en-US" sz="1800" dirty="0"/>
          </a:p>
        </p:txBody>
      </p:sp>
      <p:sp>
        <p:nvSpPr>
          <p:cNvPr id="17" name="bullet-card"/>
          <p:cNvSpPr/>
          <p:nvPr/>
        </p:nvSpPr>
        <p:spPr>
          <a:xfrm>
            <a:off x="548640" y="3306064"/>
            <a:ext cx="5074920" cy="1212088"/>
          </a:xfrm>
          <a:prstGeom prst="roundRect">
            <a:avLst>
              <a:gd name="adj" fmla="val 6035"/>
            </a:avLst>
          </a:prstGeom>
          <a:solidFill>
            <a:srgbClr val="F8F1F2"/>
          </a:solidFill>
          <a:ln/>
        </p:spPr>
      </p:sp>
      <p:sp>
        <p:nvSpPr>
          <p:cNvPr id="18" name="bullet-hex"/>
          <p:cNvSpPr/>
          <p:nvPr/>
        </p:nvSpPr>
        <p:spPr>
          <a:xfrm>
            <a:off x="676656" y="3745815"/>
            <a:ext cx="384048" cy="332586"/>
          </a:xfrm>
          <a:prstGeom prst="hexagon">
            <a:avLst/>
          </a:prstGeom>
          <a:solidFill>
            <a:srgbClr val="B8862B"/>
          </a:solidFill>
          <a:ln/>
        </p:spPr>
      </p:sp>
      <p:sp>
        <p:nvSpPr>
          <p:cNvPr id="19" name="bullet"/>
          <p:cNvSpPr txBox="1"/>
          <p:nvPr/>
        </p:nvSpPr>
        <p:spPr>
          <a:xfrm>
            <a:off x="1143000" y="3306064"/>
            <a:ext cx="4389120" cy="121208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Choose a topic that matters: climate change, women’s rights, racial equality, world affairs, something in your own town.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Establishing ethos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5EFE2"/>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 am not a scientist’ is honest, and honesty is ethos too. Then show what you have done instead.</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5EDEE"/>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I have lived on Mill Road for all of my fourteen years. I have counted the lorries that pass my window each morning: forty-one before eight o’clock, every single day this term. I am not a scientist. I am a pupil who has done the work, and I am asking you to listen.</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‘Clean Air for Hollowmere’, part 2: Ethos — original model speech written for Ad Astra</a:t>
            </a:r>
            <a:endParaRPr lang="en-US" sz="2200" dirty="0"/>
          </a:p>
        </p:txBody>
      </p:sp>
      <p:sp>
        <p:nvSpPr>
          <p:cNvPr id="14" name="bullet-card"/>
          <p:cNvSpPr/>
          <p:nvPr/>
        </p:nvSpPr>
        <p:spPr>
          <a:xfrm>
            <a:off x="548640" y="1389888"/>
            <a:ext cx="5074920" cy="891540"/>
          </a:xfrm>
          <a:prstGeom prst="roundRect">
            <a:avLst>
              <a:gd name="adj" fmla="val 8205"/>
            </a:avLst>
          </a:prstGeom>
          <a:solidFill>
            <a:srgbClr val="F8F1F2"/>
          </a:solidFill>
          <a:ln/>
        </p:spPr>
      </p:sp>
      <p:sp>
        <p:nvSpPr>
          <p:cNvPr id="15" name="bullet-hex"/>
          <p:cNvSpPr/>
          <p:nvPr/>
        </p:nvSpPr>
        <p:spPr>
          <a:xfrm>
            <a:off x="676656" y="1669365"/>
            <a:ext cx="384048" cy="332586"/>
          </a:xfrm>
          <a:prstGeom prst="hexagon">
            <a:avLst/>
          </a:prstGeom>
          <a:solidFill>
            <a:srgbClr val="8C2F39"/>
          </a:solidFill>
          <a:ln/>
        </p:spPr>
      </p:sp>
      <p:sp>
        <p:nvSpPr>
          <p:cNvPr id="16" name="bullet"/>
          <p:cNvSpPr txBox="1"/>
          <p:nvPr/>
        </p:nvSpPr>
        <p:spPr>
          <a:xfrm>
            <a:off x="1143000" y="1389888"/>
            <a:ext cx="4389120" cy="8915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Ethos answers the audience’s silent question: why should we listen to you?</a:t>
            </a:r>
            <a:endParaRPr lang="en-US" sz="2000" dirty="0"/>
          </a:p>
        </p:txBody>
      </p:sp>
      <p:sp>
        <p:nvSpPr>
          <p:cNvPr id="17" name="bullet-card"/>
          <p:cNvSpPr/>
          <p:nvPr/>
        </p:nvSpPr>
        <p:spPr>
          <a:xfrm>
            <a:off x="548640" y="2427732"/>
            <a:ext cx="5074920" cy="711708"/>
          </a:xfrm>
          <a:prstGeom prst="roundRect">
            <a:avLst>
              <a:gd name="adj" fmla="val 10278"/>
            </a:avLst>
          </a:prstGeom>
          <a:solidFill>
            <a:srgbClr val="F8F1F2"/>
          </a:solidFill>
          <a:ln/>
        </p:spPr>
      </p:sp>
      <p:sp>
        <p:nvSpPr>
          <p:cNvPr id="18" name="bullet-hex"/>
          <p:cNvSpPr/>
          <p:nvPr/>
        </p:nvSpPr>
        <p:spPr>
          <a:xfrm>
            <a:off x="676656" y="2617293"/>
            <a:ext cx="384048" cy="332586"/>
          </a:xfrm>
          <a:prstGeom prst="hexagon">
            <a:avLst/>
          </a:prstGeom>
          <a:solidFill>
            <a:srgbClr val="B8862B"/>
          </a:solidFill>
          <a:ln/>
        </p:spPr>
      </p:sp>
      <p:sp>
        <p:nvSpPr>
          <p:cNvPr id="19" name="bullet"/>
          <p:cNvSpPr txBox="1"/>
          <p:nvPr/>
        </p:nvSpPr>
        <p:spPr>
          <a:xfrm>
            <a:off x="1143000" y="2427732"/>
            <a:ext cx="4389120" cy="711708"/>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 do not need to be an expert.</a:t>
            </a:r>
            <a:endParaRPr lang="en-US" sz="2000" dirty="0"/>
          </a:p>
        </p:txBody>
      </p:sp>
      <p:sp>
        <p:nvSpPr>
          <p:cNvPr id="20" name="bullet-card"/>
          <p:cNvSpPr/>
          <p:nvPr/>
        </p:nvSpPr>
        <p:spPr>
          <a:xfrm>
            <a:off x="548640" y="3285744"/>
            <a:ext cx="5074920" cy="1511300"/>
          </a:xfrm>
          <a:prstGeom prst="roundRect">
            <a:avLst>
              <a:gd name="adj" fmla="val 4840"/>
            </a:avLst>
          </a:prstGeom>
          <a:solidFill>
            <a:srgbClr val="F8F1F2"/>
          </a:solidFill>
          <a:ln/>
        </p:spPr>
      </p:sp>
      <p:sp>
        <p:nvSpPr>
          <p:cNvPr id="21" name="bullet-hex"/>
          <p:cNvSpPr/>
          <p:nvPr/>
        </p:nvSpPr>
        <p:spPr>
          <a:xfrm>
            <a:off x="676656" y="3875101"/>
            <a:ext cx="384048" cy="332586"/>
          </a:xfrm>
          <a:prstGeom prst="hexagon">
            <a:avLst/>
          </a:prstGeom>
          <a:solidFill>
            <a:srgbClr val="8C2F39"/>
          </a:solidFill>
          <a:ln/>
        </p:spPr>
      </p:sp>
      <p:sp>
        <p:nvSpPr>
          <p:cNvPr id="22" name="bullet"/>
          <p:cNvSpPr txBox="1"/>
          <p:nvPr/>
        </p:nvSpPr>
        <p:spPr>
          <a:xfrm>
            <a:off x="1143000" y="3285744"/>
            <a:ext cx="4389120" cy="151130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 need to show that you know the topic first-hand, that you have done the work, and that you share the audience’s values.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first argument: logos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Starters for logos: ‘The facts are clear…’, ‘It is no secret that…’, ‘It is time we faced the fact that…’.</a:t>
            </a:r>
            <a:endParaRPr lang="en-US" sz="1800" dirty="0"/>
          </a:p>
        </p:txBody>
      </p:sp>
      <p:sp>
        <p:nvSpPr>
          <p:cNvPr id="11" name="point-card"/>
          <p:cNvSpPr/>
          <p:nvPr/>
        </p:nvSpPr>
        <p:spPr>
          <a:xfrm>
            <a:off x="548640" y="1389888"/>
            <a:ext cx="5410048" cy="3964940"/>
          </a:xfrm>
          <a:prstGeom prst="roundRect">
            <a:avLst>
              <a:gd name="adj" fmla="val 1384"/>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first argument must make the audience think. Build it with logos: cite facts and statistics, name the issue, then explain how it can be fixed.</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Here is the logos argument of the model speech. Count the facts, and notice the pattern: problem, evidence, solution.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Worked example: The first argument: logos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5EDEE"/>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Find the problem, the evidence and the solution in the logos paragraph.</a:t>
            </a:r>
            <a:endParaRPr lang="en-US" sz="2200" dirty="0"/>
          </a:p>
        </p:txBody>
      </p:sp>
      <p:sp>
        <p:nvSpPr>
          <p:cNvPr id="9" name="step-box"/>
          <p:cNvSpPr/>
          <p:nvPr/>
        </p:nvSpPr>
        <p:spPr>
          <a:xfrm>
            <a:off x="548640" y="2314956"/>
            <a:ext cx="3423818" cy="1974088"/>
          </a:xfrm>
          <a:prstGeom prst="roundRect">
            <a:avLst>
              <a:gd name="adj" fmla="val 3706"/>
            </a:avLst>
          </a:prstGeom>
          <a:solidFill>
            <a:srgbClr val="FFFFFF"/>
          </a:solidFill>
          <a:ln w="15875">
            <a:solidFill>
              <a:srgbClr val="C08D92"/>
            </a:solidFill>
            <a:prstDash val="solid"/>
          </a:ln>
        </p:spPr>
      </p:sp>
      <p:sp>
        <p:nvSpPr>
          <p:cNvPr id="10" name="step-hex"/>
          <p:cNvSpPr/>
          <p:nvPr/>
        </p:nvSpPr>
        <p:spPr>
          <a:xfrm>
            <a:off x="685800" y="2424684"/>
            <a:ext cx="530352" cy="459285"/>
          </a:xfrm>
          <a:prstGeom prst="hexagon">
            <a:avLst/>
          </a:prstGeom>
          <a:solidFill>
            <a:srgbClr val="8C2F39"/>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Problem: the air is unsafe. Evidence: “unsafe levels on sixty-three days” and asthma admissions “rose by a fifth”.</a:t>
            </a:r>
            <a:endParaRPr lang="en-US" sz="1800" dirty="0"/>
          </a:p>
        </p:txBody>
      </p:sp>
      <p:sp>
        <p:nvSpPr>
          <p:cNvPr id="13" name="arrow"/>
          <p:cNvSpPr/>
          <p:nvPr/>
        </p:nvSpPr>
        <p:spPr>
          <a:xfrm>
            <a:off x="4045610" y="3164840"/>
            <a:ext cx="274320" cy="274320"/>
          </a:xfrm>
          <a:prstGeom prst="rightArrow">
            <a:avLst/>
          </a:prstGeom>
          <a:solidFill>
            <a:srgbClr val="B8862B"/>
          </a:solidFill>
          <a:ln/>
        </p:spPr>
      </p:sp>
      <p:sp>
        <p:nvSpPr>
          <p:cNvPr id="14" name="step-box"/>
          <p:cNvSpPr/>
          <p:nvPr/>
        </p:nvSpPr>
        <p:spPr>
          <a:xfrm>
            <a:off x="4383938" y="2314956"/>
            <a:ext cx="3423818" cy="1974088"/>
          </a:xfrm>
          <a:prstGeom prst="roundRect">
            <a:avLst>
              <a:gd name="adj" fmla="val 3706"/>
            </a:avLst>
          </a:prstGeom>
          <a:solidFill>
            <a:srgbClr val="FFFFFF"/>
          </a:solidFill>
          <a:ln w="15875">
            <a:solidFill>
              <a:srgbClr val="C08D92"/>
            </a:solidFill>
            <a:prstDash val="solid"/>
          </a:ln>
        </p:spPr>
      </p:sp>
      <p:sp>
        <p:nvSpPr>
          <p:cNvPr id="15" name="step-hex"/>
          <p:cNvSpPr/>
          <p:nvPr/>
        </p:nvSpPr>
        <p:spPr>
          <a:xfrm>
            <a:off x="4521098" y="2424684"/>
            <a:ext cx="530352" cy="459285"/>
          </a:xfrm>
          <a:prstGeom prst="hexagon">
            <a:avLst/>
          </a:prstGeom>
          <a:solidFill>
            <a:srgbClr val="8C2F39"/>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Solution: a school street for one hour each morning.</a:t>
            </a:r>
            <a:endParaRPr lang="en-US" sz="1800" dirty="0"/>
          </a:p>
        </p:txBody>
      </p:sp>
      <p:sp>
        <p:nvSpPr>
          <p:cNvPr id="18" name="arrow"/>
          <p:cNvSpPr/>
          <p:nvPr/>
        </p:nvSpPr>
        <p:spPr>
          <a:xfrm>
            <a:off x="7880909" y="3164840"/>
            <a:ext cx="274320" cy="274320"/>
          </a:xfrm>
          <a:prstGeom prst="rightArrow">
            <a:avLst/>
          </a:prstGeom>
          <a:solidFill>
            <a:srgbClr val="B8862B"/>
          </a:solidFill>
          <a:ln/>
        </p:spPr>
      </p:sp>
      <p:sp>
        <p:nvSpPr>
          <p:cNvPr id="19" name="step-box"/>
          <p:cNvSpPr/>
          <p:nvPr/>
        </p:nvSpPr>
        <p:spPr>
          <a:xfrm>
            <a:off x="8219237" y="2314956"/>
            <a:ext cx="3423818" cy="1974088"/>
          </a:xfrm>
          <a:prstGeom prst="roundRect">
            <a:avLst>
              <a:gd name="adj" fmla="val 3706"/>
            </a:avLst>
          </a:prstGeom>
          <a:solidFill>
            <a:srgbClr val="FFFFFF"/>
          </a:solidFill>
          <a:ln w="15875">
            <a:solidFill>
              <a:srgbClr val="C08D92"/>
            </a:solidFill>
            <a:prstDash val="solid"/>
          </a:ln>
        </p:spPr>
      </p:sp>
      <p:sp>
        <p:nvSpPr>
          <p:cNvPr id="20" name="step-hex"/>
          <p:cNvSpPr/>
          <p:nvPr/>
        </p:nvSpPr>
        <p:spPr>
          <a:xfrm>
            <a:off x="8356397" y="2424684"/>
            <a:ext cx="530352" cy="459285"/>
          </a:xfrm>
          <a:prstGeom prst="hexagon">
            <a:avLst/>
          </a:prstGeom>
          <a:solidFill>
            <a:srgbClr val="8C2F39"/>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Proof the solution works: “Two towns in our county have tried it”.</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Problem (unsafe air), evidence (sixty-three days, admissions up by a fifth), solution (a school street), proof (two towns tried it). That is a logical argument.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first argument: logos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5EDEE"/>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Here are the facts. Our town has one air monitor, and last winter it recorded unsafe levels on sixty-three days. Sixty-three. The hospital reports that asthma admissions rose by a fifth in the same period. The solution is not a mystery. A school street, closed to traffic for one hour each morning, costs less than one new set of traffic lights. Two towns in our county have tried it, and both report cleaner air within a month.</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‘Clean Air for Hollowmere’, part 3: Argument one (logos) — original model speech written for Ad Astra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Order the speech</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six parts of a persuasive speech in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Conclusion: logos, pathos and ethos one last time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Ethos: show why you are the best person to make this argument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Argument one: your first point, built on logos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Introduction: introduce your argument to the audience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Argument two: your second point, built on pathos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Counterargument: what the other side would say, and why they are wrong</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Order the speech</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six parts of a persuasive speech in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5EDE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Introductions always come first and conclusions always come last.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Trust comes before facts: ethos is second.</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Facts come before feelings: logos before pathos.</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counterargument sits between your two arguments.</a:t>
            </a:r>
            <a:endParaRPr lang="en-US" sz="1800" dirty="0"/>
          </a:p>
        </p:txBody>
      </p:sp>
      <p:sp>
        <p:nvSpPr>
          <p:cNvPr id="17" name="col-Core"/>
          <p:cNvSpPr/>
          <p:nvPr/>
        </p:nvSpPr>
        <p:spPr>
          <a:xfrm>
            <a:off x="5490762" y="2578608"/>
            <a:ext cx="2938987" cy="3566160"/>
          </a:xfrm>
          <a:prstGeom prst="roundRect">
            <a:avLst>
              <a:gd name="adj" fmla="val 1867"/>
            </a:avLst>
          </a:prstGeom>
          <a:solidFill>
            <a:srgbClr val="E7D4D6"/>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Introduce, trust, think, answer, feel, finish.</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8C2F39"/>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your teachers put the logos argument before the pathos argument, and what might go wrong if you swapped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Write your introduction</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Write the introduction to a speech that persuades your audience to do more to tackle climate change. Explain what you want to achieve, include your audience in your purpose, begin to establish your ethos, and use at least one rhetorical method.</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10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Same task, three ways in: Write your introduction</a:t>
            </a:r>
            <a:endParaRPr lang="en-US" sz="30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Write your introduction</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5EDEE"/>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Hook: start with a picture, a question or a surprising fact, not ‘Today I am going to talk about…’.</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Purpose: write one sentence that says what you want the audience to do.</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Audience: use ‘we’ or ‘you’ at least twice.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Ethos: add one sentence about why you, in particular, care.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for one rhetorical method: a rhetorical question, a tricolon or direct address.</a:t>
            </a:r>
            <a:endParaRPr lang="en-US" sz="1800" dirty="0"/>
          </a:p>
        </p:txBody>
      </p:sp>
      <p:sp>
        <p:nvSpPr>
          <p:cNvPr id="17" name="col-Core"/>
          <p:cNvSpPr/>
          <p:nvPr/>
        </p:nvSpPr>
        <p:spPr>
          <a:xfrm>
            <a:off x="6425403" y="2395728"/>
            <a:ext cx="2471666" cy="3749040"/>
          </a:xfrm>
          <a:prstGeom prst="roundRect">
            <a:avLst>
              <a:gd name="adj" fmla="val 2220"/>
            </a:avLst>
          </a:prstGeom>
          <a:solidFill>
            <a:srgbClr val="E7D4D6"/>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Begin with the river, the heat or the storm you remember, not with the word ‘climate’.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8C2F39"/>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Rewrite your introduction so that it ends on a rhetorical question, and explain what the question makes the audience do.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the six-part structure, which part comes straight after the introduction?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Ethos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Argument two (pathos)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Counterargument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Conclusion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9F4F4"/>
          </a:solidFill>
          <a:ln w="12700">
            <a:solidFill>
              <a:srgbClr val="C79A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Order the speech</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Introduction: introduce your argument to the audience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Ethos: show why you are the best person to make this argument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Argument one: your first point, built on logos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Counterargument: what the other side would say, and why they are wrong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Argument two: your second point, built on pathos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Conclusion: logos, pathos and ethos one last time  (A)</a:t>
            </a:r>
            <a:endParaRPr lang="en-US" sz="18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Introduction, ethos, logos, counterargument, pathos, conclusion. Trust first, then facts, then the other side, then feeling, then the finish.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Write your introduction</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467970"/>
          </a:xfrm>
          <a:prstGeom prst="roundRect">
            <a:avLst>
              <a:gd name="adj" fmla="val 19540"/>
            </a:avLst>
          </a:prstGeom>
          <a:solidFill>
            <a:srgbClr val="F8F1F2"/>
          </a:solidFill>
          <a:ln/>
        </p:spPr>
      </p:sp>
      <p:sp>
        <p:nvSpPr>
          <p:cNvPr id="9" name="tickbox"/>
          <p:cNvSpPr/>
          <p:nvPr/>
        </p:nvSpPr>
        <p:spPr>
          <a:xfrm>
            <a:off x="713232" y="2071929"/>
            <a:ext cx="292608" cy="292608"/>
          </a:xfrm>
          <a:prstGeom prst="rect">
            <a:avLst/>
          </a:prstGeom>
          <a:solidFill>
            <a:srgbClr val="FFFFFF"/>
          </a:solidFill>
          <a:ln w="19050">
            <a:solidFill>
              <a:srgbClr val="8C2F39"/>
            </a:solidFill>
            <a:prstDash val="solid"/>
          </a:ln>
        </p:spPr>
      </p:sp>
      <p:sp>
        <p:nvSpPr>
          <p:cNvPr id="10" name="crit"/>
          <p:cNvSpPr txBox="1"/>
          <p:nvPr/>
        </p:nvSpPr>
        <p:spPr>
          <a:xfrm>
            <a:off x="1143000" y="1984248"/>
            <a:ext cx="4709160" cy="46797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say clearly what I want to achieve.</a:t>
            </a:r>
            <a:endParaRPr lang="en-US" sz="2200" dirty="0"/>
          </a:p>
        </p:txBody>
      </p:sp>
      <p:sp>
        <p:nvSpPr>
          <p:cNvPr id="11" name="crit-box"/>
          <p:cNvSpPr/>
          <p:nvPr/>
        </p:nvSpPr>
        <p:spPr>
          <a:xfrm>
            <a:off x="548640" y="2543658"/>
            <a:ext cx="5486400" cy="808838"/>
          </a:xfrm>
          <a:prstGeom prst="roundRect">
            <a:avLst>
              <a:gd name="adj" fmla="val 11305"/>
            </a:avLst>
          </a:prstGeom>
          <a:solidFill>
            <a:srgbClr val="F8F1F2"/>
          </a:solidFill>
          <a:ln/>
        </p:spPr>
      </p:sp>
      <p:sp>
        <p:nvSpPr>
          <p:cNvPr id="12" name="tickbox"/>
          <p:cNvSpPr/>
          <p:nvPr/>
        </p:nvSpPr>
        <p:spPr>
          <a:xfrm>
            <a:off x="713232" y="2801772"/>
            <a:ext cx="292608" cy="292608"/>
          </a:xfrm>
          <a:prstGeom prst="rect">
            <a:avLst/>
          </a:prstGeom>
          <a:solidFill>
            <a:srgbClr val="FFFFFF"/>
          </a:solidFill>
          <a:ln w="19050">
            <a:solidFill>
              <a:srgbClr val="8C2F39"/>
            </a:solidFill>
            <a:prstDash val="solid"/>
          </a:ln>
        </p:spPr>
      </p:sp>
      <p:sp>
        <p:nvSpPr>
          <p:cNvPr id="13" name="crit"/>
          <p:cNvSpPr txBox="1"/>
          <p:nvPr/>
        </p:nvSpPr>
        <p:spPr>
          <a:xfrm>
            <a:off x="1143000" y="2543658"/>
            <a:ext cx="4709160"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include the audience in my purpose, using ‘we’ or ‘you’.</a:t>
            </a:r>
            <a:endParaRPr lang="en-US" sz="2200" dirty="0"/>
          </a:p>
        </p:txBody>
      </p:sp>
      <p:sp>
        <p:nvSpPr>
          <p:cNvPr id="14" name="crit-box"/>
          <p:cNvSpPr/>
          <p:nvPr/>
        </p:nvSpPr>
        <p:spPr>
          <a:xfrm>
            <a:off x="548640" y="3443935"/>
            <a:ext cx="5486400" cy="808838"/>
          </a:xfrm>
          <a:prstGeom prst="roundRect">
            <a:avLst>
              <a:gd name="adj" fmla="val 11305"/>
            </a:avLst>
          </a:prstGeom>
          <a:solidFill>
            <a:srgbClr val="F8F1F2"/>
          </a:solidFill>
          <a:ln/>
        </p:spPr>
      </p:sp>
      <p:sp>
        <p:nvSpPr>
          <p:cNvPr id="15" name="tickbox"/>
          <p:cNvSpPr/>
          <p:nvPr/>
        </p:nvSpPr>
        <p:spPr>
          <a:xfrm>
            <a:off x="713232" y="3702050"/>
            <a:ext cx="292608" cy="292608"/>
          </a:xfrm>
          <a:prstGeom prst="rect">
            <a:avLst/>
          </a:prstGeom>
          <a:solidFill>
            <a:srgbClr val="FFFFFF"/>
          </a:solidFill>
          <a:ln w="19050">
            <a:solidFill>
              <a:srgbClr val="8C2F39"/>
            </a:solidFill>
            <a:prstDash val="solid"/>
          </a:ln>
        </p:spPr>
      </p:sp>
      <p:sp>
        <p:nvSpPr>
          <p:cNvPr id="16" name="crit"/>
          <p:cNvSpPr txBox="1"/>
          <p:nvPr/>
        </p:nvSpPr>
        <p:spPr>
          <a:xfrm>
            <a:off x="1143000" y="3443935"/>
            <a:ext cx="4709160"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begin to establish my ethos: why I care and what I know.</a:t>
            </a:r>
            <a:endParaRPr lang="en-US" sz="2200" dirty="0"/>
          </a:p>
        </p:txBody>
      </p:sp>
      <p:sp>
        <p:nvSpPr>
          <p:cNvPr id="17" name="crit-box"/>
          <p:cNvSpPr/>
          <p:nvPr/>
        </p:nvSpPr>
        <p:spPr>
          <a:xfrm>
            <a:off x="548640" y="4344213"/>
            <a:ext cx="5486400" cy="808838"/>
          </a:xfrm>
          <a:prstGeom prst="roundRect">
            <a:avLst>
              <a:gd name="adj" fmla="val 11305"/>
            </a:avLst>
          </a:prstGeom>
          <a:solidFill>
            <a:srgbClr val="F8F1F2"/>
          </a:solidFill>
          <a:ln/>
        </p:spPr>
      </p:sp>
      <p:sp>
        <p:nvSpPr>
          <p:cNvPr id="18" name="tickbox"/>
          <p:cNvSpPr/>
          <p:nvPr/>
        </p:nvSpPr>
        <p:spPr>
          <a:xfrm>
            <a:off x="713232" y="4602328"/>
            <a:ext cx="292608" cy="292608"/>
          </a:xfrm>
          <a:prstGeom prst="rect">
            <a:avLst/>
          </a:prstGeom>
          <a:solidFill>
            <a:srgbClr val="FFFFFF"/>
          </a:solidFill>
          <a:ln w="19050">
            <a:solidFill>
              <a:srgbClr val="8C2F39"/>
            </a:solidFill>
            <a:prstDash val="solid"/>
          </a:ln>
        </p:spPr>
      </p:sp>
      <p:sp>
        <p:nvSpPr>
          <p:cNvPr id="19" name="crit"/>
          <p:cNvSpPr txBox="1"/>
          <p:nvPr/>
        </p:nvSpPr>
        <p:spPr>
          <a:xfrm>
            <a:off x="1143000" y="4344213"/>
            <a:ext cx="4709160"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one rhetorical method in my opening lines.</a:t>
            </a:r>
            <a:endParaRPr lang="en-US" sz="2200" dirty="0"/>
          </a:p>
        </p:txBody>
      </p:sp>
      <p:sp>
        <p:nvSpPr>
          <p:cNvPr id="20" name="crit-box"/>
          <p:cNvSpPr/>
          <p:nvPr/>
        </p:nvSpPr>
        <p:spPr>
          <a:xfrm>
            <a:off x="548640" y="5244490"/>
            <a:ext cx="5486400" cy="808838"/>
          </a:xfrm>
          <a:prstGeom prst="roundRect">
            <a:avLst>
              <a:gd name="adj" fmla="val 11305"/>
            </a:avLst>
          </a:prstGeom>
          <a:solidFill>
            <a:srgbClr val="F8F1F2"/>
          </a:solidFill>
          <a:ln/>
        </p:spPr>
      </p:sp>
      <p:sp>
        <p:nvSpPr>
          <p:cNvPr id="21" name="tickbox"/>
          <p:cNvSpPr/>
          <p:nvPr/>
        </p:nvSpPr>
        <p:spPr>
          <a:xfrm>
            <a:off x="713232" y="5502605"/>
            <a:ext cx="292608" cy="292608"/>
          </a:xfrm>
          <a:prstGeom prst="rect">
            <a:avLst/>
          </a:prstGeom>
          <a:solidFill>
            <a:srgbClr val="FFFFFF"/>
          </a:solidFill>
          <a:ln w="19050">
            <a:solidFill>
              <a:srgbClr val="8C2F39"/>
            </a:solidFill>
            <a:prstDash val="solid"/>
          </a:ln>
        </p:spPr>
      </p:sp>
      <p:sp>
        <p:nvSpPr>
          <p:cNvPr id="22" name="crit"/>
          <p:cNvSpPr txBox="1"/>
          <p:nvPr/>
        </p:nvSpPr>
        <p:spPr>
          <a:xfrm>
            <a:off x="1143000" y="5244490"/>
            <a:ext cx="4709160" cy="8088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My first sentence is a hook, not a label.</a:t>
            </a:r>
            <a:endParaRPr lang="en-US" sz="2200" dirty="0"/>
          </a:p>
        </p:txBody>
      </p:sp>
      <p:sp>
        <p:nvSpPr>
          <p:cNvPr id="23" name="model-panel"/>
          <p:cNvSpPr/>
          <p:nvPr/>
        </p:nvSpPr>
        <p:spPr>
          <a:xfrm>
            <a:off x="6309360" y="1389888"/>
            <a:ext cx="5333695" cy="4754880"/>
          </a:xfrm>
          <a:prstGeom prst="roundRect">
            <a:avLst>
              <a:gd name="adj" fmla="val 962"/>
            </a:avLst>
          </a:prstGeom>
          <a:solidFill>
            <a:srgbClr val="F8F2E9"/>
          </a:solidFill>
          <a:ln w="19050">
            <a:solidFill>
              <a:srgbClr val="B8862B"/>
            </a:solidFill>
            <a:prstDash val="solid"/>
          </a:ln>
        </p:spPr>
      </p:sp>
      <p:sp>
        <p:nvSpPr>
          <p:cNvPr id="24"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25"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Last summer, the river at the bottom of our road dried to a trickle, and the fish lay on the mud. I am fourteen, and I have never seen that before. I am here today because the climate is changing faster than our habits are, and because I believe this school can be the place where our habits change first. We are not powerless. We are a thousand people under one roof, and a thousand people can move a town. Will you help me show them how?</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the six-part structure, which part comes straight after the introduction?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Ethos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Introduction, ethos, argument one (logos), counterargument, argument two (pathos), conclusion.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5EDEE"/>
      </a:lt2>
      <a:accent1>
        <a:srgbClr val="8C2F39"/>
      </a:accent1>
      <a:accent2>
        <a:srgbClr val="B8862B"/>
      </a:accent2>
      <a:accent3>
        <a:srgbClr val="BA8288"/>
      </a:accent3>
      <a:accent4>
        <a:srgbClr val="815E1E"/>
      </a:accent4>
      <a:accent5>
        <a:srgbClr val="4A505C"/>
      </a:accent5>
      <a:accent6>
        <a:srgbClr val="DDC498"/>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Rhetoric · Chapter 5: Structuring your speech: introduction, ethos and the logos argument</dc:title>
  <dc:subject>English Language · Year 8</dc:subject>
  <dc:creator>Dr Vitor Merissi de Carvalho</dc:creator>
  <cp:lastModifiedBy>Dr Vitor Merissi de Carvalho</cp:lastModifiedBy>
  <cp:revision>1</cp:revision>
  <dcterms:created xsi:type="dcterms:W3CDTF">2026-10-19T06:07:27Z</dcterms:created>
  <dcterms:modified xsi:type="dcterms:W3CDTF">2026-10-19T06:07:27Z</dcterms:modified>
</cp:coreProperties>
</file>