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bff3a85-1725-f570-81de-94710df91322}">
          <p14:sldIdLst>
            <p14:sldId id="256"/>
          </p14:sldIdLst>
        </p14:section>
        <p14:section name="Gate" id="{cba41560-5f84-f8a4-ca63-5c699967dc71}">
          <p14:sldIdLst>
            <p14:sldId id="257"/>
            <p14:sldId id="258"/>
          </p14:sldIdLst>
        </p14:section>
        <p14:section name="Pre-teach" id="{8909a299-8c85-c5a1-b37b-fb539496d65f}">
          <p14:sldIdLst>
            <p14:sldId id="259"/>
          </p14:sldIdLst>
        </p14:section>
        <p14:section name="Read-along" id="{6606a052-35ab-9bd0-ae52-d4b6641ab113}">
          <p14:sldIdLst>
            <p14:sldId id="260"/>
            <p14:sldId id="261"/>
          </p14:sldIdLst>
        </p14:section>
        <p14:section name="Teach" id="{0d3c8243-aef5-be96-e97b-9b2e4981bd62}">
          <p14:sldIdLst>
            <p14:sldId id="262"/>
            <p14:sldId id="263"/>
            <p14:sldId id="264"/>
            <p14:sldId id="265"/>
            <p14:sldId id="266"/>
            <p14:sldId id="267"/>
          </p14:sldIdLst>
        </p14:section>
        <p14:section name="Routes" id="{207ed122-c0e4-e7c0-6088-6599cba2eae2}">
          <p14:sldIdLst>
            <p14:sldId id="268"/>
            <p14:sldId id="269"/>
            <p14:sldId id="270"/>
          </p14:sldIdLst>
        </p14:section>
        <p14:section name="Close" id="{5d516ce8-4c24-6d26-3d44-290cbe17bf45}">
          <p14:sldIdLst>
            <p14:sldId id="271"/>
          </p14:sldIdLst>
        </p14:section>
        <p14:section name="Answers" id="{c44b1e45-9977-5b3a-f889-3d944296033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Finishing your speech: counterargument, pathos and conclusion. You will answer the other side fairly, make your audience feel, and end with a conclusion that calls them to act.
This deck covers the department's lessons: 9 (Counter arguments: What is a counterargument?); 10 (The purpose of a conclusion: What is the purpose of a conclusion?).
Read the big question aloud: "What is rhetoric, how do famous speakers use it to persuade, and how do I write a persuasive speech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___ is what the opposing side would say, which you raise and then prove wrong.  →  counterargument
2. In 1588, which enemy was Elizabeth I’s army at Tilbury waiting to fight?  →  A   The Spanish Armada
3. Which adverb helps a speaker sound confident when answering a counterargument?  →  A   Clearly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counterargument. A counterargument is the other side’s point, which you answer to make your own case stronger.
2. A   The Spanish Armada. The Spanish Armada sailed to invade England in 1588, and its defeat is counted among England’s greatest military achievements.
3. A   Clearly. Persuasive adverbs such as ‘clearly’, ‘surely’ and ‘evidently’ make the speaker’s answer sound certain.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counterargument: what the other side would say. Example: "Raise the counterargument yourself, then answer it."
• oppose: be against something. Example: "Some councillors oppose the plan because of cost."
• adverb: a word that adds confidence or tone to a statement. Example: "The adverb ‘clearly’ makes the speaker sound sure."
• conclusion: the final part of a speech. Example: "The conclusion is your last chance to persuade."
• call to action: telling the audience exactly what to do. Example: "End with a call to action, such as ‘Sign today.’"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counterargument is what the other side would say.
2. Strong speakers raise it themselves, then explain why it is wrong.
3. This shows you are fair, and it makes your own view stronger.
4. Adverbs such as clearly, surely and evidently sound confident.
5. In 1588, Elizabeth I spoke to her troops at Tilbury.
6. The Spanish Armada was sailing to invade England.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Some had said a queen should not risk herself among armed soldiers.
8. She answered that she trusted her loving people.
9. She admitted she had the body of a weak woman.
10. Then she said she had the heart and stomach of a king.
11. The conclusion is your final chance to persuade.
12. Use pathos, sum up your argument in one clear point, and end with a call to action.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include a counterargument. Say it in your own words, then check understanding with a quick question: ask a pupil from the pre-teach group first, since they met these words and ideas before the lesson. Pupils try to recall before you re-explain.
A counterargument is the point the opposing side would make. It seems strange to put it in your own speech, but it works. Raising it yourself shows the audience you have thought about both sides, which builds ethos. Answering it takes the weapon out of your opponents’ hands before they can use it. Frames that help: ‘Some may say that… but this is wrong because…’, ‘I know that… but…’, ‘I may be… but I am also…’.
Persuasive adverbs make your answer sound certain: ‘Clearly…’, ‘Surely…’, ‘Evidently…’. Use them to turn from the other side’s view back to yours. Here is the counterargument from the model speech. Notice that it begins by agreeing, and ends by turning the objection on its head.
Quotation: "Some of you will say that closing a road is bad for business. I understand that worry. Clearly, shops need customers. But surely customers prefer a street where they can breathe. In the two towns that tried a school street, the shops stayed open and the pavements were busier, not emptier. The real cost to business is a town that people drive through and never stop in." (‘Clean Air for Hollowmere’, part 4: Counterargument — original model speech written for Ad Astra). Read it aloud; ask what it shows.
Tip: Agree with the feeling, then disagree with the conclusion: ‘I understand that worry.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Elizabeth I at Tilbury, 1588. Say it in your own words, then check understanding with a quick question: ask a pupil from the pre-teach group first, since they met these words and ideas before the lesson. Pupils try to recall before you re-explain.
In the summer of 1588 the Spanish Armada, a fleet of about 130 ships, sailed to invade England. Elizabeth I rode out to her army at Tilbury, on the Thames, and spoke to the soldiers. The Armada’s defeat is remembered as one of England’s greatest military achievements, and her speech is remembered with it. It is more than four hundred years old, so it is out of copyright and can be printed here in full.
The speech is built on counterarguments. Some advisers, she says, had warned her not to trust herself to armed crowds for fear of treachery; her answer is that she will not live to distrust her “faithful and loving people”. Then comes the most famous turn. She admits the objection her audience might be thinking: she has “the body but of a weak and feeble woman”. And she answers it in the same sentence: “but I have the heart and stomach of a king, and of a king of England too”. Notice the ethos in “I myself will be your general”, and the direct address of “My loving people”.
One caution for the historians among you: nobody wrote the speech down on the day. This version comes from a letter written years later by a man who said he had heard it. The words are what has come down to us, not a recording.
Worked example — model it step by step, thinking aloud: Show how Elizabeth’s most famous sentence follows the counterargument pattern. (1) State the other side’s view: she has “the body but of a weak and feeble woman”. (2) Turn with ‘but’: “but I have the heart and stomach of a king”. (3) Go further than the objection: “and of a king of England too”. Answer: She names the objection herself (a weak woman’s body), turns it with ‘but’ (a king’s heart), and then raises the stakes (a king of England). The objection ends up making her look stronger, not weaker..
Quotation: "I know I have the body but of a weak and feeble woman; but I have the heart and stomach of a king, and of a king of England too, and think foul scorn that Parma or Spain, or any prince of Europe, should dare to invade the borders of my realm: to which rather than any dishonour shall grow by me, I myself will take up arms, I myself will be your general, judge, and rewarder of every one of your virtues in the field." (Elizabeth I, speech to the troops at Tilbury, 1588 (second paragraph) — public domain). Read it aloud; ask what it shows.
Tip: ‘Treachery’ means betrayal; ‘tyrants’ are cruel rulers; ‘resolved’ means determined; ‘realm’ means kingdom.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Elizabeth I at Tilbury, 1588. Say it in your own words, then check understanding with a quick question: ask a pupil from the pre-teach group first, since they met these words and ideas before the lesson. Pupils try to recall before you re-explain.
In the summer of 1588 the Spanish Armada, a fleet of about 130 ships, sailed to invade England. Elizabeth I rode out to her army at Tilbury, on the Thames, and spoke to the soldiers. The Armada’s defeat is remembered as one of England’s greatest military achievements, and her speech is remembered with it. It is more than four hundred years old, so it is out of copyright and can be printed here in full.
The speech is built on counterarguments. Some advisers, she says, had warned her not to trust herself to armed crowds for fear of treachery; her answer is that she will not live to distrust her “faithful and loving people”. Then comes the most famous turn. She admits the objection her audience might be thinking: she has “the body but of a weak and feeble woman”. And she answers it in the same sentence: “but I have the heart and stomach of a king, and of a king of England too”. Notice the ethos in “I myself will be your general”, and the direct address of “My loving people”.
One caution for the historians among you: nobody wrote the speech down on the day. This version comes from a letter written years later by a man who said he had heard it. The words are what has come down to us, not a recording.
Worked example — model it step by step, thinking aloud: Show how Elizabeth’s most famous sentence follows the counterargument pattern. (1) State the other side’s view: she has “the body but of a weak and feeble woman”. (2) Turn with ‘but’: “but I have the heart and stomach of a king”. (3) Go further than the objection: “and of a king of England too”. Answer: She names the objection herself (a weak woman’s body), turns it with ‘but’ (a king’s heart), and then raises the stakes (a king of England). The objection ends up making her look stronger, not weaker..
Quotation: "I know I have the body but of a weak and feeble woman; but I have the heart and stomach of a king, and of a king of England too, and think foul scorn that Parma or Spain, or any prince of Europe, should dare to invade the borders of my realm: to which rather than any dishonour shall grow by me, I myself will take up arms, I myself will be your general, judge, and rewarder of every one of your virtues in the field." (Elizabeth I, speech to the troops at Tilbury, 1588 (second paragraph) — public domain). Read it aloud; ask what it shows.
Tip: ‘Treachery’ means betrayal; ‘tyrants’ are cruel rulers; ‘resolved’ means determined; ‘realm’ means kingdom.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Elizabeth I at Tilbury, 1588. Say it in your own words, then check understanding with a quick question: ask a pupil from the pre-teach group first, since they met these words and ideas before the lesson. Pupils try to recall before you re-explain.
In the summer of 1588 the Spanish Armada, a fleet of about 130 ships, sailed to invade England. Elizabeth I rode out to her army at Tilbury, on the Thames, and spoke to the soldiers. The Armada’s defeat is remembered as one of England’s greatest military achievements, and her speech is remembered with it. It is more than four hundred years old, so it is out of copyright and can be printed here in full.
The speech is built on counterarguments. Some advisers, she says, had warned her not to trust herself to armed crowds for fear of treachery; her answer is that she will not live to distrust her “faithful and loving people”. Then comes the most famous turn. She admits the objection her audience might be thinking: she has “the body but of a weak and feeble woman”. And she answers it in the same sentence: “but I have the heart and stomach of a king, and of a king of England too”. Notice the ethos in “I myself will be your general”, and the direct address of “My loving people”.
One caution for the historians among you: nobody wrote the speech down on the day. This version comes from a letter written years later by a man who said he had heard it. The words are what has come down to us, not a recording.
Worked example — model it step by step, thinking aloud: Show how Elizabeth’s most famous sentence follows the counterargument pattern. (1) State the other side’s view: she has “the body but of a weak and feeble woman”. (2) Turn with ‘but’: “but I have the heart and stomach of a king”. (3) Go further than the objection: “and of a king of England too”. Answer: She names the objection herself (a weak woman’s body), turns it with ‘but’ (a king’s heart), and then raises the stakes (a king of England). The objection ends up making her look stronger, not weaker..
Quotation: "I know I have the body but of a weak and feeble woman; but I have the heart and stomach of a king, and of a king of England too, and think foul scorn that Parma or Spain, or any prince of Europe, should dare to invade the borders of my realm: to which rather than any dishonour shall grow by me, I myself will take up arms, I myself will be your general, judge, and rewarder of every one of your virtues in the field." (Elizabeth I, speech to the troops at Tilbury, 1588 (second paragraph) — public domain). Read it aloud; ask what it shows.
Tip: ‘Treachery’ means betrayal; ‘tyrants’ are cruel rulers; ‘resolved’ means determined; ‘realm’ means kingdom.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second argument: pathos. Say it in your own words, then check understanding with a quick question: ask a pupil from the pre-teach group first, since they met these words and ideas before the lesson. Pupils try to recall before you re-explain.
Your second argument makes the audience feel. Choose the emotion first, then choose the methods that create it: an anecdote about one real person, direct address, a rhetorical question, anaphora, emotive language. Paragraph for effect: a short paragraph, or a very short sentence, lands harder than a long one.
Here is the pathos argument from the model speech. Notice the anaphora of ‘Think of…’, the one named child, and the short sentences at the end.
Quotation: "Think of Mia, who is six, and who carries an inhaler in her lunch box because she cannot run the length of the playground. Think of the grandparents who stay indoors on the days the monitor turns red. Think of the children not yet born, who will breathe whatever air we leave them. They cannot vote. They cannot speak at this meeting. We must be their voice." (‘Clean Air for Hollowmere’, part 5: Argument two (pathos) — original model speech written for Ad Astra). Read it aloud; ask what it shows.
Tip: One named person moves an audience more than a thousand unnamed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Ending with power: the conclusion. Say it in your own words, then check understanding with a quick question: ask a pupil from the pre-teach group first, since they met these words and ideas before the lesson. Pupils try to recall before you re-explain.
The conclusion is your last chance to persuade, so it uses logos, pathos and ethos one final time. Your teachers ask for three things: use pathos; make one final point that sums up your argument with clarity; and end with a call to action, telling the audience exactly what to do next. The speech you studied in class ends this way: the speaker addresses her listeners as family, repeats what they must not forget, and calls on them to act.
Here is the conclusion of the model speech. Count the methods: a tricolon, an imperative, direct address, anaphora and a call to action, all in six sentences.
Quotation: "So let us be remembered as the town that chose to act. One hour, one street, one morning at a time. Give our children the simplest gift there is: clean air. Hollowmere, the facts are clear, the cost is small and the time is now. Let us not wait for another red day. Let us act tonight." (‘Clean Air for Hollowmere’, part 6: Conclusion — original model speech written for Ad Astra). Read it aloud; ask what it shows.
Tip: Closers that work: ‘And so I leave you with one final thought…’, ‘So let us go from here having learnt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Elizabeth admits the objection.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words show Elizabeth stating the other side’s point before she answers it?
Support — work through the steps with the group: (1) Find the word ‘but’ in the famous sentence. (2) The words before ‘but’ are the objection; the words after are the answer. (3) Rule out the phrases that show strength: they are answers, not objections.
Parallel worked example for Support (model it, do not give the task answer): In ‘I know I am only in Year 8, but I have read every word of the school’s energy report’, which part is the objection? Before ‘but’: only in Year 8.; After ‘but’: the answer.. Answer: ‘I am only in Year 8’ is the objection the speaker admits..
Core — reveal the hint only on request: The objection comes before the ‘but’. Which phrase sounds like a weakness?
Stretch — no help; when finished: Explain why admitting the objection herself makes Elizabeth’s answer stronger than if she had simply claimed to be as brave as a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Elizabeth admits the objection.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words show Elizabeth stating the other side’s point before she answers it?
Support — work through the steps with the group: (1) Find the word ‘but’ in the famous sentence. (2) The words before ‘but’ are the objection; the words after are the answer. (3) Rule out the phrases that show strength: they are answers, not objections.
Parallel worked example for Support (model it, do not give the task answer): In ‘I know I am only in Year 8, but I have read every word of the school’s energy report’, which part is the objection? Before ‘but’: only in Year 8.; After ‘but’: the answer.. Answer: ‘I am only in Year 8’ is the objection the speaker admits..
Core — reveal the hint only on request: The objection comes before the ‘but’. Which phrase sounds like a weakness?
Stretch — no help; when finished: Explain why admitting the objection herself makes Elizabeth’s answer stronger than if she had simply claimed to be as brave as a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the counterargument.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counterargument paragraph in the best order.
Support — work through the steps with the group: (1) Start with what the other side thinks. (2) Agree with the feeling behind it. (3) Turn with ‘but’ and a confident adverb, and give evidence. (4) End on your own side.
Parallel worked example for Support (model it, do not give the task answer): Order these for a counterargument about homework: ‘I know homework takes time’; ‘Some say homework is a waste of evenings’; ‘so twenty minutes a night is worth it’; ‘but clearly practice is how skills stick’. Other side first.; Understanding second.; Turn third.; Own view last.. Answer: Some say homework is a waste of evenings; I know homework takes time; but clearly practice is how skills stick; so twenty minutes a night is worth it..
Core — reveal the hint only on request: Other side, understanding, turn, your side.
Stretch — no help; when finished: Explain what would go wrong if you left out the second step and jumped straight from the other side’s view to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___ is what the opposing side would say, which you raise and then prove wrong.
Answer: A counterargument is what the opposing side would say, which you raise and then prove wrong.. A counterargument is the other side’s point, which you answer to make your own case stronger.
Source of this question: gate item 1 re-asked (options rotated) — this chapter has no third quick-check module.
The ebook also holds task 3, "Write your conclusion",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Elizabeth admits the objection. Reveal the answer; pupils mark their own work in a different colour, then read the "why" together. Same destination for every lane, so one answer serves the whole class.
Answer: A   “the body but of a weak and feeble woman”
Why: Elizabeth names the weakness her audience might think of, then turns it with ‘but’ into a claim of strength.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Build the counterargument. Reveal the answer; pupils mark their own work in a different colour, then read the "why" together. Same destination for every lane, so one answer serves the whole class.
Answer: State the other side’s view: ‘Some of you will say that…’  (A); Show you understand it: ‘I understand that worry.’  (C); Turn with a confident adverb and evidence: ‘But surely…’  (B); Return to your own view, stronger than before  (D)
Why: Other side, understanding, turn with evidence, own view: this order makes you sound fair and leaves the audience on your side.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counterargument is what the opposing side would say, which you raise and then prove wrong.
Why: A counterargument is the other side’s point, which you answer to make your own case stronger.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AD9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Rhetoric · AQA KS3 → 8700</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Finishing your speech: counterargument, pathos and conclusion</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F5EDEE"/>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Counter arguments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purpose of a conclusion</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5EDEE"/>
          </a:solidFill>
          <a:ln w="12700">
            <a:solidFill>
              <a:srgbClr val="D3AFB3"/>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rhetoric, how do famous speakers use it to persuade, and how do I write a persuasive speech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is what the opposing side would say, which you raise and then prove wrong.</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counterargument  ·  conclusion  ·  anecdote</a:t>
            </a:r>
            <a:endParaRPr lang="en-US" sz="2400" dirty="0"/>
          </a:p>
        </p:txBody>
      </p:sp>
      <p:sp>
        <p:nvSpPr>
          <p:cNvPr id="12"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1588, which enemy was Elizabeth I’s army at Tilbury waiting to fight?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Spanish Armada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French navy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Roman army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Vikings</a:t>
            </a:r>
            <a:endParaRPr lang="en-US" sz="2400" dirty="0"/>
          </a:p>
        </p:txBody>
      </p:sp>
      <p:sp>
        <p:nvSpPr>
          <p:cNvPr id="17"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adverb helps a speaker sound confident when answering a counterargument?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Clearly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Perhaps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Maybe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Possibly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counterargument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___ is what the opposing side would say, which you raise and then prove wrong.</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counterargument is the other side’s point, which you answer to make your own case stronger.</a:t>
            </a:r>
            <a:endParaRPr lang="en-US" sz="2000" dirty="0"/>
          </a:p>
        </p:txBody>
      </p:sp>
      <p:sp>
        <p:nvSpPr>
          <p:cNvPr id="14"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Spanish Armada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1588, which enemy was Elizabeth I’s army at Tilbury waiting to fight?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Spanish Armada sailed to invade England in 1588, and its defeat is counted among England’s greatest military achievements.</a:t>
            </a:r>
            <a:endParaRPr lang="en-US" sz="2000" dirty="0"/>
          </a:p>
        </p:txBody>
      </p:sp>
      <p:sp>
        <p:nvSpPr>
          <p:cNvPr id="21"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Clearly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adverb helps a speaker sound confident when answering a counterargument?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Persuasive adverbs such as ‘clearly’, ‘surely’ and ‘evidently’ make the speaker’s answer sound certain.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1F2"/>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counterargument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the other side would say</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Raise the counterargument yourself, then answer it.</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oppose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 against something</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Some councillors oppose the plan because of cost.</a:t>
            </a:r>
            <a:endParaRPr lang="en-US" sz="1800" dirty="0"/>
          </a:p>
        </p:txBody>
      </p:sp>
      <p:sp>
        <p:nvSpPr>
          <p:cNvPr id="21" name="kw-row"/>
          <p:cNvSpPr/>
          <p:nvPr/>
        </p:nvSpPr>
        <p:spPr>
          <a:xfrm>
            <a:off x="548640" y="3639312"/>
            <a:ext cx="11094415" cy="786384"/>
          </a:xfrm>
          <a:prstGeom prst="roundRect">
            <a:avLst>
              <a:gd name="adj" fmla="val 6977"/>
            </a:avLst>
          </a:prstGeom>
          <a:solidFill>
            <a:srgbClr val="F8F1F2"/>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adverb</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word that adds confidence or tone to a statement</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adverb ‘clearly’ makes the speaker sound sure.</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conclusion</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final part of a speech</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conclusion is your last chance to persuade.</a:t>
            </a:r>
            <a:endParaRPr lang="en-US" sz="1800" dirty="0"/>
          </a:p>
        </p:txBody>
      </p:sp>
      <p:sp>
        <p:nvSpPr>
          <p:cNvPr id="31" name="kw-row"/>
          <p:cNvSpPr/>
          <p:nvPr/>
        </p:nvSpPr>
        <p:spPr>
          <a:xfrm>
            <a:off x="548640" y="5358384"/>
            <a:ext cx="11094415" cy="786384"/>
          </a:xfrm>
          <a:prstGeom prst="roundRect">
            <a:avLst>
              <a:gd name="adj" fmla="val 6977"/>
            </a:avLst>
          </a:prstGeom>
          <a:solidFill>
            <a:srgbClr val="F8F1F2"/>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call to action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telling the audience exactly what to do</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End with a call to action, such as ‘Sign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counterargument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what the other side would say.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Strong speakers raise it themselves, then explain why it is wrong.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shows you are fair, and it makes your own view stronger.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Adverbs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such as clearly, surely and evidently sound confident.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1588, Elizabeth I spoke to her troops at Tilbury.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Spanish Armada was sailing to invade England.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had said a queen should not risk herself among armed soldiers.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answered that she trusted her loving people.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admitted she had the body of a weak woman.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she said she had the heart and stomach of a king.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conclusion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your final chance to persuade.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Use pathos, sum up your argument in one clear point, and end with 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call to action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Why include a counterargument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Agree with the feeling, then disagree with the conclusion: ‘I understand that worry. But…’.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5ED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1800" i="1" dirty="0">
                <a:solidFill>
                  <a:srgbClr val="1E2229"/>
                </a:solidFill>
                <a:latin typeface="Cambria" pitchFamily="34" charset="0"/>
                <a:ea typeface="Cambria" pitchFamily="34" charset="-122"/>
                <a:cs typeface="Cambria" pitchFamily="34" charset="-120"/>
              </a:rPr>
              <a:t>Some of you will say that closing a road is bad for business. I understand that worry. Clearly, shops need customers. But surely customers prefer a street where they can breathe. In the two towns that tried a school street, the shops stayed open and the pavements were busier, not emptier. The real cost to business is a town that people drive through and never stop in.</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 ‘Clean Air for Hollowmere’, part 4: Counterargument — original model speech written for Ad Astra</a:t>
            </a:r>
            <a:endParaRPr lang="en-US" sz="1800" dirty="0"/>
          </a:p>
        </p:txBody>
      </p:sp>
      <p:sp>
        <p:nvSpPr>
          <p:cNvPr id="14" name="bullet-card"/>
          <p:cNvSpPr/>
          <p:nvPr/>
        </p:nvSpPr>
        <p:spPr>
          <a:xfrm>
            <a:off x="548640" y="1389888"/>
            <a:ext cx="5074920" cy="1357376"/>
          </a:xfrm>
          <a:prstGeom prst="roundRect">
            <a:avLst>
              <a:gd name="adj" fmla="val 5389"/>
            </a:avLst>
          </a:prstGeom>
          <a:solidFill>
            <a:srgbClr val="F8F1F2"/>
          </a:solidFill>
          <a:ln/>
        </p:spPr>
      </p:sp>
      <p:sp>
        <p:nvSpPr>
          <p:cNvPr id="15" name="bullet-hex"/>
          <p:cNvSpPr/>
          <p:nvPr/>
        </p:nvSpPr>
        <p:spPr>
          <a:xfrm>
            <a:off x="676656" y="1902283"/>
            <a:ext cx="384048" cy="332586"/>
          </a:xfrm>
          <a:prstGeom prst="hexagon">
            <a:avLst/>
          </a:prstGeom>
          <a:solidFill>
            <a:srgbClr val="8C2F39"/>
          </a:solidFill>
          <a:ln/>
        </p:spPr>
      </p:sp>
      <p:sp>
        <p:nvSpPr>
          <p:cNvPr id="16"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counterargument is the point the opposing side would make.</a:t>
            </a:r>
            <a:endParaRPr lang="en-US" sz="2200" dirty="0"/>
          </a:p>
        </p:txBody>
      </p:sp>
      <p:sp>
        <p:nvSpPr>
          <p:cNvPr id="17" name="bullet-card"/>
          <p:cNvSpPr/>
          <p:nvPr/>
        </p:nvSpPr>
        <p:spPr>
          <a:xfrm>
            <a:off x="548640" y="2893568"/>
            <a:ext cx="5074920" cy="1698244"/>
          </a:xfrm>
          <a:prstGeom prst="roundRect">
            <a:avLst>
              <a:gd name="adj" fmla="val 4308"/>
            </a:avLst>
          </a:prstGeom>
          <a:solidFill>
            <a:srgbClr val="F8F1F2"/>
          </a:solidFill>
          <a:ln/>
        </p:spPr>
      </p:sp>
      <p:sp>
        <p:nvSpPr>
          <p:cNvPr id="18" name="bullet-hex"/>
          <p:cNvSpPr/>
          <p:nvPr/>
        </p:nvSpPr>
        <p:spPr>
          <a:xfrm>
            <a:off x="676656" y="3576397"/>
            <a:ext cx="384048" cy="332586"/>
          </a:xfrm>
          <a:prstGeom prst="hexagon">
            <a:avLst/>
          </a:prstGeom>
          <a:solidFill>
            <a:srgbClr val="B8862B"/>
          </a:solidFill>
          <a:ln/>
        </p:spPr>
      </p:sp>
      <p:sp>
        <p:nvSpPr>
          <p:cNvPr id="19" name="bullet"/>
          <p:cNvSpPr txBox="1"/>
          <p:nvPr/>
        </p:nvSpPr>
        <p:spPr>
          <a:xfrm>
            <a:off x="1143000" y="289356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Persuasive adverbs make your answer sound certain: ‘Clearly…’, ‘Surely…’, ‘Evidently…’.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Elizabeth I at Tilbury, 1588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‘Treachery’ means betrayal; ‘tyrants’ are cruel rulers; ‘resolved’ means determined; ‘realm’ means kingdom.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the summer of 1588 the Spanish Armada, a fleet of about 130 ships, sailed to invade England.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speech is built on counterarguments. Some advisers, she says, had warned her not to trust herself to armed crowds for fear of treachery; her answer is that she will not live to distrust her “faithful and loving people”.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caution for the historians among you: nobody wrote the speech down on the 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Elizabeth I at Tilbury, 1588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5EDEE"/>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Show how Elizabeth’s most famous sentence follows the counterargument pattern.</a:t>
            </a:r>
            <a:endParaRPr lang="en-US" sz="2200" dirty="0"/>
          </a:p>
        </p:txBody>
      </p:sp>
      <p:sp>
        <p:nvSpPr>
          <p:cNvPr id="9" name="step-box"/>
          <p:cNvSpPr/>
          <p:nvPr/>
        </p:nvSpPr>
        <p:spPr>
          <a:xfrm>
            <a:off x="548640" y="2314956"/>
            <a:ext cx="3423818" cy="1695196"/>
          </a:xfrm>
          <a:prstGeom prst="roundRect">
            <a:avLst>
              <a:gd name="adj" fmla="val 4315"/>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State the other side’s view: she has “the body but of a weak and feeble woman”.</a:t>
            </a:r>
            <a:endParaRPr lang="en-US" sz="1800" dirty="0"/>
          </a:p>
        </p:txBody>
      </p:sp>
      <p:sp>
        <p:nvSpPr>
          <p:cNvPr id="13" name="arrow"/>
          <p:cNvSpPr/>
          <p:nvPr/>
        </p:nvSpPr>
        <p:spPr>
          <a:xfrm>
            <a:off x="4045610" y="3025394"/>
            <a:ext cx="274320" cy="274320"/>
          </a:xfrm>
          <a:prstGeom prst="rightArrow">
            <a:avLst/>
          </a:prstGeom>
          <a:solidFill>
            <a:srgbClr val="B8862B"/>
          </a:solidFill>
          <a:ln/>
        </p:spPr>
      </p:sp>
      <p:sp>
        <p:nvSpPr>
          <p:cNvPr id="14" name="step-box"/>
          <p:cNvSpPr/>
          <p:nvPr/>
        </p:nvSpPr>
        <p:spPr>
          <a:xfrm>
            <a:off x="4383938" y="2314956"/>
            <a:ext cx="3423818" cy="1695196"/>
          </a:xfrm>
          <a:prstGeom prst="roundRect">
            <a:avLst>
              <a:gd name="adj" fmla="val 4315"/>
            </a:avLst>
          </a:prstGeom>
          <a:solidFill>
            <a:srgbClr val="FFFFFF"/>
          </a:solidFill>
          <a:ln w="15875">
            <a:solidFill>
              <a:srgbClr val="C08D92"/>
            </a:solidFill>
            <a:prstDash val="solid"/>
          </a:ln>
        </p:spPr>
      </p:sp>
      <p:sp>
        <p:nvSpPr>
          <p:cNvPr id="15" name="step-hex"/>
          <p:cNvSpPr/>
          <p:nvPr/>
        </p:nvSpPr>
        <p:spPr>
          <a:xfrm>
            <a:off x="4521098" y="2424684"/>
            <a:ext cx="530352" cy="459285"/>
          </a:xfrm>
          <a:prstGeom prst="hexagon">
            <a:avLst/>
          </a:prstGeom>
          <a:solidFill>
            <a:srgbClr val="8C2F39"/>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Turn with ‘but’: “but I have the heart and stomach of a king”.</a:t>
            </a:r>
            <a:endParaRPr lang="en-US" sz="1800" dirty="0"/>
          </a:p>
        </p:txBody>
      </p:sp>
      <p:sp>
        <p:nvSpPr>
          <p:cNvPr id="18" name="arrow"/>
          <p:cNvSpPr/>
          <p:nvPr/>
        </p:nvSpPr>
        <p:spPr>
          <a:xfrm>
            <a:off x="7880909" y="3025394"/>
            <a:ext cx="274320" cy="274320"/>
          </a:xfrm>
          <a:prstGeom prst="rightArrow">
            <a:avLst/>
          </a:prstGeom>
          <a:solidFill>
            <a:srgbClr val="B8862B"/>
          </a:solidFill>
          <a:ln/>
        </p:spPr>
      </p:sp>
      <p:sp>
        <p:nvSpPr>
          <p:cNvPr id="19" name="step-box"/>
          <p:cNvSpPr/>
          <p:nvPr/>
        </p:nvSpPr>
        <p:spPr>
          <a:xfrm>
            <a:off x="8219237" y="2314956"/>
            <a:ext cx="3423818" cy="1695196"/>
          </a:xfrm>
          <a:prstGeom prst="roundRect">
            <a:avLst>
              <a:gd name="adj" fmla="val 4315"/>
            </a:avLst>
          </a:prstGeom>
          <a:solidFill>
            <a:srgbClr val="FFFFFF"/>
          </a:solidFill>
          <a:ln w="15875">
            <a:solidFill>
              <a:srgbClr val="C08D92"/>
            </a:solidFill>
            <a:prstDash val="solid"/>
          </a:ln>
        </p:spPr>
      </p:sp>
      <p:sp>
        <p:nvSpPr>
          <p:cNvPr id="20" name="step-hex"/>
          <p:cNvSpPr/>
          <p:nvPr/>
        </p:nvSpPr>
        <p:spPr>
          <a:xfrm>
            <a:off x="8356397" y="2424684"/>
            <a:ext cx="530352" cy="459285"/>
          </a:xfrm>
          <a:prstGeom prst="hexagon">
            <a:avLst/>
          </a:prstGeom>
          <a:solidFill>
            <a:srgbClr val="8C2F39"/>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Go further than the objection: “and of a king of England too”.</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She names the objection herself (a weak woman’s body), turns it with ‘but’ (a king’s heart), and then raises the stakes (a king of England). The objection ends up making her look stronger, not weaker.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Elizabeth I at Tilbury, 1588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5EDEE"/>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 know I have the body but of a weak and feeble woman; but I have the heart and stomach of a king, and of a king of England too, and think foul scorn that Parma or Spain, or any prince of Europe, should dare to invade the borders of my realm: to which rather than any dishonour shall grow by me, I myself will take up arms, I myself will be your general, judge, and rewarder of every one of your virtues in the field.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Elizabeth I, speech to the troops at Tilbury, 1588 (second paragraph) — public domain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second argument: pathos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named person moves an audience more than a thousand unnamed ones.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5ED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1800" i="1" dirty="0">
                <a:solidFill>
                  <a:srgbClr val="1E2229"/>
                </a:solidFill>
                <a:latin typeface="Cambria" pitchFamily="34" charset="0"/>
                <a:ea typeface="Cambria" pitchFamily="34" charset="-122"/>
                <a:cs typeface="Cambria" pitchFamily="34" charset="-120"/>
              </a:rPr>
              <a:t>Think of Mia, who is six, and who carries an inhaler in her lunch box because she cannot run the length of the playground. Think of the grandparents who stay indoors on the days the monitor turns red. Think of the children not yet born, who will breathe whatever air we leave them. They cannot vote. They cannot speak at this meeting. We must be their voice.</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 ‘Clean Air for Hollowmere’, part 5: Argument two (pathos) — original model speech written for Ad Astra</a:t>
            </a:r>
            <a:endParaRPr lang="en-US" sz="1800" dirty="0"/>
          </a:p>
        </p:txBody>
      </p:sp>
      <p:sp>
        <p:nvSpPr>
          <p:cNvPr id="14" name="bullet-card"/>
          <p:cNvSpPr/>
          <p:nvPr/>
        </p:nvSpPr>
        <p:spPr>
          <a:xfrm>
            <a:off x="548640" y="1389888"/>
            <a:ext cx="5074920" cy="1909318"/>
          </a:xfrm>
          <a:prstGeom prst="roundRect">
            <a:avLst>
              <a:gd name="adj" fmla="val 3831"/>
            </a:avLst>
          </a:prstGeom>
          <a:solidFill>
            <a:srgbClr val="F8F1F2"/>
          </a:solidFill>
          <a:ln/>
        </p:spPr>
      </p:sp>
      <p:sp>
        <p:nvSpPr>
          <p:cNvPr id="15" name="bullet-hex"/>
          <p:cNvSpPr/>
          <p:nvPr/>
        </p:nvSpPr>
        <p:spPr>
          <a:xfrm>
            <a:off x="676656" y="2178254"/>
            <a:ext cx="384048" cy="332586"/>
          </a:xfrm>
          <a:prstGeom prst="hexagon">
            <a:avLst/>
          </a:prstGeom>
          <a:solidFill>
            <a:srgbClr val="8C2F39"/>
          </a:solidFill>
          <a:ln/>
        </p:spPr>
      </p:sp>
      <p:sp>
        <p:nvSpPr>
          <p:cNvPr id="16" name="bullet"/>
          <p:cNvSpPr txBox="1"/>
          <p:nvPr/>
        </p:nvSpPr>
        <p:spPr>
          <a:xfrm>
            <a:off x="1143000" y="1389888"/>
            <a:ext cx="4389120" cy="19093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second argument makes the audience feel. Choose the emotion first, then choose the methods that create it: an anecdote about one real person, direct address, a rhetorical question, anaphora, emotive language.</a:t>
            </a:r>
            <a:endParaRPr lang="en-US" sz="1800" dirty="0"/>
          </a:p>
        </p:txBody>
      </p:sp>
      <p:sp>
        <p:nvSpPr>
          <p:cNvPr id="17" name="bullet-card"/>
          <p:cNvSpPr/>
          <p:nvPr/>
        </p:nvSpPr>
        <p:spPr>
          <a:xfrm>
            <a:off x="548640" y="3445510"/>
            <a:ext cx="5074920" cy="1351534"/>
          </a:xfrm>
          <a:prstGeom prst="roundRect">
            <a:avLst>
              <a:gd name="adj" fmla="val 5413"/>
            </a:avLst>
          </a:prstGeom>
          <a:solidFill>
            <a:srgbClr val="F8F1F2"/>
          </a:solidFill>
          <a:ln/>
        </p:spPr>
      </p:sp>
      <p:sp>
        <p:nvSpPr>
          <p:cNvPr id="18" name="bullet-hex"/>
          <p:cNvSpPr/>
          <p:nvPr/>
        </p:nvSpPr>
        <p:spPr>
          <a:xfrm>
            <a:off x="676656" y="3954984"/>
            <a:ext cx="384048" cy="332586"/>
          </a:xfrm>
          <a:prstGeom prst="hexagon">
            <a:avLst/>
          </a:prstGeom>
          <a:solidFill>
            <a:srgbClr val="B8862B"/>
          </a:solidFill>
          <a:ln/>
        </p:spPr>
      </p:sp>
      <p:sp>
        <p:nvSpPr>
          <p:cNvPr id="19" name="bullet"/>
          <p:cNvSpPr txBox="1"/>
          <p:nvPr/>
        </p:nvSpPr>
        <p:spPr>
          <a:xfrm>
            <a:off x="1143000" y="3445510"/>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Here is the pathos argument from the model speech. Notice the anaphora of ‘Think of…’, the one named child, and the short sentences at the end.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Ending with power: the conclusion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Closers that work: ‘And so I leave you with one final thought…’, ‘So let us go from here having learnt one thing…’.</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5ED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So let us be remembered as the town that chose to act. One hour, one street, one morning at a time. Give our children the simplest gift there is: clean air. Hollowmere, the facts are clear, the cost is small and the time is now. Let us not wait for another red day. Let us act tonight.</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‘Clean Air for Hollowmere’, part 6: Conclusion — original model speech written for Ad Astra</a:t>
            </a:r>
            <a:endParaRPr lang="en-US" sz="2200" dirty="0"/>
          </a:p>
        </p:txBody>
      </p:sp>
      <p:sp>
        <p:nvSpPr>
          <p:cNvPr id="14" name="bullet-card"/>
          <p:cNvSpPr/>
          <p:nvPr/>
        </p:nvSpPr>
        <p:spPr>
          <a:xfrm>
            <a:off x="548640" y="1389888"/>
            <a:ext cx="5074920" cy="1289558"/>
          </a:xfrm>
          <a:prstGeom prst="roundRect">
            <a:avLst>
              <a:gd name="adj" fmla="val 5673"/>
            </a:avLst>
          </a:prstGeom>
          <a:solidFill>
            <a:srgbClr val="F8F1F2"/>
          </a:solidFill>
          <a:ln/>
        </p:spPr>
      </p:sp>
      <p:sp>
        <p:nvSpPr>
          <p:cNvPr id="15" name="bullet-hex"/>
          <p:cNvSpPr/>
          <p:nvPr/>
        </p:nvSpPr>
        <p:spPr>
          <a:xfrm>
            <a:off x="676656" y="1868374"/>
            <a:ext cx="384048" cy="332586"/>
          </a:xfrm>
          <a:prstGeom prst="hexagon">
            <a:avLst/>
          </a:prstGeom>
          <a:solidFill>
            <a:srgbClr val="8C2F39"/>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conclusion is your last chance to persuade, so it uses logos, pathos and ethos one final time.</a:t>
            </a:r>
            <a:endParaRPr lang="en-US" sz="2200" dirty="0"/>
          </a:p>
        </p:txBody>
      </p:sp>
      <p:sp>
        <p:nvSpPr>
          <p:cNvPr id="17" name="bullet-card"/>
          <p:cNvSpPr/>
          <p:nvPr/>
        </p:nvSpPr>
        <p:spPr>
          <a:xfrm>
            <a:off x="548640" y="2825750"/>
            <a:ext cx="5074920" cy="1971294"/>
          </a:xfrm>
          <a:prstGeom prst="roundRect">
            <a:avLst>
              <a:gd name="adj" fmla="val 3711"/>
            </a:avLst>
          </a:prstGeom>
          <a:solidFill>
            <a:srgbClr val="F8F1F2"/>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Here is the conclusion of the model speech. Count the methods: a tricolon, an imperative, direct address, anaphora and a call to action, all in six sentences.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Elizabeth admits the objection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words show Elizabeth stating the other side’s point before she answers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body but of a weak and feeble woman”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heart and stomach of a king”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 myself will be your general”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“Let tyrants fear.”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Elizabeth admits the objection</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words show Elizabeth stating the other side’s point before she answers it?</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5ED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the word ‘but’ in the famous sentence.</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words before ‘but’ are the objection; the words after are the answer.</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Rule out the phrases that show strength: they are answers, not objections.</a:t>
            </a:r>
            <a:endParaRPr lang="en-US" sz="2000" dirty="0"/>
          </a:p>
        </p:txBody>
      </p:sp>
      <p:sp>
        <p:nvSpPr>
          <p:cNvPr id="17" name="col-Core"/>
          <p:cNvSpPr/>
          <p:nvPr/>
        </p:nvSpPr>
        <p:spPr>
          <a:xfrm>
            <a:off x="4338218" y="2593848"/>
            <a:ext cx="3515258" cy="3550920"/>
          </a:xfrm>
          <a:prstGeom prst="roundRect">
            <a:avLst>
              <a:gd name="adj" fmla="val 1561"/>
            </a:avLst>
          </a:prstGeom>
          <a:solidFill>
            <a:srgbClr val="E7D4D6"/>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The objection comes before the ‘but’. Which phrase sounds like a weakness?</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admitting the objection herself makes Elizabeth’s answer stronger than if she had simply claimed to be as brave as a king.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Same task, three ways in: Build the counterargument</a:t>
            </a:r>
            <a:endParaRPr lang="en-US" sz="28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87728"/>
          </a:xfrm>
          <a:prstGeom prst="roundRect">
            <a:avLst>
              <a:gd name="adj" fmla="val 4844"/>
            </a:avLst>
          </a:prstGeom>
          <a:solidFill>
            <a:srgbClr val="FFFFFF"/>
          </a:solidFill>
          <a:ln w="31750">
            <a:solidFill>
              <a:srgbClr val="B8862B"/>
            </a:solidFill>
            <a:prstDash val="solid"/>
          </a:ln>
        </p:spPr>
      </p:sp>
      <p:sp>
        <p:nvSpPr>
          <p:cNvPr id="8" name="task-hex"/>
          <p:cNvSpPr/>
          <p:nvPr/>
        </p:nvSpPr>
        <p:spPr>
          <a:xfrm>
            <a:off x="777240" y="2017004"/>
            <a:ext cx="731520" cy="633496"/>
          </a:xfrm>
          <a:prstGeom prst="hexagon">
            <a:avLst/>
          </a:prstGeom>
          <a:solidFill>
            <a:srgbClr val="B8862B"/>
          </a:solidFill>
          <a:ln/>
        </p:spPr>
      </p:sp>
      <p:sp>
        <p:nvSpPr>
          <p:cNvPr id="9" name="task-hex-label"/>
          <p:cNvSpPr txBox="1"/>
          <p:nvPr/>
        </p:nvSpPr>
        <p:spPr>
          <a:xfrm>
            <a:off x="777240" y="2017004"/>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2059432"/>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704848"/>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parts of a counterargument paragraph in the best order.</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State the other side’s view: ‘Some of you will say that…’</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Turn with a confident adverb and evidence: ‘But surely…’</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Show you understand it: ‘I understand that worry.’</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Return to your own view, stronger than before</a:t>
            </a:r>
            <a:endParaRPr lang="en-US" sz="2000" dirty="0"/>
          </a:p>
        </p:txBody>
      </p:sp>
      <p:sp>
        <p:nvSpPr>
          <p:cNvPr id="12" name="col-Support"/>
          <p:cNvSpPr/>
          <p:nvPr/>
        </p:nvSpPr>
        <p:spPr>
          <a:xfrm>
            <a:off x="548640" y="3551936"/>
            <a:ext cx="4667802" cy="2592832"/>
          </a:xfrm>
          <a:prstGeom prst="roundRect">
            <a:avLst>
              <a:gd name="adj" fmla="val 2116"/>
            </a:avLst>
          </a:prstGeom>
          <a:solidFill>
            <a:srgbClr val="F5EDEE"/>
          </a:solidFill>
          <a:ln/>
        </p:spPr>
      </p:sp>
      <p:sp>
        <p:nvSpPr>
          <p:cNvPr id="13" name="col-hex"/>
          <p:cNvSpPr/>
          <p:nvPr/>
        </p:nvSpPr>
        <p:spPr>
          <a:xfrm>
            <a:off x="658368" y="3625088"/>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625088"/>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588512"/>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192016"/>
            <a:ext cx="4393482" cy="1843024"/>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what the other side thinks.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Agree with the feeling behind it.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Turn with ‘but’ and a confident adverb, and give evidence.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End on your own side.</a:t>
            </a:r>
            <a:endParaRPr lang="en-US" sz="1800" dirty="0"/>
          </a:p>
        </p:txBody>
      </p:sp>
      <p:sp>
        <p:nvSpPr>
          <p:cNvPr id="17" name="col-Core"/>
          <p:cNvSpPr/>
          <p:nvPr/>
        </p:nvSpPr>
        <p:spPr>
          <a:xfrm>
            <a:off x="5490762" y="3551936"/>
            <a:ext cx="2938987" cy="2592832"/>
          </a:xfrm>
          <a:prstGeom prst="roundRect">
            <a:avLst>
              <a:gd name="adj" fmla="val 2116"/>
            </a:avLst>
          </a:prstGeom>
          <a:solidFill>
            <a:srgbClr val="E7D4D6"/>
          </a:solidFill>
          <a:ln/>
        </p:spPr>
      </p:sp>
      <p:sp>
        <p:nvSpPr>
          <p:cNvPr id="18" name="col-hex"/>
          <p:cNvSpPr/>
          <p:nvPr/>
        </p:nvSpPr>
        <p:spPr>
          <a:xfrm>
            <a:off x="5600490" y="3625088"/>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625088"/>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588512"/>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4192016"/>
            <a:ext cx="2664667" cy="1843024"/>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Other side, understanding, turn, your side.</a:t>
            </a:r>
            <a:endParaRPr lang="en-US" sz="1800" dirty="0"/>
          </a:p>
        </p:txBody>
      </p:sp>
      <p:sp>
        <p:nvSpPr>
          <p:cNvPr id="22" name="col-Stretch"/>
          <p:cNvSpPr/>
          <p:nvPr/>
        </p:nvSpPr>
        <p:spPr>
          <a:xfrm>
            <a:off x="8704069" y="3551936"/>
            <a:ext cx="2938987" cy="2592832"/>
          </a:xfrm>
          <a:prstGeom prst="roundRect">
            <a:avLst>
              <a:gd name="adj" fmla="val 2116"/>
            </a:avLst>
          </a:prstGeom>
          <a:solidFill>
            <a:srgbClr val="8C2F39"/>
          </a:solidFill>
          <a:ln/>
        </p:spPr>
      </p:sp>
      <p:sp>
        <p:nvSpPr>
          <p:cNvPr id="23" name="col-hex"/>
          <p:cNvSpPr/>
          <p:nvPr/>
        </p:nvSpPr>
        <p:spPr>
          <a:xfrm>
            <a:off x="8813797" y="3625088"/>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625088"/>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588512"/>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4192016"/>
            <a:ext cx="2664667" cy="1843024"/>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go wrong if you left out the second step and jumped straight from the other side’s view to ‘But…’.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___ is what the opposing side would say, which you raise and then prove wrong.</a:t>
            </a:r>
            <a:endParaRPr lang="en-US" sz="24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counterargument   ·   conclusion   ·   anecdote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9F4F4"/>
          </a:solidFill>
          <a:ln w="12700">
            <a:solidFill>
              <a:srgbClr val="C79A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Elizabeth admits the objection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words show Elizabeth stating the other side’s point before she answers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body but of a weak and feeble woman”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Elizabeth names the weakness her audience might think of, then turns it with ‘but’ into a claim of strength.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Build the counterargument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State the other side’s view: ‘Some of you will say that…’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Show you understand it: ‘I understand that worry.’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Turn with a confident adverb and evidence: ‘But surely…’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Return to your own view, stronger than before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Other side, understanding, turn with evidence, own view: this order makes you sound fair and leaves the audience on your side.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___ is what the opposing side would say, which you raise and then prove wrong.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counterargument is what the opposing side would say, which you raise and then prove wrong.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counterargument is the other side’s point, which you answer to make your own case stronger.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5EDEE"/>
      </a:lt2>
      <a:accent1>
        <a:srgbClr val="8C2F39"/>
      </a:accent1>
      <a:accent2>
        <a:srgbClr val="B8862B"/>
      </a:accent2>
      <a:accent3>
        <a:srgbClr val="BA8288"/>
      </a:accent3>
      <a:accent4>
        <a:srgbClr val="815E1E"/>
      </a:accent4>
      <a:accent5>
        <a:srgbClr val="4A505C"/>
      </a:accent5>
      <a:accent6>
        <a:srgbClr val="DDC498"/>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 · Chapter 6: Finishing your speech: counterargument, pathos and conclusion</dc:title>
  <dc:subject>English Language · Year 8</dc:subject>
  <dc:creator>Dr Vitor Merissi de Carvalho</dc:creator>
  <cp:lastModifiedBy>Dr Vitor Merissi de Carvalho</cp:lastModifiedBy>
  <cp:revision>1</cp:revision>
  <dcterms:created xsi:type="dcterms:W3CDTF">2026-10-18T17:47:05Z</dcterms:created>
  <dcterms:modified xsi:type="dcterms:W3CDTF">2026-10-18T17:47:05Z</dcterms:modified>
</cp:coreProperties>
</file>