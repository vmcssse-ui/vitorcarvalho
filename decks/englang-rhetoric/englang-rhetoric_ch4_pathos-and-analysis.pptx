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e8ce541-0bd3-1f04-a1c0-3aea4507bdc1}">
          <p14:sldIdLst>
            <p14:sldId id="256"/>
          </p14:sldIdLst>
        </p14:section>
        <p14:section name="Gate" id="{46e5c061-da0c-b0b7-ca2f-6a9c70e1a987}">
          <p14:sldIdLst>
            <p14:sldId id="257"/>
            <p14:sldId id="258"/>
          </p14:sldIdLst>
        </p14:section>
        <p14:section name="Pre-teach" id="{975973dc-a680-4080-301a-46eb5e45362a}">
          <p14:sldIdLst>
            <p14:sldId id="259"/>
          </p14:sldIdLst>
        </p14:section>
        <p14:section name="Read-along" id="{7ac8c26d-6e6c-bc4e-37f1-3eb61c57fe1d}">
          <p14:sldIdLst>
            <p14:sldId id="260"/>
            <p14:sldId id="261"/>
          </p14:sldIdLst>
        </p14:section>
        <p14:section name="Teach" id="{c587b81e-df07-e48d-f918-e8b3e06c1c19}">
          <p14:sldIdLst>
            <p14:sldId id="262"/>
            <p14:sldId id="263"/>
            <p14:sldId id="264"/>
            <p14:sldId id="265"/>
            <p14:sldId id="266"/>
            <p14:sldId id="267"/>
          </p14:sldIdLst>
        </p14:section>
        <p14:section name="Routes" id="{5ea6fe54-4210-1258-529c-1d22f061c78a}">
          <p14:sldIdLst>
            <p14:sldId id="268"/>
            <p14:sldId id="269"/>
            <p14:sldId id="270"/>
            <p14:sldId id="271"/>
          </p14:sldIdLst>
        </p14:section>
        <p14:section name="Close" id="{00b9346e-aa5a-4424-e4c3-a0ce5f662ff3}">
          <p14:sldIdLst>
            <p14:sldId id="272"/>
          </p14:sldIdLst>
        </p14:section>
        <p14:section name="Answers" id="{3ea80fde-8a4c-e347-a2e4-2b647e017d8a}">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Pathos, and analysing a speech: What, How, Why. You will know how pathos works, which methods create it, and how to analyse a whole speech with What, How and Why.
This deck covers the department's lessons: 4 (Creating pathos: What is pathos, and how is it created?); 5 (Identifying rhetoric in Martin Luther King’s speech: Who was Martin Luther King, and what is his ‘I have a dream’ speech about?); 6 (Identifying rhetoric in Martin Luther King’s speech (Part Two): How does Martin Luther King use rhetoric in his speech?).
Read the big question aloud: "What is rhetoric, how do famous speakers use it to persuade, and how do I write a persuasive speech of my own?"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Pathos appeals to the audience’s…  →  C   emotions and values
2. In which year did Martin Luther King give his most famous speech in Washington?  →  C   1963
3. To analyse a speech, ask what the speaker is saying, ___ they are saying it, and why.  →  how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emotions and values. Pathos is persuasion through emotion and values.
2. C   1963. The speech was delivered in Washington in 1963. King was assassinated on 4 April 1968.
3. how. What (the point), How (quotation and method), Why (effect and aim).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pathos: persuasion through feeling. Example: "Charity adverts rely on pathos."
• emotion: a strong feeling, such as pity or anger. Example: "Choose the emotion you want the audience to feel."
• appeal: a request that works on the audience. Example: "An appeal to pity asks the audience to feel sorry."
• civil rights: the equal rights of every citizen. Example: "Martin Luther King led the civil rights movement."
• segregation: keeping groups of people apart by law. Example: "Segregation kept black and white Americans apart."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Pathos is about making your audience feel something.
2. Charity adverts use pathos all the time.
3. A picture of a hungry child goes straight for the heart.
4. Many emotions can persuade: pity, anger, fear, pride and hope.
5. Rhetorical questions and direct address are good ways to create pathos.
6. Martin Luther King was an American civil rights leader.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In 1963 he gave a famous speech in Washington.
8. He spoke of his dream of a country without segregation or racism.
9. Segregation meant black and white people were kept apart by law.
10. King believed in peaceful protest.
11. He was shot dead in Memphis on 4 April 1968.
12. To analyse his speech, ask what he says, how he says it, and why.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pathos is, and why it works. Say it in your own words, then check understanding with a quick question: ask a pupil from the pre-teach group first, since they met these words and ideas before the lesson. Pupils try to recall before you re-explain.
Pathos is all about making your audience feel something. The pictures of hungry children on a charity appeal are pathos. So are the leaflets that come through the door asking for a donation: rather than pages of detailed arguments and statistics about how the charity spends its money, they go straight for the heart. If you can stir an audience’s emotions, they will listen.
Human beings are full of emotion, and that makes us easy to influence through it. In a perfect world, only logos would persuade us, because facts are facts. In the real world, we are swayed by how we feel. That is why pathos is powerful, and why Aristotle warned that it can be misused.
Many emotions can do the work: pity, anger, fear, guilt, pride, hope, even laughter. Before you write, decide which one you want. A speech that tries to make the audience feel everything usually makes them feel nothing.
Tip: Pathos with truth persuades. Pathos without truth is the trick Aristotle accused the Sophists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create pathos. Say it in your own words, then check understanding with a quick question: ask a pupil from the pre-teach group first, since they met these words and ideas before the lesson. Pupils try to recall before you re-explain.
Some rhetorical methods are built for pathos. A rhetorical question makes listeners reflect on what they think is acceptable, and it can make them feel angry or ashamed that they have not acted. Direct address creates a strong, immediate connection: the listener feels personally involved. Emotive language chooses words for their feeling. An anecdote puts a real person in front of the audience. Hyperbole raises the stakes. A maxim borrows the authority of a saying everybody accepts, such as ‘The pen is mightier than the sword.’
Look at how the Elm Street speech ends. “Please.” is one word on its own: a child asking adults for help, which is pathos through plainness. Then “You hold the saw, and you hold the choice.” uses direct address twice, so each councillor feels the decision in their own hands.
Worked example — model it step by step, thinking aloud: Explain how direct address creates pathos in “You hold the saw, and you hold the choice.” (1) Name the method: direct address, the repeated ‘you’. (2) Say what it does: it picks out each councillor personally instead of talking about ‘the council’. (3) Name the feeling: responsibility, and perhaps guilt, because the saw is now in their hands. Answer: The repeated ‘you’ speaks to each councillor as an individual, so nobody can hide behind the group. Pairing ‘the saw’ with ‘the choice’ makes them feel personally responsible for whatever happens to the tree..
Tip: After you name the method, always name the emotion. Pathos is a feeling, so say which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Methods that create pathos. Say it in your own words, then check understanding with a quick question: ask a pupil from the pre-teach group first, since they met these words and ideas before the lesson. Pupils try to recall before you re-explain.
Some rhetorical methods are built for pathos. A rhetorical question makes listeners reflect on what they think is acceptable, and it can make them feel angry or ashamed that they have not acted. Direct address creates a strong, immediate connection: the listener feels personally involved. Emotive language chooses words for their feeling. An anecdote puts a real person in front of the audience. Hyperbole raises the stakes. A maxim borrows the authority of a saying everybody accepts, such as ‘The pen is mightier than the sword.’
Look at how the Elm Street speech ends. “Please.” is one word on its own: a child asking adults for help, which is pathos through plainness. Then “You hold the saw, and you hold the choice.” uses direct address twice, so each councillor feels the decision in their own hands.
Worked example — model it step by step, thinking aloud: Explain how direct address creates pathos in “You hold the saw, and you hold the choice.” (1) Name the method: direct address, the repeated ‘you’. (2) Say what it does: it picks out each councillor personally instead of talking about ‘the council’. (3) Name the feeling: responsibility, and perhaps guilt, because the saw is now in their hands. Answer: The repeated ‘you’ speaks to each councillor as an individual, so nobody can hide behind the group. Pairing ‘the saw’ with ‘the choice’ makes them feel personally responsible for whatever happens to the tree..
Tip: After you name the method, always name the emotion. Pathos is a feeling, so say which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Martin Luther King and his speech. Say it in your own words, then check understanding with a quick question: ask a pupil from the pre-teach group first, since they met these words and ideas before the lesson. Pupils try to recall before you re-explain.
Martin Luther King Jr. was an American civil rights leader. He grew up in Atlanta, where his father was the minister of Ebenezer Baptist Church, and he later became a minister there himself. In the 1950s and 1960s, black Americans were kept apart from white Americans by law, in schools, buses and restaurants. This was segregation. King organised marches and boycotts to end it, and he insisted that protest should be nonviolent.
His most famous speech was given in Washington in 1963, to a huge crowd gathered to demand freedom and jobs. It is usually called the ‘I have a dream’ speech. In it, King looks back one hundred years to the Emancipation Proclamation, which had declared enslaved people free, and says that black Americans were still not free: still poor, still segregated, still treated unjustly. He warns that the nation cannot go on like this, and he refuses despair. Then he describes his dream of a country where people of every race live as equals and children are judged by their character, not their colour. He repeats the words of his dream again and again: that is anaphora.
King was shot dead on 4 April 1968, on a motel balcony in Memphis, Tennessee. The speech is still in copyright, so it is not printed here. Your teacher will give you the text in class. Read it with the five strategies: build background knowledge; predict from the title and headings; read actively, asking questions; clarify tricky vocabulary; summarise each paragraph with a short title.
Tip: When you read a speech this famous, note the date and the audience first. Rhetoric is always aimed at someone, somewhere, at a particular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Analysing a speech: What, How, Why. Say it in your own words, then check understanding with a quick question: ask a pupil from the pre-teach group first, since they met these words and ideas before the lesson. Pupils try to recall before you re-explain.
The question ‘How does the speaker use rhetoric in the speech?’ breaks into three smaller ones. What is the speaker saying? How are they saying it (which quotation, which rhetorical method)? Why are they saying it (what do they want the audience to feel and do)?
Analytical verbs sharpen the What. A speaker may use rhetoric to criticise something, to teach the audience something, to warn them, to reveal the importance of something, or to celebrate it. Start your paragraph with one: ‘In her speech, the speaker uses rhetoric to warn the council that…’. Then give the How with a quotation and the method’s name, and finish with the Why: the effect on the audience and the speaker’s aim.
Worked example — model it step by step, thinking aloud: Plan a What, How, Why paragraph on ‘The Last Tree on Elm Street’, using the verb ‘warn’. (1) What: the speaker uses rhetoric to warn the council that they will lose something they cannot replace. (2) How: the rhetorical question and analogy “Would you knock down a library to park a car?” (3) Why: the council feels that cutting the tree down would be an act of destruction, so they are more likely to vote against it. Answer: In her speech, the speaker uses rhetoric to warn the council that they will lose something they cannot replace. She does this with a rhetorical question that is also an analogy: “Would you knock down a library to park a car?” A library is a place of learning that takes years to build, so the councillors feel that destroying the oak would be an act of vandalism, and they are more likely to vote to keep it..
Tip: What, How, Why: a verb, a quotation with a method name, and an effect on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Analysing a speech: What, How, Why. Say it in your own words, then check understanding with a quick question: ask a pupil from the pre-teach group first, since they met these words and ideas before the lesson. Pupils try to recall before you re-explain.
The question ‘How does the speaker use rhetoric in the speech?’ breaks into three smaller ones. What is the speaker saying? How are they saying it (which quotation, which rhetorical method)? Why are they saying it (what do they want the audience to feel and do)?
Analytical verbs sharpen the What. A speaker may use rhetoric to criticise something, to teach the audience something, to warn them, to reveal the importance of something, or to celebrate it. Start your paragraph with one: ‘In her speech, the speaker uses rhetoric to warn the council that…’. Then give the How with a quotation and the method’s name, and finish with the Why: the effect on the audience and the speaker’s aim.
Worked example — model it step by step, thinking aloud: Plan a What, How, Why paragraph on ‘The Last Tree on Elm Street’, using the verb ‘warn’. (1) What: the speaker uses rhetoric to warn the council that they will lose something they cannot replace. (2) How: the rhetorical question and analogy “Would you knock down a library to park a car?” (3) Why: the council feels that cutting the tree down would be an act of destruction, so they are more likely to vote against it. Answer: In her speech, the speaker uses rhetoric to warn the council that they will lose something they cannot replace. She does this with a rhetorical question that is also an analogy: “Would you knock down a library to park a car?” A library is a place of learning that takes years to build, so the councillors feel that destroying the oak would be an act of vandalism, and they are more likely to vote to keep it..
Tip: What, How, Why: a verb, a quotation with a method name, and an effect on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Analytical verbs.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analytical verb to what it means a speaker is doing.
Support — work through the steps with the group: (1) ‘Criticise’ is negative: finding fault. (2) ‘Teach’ is about giving knowledge. (3) ‘Warn’ points to the future and to danger. (4) ‘Reveal the importance of’ shows hidden value. (5) ‘Celebrate’ is positive: praising.
Parallel worked example for Support (model it, do not give the task answer): Which verb fits? ‘If we keep idling our engines outside the gates, the air will only get worse.’ It points to the future.; It names a danger.. Answer: Warn..
Core — reveal the hint only on request: Two verbs are about the present (good or bad), one is about the future, two are about understanding.
Stretch — no help; when finished: Find one sentence in ‘The Last Tree on Elm Street’ for each of three different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Analytical verbs.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analytical verb to what it means a speaker is doing.
Support — work through the steps with the group: (1) ‘Criticise’ is negative: finding fault. (2) ‘Teach’ is about giving knowledge. (3) ‘Warn’ points to the future and to danger. (4) ‘Reveal the importance of’ shows hidden value. (5) ‘Celebrate’ is positive: praising.
Parallel worked example for Support (model it, do not give the task answer): Which verb fits? ‘If we keep idling our engines outside the gates, the air will only get worse.’ It points to the future.; It names a danger.. Answer: Warn..
Core — reveal the hint only on request: Two verbs are about the present (good or bad), one is about the future, two are about understanding.
Stretch — no help; when finished: Find one sentence in ‘The Last Tree on Elm Street’ for each of three different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What, How, Why paragraph in the best order.
Support — work through the steps with the group: (1) Start with the big idea: what is the speaker saying? (2) Then prove it with words from the speech. (3) Then explain those words. (4) End with the aim.
Parallel worked example for Support (model it, do not give the task answer): Order these for a paragraph about a football manager’s team talk: the quotation; the effect on the players; the manager’s aim; what the manager is saying. What first.; Quotation second.; Effect third.; Aim last.. Answer: What the manager is saying; the quotation; the effect on the players; the manager’s aim..
Core — reveal the hint only on request: What, then How, then Why. The quotation belongs to How.
Stretch — no help; when finished: Explain why a paragraph that starts with the quotation is usually weaker than one that starts with the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Build the paragraph.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parts of a What, How, Why paragraph in the best order.
Support — work through the steps with the group: (1) Start with the big idea: what is the speaker saying? (2) Then prove it with words from the speech. (3) Then explain those words. (4) End with the aim.
Parallel worked example for Support (model it, do not give the task answer): Order these for a paragraph about a football manager’s team talk: the quotation; the effect on the players; the manager’s aim; what the manager is saying. What first.; Quotation second.; Effect third.; Aim last.. Answer: What the manager is saying; the quotation; the effect on the players; the manager’s aim..
Core — reveal the hint only on request: What, then How, then Why. The quotation belongs to How.
Stretch — no help; when finished: Explain why a paragraph that starts with the quotation is usually weaker than one that starts with the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Pathos appeals to the audience’s…
Answer: B   emotions and values. Pathos is persuasion through emotion and values.
Source of this question: gate item 1 re-asked (options rotated) — this chapter has no third quick-check module.
The ebook also holds task 3, "What, How, Why paragraph",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Analytical verbs. Reveal the answer; pupils mark their own work in a different colour, then read the "why" together. Same destination for every lane, so one answer serves the whole class.
Answer: criticise  →  A  Point out what is wrong or unfair; teach  →  D  Help the audience understand something new; warn  →  B  Show what will happen if nothing changes; reveal the importance of  →  E  Show why something matters more than people think; celebrate  →  C  Praise what is good and worth being proud of
Why: Analytical verbs name what the rhetoric is doing, which turns a description into analysis.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Build the paragraph. Reveal the answer; pupils mark their own work in a different colour, then read the "why" together. Same destination for every lane, so one answer serves the whole class.
Answer: Say what the speaker is doing, using an analytical verb  (B); Give a short quotation and name the rhetorical method  (C); Explain how the method works on the audience  (A); Say what the speaker wants the audience to feel and do  (D)
Why: What (verb), How (quotation and method), Why (effect and aim). This order makes the argument lead and the evidence follow.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emotions and values
Why: Pathos is persuasion through emotion and values.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1E5E6"/>
          </a:solidFill>
          <a:ln w="12700">
            <a:solidFill>
              <a:srgbClr val="F1E5E6"/>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English Language · Year 8 · Rhetoric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8C2F39"/>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AD9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8C2F39"/>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8C2F39"/>
                </a:solidFill>
                <a:latin typeface="Calibri" pitchFamily="34" charset="0"/>
                <a:ea typeface="Calibri" pitchFamily="34" charset="-122"/>
                <a:cs typeface="Calibri" pitchFamily="34" charset="-120"/>
              </a:rPr>
              <a:t>English Language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Rhetoric · AQA KS3 → 8700</a:t>
            </a:r>
            <a:endParaRPr lang="en-US" sz="1800" dirty="0"/>
          </a:p>
        </p:txBody>
      </p:sp>
      <p:sp>
        <p:nvSpPr>
          <p:cNvPr id="10" name="deck-title"/>
          <p:cNvSpPr txBox="1"/>
          <p:nvPr/>
        </p:nvSpPr>
        <p:spPr>
          <a:xfrm>
            <a:off x="548640" y="186740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Pathos, and analysing a speech: What, How, Why</a:t>
            </a:r>
            <a:endParaRPr lang="en-US" sz="3200" dirty="0"/>
          </a:p>
        </p:txBody>
      </p:sp>
      <p:sp>
        <p:nvSpPr>
          <p:cNvPr id="11" name="lessons-card"/>
          <p:cNvSpPr/>
          <p:nvPr/>
        </p:nvSpPr>
        <p:spPr>
          <a:xfrm>
            <a:off x="548640" y="3279648"/>
            <a:ext cx="5287975" cy="2296160"/>
          </a:xfrm>
          <a:prstGeom prst="roundRect">
            <a:avLst>
              <a:gd name="adj" fmla="val 3186"/>
            </a:avLst>
          </a:prstGeom>
          <a:solidFill>
            <a:srgbClr val="F5EDEE"/>
          </a:solidFill>
          <a:ln/>
        </p:spPr>
      </p:sp>
      <p:sp>
        <p:nvSpPr>
          <p:cNvPr id="12" name="lessons"/>
          <p:cNvSpPr txBox="1"/>
          <p:nvPr/>
        </p:nvSpPr>
        <p:spPr>
          <a:xfrm>
            <a:off x="685800" y="337108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8C2F39"/>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Creating pathos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Identifying rhetoric in Martin Luther King’s speech</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Identifying rhetoric in Martin Luther King’s speech (Part Two)</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English Language,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5EDEE"/>
          </a:solidFill>
          <a:ln w="12700">
            <a:solidFill>
              <a:srgbClr val="D3AFB3"/>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8C2F39"/>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rhetoric, how do famous speakers use it to persuade, and how do I write a persuasive speech of my own?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Pathos appeals to the audience’s…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knowledge of history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logic and facts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emotions and values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trust in the speaker</a:t>
            </a:r>
            <a:endParaRPr lang="en-US" sz="2400" dirty="0"/>
          </a:p>
        </p:txBody>
      </p:sp>
      <p:sp>
        <p:nvSpPr>
          <p:cNvPr id="12"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3" name="card-hex"/>
          <p:cNvSpPr/>
          <p:nvPr/>
        </p:nvSpPr>
        <p:spPr>
          <a:xfrm>
            <a:off x="4521098" y="1572768"/>
            <a:ext cx="640080" cy="554309"/>
          </a:xfrm>
          <a:prstGeom prst="hexagon">
            <a:avLst/>
          </a:prstGeom>
          <a:solidFill>
            <a:srgbClr val="8C2F39"/>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In which year did Martin Luther King give his most famous speech in Washington?</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1955</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1975</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1963</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1968</a:t>
            </a:r>
            <a:endParaRPr lang="en-US" sz="2200" dirty="0"/>
          </a:p>
        </p:txBody>
      </p:sp>
      <p:sp>
        <p:nvSpPr>
          <p:cNvPr id="17"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18" name="card-hex"/>
          <p:cNvSpPr/>
          <p:nvPr/>
        </p:nvSpPr>
        <p:spPr>
          <a:xfrm>
            <a:off x="8310677" y="1572768"/>
            <a:ext cx="640080" cy="554309"/>
          </a:xfrm>
          <a:prstGeom prst="hexagon">
            <a:avLst/>
          </a:prstGeom>
          <a:solidFill>
            <a:srgbClr val="8C2F39"/>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To analyse a speech, ask what the speaker is saying, ___ they are saying it, and why.</a:t>
            </a:r>
            <a:endParaRPr lang="en-US" sz="2400" dirty="0"/>
          </a:p>
          <a:p>
            <a:pPr algn="l" indent="0" marL="0">
              <a:buNone/>
            </a:pPr>
            <a:r>
              <a:rPr lang="en-US" sz="2400" b="1" dirty="0">
                <a:solidFill>
                  <a:srgbClr val="8C2F39"/>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how  ·  when  ·  where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9F4F4"/>
          </a:solidFill>
          <a:ln w="12700">
            <a:solidFill>
              <a:srgbClr val="D8B9BD"/>
            </a:solidFill>
            <a:prstDash val="solid"/>
          </a:ln>
        </p:spPr>
      </p:sp>
      <p:sp>
        <p:nvSpPr>
          <p:cNvPr id="8" name="card-hex"/>
          <p:cNvSpPr/>
          <p:nvPr/>
        </p:nvSpPr>
        <p:spPr>
          <a:xfrm>
            <a:off x="731520" y="1572768"/>
            <a:ext cx="640080" cy="554309"/>
          </a:xfrm>
          <a:prstGeom prst="hexagon">
            <a:avLst/>
          </a:prstGeom>
          <a:solidFill>
            <a:srgbClr val="8C2F39"/>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emotions and values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Pathos appeals to the audience’s…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Pathos is persuasion through emotion and values.</a:t>
            </a:r>
            <a:endParaRPr lang="en-US" sz="2200" dirty="0"/>
          </a:p>
        </p:txBody>
      </p:sp>
      <p:sp>
        <p:nvSpPr>
          <p:cNvPr id="14" name="card"/>
          <p:cNvSpPr/>
          <p:nvPr/>
        </p:nvSpPr>
        <p:spPr>
          <a:xfrm>
            <a:off x="4338218" y="1389888"/>
            <a:ext cx="3515258" cy="4754880"/>
          </a:xfrm>
          <a:prstGeom prst="roundRect">
            <a:avLst>
              <a:gd name="adj" fmla="val 1561"/>
            </a:avLst>
          </a:prstGeom>
          <a:solidFill>
            <a:srgbClr val="F9F4F4"/>
          </a:solidFill>
          <a:ln w="12700">
            <a:solidFill>
              <a:srgbClr val="D8B9BD"/>
            </a:solidFill>
            <a:prstDash val="solid"/>
          </a:ln>
        </p:spPr>
      </p:sp>
      <p:sp>
        <p:nvSpPr>
          <p:cNvPr id="15" name="card-hex"/>
          <p:cNvSpPr/>
          <p:nvPr/>
        </p:nvSpPr>
        <p:spPr>
          <a:xfrm>
            <a:off x="4521098" y="1572768"/>
            <a:ext cx="640080" cy="554309"/>
          </a:xfrm>
          <a:prstGeom prst="hexagon">
            <a:avLst/>
          </a:prstGeom>
          <a:solidFill>
            <a:srgbClr val="8C2F39"/>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1963</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which year did Martin Luther King give his most famous speech in Washington?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speech was delivered in Washington in 1963. King was assassinated on 4 April 1968.</a:t>
            </a:r>
            <a:endParaRPr lang="en-US" sz="2000" dirty="0"/>
          </a:p>
        </p:txBody>
      </p:sp>
      <p:sp>
        <p:nvSpPr>
          <p:cNvPr id="21" name="card"/>
          <p:cNvSpPr/>
          <p:nvPr/>
        </p:nvSpPr>
        <p:spPr>
          <a:xfrm>
            <a:off x="8127797" y="1389888"/>
            <a:ext cx="3515258" cy="4754880"/>
          </a:xfrm>
          <a:prstGeom prst="roundRect">
            <a:avLst>
              <a:gd name="adj" fmla="val 1561"/>
            </a:avLst>
          </a:prstGeom>
          <a:solidFill>
            <a:srgbClr val="F9F4F4"/>
          </a:solidFill>
          <a:ln w="12700">
            <a:solidFill>
              <a:srgbClr val="D8B9BD"/>
            </a:solidFill>
            <a:prstDash val="solid"/>
          </a:ln>
        </p:spPr>
      </p:sp>
      <p:sp>
        <p:nvSpPr>
          <p:cNvPr id="22" name="card-hex"/>
          <p:cNvSpPr/>
          <p:nvPr/>
        </p:nvSpPr>
        <p:spPr>
          <a:xfrm>
            <a:off x="8310677" y="1572768"/>
            <a:ext cx="640080" cy="554309"/>
          </a:xfrm>
          <a:prstGeom prst="hexagon">
            <a:avLst/>
          </a:prstGeom>
          <a:solidFill>
            <a:srgbClr val="8C2F39"/>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how</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To analyse a speech, ask what the speaker is saying, ___ they are saying it, and why.</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What (the point), How (quotation and method), Why (effect and aim).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8C2F39"/>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581152"/>
          </a:xfrm>
          <a:prstGeom prst="roundRect">
            <a:avLst>
              <a:gd name="adj" fmla="val 9441"/>
            </a:avLst>
          </a:prstGeom>
          <a:solidFill>
            <a:srgbClr val="F8F1F2"/>
          </a:solidFill>
          <a:ln/>
        </p:spPr>
      </p:sp>
      <p:sp>
        <p:nvSpPr>
          <p:cNvPr id="12" name="kw-hex"/>
          <p:cNvSpPr/>
          <p:nvPr/>
        </p:nvSpPr>
        <p:spPr>
          <a:xfrm>
            <a:off x="658368" y="2032645"/>
            <a:ext cx="411480" cy="356342"/>
          </a:xfrm>
          <a:prstGeom prst="hexagon">
            <a:avLst/>
          </a:prstGeom>
          <a:solidFill>
            <a:srgbClr val="8C2F39"/>
          </a:solidFill>
          <a:ln/>
        </p:spPr>
      </p:sp>
      <p:sp>
        <p:nvSpPr>
          <p:cNvPr id="13" name="kw-cell"/>
          <p:cNvSpPr txBox="1"/>
          <p:nvPr/>
        </p:nvSpPr>
        <p:spPr>
          <a:xfrm>
            <a:off x="1143000" y="1920240"/>
            <a:ext cx="2331720" cy="58115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pathos</a:t>
            </a:r>
            <a:endParaRPr lang="en-US" sz="2200" dirty="0"/>
          </a:p>
        </p:txBody>
      </p:sp>
      <p:sp>
        <p:nvSpPr>
          <p:cNvPr id="14" name="kw-cell"/>
          <p:cNvSpPr txBox="1"/>
          <p:nvPr/>
        </p:nvSpPr>
        <p:spPr>
          <a:xfrm>
            <a:off x="3657600" y="1920240"/>
            <a:ext cx="3474720" cy="58115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persuasion through feeling</a:t>
            </a:r>
            <a:endParaRPr lang="en-US" sz="2000" dirty="0"/>
          </a:p>
        </p:txBody>
      </p:sp>
      <p:sp>
        <p:nvSpPr>
          <p:cNvPr id="15" name="kw-cell"/>
          <p:cNvSpPr txBox="1"/>
          <p:nvPr/>
        </p:nvSpPr>
        <p:spPr>
          <a:xfrm>
            <a:off x="7315200" y="1920240"/>
            <a:ext cx="4236415" cy="58115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Charity adverts rely on pathos.</a:t>
            </a:r>
            <a:endParaRPr lang="en-US" sz="2000" dirty="0"/>
          </a:p>
        </p:txBody>
      </p:sp>
      <p:sp>
        <p:nvSpPr>
          <p:cNvPr id="16" name="kw-row"/>
          <p:cNvSpPr/>
          <p:nvPr/>
        </p:nvSpPr>
        <p:spPr>
          <a:xfrm>
            <a:off x="548640" y="2574544"/>
            <a:ext cx="11094415" cy="837692"/>
          </a:xfrm>
          <a:prstGeom prst="roundRect">
            <a:avLst>
              <a:gd name="adj" fmla="val 6549"/>
            </a:avLst>
          </a:prstGeom>
          <a:solidFill>
            <a:srgbClr val="F8F2E9"/>
          </a:solidFill>
          <a:ln/>
        </p:spPr>
      </p:sp>
      <p:sp>
        <p:nvSpPr>
          <p:cNvPr id="17" name="kw-hex"/>
          <p:cNvSpPr/>
          <p:nvPr/>
        </p:nvSpPr>
        <p:spPr>
          <a:xfrm>
            <a:off x="658368" y="2815219"/>
            <a:ext cx="411480" cy="356342"/>
          </a:xfrm>
          <a:prstGeom prst="hexagon">
            <a:avLst/>
          </a:prstGeom>
          <a:solidFill>
            <a:srgbClr val="B8862B"/>
          </a:solidFill>
          <a:ln/>
        </p:spPr>
      </p:sp>
      <p:sp>
        <p:nvSpPr>
          <p:cNvPr id="18" name="kw-cell"/>
          <p:cNvSpPr txBox="1"/>
          <p:nvPr/>
        </p:nvSpPr>
        <p:spPr>
          <a:xfrm>
            <a:off x="1143000" y="2574544"/>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emotion</a:t>
            </a:r>
            <a:endParaRPr lang="en-US" sz="2200" dirty="0"/>
          </a:p>
        </p:txBody>
      </p:sp>
      <p:sp>
        <p:nvSpPr>
          <p:cNvPr id="19" name="kw-cell"/>
          <p:cNvSpPr txBox="1"/>
          <p:nvPr/>
        </p:nvSpPr>
        <p:spPr>
          <a:xfrm>
            <a:off x="3657600" y="2574544"/>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strong feeling, such as pity or anger</a:t>
            </a:r>
            <a:endParaRPr lang="en-US" sz="2000" dirty="0"/>
          </a:p>
        </p:txBody>
      </p:sp>
      <p:sp>
        <p:nvSpPr>
          <p:cNvPr id="20" name="kw-cell"/>
          <p:cNvSpPr txBox="1"/>
          <p:nvPr/>
        </p:nvSpPr>
        <p:spPr>
          <a:xfrm>
            <a:off x="7315200" y="2574544"/>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Choose the emotion you want the audience to feel.</a:t>
            </a:r>
            <a:endParaRPr lang="en-US" sz="2000" dirty="0"/>
          </a:p>
        </p:txBody>
      </p:sp>
      <p:sp>
        <p:nvSpPr>
          <p:cNvPr id="21" name="kw-row"/>
          <p:cNvSpPr/>
          <p:nvPr/>
        </p:nvSpPr>
        <p:spPr>
          <a:xfrm>
            <a:off x="548640" y="3485388"/>
            <a:ext cx="11094415" cy="837692"/>
          </a:xfrm>
          <a:prstGeom prst="roundRect">
            <a:avLst>
              <a:gd name="adj" fmla="val 6549"/>
            </a:avLst>
          </a:prstGeom>
          <a:solidFill>
            <a:srgbClr val="F8F1F2"/>
          </a:solidFill>
          <a:ln/>
        </p:spPr>
      </p:sp>
      <p:sp>
        <p:nvSpPr>
          <p:cNvPr id="22" name="kw-hex"/>
          <p:cNvSpPr/>
          <p:nvPr/>
        </p:nvSpPr>
        <p:spPr>
          <a:xfrm>
            <a:off x="658368" y="3726063"/>
            <a:ext cx="411480" cy="356342"/>
          </a:xfrm>
          <a:prstGeom prst="hexagon">
            <a:avLst/>
          </a:prstGeom>
          <a:solidFill>
            <a:srgbClr val="8C2F39"/>
          </a:solidFill>
          <a:ln/>
        </p:spPr>
      </p:sp>
      <p:sp>
        <p:nvSpPr>
          <p:cNvPr id="23" name="kw-cell"/>
          <p:cNvSpPr txBox="1"/>
          <p:nvPr/>
        </p:nvSpPr>
        <p:spPr>
          <a:xfrm>
            <a:off x="1143000" y="3485388"/>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appeal</a:t>
            </a:r>
            <a:endParaRPr lang="en-US" sz="2200" dirty="0"/>
          </a:p>
        </p:txBody>
      </p:sp>
      <p:sp>
        <p:nvSpPr>
          <p:cNvPr id="24" name="kw-cell"/>
          <p:cNvSpPr txBox="1"/>
          <p:nvPr/>
        </p:nvSpPr>
        <p:spPr>
          <a:xfrm>
            <a:off x="3657600" y="3485388"/>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request that works on the audience</a:t>
            </a:r>
            <a:endParaRPr lang="en-US" sz="2000" dirty="0"/>
          </a:p>
        </p:txBody>
      </p:sp>
      <p:sp>
        <p:nvSpPr>
          <p:cNvPr id="25" name="kw-cell"/>
          <p:cNvSpPr txBox="1"/>
          <p:nvPr/>
        </p:nvSpPr>
        <p:spPr>
          <a:xfrm>
            <a:off x="7315200" y="3485388"/>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An appeal to pity asks the audience to feel sorry.</a:t>
            </a:r>
            <a:endParaRPr lang="en-US" sz="2000" dirty="0"/>
          </a:p>
        </p:txBody>
      </p:sp>
      <p:sp>
        <p:nvSpPr>
          <p:cNvPr id="26" name="kw-row"/>
          <p:cNvSpPr/>
          <p:nvPr/>
        </p:nvSpPr>
        <p:spPr>
          <a:xfrm>
            <a:off x="548640" y="4396232"/>
            <a:ext cx="11094415" cy="837692"/>
          </a:xfrm>
          <a:prstGeom prst="roundRect">
            <a:avLst>
              <a:gd name="adj" fmla="val 6549"/>
            </a:avLst>
          </a:prstGeom>
          <a:solidFill>
            <a:srgbClr val="F8F2E9"/>
          </a:solidFill>
          <a:ln/>
        </p:spPr>
      </p:sp>
      <p:sp>
        <p:nvSpPr>
          <p:cNvPr id="27" name="kw-hex"/>
          <p:cNvSpPr/>
          <p:nvPr/>
        </p:nvSpPr>
        <p:spPr>
          <a:xfrm>
            <a:off x="658368" y="4636907"/>
            <a:ext cx="411480" cy="356342"/>
          </a:xfrm>
          <a:prstGeom prst="hexagon">
            <a:avLst/>
          </a:prstGeom>
          <a:solidFill>
            <a:srgbClr val="B8862B"/>
          </a:solidFill>
          <a:ln/>
        </p:spPr>
      </p:sp>
      <p:sp>
        <p:nvSpPr>
          <p:cNvPr id="28" name="kw-cell"/>
          <p:cNvSpPr txBox="1"/>
          <p:nvPr/>
        </p:nvSpPr>
        <p:spPr>
          <a:xfrm>
            <a:off x="1143000" y="4396232"/>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civil rights</a:t>
            </a:r>
            <a:endParaRPr lang="en-US" sz="2200" dirty="0"/>
          </a:p>
        </p:txBody>
      </p:sp>
      <p:sp>
        <p:nvSpPr>
          <p:cNvPr id="29" name="kw-cell"/>
          <p:cNvSpPr txBox="1"/>
          <p:nvPr/>
        </p:nvSpPr>
        <p:spPr>
          <a:xfrm>
            <a:off x="3657600" y="4396232"/>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equal rights of every citizen</a:t>
            </a:r>
            <a:endParaRPr lang="en-US" sz="2000" dirty="0"/>
          </a:p>
        </p:txBody>
      </p:sp>
      <p:sp>
        <p:nvSpPr>
          <p:cNvPr id="30" name="kw-cell"/>
          <p:cNvSpPr txBox="1"/>
          <p:nvPr/>
        </p:nvSpPr>
        <p:spPr>
          <a:xfrm>
            <a:off x="7315200" y="4396232"/>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Martin Luther King led the civil rights movement.</a:t>
            </a:r>
            <a:endParaRPr lang="en-US" sz="2000" dirty="0"/>
          </a:p>
        </p:txBody>
      </p:sp>
      <p:sp>
        <p:nvSpPr>
          <p:cNvPr id="31" name="kw-row"/>
          <p:cNvSpPr/>
          <p:nvPr/>
        </p:nvSpPr>
        <p:spPr>
          <a:xfrm>
            <a:off x="548640" y="5307076"/>
            <a:ext cx="11094415" cy="837692"/>
          </a:xfrm>
          <a:prstGeom prst="roundRect">
            <a:avLst>
              <a:gd name="adj" fmla="val 6549"/>
            </a:avLst>
          </a:prstGeom>
          <a:solidFill>
            <a:srgbClr val="F8F1F2"/>
          </a:solidFill>
          <a:ln/>
        </p:spPr>
      </p:sp>
      <p:sp>
        <p:nvSpPr>
          <p:cNvPr id="32" name="kw-hex"/>
          <p:cNvSpPr/>
          <p:nvPr/>
        </p:nvSpPr>
        <p:spPr>
          <a:xfrm>
            <a:off x="658368" y="5547751"/>
            <a:ext cx="411480" cy="356342"/>
          </a:xfrm>
          <a:prstGeom prst="hexagon">
            <a:avLst/>
          </a:prstGeom>
          <a:solidFill>
            <a:srgbClr val="8C2F39"/>
          </a:solidFill>
          <a:ln/>
        </p:spPr>
      </p:sp>
      <p:sp>
        <p:nvSpPr>
          <p:cNvPr id="33" name="kw-cell"/>
          <p:cNvSpPr txBox="1"/>
          <p:nvPr/>
        </p:nvSpPr>
        <p:spPr>
          <a:xfrm>
            <a:off x="1143000" y="5307076"/>
            <a:ext cx="2331720" cy="837692"/>
          </a:xfrm>
          <a:prstGeom prst="rect">
            <a:avLst/>
          </a:prstGeom>
          <a:noFill/>
          <a:ln/>
        </p:spPr>
        <p:txBody>
          <a:bodyPr wrap="square" lIns="63500" tIns="63500" rIns="63500" bIns="63500" rtlCol="0" anchor="ctr"/>
          <a:lstStyle/>
          <a:p>
            <a:pPr algn="l" indent="0" marL="0">
              <a:buNone/>
            </a:pPr>
            <a:r>
              <a:rPr lang="en-US" sz="2200" b="1" dirty="0">
                <a:solidFill>
                  <a:srgbClr val="8C2F39"/>
                </a:solidFill>
                <a:latin typeface="Cambria" pitchFamily="34" charset="0"/>
                <a:ea typeface="Cambria" pitchFamily="34" charset="-122"/>
                <a:cs typeface="Cambria" pitchFamily="34" charset="-120"/>
              </a:rPr>
              <a:t>segregation</a:t>
            </a:r>
            <a:endParaRPr lang="en-US" sz="2200" dirty="0"/>
          </a:p>
        </p:txBody>
      </p:sp>
      <p:sp>
        <p:nvSpPr>
          <p:cNvPr id="34" name="kw-cell"/>
          <p:cNvSpPr txBox="1"/>
          <p:nvPr/>
        </p:nvSpPr>
        <p:spPr>
          <a:xfrm>
            <a:off x="3657600" y="5307076"/>
            <a:ext cx="3474720" cy="837692"/>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keeping groups of people apart by law</a:t>
            </a:r>
            <a:endParaRPr lang="en-US" sz="2000" dirty="0"/>
          </a:p>
        </p:txBody>
      </p:sp>
      <p:sp>
        <p:nvSpPr>
          <p:cNvPr id="35" name="kw-cell"/>
          <p:cNvSpPr txBox="1"/>
          <p:nvPr/>
        </p:nvSpPr>
        <p:spPr>
          <a:xfrm>
            <a:off x="7315200" y="5307076"/>
            <a:ext cx="4236415" cy="837692"/>
          </a:xfrm>
          <a:prstGeom prst="rect">
            <a:avLst/>
          </a:prstGeom>
          <a:noFill/>
          <a:ln/>
        </p:spPr>
        <p:txBody>
          <a:bodyPr wrap="square" lIns="63500" tIns="63500" rIns="63500" bIns="63500" rtlCol="0" anchor="ctr"/>
          <a:lstStyle/>
          <a:p>
            <a:pPr algn="l" indent="0" marL="0">
              <a:buNone/>
            </a:pPr>
            <a:r>
              <a:rPr lang="en-US" sz="2000" i="1" dirty="0">
                <a:solidFill>
                  <a:srgbClr val="4A505C"/>
                </a:solidFill>
                <a:latin typeface="Calibri" pitchFamily="34" charset="0"/>
                <a:ea typeface="Calibri" pitchFamily="34" charset="-122"/>
                <a:cs typeface="Calibri" pitchFamily="34" charset="-120"/>
              </a:rPr>
              <a:t>Segregation kept black and white Americans apart.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Pathos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about making your audience feel something.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Charity adverts use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pathos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all the time.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picture of a hungry child goes straight for the heart.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Many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emotions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can persuade: pity, anger, fear, pride and hope.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Rhetorical questions and direct address are good ways to create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pathos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Martin Luther King was an American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civil rights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leader.</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8C2F39"/>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9F4F4"/>
          </a:solidFill>
          <a:ln w="12700">
            <a:solidFill>
              <a:srgbClr val="DEC4C7"/>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1963 he gave a famous speech in Washington.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spoke of his dream of a country without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segregation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or racism.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b="1" dirty="0">
                <a:solidFill>
                  <a:srgbClr val="8C2F39"/>
                </a:solidFill>
                <a:latin typeface="Calibri" pitchFamily="34" charset="0"/>
                <a:ea typeface="Calibri" pitchFamily="34" charset="-122"/>
                <a:cs typeface="Calibri" pitchFamily="34" charset="-120"/>
              </a:rPr>
              <a:t>Segregation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meant black and white people were kept apart by law.</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King believed in peaceful protest.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 was shot dead in Memphis on 4 April 1968.</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analyse his speech, ask what he says, how he says it, and why.</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What pathos is, and why it works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Pathos with truth persuades. Pathos without truth is the trick Aristotle accused the Sophists of.</a:t>
            </a:r>
            <a:endParaRPr lang="en-US" sz="1800" dirty="0"/>
          </a:p>
        </p:txBody>
      </p:sp>
      <p:sp>
        <p:nvSpPr>
          <p:cNvPr id="11" name="point-card"/>
          <p:cNvSpPr/>
          <p:nvPr/>
        </p:nvSpPr>
        <p:spPr>
          <a:xfrm>
            <a:off x="548640" y="1389888"/>
            <a:ext cx="3515258" cy="3964940"/>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Pathos is all about making your audience feel something. The pictures of hungry children on a charity appeal are pathos.</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Human beings are full of emotion, and that makes us easy to influence through it.</a:t>
            </a:r>
            <a:endParaRPr lang="en-US" sz="2400" dirty="0"/>
          </a:p>
        </p:txBody>
      </p:sp>
      <p:sp>
        <p:nvSpPr>
          <p:cNvPr id="19" name="point-card"/>
          <p:cNvSpPr/>
          <p:nvPr/>
        </p:nvSpPr>
        <p:spPr>
          <a:xfrm>
            <a:off x="8127797" y="1389888"/>
            <a:ext cx="3515258" cy="3964940"/>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Many emotions can do the work: pity, anger, fear, guilt, pride, hope, even laughter.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Methods that create pathos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After you name the method, always name the emotion. Pathos is a feeling, so say which one.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Some rhetorical methods are built for pathos. A rhetorical question makes listeners reflect on what they think is acceptable, and it can make them feel angry or ashamed that they have not acted.</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Look at how the Elm Street speech ends. “Please.” is one word on its own: a child asking adults for help, which is pathos through plainness.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Worked example: Methods that create pathos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5EDEE"/>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how direct address creates pathos in “You hold the saw, and you hold the choice.”</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C08D92"/>
            </a:solidFill>
            <a:prstDash val="solid"/>
          </a:ln>
        </p:spPr>
      </p:sp>
      <p:sp>
        <p:nvSpPr>
          <p:cNvPr id="10" name="step-hex"/>
          <p:cNvSpPr/>
          <p:nvPr/>
        </p:nvSpPr>
        <p:spPr>
          <a:xfrm>
            <a:off x="685800" y="2765552"/>
            <a:ext cx="530352" cy="459285"/>
          </a:xfrm>
          <a:prstGeom prst="hexagon">
            <a:avLst/>
          </a:prstGeom>
          <a:solidFill>
            <a:srgbClr val="8C2F39"/>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method: direct address, the repeated ‘you’.</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C08D92"/>
            </a:solidFill>
            <a:prstDash val="solid"/>
          </a:ln>
        </p:spPr>
      </p:sp>
      <p:sp>
        <p:nvSpPr>
          <p:cNvPr id="15" name="step-hex"/>
          <p:cNvSpPr/>
          <p:nvPr/>
        </p:nvSpPr>
        <p:spPr>
          <a:xfrm>
            <a:off x="4521098" y="2765552"/>
            <a:ext cx="530352" cy="459285"/>
          </a:xfrm>
          <a:prstGeom prst="hexagon">
            <a:avLst/>
          </a:prstGeom>
          <a:solidFill>
            <a:srgbClr val="8C2F39"/>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Say what it does: it picks out each councillor personally instead of talking about ‘the council’.</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C08D92"/>
            </a:solidFill>
            <a:prstDash val="solid"/>
          </a:ln>
        </p:spPr>
      </p:sp>
      <p:sp>
        <p:nvSpPr>
          <p:cNvPr id="20" name="step-hex"/>
          <p:cNvSpPr/>
          <p:nvPr/>
        </p:nvSpPr>
        <p:spPr>
          <a:xfrm>
            <a:off x="8356397" y="2765552"/>
            <a:ext cx="530352" cy="459285"/>
          </a:xfrm>
          <a:prstGeom prst="hexagon">
            <a:avLst/>
          </a:prstGeom>
          <a:solidFill>
            <a:srgbClr val="8C2F39"/>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Name the feeling: responsibility, and perhaps guilt, because the saw is now in their hands.</a:t>
            </a:r>
            <a:endParaRPr lang="en-US" sz="1800" dirty="0"/>
          </a:p>
        </p:txBody>
      </p:sp>
      <p:sp>
        <p:nvSpPr>
          <p:cNvPr id="23" name="worked-answer"/>
          <p:cNvSpPr/>
          <p:nvPr/>
        </p:nvSpPr>
        <p:spPr>
          <a:xfrm>
            <a:off x="1463040" y="5034788"/>
            <a:ext cx="9265615" cy="1109980"/>
          </a:xfrm>
          <a:prstGeom prst="roundRect">
            <a:avLst>
              <a:gd name="adj" fmla="val 16476"/>
            </a:avLst>
          </a:prstGeom>
          <a:solidFill>
            <a:srgbClr val="EEE3CD"/>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The repeated ‘you’ speaks to each councillor as an individual, so nobody can hide behind the group. Pairing ‘the saw’ with ‘the choice’ makes them feel personally responsible for whatever happens to the tree.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Martin Luther King and his speech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read a speech this famous, note the date and the audience first. Rhetoric is always aimed at someone, somewhere, at a particular moment.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Martin Luther King Jr. was an American civil rights leader.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His most famous speech was given in Washington in 1963, to a huge crowd gathered to demand freedom and jobs.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5EDEE"/>
          </a:solidFill>
          <a:ln/>
        </p:spPr>
      </p:sp>
      <p:sp>
        <p:nvSpPr>
          <p:cNvPr id="20" name="point-hex"/>
          <p:cNvSpPr/>
          <p:nvPr/>
        </p:nvSpPr>
        <p:spPr>
          <a:xfrm>
            <a:off x="8310677" y="1572768"/>
            <a:ext cx="685800" cy="593903"/>
          </a:xfrm>
          <a:prstGeom prst="hexagon">
            <a:avLst/>
          </a:prstGeom>
          <a:solidFill>
            <a:srgbClr val="8C2F39"/>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King was shot dead on 4 April 1968, on a motel balcony in Memphis, Tennessee.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Analysing a speech: What, How, Why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What, How, Why: a verb, a quotation with a method name, and an effect on the audience.</a:t>
            </a:r>
            <a:endParaRPr lang="en-US" sz="1800" dirty="0"/>
          </a:p>
        </p:txBody>
      </p:sp>
      <p:sp>
        <p:nvSpPr>
          <p:cNvPr id="11" name="point-card"/>
          <p:cNvSpPr/>
          <p:nvPr/>
        </p:nvSpPr>
        <p:spPr>
          <a:xfrm>
            <a:off x="548640" y="1389888"/>
            <a:ext cx="5410048" cy="3964940"/>
          </a:xfrm>
          <a:prstGeom prst="roundRect">
            <a:avLst>
              <a:gd name="adj" fmla="val 1384"/>
            </a:avLst>
          </a:prstGeom>
          <a:solidFill>
            <a:srgbClr val="F5EDEE"/>
          </a:solidFill>
          <a:ln/>
        </p:spPr>
      </p:sp>
      <p:sp>
        <p:nvSpPr>
          <p:cNvPr id="12" name="point-hex"/>
          <p:cNvSpPr/>
          <p:nvPr/>
        </p:nvSpPr>
        <p:spPr>
          <a:xfrm>
            <a:off x="731520" y="1572768"/>
            <a:ext cx="685800" cy="593903"/>
          </a:xfrm>
          <a:prstGeom prst="hexagon">
            <a:avLst/>
          </a:prstGeom>
          <a:solidFill>
            <a:srgbClr val="8C2F39"/>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question ‘How does the speaker use rhetoric in the speech?’ breaks into three smaller ones.</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8F2E9"/>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Analytical verbs sharpen the What. A speaker may use rhetoric to criticise something, to teach the audience something, to warn them, to reveal the importance of something, or to celebrate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8C2F39"/>
                </a:solidFill>
                <a:latin typeface="Cambria" pitchFamily="34" charset="0"/>
                <a:ea typeface="Cambria" pitchFamily="34" charset="-122"/>
                <a:cs typeface="Cambria" pitchFamily="34" charset="-120"/>
              </a:rPr>
              <a:t>Worked example: Analysing a speech: What, How, Why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5EDEE"/>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Plan a What, How, Why paragraph on ‘The Last Tree on Elm Street’, using the verb ‘warn’.</a:t>
            </a:r>
            <a:endParaRPr lang="en-US" sz="2000" dirty="0"/>
          </a:p>
        </p:txBody>
      </p:sp>
      <p:sp>
        <p:nvSpPr>
          <p:cNvPr id="9" name="step-box"/>
          <p:cNvSpPr/>
          <p:nvPr/>
        </p:nvSpPr>
        <p:spPr>
          <a:xfrm>
            <a:off x="548640" y="2192528"/>
            <a:ext cx="11094415" cy="597662"/>
          </a:xfrm>
          <a:prstGeom prst="roundRect">
            <a:avLst>
              <a:gd name="adj" fmla="val 12240"/>
            </a:avLst>
          </a:prstGeom>
          <a:solidFill>
            <a:srgbClr val="FFFFFF"/>
          </a:solidFill>
          <a:ln w="15875">
            <a:solidFill>
              <a:srgbClr val="C08D92"/>
            </a:solidFill>
            <a:prstDash val="solid"/>
          </a:ln>
        </p:spPr>
      </p:sp>
      <p:sp>
        <p:nvSpPr>
          <p:cNvPr id="10" name="step-hex"/>
          <p:cNvSpPr/>
          <p:nvPr/>
        </p:nvSpPr>
        <p:spPr>
          <a:xfrm>
            <a:off x="685800" y="2293391"/>
            <a:ext cx="457200" cy="395935"/>
          </a:xfrm>
          <a:prstGeom prst="hexagon">
            <a:avLst/>
          </a:prstGeom>
          <a:solidFill>
            <a:srgbClr val="8C2F39"/>
          </a:solidFill>
          <a:ln/>
        </p:spPr>
      </p:sp>
      <p:sp>
        <p:nvSpPr>
          <p:cNvPr id="11" name="step-hex-label"/>
          <p:cNvSpPr txBox="1"/>
          <p:nvPr/>
        </p:nvSpPr>
        <p:spPr>
          <a:xfrm>
            <a:off x="685800" y="229339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9766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What: the speaker uses rhetoric to warn the council that they will lose something they cannot replace.</a:t>
            </a:r>
            <a:endParaRPr lang="en-US" sz="1800" dirty="0"/>
          </a:p>
        </p:txBody>
      </p:sp>
      <p:sp>
        <p:nvSpPr>
          <p:cNvPr id="13" name="step-box"/>
          <p:cNvSpPr/>
          <p:nvPr/>
        </p:nvSpPr>
        <p:spPr>
          <a:xfrm>
            <a:off x="548640" y="2863342"/>
            <a:ext cx="11094415" cy="597662"/>
          </a:xfrm>
          <a:prstGeom prst="roundRect">
            <a:avLst>
              <a:gd name="adj" fmla="val 12240"/>
            </a:avLst>
          </a:prstGeom>
          <a:solidFill>
            <a:srgbClr val="FFFFFF"/>
          </a:solidFill>
          <a:ln w="15875">
            <a:solidFill>
              <a:srgbClr val="C08D92"/>
            </a:solidFill>
            <a:prstDash val="solid"/>
          </a:ln>
        </p:spPr>
      </p:sp>
      <p:sp>
        <p:nvSpPr>
          <p:cNvPr id="14" name="step-hex"/>
          <p:cNvSpPr/>
          <p:nvPr/>
        </p:nvSpPr>
        <p:spPr>
          <a:xfrm>
            <a:off x="685800" y="2964205"/>
            <a:ext cx="457200" cy="395935"/>
          </a:xfrm>
          <a:prstGeom prst="hexagon">
            <a:avLst/>
          </a:prstGeom>
          <a:solidFill>
            <a:srgbClr val="8C2F39"/>
          </a:solidFill>
          <a:ln/>
        </p:spPr>
      </p:sp>
      <p:sp>
        <p:nvSpPr>
          <p:cNvPr id="15" name="step-hex-label"/>
          <p:cNvSpPr txBox="1"/>
          <p:nvPr/>
        </p:nvSpPr>
        <p:spPr>
          <a:xfrm>
            <a:off x="685800" y="2964205"/>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863342"/>
            <a:ext cx="10180015" cy="59766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the rhetorical question and analogy “Would you knock down a library to park a car?”</a:t>
            </a:r>
            <a:endParaRPr lang="en-US" sz="1800" dirty="0"/>
          </a:p>
        </p:txBody>
      </p:sp>
      <p:sp>
        <p:nvSpPr>
          <p:cNvPr id="17" name="step-box"/>
          <p:cNvSpPr/>
          <p:nvPr/>
        </p:nvSpPr>
        <p:spPr>
          <a:xfrm>
            <a:off x="548640" y="3534156"/>
            <a:ext cx="11094415" cy="861822"/>
          </a:xfrm>
          <a:prstGeom prst="roundRect">
            <a:avLst>
              <a:gd name="adj" fmla="val 8488"/>
            </a:avLst>
          </a:prstGeom>
          <a:solidFill>
            <a:srgbClr val="FFFFFF"/>
          </a:solidFill>
          <a:ln w="15875">
            <a:solidFill>
              <a:srgbClr val="C08D92"/>
            </a:solidFill>
            <a:prstDash val="solid"/>
          </a:ln>
        </p:spPr>
      </p:sp>
      <p:sp>
        <p:nvSpPr>
          <p:cNvPr id="18" name="step-hex"/>
          <p:cNvSpPr/>
          <p:nvPr/>
        </p:nvSpPr>
        <p:spPr>
          <a:xfrm>
            <a:off x="685800" y="3767099"/>
            <a:ext cx="457200" cy="395935"/>
          </a:xfrm>
          <a:prstGeom prst="hexagon">
            <a:avLst/>
          </a:prstGeom>
          <a:solidFill>
            <a:srgbClr val="8C2F39"/>
          </a:solidFill>
          <a:ln/>
        </p:spPr>
      </p:sp>
      <p:sp>
        <p:nvSpPr>
          <p:cNvPr id="19" name="step-hex-label"/>
          <p:cNvSpPr txBox="1"/>
          <p:nvPr/>
        </p:nvSpPr>
        <p:spPr>
          <a:xfrm>
            <a:off x="685800" y="3767099"/>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34156"/>
            <a:ext cx="10180015" cy="86182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Why: the council feels that cutting the tree down would be an act of destruction, so they are more likely to vote against it.</a:t>
            </a:r>
            <a:endParaRPr lang="en-US" sz="1800" dirty="0"/>
          </a:p>
        </p:txBody>
      </p:sp>
      <p:sp>
        <p:nvSpPr>
          <p:cNvPr id="21" name="worked-answer"/>
          <p:cNvSpPr/>
          <p:nvPr/>
        </p:nvSpPr>
        <p:spPr>
          <a:xfrm>
            <a:off x="548640" y="4578858"/>
            <a:ext cx="11094415" cy="1388872"/>
          </a:xfrm>
          <a:prstGeom prst="roundRect">
            <a:avLst>
              <a:gd name="adj" fmla="val 9876"/>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In her speech, the speaker uses rhetoric to warn the council that they will lose something they cannot replace. She does this with a rhetorical question that is also an analogy: “Would you knock down a library to park a car?” A library is a place of learning that takes years to build, so the councillors feel that destroying the oak would be an act of vandalism, and they are more likely to vote to keep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Analytical verbs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analytical verb to what it means a speaker is doing.</a:t>
            </a:r>
            <a:endParaRPr lang="en-US" sz="2400" dirty="0"/>
          </a:p>
        </p:txBody>
      </p:sp>
      <p:sp>
        <p:nvSpPr>
          <p:cNvPr id="11" name="match-card"/>
          <p:cNvSpPr/>
          <p:nvPr/>
        </p:nvSpPr>
        <p:spPr>
          <a:xfrm>
            <a:off x="777240" y="2468331"/>
            <a:ext cx="3693107" cy="557386"/>
          </a:xfrm>
          <a:prstGeom prst="roundRect">
            <a:avLst>
              <a:gd name="adj" fmla="val 13124"/>
            </a:avLst>
          </a:prstGeom>
          <a:solidFill>
            <a:srgbClr val="F8F1F2"/>
          </a:solidFill>
          <a:ln/>
        </p:spPr>
      </p:sp>
      <p:sp>
        <p:nvSpPr>
          <p:cNvPr id="12" name="match-hex"/>
          <p:cNvSpPr/>
          <p:nvPr/>
        </p:nvSpPr>
        <p:spPr>
          <a:xfrm>
            <a:off x="850392" y="2580731"/>
            <a:ext cx="384048" cy="332586"/>
          </a:xfrm>
          <a:prstGeom prst="hexagon">
            <a:avLst/>
          </a:prstGeom>
          <a:solidFill>
            <a:srgbClr val="8C2F39"/>
          </a:solidFill>
          <a:ln/>
        </p:spPr>
      </p:sp>
      <p:sp>
        <p:nvSpPr>
          <p:cNvPr id="13" name="match-hex-label"/>
          <p:cNvSpPr txBox="1"/>
          <p:nvPr/>
        </p:nvSpPr>
        <p:spPr>
          <a:xfrm>
            <a:off x="850392" y="2580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309874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criticise</a:t>
            </a:r>
            <a:endParaRPr lang="en-US" sz="2200" dirty="0"/>
          </a:p>
        </p:txBody>
      </p:sp>
      <p:sp>
        <p:nvSpPr>
          <p:cNvPr id="15" name="match-card"/>
          <p:cNvSpPr/>
          <p:nvPr/>
        </p:nvSpPr>
        <p:spPr>
          <a:xfrm>
            <a:off x="4836107" y="2468331"/>
            <a:ext cx="6578348" cy="557386"/>
          </a:xfrm>
          <a:prstGeom prst="roundRect">
            <a:avLst>
              <a:gd name="adj" fmla="val 13124"/>
            </a:avLst>
          </a:prstGeom>
          <a:solidFill>
            <a:srgbClr val="F8F2E9"/>
          </a:solidFill>
          <a:ln/>
        </p:spPr>
      </p:sp>
      <p:sp>
        <p:nvSpPr>
          <p:cNvPr id="16" name="match-hex"/>
          <p:cNvSpPr/>
          <p:nvPr/>
        </p:nvSpPr>
        <p:spPr>
          <a:xfrm>
            <a:off x="4909259" y="2580731"/>
            <a:ext cx="384048" cy="332586"/>
          </a:xfrm>
          <a:prstGeom prst="hexagon">
            <a:avLst/>
          </a:prstGeom>
          <a:solidFill>
            <a:srgbClr val="B8862B"/>
          </a:solidFill>
          <a:ln/>
        </p:spPr>
      </p:sp>
      <p:sp>
        <p:nvSpPr>
          <p:cNvPr id="17" name="match-hex-label"/>
          <p:cNvSpPr txBox="1"/>
          <p:nvPr/>
        </p:nvSpPr>
        <p:spPr>
          <a:xfrm>
            <a:off x="4909259" y="258073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5357315" y="2468331"/>
            <a:ext cx="598398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Point out what is wrong or unfair</a:t>
            </a:r>
            <a:endParaRPr lang="en-US" sz="2200" dirty="0"/>
          </a:p>
        </p:txBody>
      </p:sp>
      <p:sp>
        <p:nvSpPr>
          <p:cNvPr id="19" name="match-card"/>
          <p:cNvSpPr/>
          <p:nvPr/>
        </p:nvSpPr>
        <p:spPr>
          <a:xfrm>
            <a:off x="777240" y="3117157"/>
            <a:ext cx="3693107" cy="557386"/>
          </a:xfrm>
          <a:prstGeom prst="roundRect">
            <a:avLst>
              <a:gd name="adj" fmla="val 13124"/>
            </a:avLst>
          </a:prstGeom>
          <a:solidFill>
            <a:srgbClr val="F8F1F2"/>
          </a:solidFill>
          <a:ln/>
        </p:spPr>
      </p:sp>
      <p:sp>
        <p:nvSpPr>
          <p:cNvPr id="20" name="match-hex"/>
          <p:cNvSpPr/>
          <p:nvPr/>
        </p:nvSpPr>
        <p:spPr>
          <a:xfrm>
            <a:off x="850392" y="3229557"/>
            <a:ext cx="384048" cy="332586"/>
          </a:xfrm>
          <a:prstGeom prst="hexagon">
            <a:avLst/>
          </a:prstGeom>
          <a:solidFill>
            <a:srgbClr val="8C2F39"/>
          </a:solidFill>
          <a:ln/>
        </p:spPr>
      </p:sp>
      <p:sp>
        <p:nvSpPr>
          <p:cNvPr id="21" name="match-hex-label"/>
          <p:cNvSpPr txBox="1"/>
          <p:nvPr/>
        </p:nvSpPr>
        <p:spPr>
          <a:xfrm>
            <a:off x="850392" y="3229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17157"/>
            <a:ext cx="309874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teach</a:t>
            </a:r>
            <a:endParaRPr lang="en-US" sz="2200" dirty="0"/>
          </a:p>
        </p:txBody>
      </p:sp>
      <p:sp>
        <p:nvSpPr>
          <p:cNvPr id="23" name="match-card"/>
          <p:cNvSpPr/>
          <p:nvPr/>
        </p:nvSpPr>
        <p:spPr>
          <a:xfrm>
            <a:off x="4836107" y="3117157"/>
            <a:ext cx="6578348" cy="557386"/>
          </a:xfrm>
          <a:prstGeom prst="roundRect">
            <a:avLst>
              <a:gd name="adj" fmla="val 13124"/>
            </a:avLst>
          </a:prstGeom>
          <a:solidFill>
            <a:srgbClr val="F8F2E9"/>
          </a:solidFill>
          <a:ln/>
        </p:spPr>
      </p:sp>
      <p:sp>
        <p:nvSpPr>
          <p:cNvPr id="24" name="match-hex"/>
          <p:cNvSpPr/>
          <p:nvPr/>
        </p:nvSpPr>
        <p:spPr>
          <a:xfrm>
            <a:off x="4909259" y="3229557"/>
            <a:ext cx="384048" cy="332586"/>
          </a:xfrm>
          <a:prstGeom prst="hexagon">
            <a:avLst/>
          </a:prstGeom>
          <a:solidFill>
            <a:srgbClr val="B8862B"/>
          </a:solidFill>
          <a:ln/>
        </p:spPr>
      </p:sp>
      <p:sp>
        <p:nvSpPr>
          <p:cNvPr id="25" name="match-hex-label"/>
          <p:cNvSpPr txBox="1"/>
          <p:nvPr/>
        </p:nvSpPr>
        <p:spPr>
          <a:xfrm>
            <a:off x="4909259" y="322955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5357315" y="3117157"/>
            <a:ext cx="598398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Show what will happen if nothing changes</a:t>
            </a:r>
            <a:endParaRPr lang="en-US" sz="2200" dirty="0"/>
          </a:p>
        </p:txBody>
      </p:sp>
      <p:sp>
        <p:nvSpPr>
          <p:cNvPr id="27" name="match-card"/>
          <p:cNvSpPr/>
          <p:nvPr/>
        </p:nvSpPr>
        <p:spPr>
          <a:xfrm>
            <a:off x="777240" y="3765983"/>
            <a:ext cx="3693107" cy="557386"/>
          </a:xfrm>
          <a:prstGeom prst="roundRect">
            <a:avLst>
              <a:gd name="adj" fmla="val 13124"/>
            </a:avLst>
          </a:prstGeom>
          <a:solidFill>
            <a:srgbClr val="F8F1F2"/>
          </a:solidFill>
          <a:ln/>
        </p:spPr>
      </p:sp>
      <p:sp>
        <p:nvSpPr>
          <p:cNvPr id="28" name="match-hex"/>
          <p:cNvSpPr/>
          <p:nvPr/>
        </p:nvSpPr>
        <p:spPr>
          <a:xfrm>
            <a:off x="850392" y="3878383"/>
            <a:ext cx="384048" cy="332586"/>
          </a:xfrm>
          <a:prstGeom prst="hexagon">
            <a:avLst/>
          </a:prstGeom>
          <a:solidFill>
            <a:srgbClr val="8C2F39"/>
          </a:solidFill>
          <a:ln/>
        </p:spPr>
      </p:sp>
      <p:sp>
        <p:nvSpPr>
          <p:cNvPr id="29" name="match-hex-label"/>
          <p:cNvSpPr txBox="1"/>
          <p:nvPr/>
        </p:nvSpPr>
        <p:spPr>
          <a:xfrm>
            <a:off x="850392"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765983"/>
            <a:ext cx="309874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warn</a:t>
            </a:r>
            <a:endParaRPr lang="en-US" sz="2200" dirty="0"/>
          </a:p>
        </p:txBody>
      </p:sp>
      <p:sp>
        <p:nvSpPr>
          <p:cNvPr id="31" name="match-card"/>
          <p:cNvSpPr/>
          <p:nvPr/>
        </p:nvSpPr>
        <p:spPr>
          <a:xfrm>
            <a:off x="4836107" y="3765983"/>
            <a:ext cx="6578348" cy="557386"/>
          </a:xfrm>
          <a:prstGeom prst="roundRect">
            <a:avLst>
              <a:gd name="adj" fmla="val 13124"/>
            </a:avLst>
          </a:prstGeom>
          <a:solidFill>
            <a:srgbClr val="F8F2E9"/>
          </a:solidFill>
          <a:ln/>
        </p:spPr>
      </p:sp>
      <p:sp>
        <p:nvSpPr>
          <p:cNvPr id="32" name="match-hex"/>
          <p:cNvSpPr/>
          <p:nvPr/>
        </p:nvSpPr>
        <p:spPr>
          <a:xfrm>
            <a:off x="4909259" y="3878383"/>
            <a:ext cx="384048" cy="332586"/>
          </a:xfrm>
          <a:prstGeom prst="hexagon">
            <a:avLst/>
          </a:prstGeom>
          <a:solidFill>
            <a:srgbClr val="B8862B"/>
          </a:solidFill>
          <a:ln/>
        </p:spPr>
      </p:sp>
      <p:sp>
        <p:nvSpPr>
          <p:cNvPr id="33" name="match-hex-label"/>
          <p:cNvSpPr txBox="1"/>
          <p:nvPr/>
        </p:nvSpPr>
        <p:spPr>
          <a:xfrm>
            <a:off x="4909259" y="387838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5357315" y="3765983"/>
            <a:ext cx="598398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Praise what is good and worth being proud of</a:t>
            </a:r>
            <a:endParaRPr lang="en-US" sz="2200" dirty="0"/>
          </a:p>
        </p:txBody>
      </p:sp>
      <p:sp>
        <p:nvSpPr>
          <p:cNvPr id="35" name="match-card"/>
          <p:cNvSpPr/>
          <p:nvPr/>
        </p:nvSpPr>
        <p:spPr>
          <a:xfrm>
            <a:off x="777240" y="4414809"/>
            <a:ext cx="3693107" cy="557386"/>
          </a:xfrm>
          <a:prstGeom prst="roundRect">
            <a:avLst>
              <a:gd name="adj" fmla="val 13124"/>
            </a:avLst>
          </a:prstGeom>
          <a:solidFill>
            <a:srgbClr val="F8F1F2"/>
          </a:solidFill>
          <a:ln/>
        </p:spPr>
      </p:sp>
      <p:sp>
        <p:nvSpPr>
          <p:cNvPr id="36" name="match-hex"/>
          <p:cNvSpPr/>
          <p:nvPr/>
        </p:nvSpPr>
        <p:spPr>
          <a:xfrm>
            <a:off x="850392" y="4527209"/>
            <a:ext cx="384048" cy="332586"/>
          </a:xfrm>
          <a:prstGeom prst="hexagon">
            <a:avLst/>
          </a:prstGeom>
          <a:solidFill>
            <a:srgbClr val="8C2F39"/>
          </a:solidFill>
          <a:ln/>
        </p:spPr>
      </p:sp>
      <p:sp>
        <p:nvSpPr>
          <p:cNvPr id="37" name="match-hex-label"/>
          <p:cNvSpPr txBox="1"/>
          <p:nvPr/>
        </p:nvSpPr>
        <p:spPr>
          <a:xfrm>
            <a:off x="850392" y="45272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414809"/>
            <a:ext cx="3098747"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reveal the importance of</a:t>
            </a:r>
            <a:endParaRPr lang="en-US" sz="2200" dirty="0"/>
          </a:p>
        </p:txBody>
      </p:sp>
      <p:sp>
        <p:nvSpPr>
          <p:cNvPr id="39" name="match-card"/>
          <p:cNvSpPr/>
          <p:nvPr/>
        </p:nvSpPr>
        <p:spPr>
          <a:xfrm>
            <a:off x="4836107" y="4414809"/>
            <a:ext cx="6578348" cy="557386"/>
          </a:xfrm>
          <a:prstGeom prst="roundRect">
            <a:avLst>
              <a:gd name="adj" fmla="val 13124"/>
            </a:avLst>
          </a:prstGeom>
          <a:solidFill>
            <a:srgbClr val="F8F2E9"/>
          </a:solidFill>
          <a:ln/>
        </p:spPr>
      </p:sp>
      <p:sp>
        <p:nvSpPr>
          <p:cNvPr id="40" name="match-hex"/>
          <p:cNvSpPr/>
          <p:nvPr/>
        </p:nvSpPr>
        <p:spPr>
          <a:xfrm>
            <a:off x="4909259" y="4527209"/>
            <a:ext cx="384048" cy="332586"/>
          </a:xfrm>
          <a:prstGeom prst="hexagon">
            <a:avLst/>
          </a:prstGeom>
          <a:solidFill>
            <a:srgbClr val="B8862B"/>
          </a:solidFill>
          <a:ln/>
        </p:spPr>
      </p:sp>
      <p:sp>
        <p:nvSpPr>
          <p:cNvPr id="41" name="match-hex-label"/>
          <p:cNvSpPr txBox="1"/>
          <p:nvPr/>
        </p:nvSpPr>
        <p:spPr>
          <a:xfrm>
            <a:off x="4909259" y="4527209"/>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5357315" y="4414809"/>
            <a:ext cx="5983988" cy="55738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Help the audience understand something new</a:t>
            </a:r>
            <a:endParaRPr lang="en-US" sz="2200" dirty="0"/>
          </a:p>
        </p:txBody>
      </p:sp>
      <p:sp>
        <p:nvSpPr>
          <p:cNvPr id="43" name="match-card"/>
          <p:cNvSpPr/>
          <p:nvPr/>
        </p:nvSpPr>
        <p:spPr>
          <a:xfrm>
            <a:off x="777240" y="5063634"/>
            <a:ext cx="3693107" cy="898254"/>
          </a:xfrm>
          <a:prstGeom prst="roundRect">
            <a:avLst>
              <a:gd name="adj" fmla="val 8144"/>
            </a:avLst>
          </a:prstGeom>
          <a:solidFill>
            <a:srgbClr val="F8F1F2"/>
          </a:solidFill>
          <a:ln/>
        </p:spPr>
      </p:sp>
      <p:sp>
        <p:nvSpPr>
          <p:cNvPr id="44" name="match-hex"/>
          <p:cNvSpPr/>
          <p:nvPr/>
        </p:nvSpPr>
        <p:spPr>
          <a:xfrm>
            <a:off x="850392" y="5346468"/>
            <a:ext cx="384048" cy="332586"/>
          </a:xfrm>
          <a:prstGeom prst="hexagon">
            <a:avLst/>
          </a:prstGeom>
          <a:solidFill>
            <a:srgbClr val="8C2F39"/>
          </a:solidFill>
          <a:ln/>
        </p:spPr>
      </p:sp>
      <p:sp>
        <p:nvSpPr>
          <p:cNvPr id="45" name="match-hex-label"/>
          <p:cNvSpPr txBox="1"/>
          <p:nvPr/>
        </p:nvSpPr>
        <p:spPr>
          <a:xfrm>
            <a:off x="850392" y="534646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063634"/>
            <a:ext cx="3098747"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celebrate</a:t>
            </a:r>
            <a:endParaRPr lang="en-US" sz="2200" dirty="0"/>
          </a:p>
        </p:txBody>
      </p:sp>
      <p:sp>
        <p:nvSpPr>
          <p:cNvPr id="47" name="match-card"/>
          <p:cNvSpPr/>
          <p:nvPr/>
        </p:nvSpPr>
        <p:spPr>
          <a:xfrm>
            <a:off x="4836107" y="5063634"/>
            <a:ext cx="6578348" cy="898254"/>
          </a:xfrm>
          <a:prstGeom prst="roundRect">
            <a:avLst>
              <a:gd name="adj" fmla="val 8144"/>
            </a:avLst>
          </a:prstGeom>
          <a:solidFill>
            <a:srgbClr val="F8F2E9"/>
          </a:solidFill>
          <a:ln/>
        </p:spPr>
      </p:sp>
      <p:sp>
        <p:nvSpPr>
          <p:cNvPr id="48" name="match-hex"/>
          <p:cNvSpPr/>
          <p:nvPr/>
        </p:nvSpPr>
        <p:spPr>
          <a:xfrm>
            <a:off x="4909259" y="5346468"/>
            <a:ext cx="384048" cy="332586"/>
          </a:xfrm>
          <a:prstGeom prst="hexagon">
            <a:avLst/>
          </a:prstGeom>
          <a:solidFill>
            <a:srgbClr val="B8862B"/>
          </a:solidFill>
          <a:ln/>
        </p:spPr>
      </p:sp>
      <p:sp>
        <p:nvSpPr>
          <p:cNvPr id="49" name="match-hex-label"/>
          <p:cNvSpPr txBox="1"/>
          <p:nvPr/>
        </p:nvSpPr>
        <p:spPr>
          <a:xfrm>
            <a:off x="4909259" y="534646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5357315" y="5063634"/>
            <a:ext cx="5983988" cy="89825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Show why something matters more than people think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Analytical verbs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analytical verb to what it means a speaker is doing.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‘Criticise’ is negative: finding fault.</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‘Teach’ is about giving knowledge.</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‘Warn’ points to the future and to danger.</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‘Reveal the importance of’ shows hidden value.</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5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‘Celebrate’ is positive: praising.</a:t>
            </a:r>
            <a:endParaRPr lang="en-US" sz="2000" dirty="0"/>
          </a:p>
        </p:txBody>
      </p:sp>
      <p:sp>
        <p:nvSpPr>
          <p:cNvPr id="17" name="col-Core"/>
          <p:cNvSpPr/>
          <p:nvPr/>
        </p:nvSpPr>
        <p:spPr>
          <a:xfrm>
            <a:off x="5490762" y="2578608"/>
            <a:ext cx="2938987" cy="3566160"/>
          </a:xfrm>
          <a:prstGeom prst="roundRect">
            <a:avLst>
              <a:gd name="adj" fmla="val 1867"/>
            </a:avLst>
          </a:prstGeom>
          <a:solidFill>
            <a:srgbClr val="E7D4D6"/>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Two verbs are about the present (good or bad), one is about the future, two are about understanding.</a:t>
            </a:r>
            <a:endParaRPr lang="en-US" sz="2000" dirty="0"/>
          </a:p>
        </p:txBody>
      </p:sp>
      <p:sp>
        <p:nvSpPr>
          <p:cNvPr id="22" name="col-Stretch"/>
          <p:cNvSpPr/>
          <p:nvPr/>
        </p:nvSpPr>
        <p:spPr>
          <a:xfrm>
            <a:off x="8704069" y="2578608"/>
            <a:ext cx="2938987" cy="3566160"/>
          </a:xfrm>
          <a:prstGeom prst="roundRect">
            <a:avLst>
              <a:gd name="adj" fmla="val 1867"/>
            </a:avLst>
          </a:prstGeom>
          <a:solidFill>
            <a:srgbClr val="8C2F39"/>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Find one sentence in ‘The Last Tree on Elm Street’ for each of three different verbs.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The task: Build the paragraph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parts of a What, How, Why paragraph in the best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Explain how the method works on the audience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Say what the speaker is doing, using an analytical verb</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Give a short quotation and name the rhetorical method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Say what the speaker wants the audience to feel and do</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Same task, three ways in: Build the paragraph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parts of a What, How, Why paragraph in the best order.</a:t>
            </a:r>
            <a:endParaRPr lang="en-US" sz="2000" dirty="0"/>
          </a:p>
        </p:txBody>
      </p:sp>
      <p:sp>
        <p:nvSpPr>
          <p:cNvPr id="12" name="col-Support"/>
          <p:cNvSpPr/>
          <p:nvPr/>
        </p:nvSpPr>
        <p:spPr>
          <a:xfrm>
            <a:off x="548640" y="2578608"/>
            <a:ext cx="3515258" cy="3566160"/>
          </a:xfrm>
          <a:prstGeom prst="roundRect">
            <a:avLst>
              <a:gd name="adj" fmla="val 1561"/>
            </a:avLst>
          </a:prstGeom>
          <a:solidFill>
            <a:srgbClr val="F5EDE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3240938" cy="281635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Start with the big idea: what is the speaker saying?</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prove it with words from the speech.</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Then explain those words.</a:t>
            </a:r>
            <a:endParaRPr lang="en-US" sz="2000" dirty="0"/>
          </a:p>
          <a:p>
            <a:pPr algn="l" indent="0" marL="0">
              <a:spcAft>
                <a:spcPts val="600"/>
              </a:spcAft>
              <a:buNone/>
            </a:pPr>
            <a:r>
              <a:rPr lang="en-US" sz="2000" b="1" dirty="0">
                <a:solidFill>
                  <a:srgbClr val="8C2F39"/>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End with the aim.</a:t>
            </a:r>
            <a:endParaRPr lang="en-US" sz="2000" dirty="0"/>
          </a:p>
        </p:txBody>
      </p:sp>
      <p:sp>
        <p:nvSpPr>
          <p:cNvPr id="17" name="col-Core"/>
          <p:cNvSpPr/>
          <p:nvPr/>
        </p:nvSpPr>
        <p:spPr>
          <a:xfrm>
            <a:off x="4338218" y="2578608"/>
            <a:ext cx="3515258" cy="3566160"/>
          </a:xfrm>
          <a:prstGeom prst="roundRect">
            <a:avLst>
              <a:gd name="adj" fmla="val 1561"/>
            </a:avLst>
          </a:prstGeom>
          <a:solidFill>
            <a:srgbClr val="E7D4D6"/>
          </a:solidFill>
          <a:ln/>
        </p:spPr>
      </p:sp>
      <p:sp>
        <p:nvSpPr>
          <p:cNvPr id="18" name="col-hex"/>
          <p:cNvSpPr/>
          <p:nvPr/>
        </p:nvSpPr>
        <p:spPr>
          <a:xfrm>
            <a:off x="444794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622128"/>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70262E"/>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What, then How, then Why. The quotation belongs to How.</a:t>
            </a:r>
            <a:endParaRPr lang="en-US" sz="2000" dirty="0"/>
          </a:p>
        </p:txBody>
      </p:sp>
      <p:sp>
        <p:nvSpPr>
          <p:cNvPr id="22" name="col-Stretch"/>
          <p:cNvSpPr/>
          <p:nvPr/>
        </p:nvSpPr>
        <p:spPr>
          <a:xfrm>
            <a:off x="8127797" y="2578608"/>
            <a:ext cx="3515258" cy="3566160"/>
          </a:xfrm>
          <a:prstGeom prst="roundRect">
            <a:avLst>
              <a:gd name="adj" fmla="val 1561"/>
            </a:avLst>
          </a:prstGeom>
          <a:solidFill>
            <a:srgbClr val="8C2F39"/>
          </a:solidFill>
          <a:ln/>
        </p:spPr>
      </p:sp>
      <p:sp>
        <p:nvSpPr>
          <p:cNvPr id="23" name="col-hex"/>
          <p:cNvSpPr/>
          <p:nvPr/>
        </p:nvSpPr>
        <p:spPr>
          <a:xfrm>
            <a:off x="8237525"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61518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218688"/>
            <a:ext cx="3240938" cy="281635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a paragraph that starts with the quotation is usually weaker than one that starts with the What.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8C2F39"/>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8C2F39"/>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Pathos appeals to the audience’s…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logic and facts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emotions and values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trust in the speaker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knowledge of history</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9F4F4"/>
          </a:solidFill>
          <a:ln w="12700">
            <a:solidFill>
              <a:srgbClr val="C79A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Analytical verbs</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criticise  →  A  Point out what is wrong or unfair</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teach  →  D  Help the audience understand something new</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warn  →  B  Show what will happen if nothing changes</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reveal the importance of  →  E  Show why something matters more than people think</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celebrate  →  C  Praise what is good and worth being proud of</a:t>
            </a:r>
            <a:endParaRPr lang="en-US" sz="22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Analytical verbs name what the rhetoric is doing, which turns a description into analysis.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Build the paragraph</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Say what the speaker is doing, using an analytical verb  (B)</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Give a short quotation and name the rhetorical method  (C)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Explain how the method works on the audience  (A)</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Say what the speaker wants the audience to feel and do  (D)</a:t>
            </a:r>
            <a:endParaRPr lang="en-US" sz="24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What (verb), How (quotation and method), Why (effect and aim). This order makes the argument lead and the evidence follow.</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8C2F39"/>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8C2F39"/>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C2F39"/>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Pathos appeals to the audience’s…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emotions and values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5EDEE"/>
          </a:solidFill>
          <a:ln/>
        </p:spPr>
      </p:sp>
      <p:sp>
        <p:nvSpPr>
          <p:cNvPr id="11" name="why-hex"/>
          <p:cNvSpPr/>
          <p:nvPr/>
        </p:nvSpPr>
        <p:spPr>
          <a:xfrm>
            <a:off x="7406640" y="1572768"/>
            <a:ext cx="685800" cy="593903"/>
          </a:xfrm>
          <a:prstGeom prst="hexagon">
            <a:avLst/>
          </a:prstGeom>
          <a:solidFill>
            <a:srgbClr val="8C2F39"/>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Pathos is persuasion through emotion and values.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7E2A3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english">
  <a:themeElements>
    <a:clrScheme name="Ad Astra english">
      <a:dk1>
        <a:srgbClr val="1E2229"/>
      </a:dk1>
      <a:lt1>
        <a:srgbClr val="FFFFFF"/>
      </a:lt1>
      <a:dk2>
        <a:srgbClr val="70262E"/>
      </a:dk2>
      <a:lt2>
        <a:srgbClr val="F5EDEE"/>
      </a:lt2>
      <a:accent1>
        <a:srgbClr val="8C2F39"/>
      </a:accent1>
      <a:accent2>
        <a:srgbClr val="B8862B"/>
      </a:accent2>
      <a:accent3>
        <a:srgbClr val="BA8288"/>
      </a:accent3>
      <a:accent4>
        <a:srgbClr val="815E1E"/>
      </a:accent4>
      <a:accent5>
        <a:srgbClr val="4A505C"/>
      </a:accent5>
      <a:accent6>
        <a:srgbClr val="DDC498"/>
      </a:accent6>
      <a:hlink>
        <a:srgbClr val="8C2F39"/>
      </a:hlink>
      <a:folHlink>
        <a:srgbClr val="622128"/>
      </a:folHlink>
    </a:clrScheme>
    <a:fontScheme name="Ad Astra englis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Rhetoric · Chapter 4: Pathos, and analysing a speech: What, How, Why</dc:title>
  <dc:subject>English Language · Year 8</dc:subject>
  <dc:creator>Dr Vitor Merissi de Carvalho</dc:creator>
  <cp:lastModifiedBy>Dr Vitor Merissi de Carvalho</cp:lastModifiedBy>
  <cp:revision>1</cp:revision>
  <dcterms:created xsi:type="dcterms:W3CDTF">2026-10-19T06:07:27Z</dcterms:created>
  <dcterms:modified xsi:type="dcterms:W3CDTF">2026-10-19T06:07:27Z</dcterms:modified>
</cp:coreProperties>
</file>