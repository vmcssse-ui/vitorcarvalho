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0ac53bd-b3f6-3208-4acf-48655598d406}">
          <p14:sldIdLst>
            <p14:sldId id="256"/>
          </p14:sldIdLst>
        </p14:section>
        <p14:section name="Gate" id="{dd514044-30bb-617b-fd04-3cf457ce6a3e}">
          <p14:sldIdLst>
            <p14:sldId id="257"/>
            <p14:sldId id="258"/>
          </p14:sldIdLst>
        </p14:section>
        <p14:section name="Pre-teach" id="{1d18d49c-e54f-39f2-6dd6-8662e41cda4c}">
          <p14:sldIdLst>
            <p14:sldId id="259"/>
          </p14:sldIdLst>
        </p14:section>
        <p14:section name="Read-along" id="{bdfeea80-342d-006b-7dfa-223bd5e04536}">
          <p14:sldIdLst>
            <p14:sldId id="260"/>
            <p14:sldId id="261"/>
          </p14:sldIdLst>
        </p14:section>
        <p14:section name="Teach" id="{92c1f23d-181a-c32b-1c10-1a6661c717af}">
          <p14:sldIdLst>
            <p14:sldId id="262"/>
            <p14:sldId id="263"/>
            <p14:sldId id="264"/>
            <p14:sldId id="265"/>
            <p14:sldId id="266"/>
            <p14:sldId id="267"/>
          </p14:sldIdLst>
        </p14:section>
        <p14:section name="Routes" id="{328db42d-2b4b-f646-7162-bffa60968426}">
          <p14:sldIdLst>
            <p14:sldId id="268"/>
            <p14:sldId id="269"/>
            <p14:sldId id="270"/>
            <p14:sldId id="271"/>
          </p14:sldIdLst>
        </p14:section>
        <p14:section name="Close" id="{fb441cb7-b785-a95b-1ffe-98fd77713586}">
          <p14:sldIdLst>
            <p14:sldId id="272"/>
          </p14:sldIdLst>
        </p14:section>
        <p14:section name="Answers" id="{d103f85d-a7d8-4a58-c4ea-21f0fd5855c5}">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Logos and analogy: making people think. You will build logos from facts and logical arguments, and use analogies to make a new idea feel familiar.
This deck covers the department's lesson: 2 (Logos and analogies: What is an analogy, and can I embed analogies into a speech?).
Read the big question aloud: "What is rhetoric, how do famous speakers use it to persuade, and how do I write a persuasive speech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an analogy?  →  B   A comparison made to explain or persuade
2. Logos can be developed by citing ___, using analogies and constructing logical arguments.  →  facts
3. Which of these is a historical analogy?  →  D   ‘If we ignore this warning, we will be like the people who ignored the first smoke of the Great Fire of London.’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A comparison made to explain or persuade. An analogy compares two things to explain or persuade by pointing out what they share.
2. facts. Citing facts is the first and most important way to develop logos.
3. D   ‘If we ignore this warning, we will be like the people who ignored the first smoke of the Great Fire of London.’. A historical analogy compares something now to a famous event in the past, here the Great Fire of London in 1666.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logos: persuasion through logic and facts. Example: "Logos is strongest when the facts are exact."
• fact: something that can be checked and shown to be true. Example: "A fact is not the same as an opinion."
• analogy: a comparison that explains something. Example: "The analogy of the onion explains what ogres are like."
• simile: saying one thing is like another. Example: "A simile paints a picture, but it does not have to explain."
• familiar: well known, easy to recognise. Example: "Link a new idea to something familiar."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Logos means persuading with logic and reason.
2. You build logos with facts, statistics and clear arguments.
3. One powerful tool for logos is the analogy.
4. An analogy compares two things to explain one of them.
5. It links something new to something the audience already knows.
6. A simile only says one thing is like another.
7. An analogy goes further and makes an explanatory point.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In the film Shrek, the ogre says ogres are like onions.
9. Both have layers, so Donkey understands him.
10. Writers also use historical analogies.
11. They compare a new event to a famous event from the past.
12. A good analogy makes an unfamiliar idea feel familiar.
13. A bad analogy can be unfair or confusing.
14. Choose yours carefully.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logos is built. Say it in your own words, then check understanding with a quick question: ask a pupil from the pre-teach group first, since they met these words and ideas before the lesson. Pupils try to recall before you re-explain.
Logos is the appeal to reason. Your teachers list three ways to develop it: citing facts (the most important), using historical and literal analogies, and constructing logical arguments. A fact can be checked. A statistic is a fact in number form, taken from a study or a count. An opinion is a view that may not be based on fact at all.
Facts matter because an audience cannot argue with them easily. ‘The oak is lovely’ is an opinion, and a councillor can shrug at it. ‘Three hundred and twelve people signed our petition in one weekend’ is a statistic, and it has to be answered.
A logical argument puts facts in order so that one leads to the next: here is the problem, here is the evidence, here is the fix. When you write your own speech, your first argument will be built this way.
Worked example — model it step by step, thinking aloud: Turn this opinion into logos: ‘Our school needs a longer lunch break.’ (1) Find a fact that can be checked: lunch is 30 minutes long. (2) Add a statistic: in a class survey, 19 out of 28 pupils said they had not finished eating when the bell went. (3) Build the argument: short break, pupils not eating, so lessons after lunch start badly. Answer: ‘Lunch is thirty minutes. In our survey, 19 out of 28 pupils had not finished eating when the bell went. Hungry pupils do not learn well, so a longer break would improve the afternoon.’.
Tip: If a sentence has a number in it, check where the number came from. Logos is only as strong as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logos is built. Say it in your own words, then check understanding with a quick question: ask a pupil from the pre-teach group first, since they met these words and ideas before the lesson. Pupils try to recall before you re-explain.
Logos is the appeal to reason. Your teachers list three ways to develop it: citing facts (the most important), using historical and literal analogies, and constructing logical arguments. A fact can be checked. A statistic is a fact in number form, taken from a study or a count. An opinion is a view that may not be based on fact at all.
Facts matter because an audience cannot argue with them easily. ‘The oak is lovely’ is an opinion, and a councillor can shrug at it. ‘Three hundred and twelve people signed our petition in one weekend’ is a statistic, and it has to be answered.
A logical argument puts facts in order so that one leads to the next: here is the problem, here is the evidence, here is the fix. When you write your own speech, your first argument will be built this way.
Worked example — model it step by step, thinking aloud: Turn this opinion into logos: ‘Our school needs a longer lunch break.’ (1) Find a fact that can be checked: lunch is 30 minutes long. (2) Add a statistic: in a class survey, 19 out of 28 pupils said they had not finished eating when the bell went. (3) Build the argument: short break, pupils not eating, so lessons after lunch start badly. Answer: ‘Lunch is thirty minutes. In our survey, 19 out of 28 pupils had not finished eating when the bell went. Hungry pupils do not learn well, so a longer break would improve the afternoon.’.
Tip: If a sentence has a number in it, check where the number came from. Logos is only as strong as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Analogy, simile and metaphor. Say it in your own words, then check understanding with a quick question: ask a pupil from the pre-teach group first, since they met these words and ideas before the lesson. Pupils try to recall before you re-explain.
An analogy is a comparison between two things that explains or persuades by pointing out what they share. ‘Isn’t that the same as a simile?’ Not quite. A simile says something is like something else. A metaphor says something is something else. An analogy says something is like something else in order to make an explanatory point.
In the film Shrek, the ogre explains that ogres are like onions because both have layers. Donkey knows onions, so now he understands ogres. That is the job of an analogy: it helps an audience understand something unfamiliar by linking it to something familiar. Analogy is not merely to show, but to explain.
Try these original analogies and work out the point each one makes: ‘Revision is like training for a race.’ ‘A rumour is like a dropped glass.’ ‘Our school is like a beehive.’ Each one explains something by comparing it to something you already know.
Tip: Test an analogy by finishing the sentence ‘…because both…’. If you cannot, it is a simile, not an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Historical analogies, fair and unfair. Say it in your own words, then check understanding with a quick question: ask a pupil from the pre-teach group first, since they met these words and ideas before the lesson. Pupils try to recall before you re-explain.
A historical analogy compares something now to a famous event from the past. ‘This new library will do for our town what the printing press did for Europe.’ The audience knows the printing press spread knowledge, so the analogy makes a big claim quickly and borrows the past’s authority.
Historical analogies can also be unfair. Comparing a politician you dislike to a dictator is a common trick, and it is exactly the kind of emotional manipulation Aristotle criticised the Sophists for. A fair analogy helps the audience think. An unfair one stops them thinking. When you use one, make sure the two things really do share the point you claim.
Worked example — model it step by step, thinking aloud: Is this a fair analogy? ‘Leaving the lights on all night in school is like leaving a tap running: nothing is gained and something valuable drains away.’ (1) Ask what the two things share: both waste a resource for no benefit. (2) Ask whether the comparison helps the audience understand the problem: yes, everyone knows a running tap wastes water. (3) Ask whether it exaggerates to frighten: no, the claim is modest and true. Answer: Fair. It explains waste through something familiar and does not smuggle in a false claim..
Tip: Before you use a historical analogy, ask: would a historian in the room nod, or wince?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Historical analogies, fair and unfair. Say it in your own words, then check understanding with a quick question: ask a pupil from the pre-teach group first, since they met these words and ideas before the lesson. Pupils try to recall before you re-explain.
A historical analogy compares something now to a famous event from the past. ‘This new library will do for our town what the printing press did for Europe.’ The audience knows the printing press spread knowledge, so the analogy makes a big claim quickly and borrows the past’s authority.
Historical analogies can also be unfair. Comparing a politician you dislike to a dictator is a common trick, and it is exactly the kind of emotional manipulation Aristotle criticised the Sophists for. A fair analogy helps the audience think. An unfair one stops them thinking. When you use one, make sure the two things really do share the point you claim.
Worked example — model it step by step, thinking aloud: Is this a fair analogy? ‘Leaving the lights on all night in school is like leaving a tap running: nothing is gained and something valuable drains away.’ (1) Ask what the two things share: both waste a resource for no benefit. (2) Ask whether the comparison helps the audience understand the problem: yes, everyone knows a running tap wastes water. (3) Ask whether it exaggerates to frighten: no, the claim is modest and true. Answer: Fair. It explains waste through something familiar and does not smuggle in a false claim..
Tip: Before you use a historical analogy, ask: would a historian in the room nod, or wince?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Planning the mid-unit speech. Say it in your own words, then check understanding with a quick question: ask a pupil from the pre-teach group first, since they met these words and ideas before the lesson. Pupils try to recall before you re-explain.
Half way through this unit you will give a short speech to the class. Your teachers suggest the question ‘Should we be allowed to wear our own clothes instead of uniform?’ (or ‘Should schools have safe spaces for pupils who are being bullied?’). Plan it with a grid: three points FOR and three points AGAINST.
Your speech should make your own side clear, use ethos, logos and pathos, and include at least one analogy to explain a point. It needs a clear beginning, middle and end: a strong hook to open, and a powerful message or call to action to close. Many English teachers use the acronym DAFOREST to remember persuasive devices: direct address, alliteration, facts, opinion, rhetorical questions, emotive language, statistics, triplets.
Tip: Plan both sides even though you will argue one. Knowing the other side is how you beat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does the analogy explain?.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original analogy to the point it makes.
Support — work through the steps with the group: (1) For each analogy, finish the sentence ‘…because both…’. (2) Ask what everybody already knows about the familiar thing (a race, a glass, a hive, a bath). (3) Match that known fact to the point on the right.
Parallel worked example for Support (model it, do not give the task answer): What point does ‘Learning an instrument is like building a wall’ make? Everyone knows a wall is built one brick at a time.; So the point is about small steps adding up.. Answer: Progress comes one small piece at a time..
Core — reveal the hint only on request: Ask what happens to a dropped glass, and what happens to bath water with the plug out.
Stretch — no help; when finished: Rewrite the beehive analogy as a simile that only shows, and explain what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does the analogy explain?.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original analogy to the point it makes.
Support — work through the steps with the group: (1) For each analogy, finish the sentence ‘…because both…’. (2) Ask what everybody already knows about the familiar thing (a race, a glass, a hive, a bath). (3) Match that known fact to the point on the right.
Parallel worked example for Support (model it, do not give the task answer): What point does ‘Learning an instrument is like building a wall’ make? Everyone knows a wall is built one brick at a time.; So the point is about small steps adding up.. Answer: Progress comes one small piece at a time..
Core — reveal the hint only on request: Ask what happens to a dropped glass, and what happens to bath water with the plug out.
Stretch — no help; when finished: Rewrite the beehive analogy as a simile that only shows, and explain what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Spot the strongest logos.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sentence gives the strongest logos?
Support — work through the steps with the group: (1) Logos is proof. Ask of each sentence: could I check this? (2) Cross out any sentence that starts with ‘I think’ or ‘Imagine’. (3) A number from a count or survey is a statistic: the strongest logos here.
Parallel worked example for Support (model it, do not give the task answer): Which is logos? ‘Our hall is freezing.’ or ‘The hall thermometer read 11 degrees at 9 a.m. on Monday.’ ‘Freezing’ is a feeling and an exaggeration.; A thermometer reading can be checked.. Answer: The thermometer reading is logos..
Core — reveal the hint only on request: Only one sentence contains something you could check against a list or a count.
Stretch — no help; when finished: Explain why a statistic without a source (‘Studies show…’) is weaker logos than a specific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Spot the strongest logos.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sentence gives the strongest logos?
Support — work through the steps with the group: (1) Logos is proof. Ask of each sentence: could I check this? (2) Cross out any sentence that starts with ‘I think’ or ‘Imagine’. (3) A number from a count or survey is a statistic: the strongest logos here.
Parallel worked example for Support (model it, do not give the task answer): Which is logos? ‘Our hall is freezing.’ or ‘The hall thermometer read 11 degrees at 9 a.m. on Monday.’ ‘Freezing’ is a feeling and an exaggeration.; A thermometer reading can be checked.. Answer: The thermometer reading is logos..
Core — reveal the hint only on request: Only one sentence contains something you could check against a list or a count.
Stretch — no help; when finished: Explain why a statistic without a source (‘Studies show…’) is weaker logos than a specific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an analogy?
Answer: A   A comparison made to explain or persuade. An analogy compares two things to explain or persuade by pointing out what they share.
Source of this question: gate item 1 re-asked (options rotated) — this chapter has no third quick-check module.
The ebook also holds task 3, "Write your own analogy",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What does the analogy explain?. Reveal the answer; pupils mark their own work in a different colour, then read the "why" together. Same destination for every lane, so one answer serves the whole class.
Answer: ‘Revision is like training for a race.’  →  A  Practice before the day is what makes the difference.; ‘A rumour is like a dropped glass.’  →  D  Once it is out, it cannot be put back together.; ‘Our school is like a beehive.’  →  C  Everyone has a job, and the whole depends on each part.; ‘A budget is like a bath with the plug out.’  →  B  Money drains away unless you stop the leak.
Why: An analogy works when the familiar thing and the new thing share the exact point the speaker wants to make.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Spot the strongest logos. Reveal the answer; pupils mark their own work in a different colour, then read the "why" together. Same destination for every lane, so one answer serves the whole class.
Answer: C   ‘Three hundred and twelve people signed the petition in one weekend.’
Why: A statistic from a count is checkable proof. Opinions and appeals to imagination persuade in other ways, but they are not logos.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A comparison made to explain or persuade
Why: An analogy compares two things to explain or persuade by pointing out what they share.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1E5E6"/>
          </a:solidFill>
          <a:ln w="12700">
            <a:solidFill>
              <a:srgbClr val="F1E5E6"/>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8 · Rhetoric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1E5E6"/>
          </a:solidFill>
          <a:ln w="12700">
            <a:solidFill>
              <a:srgbClr val="F1E5E6"/>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8 · Rhetoric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AD9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Rhetoric · AQA KS3 → 8700</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Logos and analogy: making people think</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5EDEE"/>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Logos and analogies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5EDEE"/>
          </a:solidFill>
          <a:ln w="12700">
            <a:solidFill>
              <a:srgbClr val="D3AFB3"/>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rhetoric, how do famous speakers use it to persuade, and how do I write a persuasive speech of my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9F4F4"/>
          </a:solidFill>
          <a:ln w="12700">
            <a:solidFill>
              <a:srgbClr val="D8B9BD"/>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is an analogy?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short story about a real event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comparison made to explain or persuade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question that does not need an answer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An exaggeration not meant literally</a:t>
            </a:r>
            <a:endParaRPr lang="en-US" sz="2200" dirty="0"/>
          </a:p>
        </p:txBody>
      </p:sp>
      <p:sp>
        <p:nvSpPr>
          <p:cNvPr id="12" name="card"/>
          <p:cNvSpPr/>
          <p:nvPr/>
        </p:nvSpPr>
        <p:spPr>
          <a:xfrm>
            <a:off x="4777626" y="1389888"/>
            <a:ext cx="2636444" cy="4754880"/>
          </a:xfrm>
          <a:prstGeom prst="roundRect">
            <a:avLst>
              <a:gd name="adj" fmla="val 2081"/>
            </a:avLst>
          </a:prstGeom>
          <a:solidFill>
            <a:srgbClr val="F9F4F4"/>
          </a:solidFill>
          <a:ln w="12700">
            <a:solidFill>
              <a:srgbClr val="D8B9BD"/>
            </a:solidFill>
            <a:prstDash val="solid"/>
          </a:ln>
        </p:spPr>
      </p:sp>
      <p:sp>
        <p:nvSpPr>
          <p:cNvPr id="13" name="card-hex"/>
          <p:cNvSpPr/>
          <p:nvPr/>
        </p:nvSpPr>
        <p:spPr>
          <a:xfrm>
            <a:off x="4960506" y="1572768"/>
            <a:ext cx="640080" cy="554309"/>
          </a:xfrm>
          <a:prstGeom prst="hexagon">
            <a:avLst/>
          </a:prstGeom>
          <a:solidFill>
            <a:srgbClr val="8C2F39"/>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Logos can be developed by citing ___, using analogies and constructing logical arguments.</a:t>
            </a:r>
            <a:endParaRPr lang="en-US" sz="2200" dirty="0"/>
          </a:p>
          <a:p>
            <a:pPr algn="l" indent="0" marL="0">
              <a:buNone/>
            </a:pPr>
            <a:r>
              <a:rPr lang="en-US" sz="2200" b="1" dirty="0">
                <a:solidFill>
                  <a:srgbClr val="8C2F39"/>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facts  ·  feelings  ·  jokes</a:t>
            </a:r>
            <a:endParaRPr lang="en-US" sz="2200" dirty="0"/>
          </a:p>
        </p:txBody>
      </p:sp>
      <p:sp>
        <p:nvSpPr>
          <p:cNvPr id="17" name="card"/>
          <p:cNvSpPr/>
          <p:nvPr/>
        </p:nvSpPr>
        <p:spPr>
          <a:xfrm>
            <a:off x="7688389" y="1389888"/>
            <a:ext cx="3954666" cy="4754880"/>
          </a:xfrm>
          <a:prstGeom prst="roundRect">
            <a:avLst>
              <a:gd name="adj" fmla="val 1387"/>
            </a:avLst>
          </a:prstGeom>
          <a:solidFill>
            <a:srgbClr val="F9F4F4"/>
          </a:solidFill>
          <a:ln w="12700">
            <a:solidFill>
              <a:srgbClr val="D8B9BD"/>
            </a:solidFill>
            <a:prstDash val="solid"/>
          </a:ln>
        </p:spPr>
      </p:sp>
      <p:sp>
        <p:nvSpPr>
          <p:cNvPr id="18" name="card-hex"/>
          <p:cNvSpPr/>
          <p:nvPr/>
        </p:nvSpPr>
        <p:spPr>
          <a:xfrm>
            <a:off x="7871269" y="1572768"/>
            <a:ext cx="640080" cy="554309"/>
          </a:xfrm>
          <a:prstGeom prst="hexagon">
            <a:avLst/>
          </a:prstGeom>
          <a:solidFill>
            <a:srgbClr val="8C2F39"/>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is a historical analogy?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‘This town is one big family.’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engine roared like a lion.’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‘Forty per cent of pupils walk to school.’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we ignore this warning, we will be like the people who ignored the first smoke of the Great Fire of London.’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9F4F4"/>
          </a:solidFill>
          <a:ln w="12700">
            <a:solidFill>
              <a:srgbClr val="D8B9BD"/>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955040"/>
          </a:xfrm>
          <a:prstGeom prst="roundRect">
            <a:avLst>
              <a:gd name="adj" fmla="val 11489"/>
            </a:avLst>
          </a:prstGeom>
          <a:solidFill>
            <a:srgbClr val="EEE3CD"/>
          </a:solidFill>
          <a:ln w="19050">
            <a:solidFill>
              <a:srgbClr val="B8862B"/>
            </a:solidFill>
            <a:prstDash val="solid"/>
          </a:ln>
        </p:spPr>
      </p:sp>
      <p:sp>
        <p:nvSpPr>
          <p:cNvPr id="12" name="answer"/>
          <p:cNvSpPr txBox="1"/>
          <p:nvPr/>
        </p:nvSpPr>
        <p:spPr>
          <a:xfrm>
            <a:off x="822960" y="2428829"/>
            <a:ext cx="3406026"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 comparison made to explain or persuade</a:t>
            </a:r>
            <a:endParaRPr lang="en-US" sz="2200" dirty="0"/>
          </a:p>
        </p:txBody>
      </p:sp>
      <p:sp>
        <p:nvSpPr>
          <p:cNvPr id="13" name="card-body"/>
          <p:cNvSpPr txBox="1"/>
          <p:nvPr/>
        </p:nvSpPr>
        <p:spPr>
          <a:xfrm>
            <a:off x="731520" y="3493597"/>
            <a:ext cx="3588906"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an analogy?</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An analogy compares two things to explain or persuade by pointing out what they share.</a:t>
            </a:r>
            <a:endParaRPr lang="en-US" sz="2200" dirty="0"/>
          </a:p>
        </p:txBody>
      </p:sp>
      <p:sp>
        <p:nvSpPr>
          <p:cNvPr id="14" name="card"/>
          <p:cNvSpPr/>
          <p:nvPr/>
        </p:nvSpPr>
        <p:spPr>
          <a:xfrm>
            <a:off x="4777626" y="1389888"/>
            <a:ext cx="2636444" cy="4754880"/>
          </a:xfrm>
          <a:prstGeom prst="roundRect">
            <a:avLst>
              <a:gd name="adj" fmla="val 2081"/>
            </a:avLst>
          </a:prstGeom>
          <a:solidFill>
            <a:srgbClr val="F9F4F4"/>
          </a:solidFill>
          <a:ln w="12700">
            <a:solidFill>
              <a:srgbClr val="D8B9BD"/>
            </a:solidFill>
            <a:prstDash val="solid"/>
          </a:ln>
        </p:spPr>
      </p:sp>
      <p:sp>
        <p:nvSpPr>
          <p:cNvPr id="15" name="card-hex"/>
          <p:cNvSpPr/>
          <p:nvPr/>
        </p:nvSpPr>
        <p:spPr>
          <a:xfrm>
            <a:off x="4960506" y="1572768"/>
            <a:ext cx="640080" cy="554309"/>
          </a:xfrm>
          <a:prstGeom prst="hexagon">
            <a:avLst/>
          </a:prstGeom>
          <a:solidFill>
            <a:srgbClr val="8C2F39"/>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facts</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Logos can be developed by citing ___, using analogies and constructing logical arguments.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Citing facts is the first and most important way to develop logos.</a:t>
            </a:r>
            <a:endParaRPr lang="en-US" sz="1800" dirty="0"/>
          </a:p>
        </p:txBody>
      </p:sp>
      <p:sp>
        <p:nvSpPr>
          <p:cNvPr id="21" name="card"/>
          <p:cNvSpPr/>
          <p:nvPr/>
        </p:nvSpPr>
        <p:spPr>
          <a:xfrm>
            <a:off x="7688389" y="1389888"/>
            <a:ext cx="3954666" cy="4754880"/>
          </a:xfrm>
          <a:prstGeom prst="roundRect">
            <a:avLst>
              <a:gd name="adj" fmla="val 1387"/>
            </a:avLst>
          </a:prstGeom>
          <a:solidFill>
            <a:srgbClr val="F9F4F4"/>
          </a:solidFill>
          <a:ln w="12700">
            <a:solidFill>
              <a:srgbClr val="D8B9BD"/>
            </a:solidFill>
            <a:prstDash val="solid"/>
          </a:ln>
        </p:spPr>
      </p:sp>
      <p:sp>
        <p:nvSpPr>
          <p:cNvPr id="22" name="card-hex"/>
          <p:cNvSpPr/>
          <p:nvPr/>
        </p:nvSpPr>
        <p:spPr>
          <a:xfrm>
            <a:off x="7871269" y="1572768"/>
            <a:ext cx="640080" cy="554309"/>
          </a:xfrm>
          <a:prstGeom prst="hexagon">
            <a:avLst/>
          </a:prstGeom>
          <a:solidFill>
            <a:srgbClr val="8C2F39"/>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1977644"/>
          </a:xfrm>
          <a:prstGeom prst="roundRect">
            <a:avLst>
              <a:gd name="adj" fmla="val 5548"/>
            </a:avLst>
          </a:prstGeom>
          <a:solidFill>
            <a:srgbClr val="EEE3CD"/>
          </a:solidFill>
          <a:ln w="19050">
            <a:solidFill>
              <a:srgbClr val="B8862B"/>
            </a:solidFill>
            <a:prstDash val="solid"/>
          </a:ln>
        </p:spPr>
      </p:sp>
      <p:sp>
        <p:nvSpPr>
          <p:cNvPr id="26" name="answer"/>
          <p:cNvSpPr txBox="1"/>
          <p:nvPr/>
        </p:nvSpPr>
        <p:spPr>
          <a:xfrm>
            <a:off x="7962709" y="2428829"/>
            <a:ext cx="3406026"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‘If we ignore this warning, we will be like the people who ignored the first smoke of the Great Fire of London.’</a:t>
            </a:r>
            <a:endParaRPr lang="en-US" sz="2200" dirty="0"/>
          </a:p>
        </p:txBody>
      </p:sp>
      <p:sp>
        <p:nvSpPr>
          <p:cNvPr id="27" name="card-body"/>
          <p:cNvSpPr txBox="1"/>
          <p:nvPr/>
        </p:nvSpPr>
        <p:spPr>
          <a:xfrm>
            <a:off x="7871269" y="4516201"/>
            <a:ext cx="3588906"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historical analogy compares something now to a famous event in the past, here the Great Fire of London in 1666.</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7692"/>
          </a:xfrm>
          <a:prstGeom prst="roundRect">
            <a:avLst>
              <a:gd name="adj" fmla="val 6549"/>
            </a:avLst>
          </a:prstGeom>
          <a:solidFill>
            <a:srgbClr val="F8F1F2"/>
          </a:solidFill>
          <a:ln/>
        </p:spPr>
      </p:sp>
      <p:sp>
        <p:nvSpPr>
          <p:cNvPr id="12" name="kw-hex"/>
          <p:cNvSpPr/>
          <p:nvPr/>
        </p:nvSpPr>
        <p:spPr>
          <a:xfrm>
            <a:off x="658368" y="2160915"/>
            <a:ext cx="411480" cy="356342"/>
          </a:xfrm>
          <a:prstGeom prst="hexagon">
            <a:avLst/>
          </a:prstGeom>
          <a:solidFill>
            <a:srgbClr val="8C2F39"/>
          </a:solidFill>
          <a:ln/>
        </p:spPr>
      </p:sp>
      <p:sp>
        <p:nvSpPr>
          <p:cNvPr id="13" name="kw-cell"/>
          <p:cNvSpPr txBox="1"/>
          <p:nvPr/>
        </p:nvSpPr>
        <p:spPr>
          <a:xfrm>
            <a:off x="1143000" y="1920240"/>
            <a:ext cx="2331720" cy="83769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logos</a:t>
            </a:r>
            <a:endParaRPr lang="en-US" sz="2200" dirty="0"/>
          </a:p>
        </p:txBody>
      </p:sp>
      <p:sp>
        <p:nvSpPr>
          <p:cNvPr id="14" name="kw-cell"/>
          <p:cNvSpPr txBox="1"/>
          <p:nvPr/>
        </p:nvSpPr>
        <p:spPr>
          <a:xfrm>
            <a:off x="3657600" y="1920240"/>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persuasion through logic and facts</a:t>
            </a:r>
            <a:endParaRPr lang="en-US" sz="2000" dirty="0"/>
          </a:p>
        </p:txBody>
      </p:sp>
      <p:sp>
        <p:nvSpPr>
          <p:cNvPr id="15" name="kw-cell"/>
          <p:cNvSpPr txBox="1"/>
          <p:nvPr/>
        </p:nvSpPr>
        <p:spPr>
          <a:xfrm>
            <a:off x="7315200" y="1920240"/>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Logos is strongest when the facts are exact.</a:t>
            </a:r>
            <a:endParaRPr lang="en-US" sz="2000" dirty="0"/>
          </a:p>
        </p:txBody>
      </p:sp>
      <p:sp>
        <p:nvSpPr>
          <p:cNvPr id="16" name="kw-row"/>
          <p:cNvSpPr/>
          <p:nvPr/>
        </p:nvSpPr>
        <p:spPr>
          <a:xfrm>
            <a:off x="548640" y="2831084"/>
            <a:ext cx="11094415" cy="837692"/>
          </a:xfrm>
          <a:prstGeom prst="roundRect">
            <a:avLst>
              <a:gd name="adj" fmla="val 6549"/>
            </a:avLst>
          </a:prstGeom>
          <a:solidFill>
            <a:srgbClr val="F8F2E9"/>
          </a:solidFill>
          <a:ln/>
        </p:spPr>
      </p:sp>
      <p:sp>
        <p:nvSpPr>
          <p:cNvPr id="17" name="kw-hex"/>
          <p:cNvSpPr/>
          <p:nvPr/>
        </p:nvSpPr>
        <p:spPr>
          <a:xfrm>
            <a:off x="658368" y="3071759"/>
            <a:ext cx="411480" cy="356342"/>
          </a:xfrm>
          <a:prstGeom prst="hexagon">
            <a:avLst/>
          </a:prstGeom>
          <a:solidFill>
            <a:srgbClr val="B8862B"/>
          </a:solidFill>
          <a:ln/>
        </p:spPr>
      </p:sp>
      <p:sp>
        <p:nvSpPr>
          <p:cNvPr id="18" name="kw-cell"/>
          <p:cNvSpPr txBox="1"/>
          <p:nvPr/>
        </p:nvSpPr>
        <p:spPr>
          <a:xfrm>
            <a:off x="1143000" y="2831084"/>
            <a:ext cx="2331720" cy="83769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fact</a:t>
            </a:r>
            <a:endParaRPr lang="en-US" sz="2200" dirty="0"/>
          </a:p>
        </p:txBody>
      </p:sp>
      <p:sp>
        <p:nvSpPr>
          <p:cNvPr id="19" name="kw-cell"/>
          <p:cNvSpPr txBox="1"/>
          <p:nvPr/>
        </p:nvSpPr>
        <p:spPr>
          <a:xfrm>
            <a:off x="3657600" y="2831084"/>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something that can be checked and shown to be true</a:t>
            </a:r>
            <a:endParaRPr lang="en-US" sz="2000" dirty="0"/>
          </a:p>
        </p:txBody>
      </p:sp>
      <p:sp>
        <p:nvSpPr>
          <p:cNvPr id="20" name="kw-cell"/>
          <p:cNvSpPr txBox="1"/>
          <p:nvPr/>
        </p:nvSpPr>
        <p:spPr>
          <a:xfrm>
            <a:off x="7315200" y="2831084"/>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A fact is not the same as an opinion.</a:t>
            </a:r>
            <a:endParaRPr lang="en-US" sz="2000" dirty="0"/>
          </a:p>
        </p:txBody>
      </p:sp>
      <p:sp>
        <p:nvSpPr>
          <p:cNvPr id="21" name="kw-row"/>
          <p:cNvSpPr/>
          <p:nvPr/>
        </p:nvSpPr>
        <p:spPr>
          <a:xfrm>
            <a:off x="548640" y="3741928"/>
            <a:ext cx="11094415" cy="837692"/>
          </a:xfrm>
          <a:prstGeom prst="roundRect">
            <a:avLst>
              <a:gd name="adj" fmla="val 6549"/>
            </a:avLst>
          </a:prstGeom>
          <a:solidFill>
            <a:srgbClr val="F8F1F2"/>
          </a:solidFill>
          <a:ln/>
        </p:spPr>
      </p:sp>
      <p:sp>
        <p:nvSpPr>
          <p:cNvPr id="22" name="kw-hex"/>
          <p:cNvSpPr/>
          <p:nvPr/>
        </p:nvSpPr>
        <p:spPr>
          <a:xfrm>
            <a:off x="658368" y="3982603"/>
            <a:ext cx="411480" cy="356342"/>
          </a:xfrm>
          <a:prstGeom prst="hexagon">
            <a:avLst/>
          </a:prstGeom>
          <a:solidFill>
            <a:srgbClr val="8C2F39"/>
          </a:solidFill>
          <a:ln/>
        </p:spPr>
      </p:sp>
      <p:sp>
        <p:nvSpPr>
          <p:cNvPr id="23" name="kw-cell"/>
          <p:cNvSpPr txBox="1"/>
          <p:nvPr/>
        </p:nvSpPr>
        <p:spPr>
          <a:xfrm>
            <a:off x="1143000" y="3741928"/>
            <a:ext cx="2331720" cy="83769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analogy</a:t>
            </a:r>
            <a:endParaRPr lang="en-US" sz="2200" dirty="0"/>
          </a:p>
        </p:txBody>
      </p:sp>
      <p:sp>
        <p:nvSpPr>
          <p:cNvPr id="24" name="kw-cell"/>
          <p:cNvSpPr txBox="1"/>
          <p:nvPr/>
        </p:nvSpPr>
        <p:spPr>
          <a:xfrm>
            <a:off x="3657600" y="3741928"/>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comparison that explains something</a:t>
            </a:r>
            <a:endParaRPr lang="en-US" sz="2000" dirty="0"/>
          </a:p>
        </p:txBody>
      </p:sp>
      <p:sp>
        <p:nvSpPr>
          <p:cNvPr id="25" name="kw-cell"/>
          <p:cNvSpPr txBox="1"/>
          <p:nvPr/>
        </p:nvSpPr>
        <p:spPr>
          <a:xfrm>
            <a:off x="7315200" y="3741928"/>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The analogy of the onion explains what ogres are like.</a:t>
            </a:r>
            <a:endParaRPr lang="en-US" sz="2000" dirty="0"/>
          </a:p>
        </p:txBody>
      </p:sp>
      <p:sp>
        <p:nvSpPr>
          <p:cNvPr id="26" name="kw-row"/>
          <p:cNvSpPr/>
          <p:nvPr/>
        </p:nvSpPr>
        <p:spPr>
          <a:xfrm>
            <a:off x="548640" y="4652772"/>
            <a:ext cx="11094415" cy="837692"/>
          </a:xfrm>
          <a:prstGeom prst="roundRect">
            <a:avLst>
              <a:gd name="adj" fmla="val 6549"/>
            </a:avLst>
          </a:prstGeom>
          <a:solidFill>
            <a:srgbClr val="F8F2E9"/>
          </a:solidFill>
          <a:ln/>
        </p:spPr>
      </p:sp>
      <p:sp>
        <p:nvSpPr>
          <p:cNvPr id="27" name="kw-hex"/>
          <p:cNvSpPr/>
          <p:nvPr/>
        </p:nvSpPr>
        <p:spPr>
          <a:xfrm>
            <a:off x="658368" y="4893447"/>
            <a:ext cx="411480" cy="356342"/>
          </a:xfrm>
          <a:prstGeom prst="hexagon">
            <a:avLst/>
          </a:prstGeom>
          <a:solidFill>
            <a:srgbClr val="B8862B"/>
          </a:solidFill>
          <a:ln/>
        </p:spPr>
      </p:sp>
      <p:sp>
        <p:nvSpPr>
          <p:cNvPr id="28" name="kw-cell"/>
          <p:cNvSpPr txBox="1"/>
          <p:nvPr/>
        </p:nvSpPr>
        <p:spPr>
          <a:xfrm>
            <a:off x="1143000" y="4652772"/>
            <a:ext cx="2331720" cy="83769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simile</a:t>
            </a:r>
            <a:endParaRPr lang="en-US" sz="2200" dirty="0"/>
          </a:p>
        </p:txBody>
      </p:sp>
      <p:sp>
        <p:nvSpPr>
          <p:cNvPr id="29" name="kw-cell"/>
          <p:cNvSpPr txBox="1"/>
          <p:nvPr/>
        </p:nvSpPr>
        <p:spPr>
          <a:xfrm>
            <a:off x="3657600" y="4652772"/>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saying one thing is like another</a:t>
            </a:r>
            <a:endParaRPr lang="en-US" sz="2000" dirty="0"/>
          </a:p>
        </p:txBody>
      </p:sp>
      <p:sp>
        <p:nvSpPr>
          <p:cNvPr id="30" name="kw-cell"/>
          <p:cNvSpPr txBox="1"/>
          <p:nvPr/>
        </p:nvSpPr>
        <p:spPr>
          <a:xfrm>
            <a:off x="7315200" y="4652772"/>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A simile paints a picture, but it does not have to explain.</a:t>
            </a:r>
            <a:endParaRPr lang="en-US" sz="2000" dirty="0"/>
          </a:p>
        </p:txBody>
      </p:sp>
      <p:sp>
        <p:nvSpPr>
          <p:cNvPr id="31" name="kw-row"/>
          <p:cNvSpPr/>
          <p:nvPr/>
        </p:nvSpPr>
        <p:spPr>
          <a:xfrm>
            <a:off x="548640" y="5563616"/>
            <a:ext cx="11094415" cy="581152"/>
          </a:xfrm>
          <a:prstGeom prst="roundRect">
            <a:avLst>
              <a:gd name="adj" fmla="val 9441"/>
            </a:avLst>
          </a:prstGeom>
          <a:solidFill>
            <a:srgbClr val="F8F1F2"/>
          </a:solidFill>
          <a:ln/>
        </p:spPr>
      </p:sp>
      <p:sp>
        <p:nvSpPr>
          <p:cNvPr id="32" name="kw-hex"/>
          <p:cNvSpPr/>
          <p:nvPr/>
        </p:nvSpPr>
        <p:spPr>
          <a:xfrm>
            <a:off x="658368" y="5676021"/>
            <a:ext cx="411480" cy="356342"/>
          </a:xfrm>
          <a:prstGeom prst="hexagon">
            <a:avLst/>
          </a:prstGeom>
          <a:solidFill>
            <a:srgbClr val="8C2F39"/>
          </a:solidFill>
          <a:ln/>
        </p:spPr>
      </p:sp>
      <p:sp>
        <p:nvSpPr>
          <p:cNvPr id="33" name="kw-cell"/>
          <p:cNvSpPr txBox="1"/>
          <p:nvPr/>
        </p:nvSpPr>
        <p:spPr>
          <a:xfrm>
            <a:off x="1143000" y="5563616"/>
            <a:ext cx="2331720" cy="58115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familiar</a:t>
            </a:r>
            <a:endParaRPr lang="en-US" sz="2200" dirty="0"/>
          </a:p>
        </p:txBody>
      </p:sp>
      <p:sp>
        <p:nvSpPr>
          <p:cNvPr id="34" name="kw-cell"/>
          <p:cNvSpPr txBox="1"/>
          <p:nvPr/>
        </p:nvSpPr>
        <p:spPr>
          <a:xfrm>
            <a:off x="3657600" y="5563616"/>
            <a:ext cx="3474720" cy="58115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well known, easy to recognise</a:t>
            </a:r>
            <a:endParaRPr lang="en-US" sz="2000" dirty="0"/>
          </a:p>
        </p:txBody>
      </p:sp>
      <p:sp>
        <p:nvSpPr>
          <p:cNvPr id="35" name="kw-cell"/>
          <p:cNvSpPr txBox="1"/>
          <p:nvPr/>
        </p:nvSpPr>
        <p:spPr>
          <a:xfrm>
            <a:off x="7315200" y="5563616"/>
            <a:ext cx="4236415" cy="58115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Link a new idea to something familiar.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9F4F4"/>
          </a:solidFill>
          <a:ln w="12700">
            <a:solidFill>
              <a:srgbClr val="DEC4C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Logos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means persuading with logic and reason.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 build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logos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with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facts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statistics and clear arguments.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One powerful tool for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logos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analogy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analogy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compares two things to explain one of them.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links something new to something the audience already knows.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simile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only says one thing is like another.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analogy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goes further and makes an explanatory point.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9F4F4"/>
          </a:solidFill>
          <a:ln w="12700">
            <a:solidFill>
              <a:srgbClr val="DEC4C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the film Shrek, the ogre says ogres are like onions.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Both have layers, so Donkey understands him.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Writers also use historical analogies.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compare a new event to a famous event from the past.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good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analogy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makes an unfamiliar idea feel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familiar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bad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analogy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can be unfair or confusing.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Choose yours carefully.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How logos is built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sentence has a number in it, check where the number came from. Logos is only as strong as its source.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Logos is the appeal to reason. Your teachers list three ways to develop it: citing facts (the most important), using historical and literal analogies, and constructing logical arguments.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Facts matter because an audience cannot argue with them easily.</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5EDEE"/>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logical argument puts facts in order so that one leads to the next: here is the problem, here is the evidence, here is the fix.</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Worked example: How logos is built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5EDEE"/>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Turn this opinion into logos: ‘Our school needs a longer lunch break.’</a:t>
            </a:r>
            <a:endParaRPr lang="en-US" sz="2200" dirty="0"/>
          </a:p>
        </p:txBody>
      </p:sp>
      <p:sp>
        <p:nvSpPr>
          <p:cNvPr id="9" name="step-box"/>
          <p:cNvSpPr/>
          <p:nvPr/>
        </p:nvSpPr>
        <p:spPr>
          <a:xfrm>
            <a:off x="548640" y="2314956"/>
            <a:ext cx="3423818" cy="1974088"/>
          </a:xfrm>
          <a:prstGeom prst="roundRect">
            <a:avLst>
              <a:gd name="adj" fmla="val 3706"/>
            </a:avLst>
          </a:prstGeom>
          <a:solidFill>
            <a:srgbClr val="FFFFFF"/>
          </a:solidFill>
          <a:ln w="15875">
            <a:solidFill>
              <a:srgbClr val="C08D92"/>
            </a:solidFill>
            <a:prstDash val="solid"/>
          </a:ln>
        </p:spPr>
      </p:sp>
      <p:sp>
        <p:nvSpPr>
          <p:cNvPr id="10" name="step-hex"/>
          <p:cNvSpPr/>
          <p:nvPr/>
        </p:nvSpPr>
        <p:spPr>
          <a:xfrm>
            <a:off x="685800" y="2424684"/>
            <a:ext cx="530352" cy="459285"/>
          </a:xfrm>
          <a:prstGeom prst="hexagon">
            <a:avLst/>
          </a:prstGeom>
          <a:solidFill>
            <a:srgbClr val="8C2F39"/>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a fact that can be checked: lunch is 30 minutes long.</a:t>
            </a:r>
            <a:endParaRPr lang="en-US" sz="1800" dirty="0"/>
          </a:p>
        </p:txBody>
      </p:sp>
      <p:sp>
        <p:nvSpPr>
          <p:cNvPr id="13" name="arrow"/>
          <p:cNvSpPr/>
          <p:nvPr/>
        </p:nvSpPr>
        <p:spPr>
          <a:xfrm>
            <a:off x="4045610" y="3164840"/>
            <a:ext cx="274320" cy="274320"/>
          </a:xfrm>
          <a:prstGeom prst="rightArrow">
            <a:avLst/>
          </a:prstGeom>
          <a:solidFill>
            <a:srgbClr val="B8862B"/>
          </a:solidFill>
          <a:ln/>
        </p:spPr>
      </p:sp>
      <p:sp>
        <p:nvSpPr>
          <p:cNvPr id="14" name="step-box"/>
          <p:cNvSpPr/>
          <p:nvPr/>
        </p:nvSpPr>
        <p:spPr>
          <a:xfrm>
            <a:off x="4383938" y="2314956"/>
            <a:ext cx="3423818" cy="1974088"/>
          </a:xfrm>
          <a:prstGeom prst="roundRect">
            <a:avLst>
              <a:gd name="adj" fmla="val 3706"/>
            </a:avLst>
          </a:prstGeom>
          <a:solidFill>
            <a:srgbClr val="FFFFFF"/>
          </a:solidFill>
          <a:ln w="15875">
            <a:solidFill>
              <a:srgbClr val="C08D92"/>
            </a:solidFill>
            <a:prstDash val="solid"/>
          </a:ln>
        </p:spPr>
      </p:sp>
      <p:sp>
        <p:nvSpPr>
          <p:cNvPr id="15" name="step-hex"/>
          <p:cNvSpPr/>
          <p:nvPr/>
        </p:nvSpPr>
        <p:spPr>
          <a:xfrm>
            <a:off x="4521098" y="2424684"/>
            <a:ext cx="530352" cy="459285"/>
          </a:xfrm>
          <a:prstGeom prst="hexagon">
            <a:avLst/>
          </a:prstGeom>
          <a:solidFill>
            <a:srgbClr val="8C2F39"/>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Add a statistic: in a class survey, 19 out of 28 pupils said they had not finished eating when the bell went.</a:t>
            </a:r>
            <a:endParaRPr lang="en-US" sz="1800" dirty="0"/>
          </a:p>
        </p:txBody>
      </p:sp>
      <p:sp>
        <p:nvSpPr>
          <p:cNvPr id="18" name="arrow"/>
          <p:cNvSpPr/>
          <p:nvPr/>
        </p:nvSpPr>
        <p:spPr>
          <a:xfrm>
            <a:off x="7880909" y="3164840"/>
            <a:ext cx="274320" cy="274320"/>
          </a:xfrm>
          <a:prstGeom prst="rightArrow">
            <a:avLst/>
          </a:prstGeom>
          <a:solidFill>
            <a:srgbClr val="B8862B"/>
          </a:solidFill>
          <a:ln/>
        </p:spPr>
      </p:sp>
      <p:sp>
        <p:nvSpPr>
          <p:cNvPr id="19" name="step-box"/>
          <p:cNvSpPr/>
          <p:nvPr/>
        </p:nvSpPr>
        <p:spPr>
          <a:xfrm>
            <a:off x="8219237" y="2314956"/>
            <a:ext cx="3423818" cy="1974088"/>
          </a:xfrm>
          <a:prstGeom prst="roundRect">
            <a:avLst>
              <a:gd name="adj" fmla="val 3706"/>
            </a:avLst>
          </a:prstGeom>
          <a:solidFill>
            <a:srgbClr val="FFFFFF"/>
          </a:solidFill>
          <a:ln w="15875">
            <a:solidFill>
              <a:srgbClr val="C08D92"/>
            </a:solidFill>
            <a:prstDash val="solid"/>
          </a:ln>
        </p:spPr>
      </p:sp>
      <p:sp>
        <p:nvSpPr>
          <p:cNvPr id="20" name="step-hex"/>
          <p:cNvSpPr/>
          <p:nvPr/>
        </p:nvSpPr>
        <p:spPr>
          <a:xfrm>
            <a:off x="8356397" y="2424684"/>
            <a:ext cx="530352" cy="459285"/>
          </a:xfrm>
          <a:prstGeom prst="hexagon">
            <a:avLst/>
          </a:prstGeom>
          <a:solidFill>
            <a:srgbClr val="8C2F39"/>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Build the argument: short break, pupils not eating, so lessons after lunch start badly.</a:t>
            </a:r>
            <a:endParaRPr lang="en-US" sz="1800" dirty="0"/>
          </a:p>
        </p:txBody>
      </p:sp>
      <p:sp>
        <p:nvSpPr>
          <p:cNvPr id="23" name="worked-answer"/>
          <p:cNvSpPr/>
          <p:nvPr/>
        </p:nvSpPr>
        <p:spPr>
          <a:xfrm>
            <a:off x="1463040" y="5034788"/>
            <a:ext cx="9265615" cy="1109980"/>
          </a:xfrm>
          <a:prstGeom prst="roundRect">
            <a:avLst>
              <a:gd name="adj" fmla="val 1647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‘Lunch is thirty minutes. In our survey, 19 out of 28 pupils had not finished eating when the bell went. Hungry pupils do not learn well, so a longer break would improve the afternoon.’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Analogy, simile and metaphor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Test an analogy by finishing the sentence ‘…because both…’. If you cannot, it is a simile, not an analogy.</a:t>
            </a:r>
            <a:endParaRPr lang="en-US" sz="1800" dirty="0"/>
          </a:p>
        </p:txBody>
      </p:sp>
      <p:sp>
        <p:nvSpPr>
          <p:cNvPr id="11" name="bullet-card"/>
          <p:cNvSpPr/>
          <p:nvPr/>
        </p:nvSpPr>
        <p:spPr>
          <a:xfrm>
            <a:off x="548640" y="1389888"/>
            <a:ext cx="11094415" cy="1098127"/>
          </a:xfrm>
          <a:prstGeom prst="roundRect">
            <a:avLst>
              <a:gd name="adj" fmla="val 6662"/>
            </a:avLst>
          </a:prstGeom>
          <a:solidFill>
            <a:srgbClr val="F8F1F2"/>
          </a:solidFill>
          <a:ln/>
        </p:spPr>
      </p:sp>
      <p:sp>
        <p:nvSpPr>
          <p:cNvPr id="12" name="bullet-hex"/>
          <p:cNvSpPr/>
          <p:nvPr/>
        </p:nvSpPr>
        <p:spPr>
          <a:xfrm>
            <a:off x="676656" y="1772659"/>
            <a:ext cx="384048" cy="332586"/>
          </a:xfrm>
          <a:prstGeom prst="hexagon">
            <a:avLst/>
          </a:prstGeom>
          <a:solidFill>
            <a:srgbClr val="8C2F39"/>
          </a:solidFill>
          <a:ln/>
        </p:spPr>
      </p:sp>
      <p:sp>
        <p:nvSpPr>
          <p:cNvPr id="13" name="bullet"/>
          <p:cNvSpPr txBox="1"/>
          <p:nvPr/>
        </p:nvSpPr>
        <p:spPr>
          <a:xfrm>
            <a:off x="1143000" y="1389888"/>
            <a:ext cx="10408615" cy="109812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analogy is a comparison between two things that explains or persuades by pointing out what they share.</a:t>
            </a:r>
            <a:endParaRPr lang="en-US" sz="2200" dirty="0"/>
          </a:p>
        </p:txBody>
      </p:sp>
      <p:sp>
        <p:nvSpPr>
          <p:cNvPr id="14" name="bullet-card"/>
          <p:cNvSpPr/>
          <p:nvPr/>
        </p:nvSpPr>
        <p:spPr>
          <a:xfrm>
            <a:off x="548640" y="2634319"/>
            <a:ext cx="11094415" cy="856319"/>
          </a:xfrm>
          <a:prstGeom prst="roundRect">
            <a:avLst>
              <a:gd name="adj" fmla="val 8543"/>
            </a:avLst>
          </a:prstGeom>
          <a:solidFill>
            <a:srgbClr val="F8F1F2"/>
          </a:solidFill>
          <a:ln/>
        </p:spPr>
      </p:sp>
      <p:sp>
        <p:nvSpPr>
          <p:cNvPr id="15" name="bullet-hex"/>
          <p:cNvSpPr/>
          <p:nvPr/>
        </p:nvSpPr>
        <p:spPr>
          <a:xfrm>
            <a:off x="676656" y="2896185"/>
            <a:ext cx="384048" cy="332586"/>
          </a:xfrm>
          <a:prstGeom prst="hexagon">
            <a:avLst/>
          </a:prstGeom>
          <a:solidFill>
            <a:srgbClr val="B8862B"/>
          </a:solidFill>
          <a:ln/>
        </p:spPr>
      </p:sp>
      <p:sp>
        <p:nvSpPr>
          <p:cNvPr id="16" name="bullet"/>
          <p:cNvSpPr txBox="1"/>
          <p:nvPr/>
        </p:nvSpPr>
        <p:spPr>
          <a:xfrm>
            <a:off x="1143000" y="2634319"/>
            <a:ext cx="10408615" cy="85631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the film Shrek, the ogre explains that ogres are like onions because both have layers.</a:t>
            </a:r>
            <a:endParaRPr lang="en-US" sz="2200" dirty="0"/>
          </a:p>
        </p:txBody>
      </p:sp>
      <p:sp>
        <p:nvSpPr>
          <p:cNvPr id="17" name="bullet-card"/>
          <p:cNvSpPr/>
          <p:nvPr/>
        </p:nvSpPr>
        <p:spPr>
          <a:xfrm>
            <a:off x="548640" y="3636941"/>
            <a:ext cx="11094415" cy="1438995"/>
          </a:xfrm>
          <a:prstGeom prst="roundRect">
            <a:avLst>
              <a:gd name="adj" fmla="val 5084"/>
            </a:avLst>
          </a:prstGeom>
          <a:solidFill>
            <a:srgbClr val="F8F1F2"/>
          </a:solidFill>
          <a:ln/>
        </p:spPr>
      </p:sp>
      <p:sp>
        <p:nvSpPr>
          <p:cNvPr id="18" name="bullet-hex"/>
          <p:cNvSpPr/>
          <p:nvPr/>
        </p:nvSpPr>
        <p:spPr>
          <a:xfrm>
            <a:off x="676656" y="4190146"/>
            <a:ext cx="384048" cy="332586"/>
          </a:xfrm>
          <a:prstGeom prst="hexagon">
            <a:avLst/>
          </a:prstGeom>
          <a:solidFill>
            <a:srgbClr val="8C2F39"/>
          </a:solidFill>
          <a:ln/>
        </p:spPr>
      </p:sp>
      <p:sp>
        <p:nvSpPr>
          <p:cNvPr id="19" name="bullet"/>
          <p:cNvSpPr txBox="1"/>
          <p:nvPr/>
        </p:nvSpPr>
        <p:spPr>
          <a:xfrm>
            <a:off x="1143000" y="3636941"/>
            <a:ext cx="10408615" cy="143899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Try these original analogies and work out the point each one makes: ‘Revision is like training for a race.’ ‘A rumour is like a dropped glass.’ ‘Our school is like a beehive.’ Each one explains something by comparing it to something you already know.</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Historical analogies, fair and unfair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Before you use a historical analogy, ask: would a historian in the room nod, or wince?</a:t>
            </a:r>
            <a:endParaRPr lang="en-US" sz="1800" dirty="0"/>
          </a:p>
        </p:txBody>
      </p:sp>
      <p:sp>
        <p:nvSpPr>
          <p:cNvPr id="11" name="point-card"/>
          <p:cNvSpPr/>
          <p:nvPr/>
        </p:nvSpPr>
        <p:spPr>
          <a:xfrm>
            <a:off x="548640" y="1389888"/>
            <a:ext cx="5410048" cy="3964940"/>
          </a:xfrm>
          <a:prstGeom prst="roundRect">
            <a:avLst>
              <a:gd name="adj" fmla="val 1384"/>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historical analogy compares something now to a famous event from the past.</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Historical analogies can also be unfair. Comparing a politician you dislike to a dictator is a common trick, and it is exactly the kind of emotional manipulation Aristotle criticised the Sophists for.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Worked example: Historical analogies, fair and unfair</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5EDEE"/>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Is this a fair analogy? ‘Leaving the lights on all night in school is like leaving a tap running: nothing is gained and something valuable drains away.’</a:t>
            </a:r>
            <a:endParaRPr lang="en-US" sz="2200" dirty="0"/>
          </a:p>
        </p:txBody>
      </p:sp>
      <p:sp>
        <p:nvSpPr>
          <p:cNvPr id="9" name="step-box"/>
          <p:cNvSpPr/>
          <p:nvPr/>
        </p:nvSpPr>
        <p:spPr>
          <a:xfrm>
            <a:off x="548640" y="2655824"/>
            <a:ext cx="3423818" cy="2252980"/>
          </a:xfrm>
          <a:prstGeom prst="roundRect">
            <a:avLst>
              <a:gd name="adj" fmla="val 3247"/>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what the two things share: both waste a resource for no benefit.</a:t>
            </a:r>
            <a:endParaRPr lang="en-US" sz="1800" dirty="0"/>
          </a:p>
        </p:txBody>
      </p:sp>
      <p:sp>
        <p:nvSpPr>
          <p:cNvPr id="13" name="arrow"/>
          <p:cNvSpPr/>
          <p:nvPr/>
        </p:nvSpPr>
        <p:spPr>
          <a:xfrm>
            <a:off x="4045610" y="3645154"/>
            <a:ext cx="274320" cy="274320"/>
          </a:xfrm>
          <a:prstGeom prst="rightArrow">
            <a:avLst/>
          </a:prstGeom>
          <a:solidFill>
            <a:srgbClr val="B8862B"/>
          </a:solidFill>
          <a:ln/>
        </p:spPr>
      </p:sp>
      <p:sp>
        <p:nvSpPr>
          <p:cNvPr id="14" name="step-box"/>
          <p:cNvSpPr/>
          <p:nvPr/>
        </p:nvSpPr>
        <p:spPr>
          <a:xfrm>
            <a:off x="4383938" y="2655824"/>
            <a:ext cx="3423818" cy="2252980"/>
          </a:xfrm>
          <a:prstGeom prst="roundRect">
            <a:avLst>
              <a:gd name="adj" fmla="val 3247"/>
            </a:avLst>
          </a:prstGeom>
          <a:solidFill>
            <a:srgbClr val="FFFFFF"/>
          </a:solidFill>
          <a:ln w="15875">
            <a:solidFill>
              <a:srgbClr val="C08D92"/>
            </a:solidFill>
            <a:prstDash val="solid"/>
          </a:ln>
        </p:spPr>
      </p:sp>
      <p:sp>
        <p:nvSpPr>
          <p:cNvPr id="15" name="step-hex"/>
          <p:cNvSpPr/>
          <p:nvPr/>
        </p:nvSpPr>
        <p:spPr>
          <a:xfrm>
            <a:off x="4521098" y="2765552"/>
            <a:ext cx="530352" cy="459285"/>
          </a:xfrm>
          <a:prstGeom prst="hexagon">
            <a:avLst/>
          </a:prstGeom>
          <a:solidFill>
            <a:srgbClr val="8C2F39"/>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whether the comparison helps the audience understand the problem: yes, everyone knows a running tap wastes water.</a:t>
            </a:r>
            <a:endParaRPr lang="en-US" sz="1800" dirty="0"/>
          </a:p>
        </p:txBody>
      </p:sp>
      <p:sp>
        <p:nvSpPr>
          <p:cNvPr id="18" name="arrow"/>
          <p:cNvSpPr/>
          <p:nvPr/>
        </p:nvSpPr>
        <p:spPr>
          <a:xfrm>
            <a:off x="7880909" y="3645154"/>
            <a:ext cx="274320" cy="274320"/>
          </a:xfrm>
          <a:prstGeom prst="rightArrow">
            <a:avLst/>
          </a:prstGeom>
          <a:solidFill>
            <a:srgbClr val="B8862B"/>
          </a:solidFill>
          <a:ln/>
        </p:spPr>
      </p:sp>
      <p:sp>
        <p:nvSpPr>
          <p:cNvPr id="19" name="step-box"/>
          <p:cNvSpPr/>
          <p:nvPr/>
        </p:nvSpPr>
        <p:spPr>
          <a:xfrm>
            <a:off x="8219237" y="2655824"/>
            <a:ext cx="3423818" cy="2252980"/>
          </a:xfrm>
          <a:prstGeom prst="roundRect">
            <a:avLst>
              <a:gd name="adj" fmla="val 3247"/>
            </a:avLst>
          </a:prstGeom>
          <a:solidFill>
            <a:srgbClr val="FFFFFF"/>
          </a:solidFill>
          <a:ln w="15875">
            <a:solidFill>
              <a:srgbClr val="C08D92"/>
            </a:solidFill>
            <a:prstDash val="solid"/>
          </a:ln>
        </p:spPr>
      </p:sp>
      <p:sp>
        <p:nvSpPr>
          <p:cNvPr id="20" name="step-hex"/>
          <p:cNvSpPr/>
          <p:nvPr/>
        </p:nvSpPr>
        <p:spPr>
          <a:xfrm>
            <a:off x="8356397" y="2765552"/>
            <a:ext cx="530352" cy="459285"/>
          </a:xfrm>
          <a:prstGeom prst="hexagon">
            <a:avLst/>
          </a:prstGeom>
          <a:solidFill>
            <a:srgbClr val="8C2F39"/>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whether it exaggerates to frighten: no, the claim is modest and true.</a:t>
            </a:r>
            <a:endParaRPr lang="en-US" sz="1800" dirty="0"/>
          </a:p>
        </p:txBody>
      </p:sp>
      <p:sp>
        <p:nvSpPr>
          <p:cNvPr id="23"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Fair. It explains waste through something familiar and does not smuggle in a false claim.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Planning the mid-unit speech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Plan both sides even though you will argue one. Knowing the other side is how you beat it.</a:t>
            </a:r>
            <a:endParaRPr lang="en-US" sz="1800" dirty="0"/>
          </a:p>
        </p:txBody>
      </p:sp>
      <p:sp>
        <p:nvSpPr>
          <p:cNvPr id="11" name="point-card"/>
          <p:cNvSpPr/>
          <p:nvPr/>
        </p:nvSpPr>
        <p:spPr>
          <a:xfrm>
            <a:off x="548640" y="1389888"/>
            <a:ext cx="5410048" cy="3964940"/>
          </a:xfrm>
          <a:prstGeom prst="roundRect">
            <a:avLst>
              <a:gd name="adj" fmla="val 1384"/>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Half way through this unit you will give a short speech to the class.</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speech should make your own side clear, use ethos, logos and pathos, and include at least one analogy to explain a point.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What does the analogy explain?</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original analogy to the point it makes.</a:t>
            </a:r>
            <a:endParaRPr lang="en-US" sz="2400" dirty="0"/>
          </a:p>
        </p:txBody>
      </p:sp>
      <p:sp>
        <p:nvSpPr>
          <p:cNvPr id="11" name="match-card"/>
          <p:cNvSpPr/>
          <p:nvPr/>
        </p:nvSpPr>
        <p:spPr>
          <a:xfrm>
            <a:off x="777240" y="2468331"/>
            <a:ext cx="4644484" cy="877199"/>
          </a:xfrm>
          <a:prstGeom prst="roundRect">
            <a:avLst>
              <a:gd name="adj" fmla="val 8339"/>
            </a:avLst>
          </a:prstGeom>
          <a:solidFill>
            <a:srgbClr val="F8F1F2"/>
          </a:solidFill>
          <a:ln/>
        </p:spPr>
      </p:sp>
      <p:sp>
        <p:nvSpPr>
          <p:cNvPr id="12" name="match-hex"/>
          <p:cNvSpPr/>
          <p:nvPr/>
        </p:nvSpPr>
        <p:spPr>
          <a:xfrm>
            <a:off x="850392" y="2740638"/>
            <a:ext cx="384048" cy="332586"/>
          </a:xfrm>
          <a:prstGeom prst="hexagon">
            <a:avLst/>
          </a:prstGeom>
          <a:solidFill>
            <a:srgbClr val="8C2F39"/>
          </a:solidFill>
          <a:ln/>
        </p:spPr>
      </p:sp>
      <p:sp>
        <p:nvSpPr>
          <p:cNvPr id="13" name="match-hex-label"/>
          <p:cNvSpPr txBox="1"/>
          <p:nvPr/>
        </p:nvSpPr>
        <p:spPr>
          <a:xfrm>
            <a:off x="850392"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050124"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‘Revision is like training for a race.’</a:t>
            </a:r>
            <a:endParaRPr lang="en-US" sz="2000" dirty="0"/>
          </a:p>
        </p:txBody>
      </p:sp>
      <p:sp>
        <p:nvSpPr>
          <p:cNvPr id="15" name="match-card"/>
          <p:cNvSpPr/>
          <p:nvPr/>
        </p:nvSpPr>
        <p:spPr>
          <a:xfrm>
            <a:off x="5787484" y="2468331"/>
            <a:ext cx="5626971" cy="877199"/>
          </a:xfrm>
          <a:prstGeom prst="roundRect">
            <a:avLst>
              <a:gd name="adj" fmla="val 8339"/>
            </a:avLst>
          </a:prstGeom>
          <a:solidFill>
            <a:srgbClr val="F8F2E9"/>
          </a:solidFill>
          <a:ln/>
        </p:spPr>
      </p:sp>
      <p:sp>
        <p:nvSpPr>
          <p:cNvPr id="16" name="match-hex"/>
          <p:cNvSpPr/>
          <p:nvPr/>
        </p:nvSpPr>
        <p:spPr>
          <a:xfrm>
            <a:off x="5860636" y="2740638"/>
            <a:ext cx="384048" cy="332586"/>
          </a:xfrm>
          <a:prstGeom prst="hexagon">
            <a:avLst/>
          </a:prstGeom>
          <a:solidFill>
            <a:srgbClr val="B8862B"/>
          </a:solidFill>
          <a:ln/>
        </p:spPr>
      </p:sp>
      <p:sp>
        <p:nvSpPr>
          <p:cNvPr id="17" name="match-hex-label"/>
          <p:cNvSpPr txBox="1"/>
          <p:nvPr/>
        </p:nvSpPr>
        <p:spPr>
          <a:xfrm>
            <a:off x="5860636"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308692" y="2468331"/>
            <a:ext cx="5032611"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Practice before the day is what makes the difference.</a:t>
            </a:r>
            <a:endParaRPr lang="en-US" sz="2000" dirty="0"/>
          </a:p>
        </p:txBody>
      </p:sp>
      <p:sp>
        <p:nvSpPr>
          <p:cNvPr id="19" name="match-card"/>
          <p:cNvSpPr/>
          <p:nvPr/>
        </p:nvSpPr>
        <p:spPr>
          <a:xfrm>
            <a:off x="777240" y="3436971"/>
            <a:ext cx="4644484" cy="587639"/>
          </a:xfrm>
          <a:prstGeom prst="roundRect">
            <a:avLst>
              <a:gd name="adj" fmla="val 12448"/>
            </a:avLst>
          </a:prstGeom>
          <a:solidFill>
            <a:srgbClr val="F8F1F2"/>
          </a:solidFill>
          <a:ln/>
        </p:spPr>
      </p:sp>
      <p:sp>
        <p:nvSpPr>
          <p:cNvPr id="20" name="match-hex"/>
          <p:cNvSpPr/>
          <p:nvPr/>
        </p:nvSpPr>
        <p:spPr>
          <a:xfrm>
            <a:off x="850392" y="3564497"/>
            <a:ext cx="384048" cy="332586"/>
          </a:xfrm>
          <a:prstGeom prst="hexagon">
            <a:avLst/>
          </a:prstGeom>
          <a:solidFill>
            <a:srgbClr val="8C2F39"/>
          </a:solidFill>
          <a:ln/>
        </p:spPr>
      </p:sp>
      <p:sp>
        <p:nvSpPr>
          <p:cNvPr id="21" name="match-hex-label"/>
          <p:cNvSpPr txBox="1"/>
          <p:nvPr/>
        </p:nvSpPr>
        <p:spPr>
          <a:xfrm>
            <a:off x="850392" y="35644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36971"/>
            <a:ext cx="4050124"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rumour is like a dropped glass.’</a:t>
            </a:r>
            <a:endParaRPr lang="en-US" sz="2000" dirty="0"/>
          </a:p>
        </p:txBody>
      </p:sp>
      <p:sp>
        <p:nvSpPr>
          <p:cNvPr id="23" name="match-card"/>
          <p:cNvSpPr/>
          <p:nvPr/>
        </p:nvSpPr>
        <p:spPr>
          <a:xfrm>
            <a:off x="5787484" y="3436971"/>
            <a:ext cx="5626971" cy="587639"/>
          </a:xfrm>
          <a:prstGeom prst="roundRect">
            <a:avLst>
              <a:gd name="adj" fmla="val 12448"/>
            </a:avLst>
          </a:prstGeom>
          <a:solidFill>
            <a:srgbClr val="F8F2E9"/>
          </a:solidFill>
          <a:ln/>
        </p:spPr>
      </p:sp>
      <p:sp>
        <p:nvSpPr>
          <p:cNvPr id="24" name="match-hex"/>
          <p:cNvSpPr/>
          <p:nvPr/>
        </p:nvSpPr>
        <p:spPr>
          <a:xfrm>
            <a:off x="5860636" y="3564497"/>
            <a:ext cx="384048" cy="332586"/>
          </a:xfrm>
          <a:prstGeom prst="hexagon">
            <a:avLst/>
          </a:prstGeom>
          <a:solidFill>
            <a:srgbClr val="B8862B"/>
          </a:solidFill>
          <a:ln/>
        </p:spPr>
      </p:sp>
      <p:sp>
        <p:nvSpPr>
          <p:cNvPr id="25" name="match-hex-label"/>
          <p:cNvSpPr txBox="1"/>
          <p:nvPr/>
        </p:nvSpPr>
        <p:spPr>
          <a:xfrm>
            <a:off x="5860636" y="35644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308692" y="3436971"/>
            <a:ext cx="5032611"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Money drains away unless you stop the leak.</a:t>
            </a:r>
            <a:endParaRPr lang="en-US" sz="2000" dirty="0"/>
          </a:p>
        </p:txBody>
      </p:sp>
      <p:sp>
        <p:nvSpPr>
          <p:cNvPr id="27" name="match-card"/>
          <p:cNvSpPr/>
          <p:nvPr/>
        </p:nvSpPr>
        <p:spPr>
          <a:xfrm>
            <a:off x="777240" y="4116050"/>
            <a:ext cx="4644484" cy="877199"/>
          </a:xfrm>
          <a:prstGeom prst="roundRect">
            <a:avLst>
              <a:gd name="adj" fmla="val 8339"/>
            </a:avLst>
          </a:prstGeom>
          <a:solidFill>
            <a:srgbClr val="F8F1F2"/>
          </a:solidFill>
          <a:ln/>
        </p:spPr>
      </p:sp>
      <p:sp>
        <p:nvSpPr>
          <p:cNvPr id="28" name="match-hex"/>
          <p:cNvSpPr/>
          <p:nvPr/>
        </p:nvSpPr>
        <p:spPr>
          <a:xfrm>
            <a:off x="850392" y="4388356"/>
            <a:ext cx="384048" cy="332586"/>
          </a:xfrm>
          <a:prstGeom prst="hexagon">
            <a:avLst/>
          </a:prstGeom>
          <a:solidFill>
            <a:srgbClr val="8C2F39"/>
          </a:solidFill>
          <a:ln/>
        </p:spPr>
      </p:sp>
      <p:sp>
        <p:nvSpPr>
          <p:cNvPr id="29" name="match-hex-label"/>
          <p:cNvSpPr txBox="1"/>
          <p:nvPr/>
        </p:nvSpPr>
        <p:spPr>
          <a:xfrm>
            <a:off x="850392"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116050"/>
            <a:ext cx="4050124"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‘Our school is like a beehive.’</a:t>
            </a:r>
            <a:endParaRPr lang="en-US" sz="2000" dirty="0"/>
          </a:p>
        </p:txBody>
      </p:sp>
      <p:sp>
        <p:nvSpPr>
          <p:cNvPr id="31" name="match-card"/>
          <p:cNvSpPr/>
          <p:nvPr/>
        </p:nvSpPr>
        <p:spPr>
          <a:xfrm>
            <a:off x="5787484" y="4116050"/>
            <a:ext cx="5626971" cy="877199"/>
          </a:xfrm>
          <a:prstGeom prst="roundRect">
            <a:avLst>
              <a:gd name="adj" fmla="val 8339"/>
            </a:avLst>
          </a:prstGeom>
          <a:solidFill>
            <a:srgbClr val="F8F2E9"/>
          </a:solidFill>
          <a:ln/>
        </p:spPr>
      </p:sp>
      <p:sp>
        <p:nvSpPr>
          <p:cNvPr id="32" name="match-hex"/>
          <p:cNvSpPr/>
          <p:nvPr/>
        </p:nvSpPr>
        <p:spPr>
          <a:xfrm>
            <a:off x="5860636" y="4388356"/>
            <a:ext cx="384048" cy="332586"/>
          </a:xfrm>
          <a:prstGeom prst="hexagon">
            <a:avLst/>
          </a:prstGeom>
          <a:solidFill>
            <a:srgbClr val="B8862B"/>
          </a:solidFill>
          <a:ln/>
        </p:spPr>
      </p:sp>
      <p:sp>
        <p:nvSpPr>
          <p:cNvPr id="33" name="match-hex-label"/>
          <p:cNvSpPr txBox="1"/>
          <p:nvPr/>
        </p:nvSpPr>
        <p:spPr>
          <a:xfrm>
            <a:off x="5860636"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308692" y="4116050"/>
            <a:ext cx="5032611"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Everyone has a job, and the whole depends on each part.</a:t>
            </a:r>
            <a:endParaRPr lang="en-US" sz="2000" dirty="0"/>
          </a:p>
        </p:txBody>
      </p:sp>
      <p:sp>
        <p:nvSpPr>
          <p:cNvPr id="35" name="match-card"/>
          <p:cNvSpPr/>
          <p:nvPr/>
        </p:nvSpPr>
        <p:spPr>
          <a:xfrm>
            <a:off x="777240" y="5084689"/>
            <a:ext cx="4644484" cy="877199"/>
          </a:xfrm>
          <a:prstGeom prst="roundRect">
            <a:avLst>
              <a:gd name="adj" fmla="val 8339"/>
            </a:avLst>
          </a:prstGeom>
          <a:solidFill>
            <a:srgbClr val="F8F1F2"/>
          </a:solidFill>
          <a:ln/>
        </p:spPr>
      </p:sp>
      <p:sp>
        <p:nvSpPr>
          <p:cNvPr id="36" name="match-hex"/>
          <p:cNvSpPr/>
          <p:nvPr/>
        </p:nvSpPr>
        <p:spPr>
          <a:xfrm>
            <a:off x="850392" y="5356996"/>
            <a:ext cx="384048" cy="332586"/>
          </a:xfrm>
          <a:prstGeom prst="hexagon">
            <a:avLst/>
          </a:prstGeom>
          <a:solidFill>
            <a:srgbClr val="8C2F39"/>
          </a:solidFill>
          <a:ln/>
        </p:spPr>
      </p:sp>
      <p:sp>
        <p:nvSpPr>
          <p:cNvPr id="37" name="match-hex-label"/>
          <p:cNvSpPr txBox="1"/>
          <p:nvPr/>
        </p:nvSpPr>
        <p:spPr>
          <a:xfrm>
            <a:off x="850392"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84689"/>
            <a:ext cx="4050124"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budget is like a bath with the plug out.’</a:t>
            </a:r>
            <a:endParaRPr lang="en-US" sz="2000" dirty="0"/>
          </a:p>
        </p:txBody>
      </p:sp>
      <p:sp>
        <p:nvSpPr>
          <p:cNvPr id="39" name="match-card"/>
          <p:cNvSpPr/>
          <p:nvPr/>
        </p:nvSpPr>
        <p:spPr>
          <a:xfrm>
            <a:off x="5787484" y="5084689"/>
            <a:ext cx="5626971" cy="877199"/>
          </a:xfrm>
          <a:prstGeom prst="roundRect">
            <a:avLst>
              <a:gd name="adj" fmla="val 8339"/>
            </a:avLst>
          </a:prstGeom>
          <a:solidFill>
            <a:srgbClr val="F8F2E9"/>
          </a:solidFill>
          <a:ln/>
        </p:spPr>
      </p:sp>
      <p:sp>
        <p:nvSpPr>
          <p:cNvPr id="40" name="match-hex"/>
          <p:cNvSpPr/>
          <p:nvPr/>
        </p:nvSpPr>
        <p:spPr>
          <a:xfrm>
            <a:off x="5860636" y="5356996"/>
            <a:ext cx="384048" cy="332586"/>
          </a:xfrm>
          <a:prstGeom prst="hexagon">
            <a:avLst/>
          </a:prstGeom>
          <a:solidFill>
            <a:srgbClr val="B8862B"/>
          </a:solidFill>
          <a:ln/>
        </p:spPr>
      </p:sp>
      <p:sp>
        <p:nvSpPr>
          <p:cNvPr id="41" name="match-hex-label"/>
          <p:cNvSpPr txBox="1"/>
          <p:nvPr/>
        </p:nvSpPr>
        <p:spPr>
          <a:xfrm>
            <a:off x="5860636"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308692" y="5084689"/>
            <a:ext cx="5032611"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Once it is out, it cannot be put back together.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Same task, three ways in: What does the analogy explain?</a:t>
            </a:r>
            <a:endParaRPr lang="en-US" sz="26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original analogy to the point it makes.</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5EDE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For each analogy, finish the sentence ‘…because both…’.</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everybody already knows about the familiar thing (a race, a glass, a hive, a bath).</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that known fact to the point on the right.</a:t>
            </a:r>
            <a:endParaRPr lang="en-US" sz="1800" dirty="0"/>
          </a:p>
        </p:txBody>
      </p:sp>
      <p:sp>
        <p:nvSpPr>
          <p:cNvPr id="17" name="col-Core"/>
          <p:cNvSpPr/>
          <p:nvPr/>
        </p:nvSpPr>
        <p:spPr>
          <a:xfrm>
            <a:off x="4338218" y="2578608"/>
            <a:ext cx="3515258" cy="3566160"/>
          </a:xfrm>
          <a:prstGeom prst="roundRect">
            <a:avLst>
              <a:gd name="adj" fmla="val 1561"/>
            </a:avLst>
          </a:prstGeom>
          <a:solidFill>
            <a:srgbClr val="E7D4D6"/>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Ask what happens to a dropped glass, and what happens to bath water with the plug out.</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8C2F39"/>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Rewrite the beehive analogy as a simile that only shows, and explain what is lost.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Spot the strongest logos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sentence gives the strongest logos?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 think the council has got this badly wrong.’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‘Everyone knows the tree is lovely.’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‘Three hundred and twelve people signed the petition in one weekend.’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‘Imagine the street without its shade.’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Same task, three ways in: Spot the strongest logos</a:t>
            </a:r>
            <a:endParaRPr lang="en-US" sz="30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sentence gives the strongest logos?</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5EDE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Logos is proof. Ask of each sentence: could I check this?</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Cross out any sentence that starts with ‘I think’ or ‘Imagine’.</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number from a count or survey is a statistic: the strongest logos here.</a:t>
            </a:r>
            <a:endParaRPr lang="en-US" sz="2000" dirty="0"/>
          </a:p>
        </p:txBody>
      </p:sp>
      <p:sp>
        <p:nvSpPr>
          <p:cNvPr id="17" name="col-Core"/>
          <p:cNvSpPr/>
          <p:nvPr/>
        </p:nvSpPr>
        <p:spPr>
          <a:xfrm>
            <a:off x="4338218" y="2578608"/>
            <a:ext cx="3515258" cy="3566160"/>
          </a:xfrm>
          <a:prstGeom prst="roundRect">
            <a:avLst>
              <a:gd name="adj" fmla="val 1561"/>
            </a:avLst>
          </a:prstGeom>
          <a:solidFill>
            <a:srgbClr val="E7D4D6"/>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70262E"/>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Only one sentence contains something you could check against a list or a count.</a:t>
            </a:r>
            <a:endParaRPr lang="en-US" sz="2000" dirty="0"/>
          </a:p>
        </p:txBody>
      </p:sp>
      <p:sp>
        <p:nvSpPr>
          <p:cNvPr id="22" name="col-Stretch"/>
          <p:cNvSpPr/>
          <p:nvPr/>
        </p:nvSpPr>
        <p:spPr>
          <a:xfrm>
            <a:off x="8127797" y="2578608"/>
            <a:ext cx="3515258" cy="3566160"/>
          </a:xfrm>
          <a:prstGeom prst="roundRect">
            <a:avLst>
              <a:gd name="adj" fmla="val 1561"/>
            </a:avLst>
          </a:prstGeom>
          <a:solidFill>
            <a:srgbClr val="8C2F39"/>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a statistic without a source (‘Studies show…’) is weaker logos than a specific count.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an analogy?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comparison made to explain or persuade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question that does not need an answer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 exaggeration not meant literally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short story about a real event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9F4F4"/>
          </a:solidFill>
          <a:ln w="12700">
            <a:solidFill>
              <a:srgbClr val="C79A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What does the analogy explain?</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‘Revision is like training for a race.’  →  A  Practice before the day is what makes the difference.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 rumour is like a dropped glass.’  →  D  Once it is out, it cannot be put back together.</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‘Our school is like a beehive.’  →  C  Everyone has a job, and the whole depends on each part.</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 budget is like a bath with the plug out.’  →  B  Money drains away unless you stop the leak.</a:t>
            </a:r>
            <a:endParaRPr lang="en-US" sz="22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analogy works when the familiar thing and the new thing share the exact point the speaker wants to make.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Spot the strongest logos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sentence gives the strongest logos?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‘Three hundred and twelve people signed the petition in one weekend.’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statistic from a count is checkable proof. Opinions and appeals to imagination persuade in other ways, but they are not logos.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an analogy?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 comparison made to explain or persuade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analogy compares two things to explain or persuade by pointing out what they share.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5EDEE"/>
      </a:lt2>
      <a:accent1>
        <a:srgbClr val="8C2F39"/>
      </a:accent1>
      <a:accent2>
        <a:srgbClr val="B8862B"/>
      </a:accent2>
      <a:accent3>
        <a:srgbClr val="BA8288"/>
      </a:accent3>
      <a:accent4>
        <a:srgbClr val="815E1E"/>
      </a:accent4>
      <a:accent5>
        <a:srgbClr val="4A505C"/>
      </a:accent5>
      <a:accent6>
        <a:srgbClr val="DDC498"/>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Rhetoric · Chapter 2: Logos and analogy: making people think</dc:title>
  <dc:subject>English Language · Year 8</dc:subject>
  <dc:creator>Dr Vitor Merissi de Carvalho</dc:creator>
  <cp:lastModifiedBy>Dr Vitor Merissi de Carvalho</cp:lastModifiedBy>
  <cp:revision>1</cp:revision>
  <dcterms:created xsi:type="dcterms:W3CDTF">2026-10-19T16:22:36Z</dcterms:created>
  <dcterms:modified xsi:type="dcterms:W3CDTF">2026-10-19T16:22:36Z</dcterms:modified>
</cp:coreProperties>
</file>