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19bdcc-c03c-bfab-e549-49bb6dcb6a8a}">
          <p14:sldIdLst>
            <p14:sldId id="256"/>
          </p14:sldIdLst>
        </p14:section>
        <p14:section name="Gate" id="{3cac3083-981e-a6be-467a-25408f7c59b5}">
          <p14:sldIdLst>
            <p14:sldId id="257"/>
            <p14:sldId id="258"/>
          </p14:sldIdLst>
        </p14:section>
        <p14:section name="Pre-teach" id="{04fc8b3c-9d1d-da58-36af-da505a278249}">
          <p14:sldIdLst>
            <p14:sldId id="259"/>
          </p14:sldIdLst>
        </p14:section>
        <p14:section name="Read-along" id="{0f5ad41b-1f71-a264-d099-a07daa0902cc}">
          <p14:sldIdLst>
            <p14:sldId id="260"/>
            <p14:sldId id="261"/>
          </p14:sldIdLst>
        </p14:section>
        <p14:section name="Teach" id="{7c4ae853-9398-ff55-1b2f-d79173b0dac5}">
          <p14:sldIdLst>
            <p14:sldId id="262"/>
            <p14:sldId id="263"/>
            <p14:sldId id="264"/>
            <p14:sldId id="265"/>
            <p14:sldId id="266"/>
          </p14:sldIdLst>
        </p14:section>
        <p14:section name="Routes" id="{a1cc7b97-6adb-b187-248c-bb4b6e5b4c2b}">
          <p14:sldIdLst>
            <p14:sldId id="267"/>
            <p14:sldId id="268"/>
            <p14:sldId id="269"/>
            <p14:sldId id="270"/>
          </p14:sldIdLst>
        </p14:section>
        <p14:section name="Close" id="{1256f441-8cc5-83e7-7502-3a6357cc6dd0}">
          <p14:sldIdLst>
            <p14:sldId id="271"/>
          </p14:sldIdLst>
        </p14:section>
        <p14:section name="Answers" id="{203732e6-f802-a1e9-561a-a6d4a391ba9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Three types of rainfall and two types of cloud. Convectional, relief and frontal rainfall all follow the same chain of rising, cooling and condensing air, but something different makes the air rise in each; and the two cloud types that form before the rain.
This deck covers the department's lessons: 5 (Types of rainfall: What are the three types of rainfall, and how is each one made?); 7 (Extreme weather: tropical cyclones and types of clouds: What does a case study tell us, and what forms in the sky before the rain?).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Moist air from the sea is forced to rise over a range of mountains, cools and rain falls. Which type of rainfall is this?  →  D   Relief rainfall
2. In ___ rainfall, the sun heats the ground, the warm air above it rises and cools, and heavy showers or thunderstorms follow.  →  convectional
3. Which type of cloud is a flat, grey sheet spread across the sky?  →  D   Stratus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Relief rainfall. Relief means the shape of the land. When hills or mountains force air to rise, the rain that follows is relief rainfall.
2. convectional. Convection is heat moving by warm air rising. Heating from the ground is the cause, so this is convectional rainfall.
3. D   Stratus. Stratus means layer. Stratus clouds are flat grey sheets that often bring drizzle.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convectional: caused by warm air rising from a heated surface. Example: "Convectional rainfall is common on hot afternoons."
• relief: the shape of the land, such as hills and mountains. Example: "Relief rainfall falls on the hills of Wales."
• frontal: happening along the front where warm air meets cold air. Example: "Frontal rainfall falls as a depression passes."
• cumulus: a heaped, fluffy cloud with a flat base. Example: "Cumulus clouds look like cotton wool."
• stratus: a flat, grey sheet of cloud. Example: "Stratus cloud covered the whole sky."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There are three types of rainfall.
2. All three happen because air rises, cools and its water vapour condenses.
3. What is different is the reason the air rises.
4. In convectional rainfall, the sun heats the ground.
5. The warm air above it rises, cools and makes a cloud.
6. This often brings heavy showers and thunderstorms on hot afternoons.
7. In relief rainfall, moving air meets hills or mountains.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air is forced to rise over the high land, so it cools and rain falls.
9. In frontal rainfall, a warm air mass meets a cold air mass.
10. The lighter warm air is pushed up over the cold air and rain falls along the front.
11. Before the rain, clouds form.
12. There are two main types of cloud.
13. Cumulus clouds are heaped and fluffy.
14. Stratus clouds are flat, grey sheets.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Convectional rainfall. Say it in your own words, then check understanding with a quick question: ask a pupil from the pre-teach group first, since they met these words and ideas before the lesson. Pupils try to recall before you re-explain.
You already know the chain: rising air cools, water vapour condenses, clouds form and rain falls. The three types of rainfall are three different reasons for the air to rise in the first place. The first is convectional rainfall, and the reason is heat. On a hot day the sun heats the ground strongly, and the ground heats the air above it. That warm air expands, becomes less dense and rises quickly, carrying water vapour with it.
As the air rises it cools, and the vapour condenses into a towering cumulus cloud that grows taller through the afternoon. By late afternoon the cloud is heavy with droplets and heavy rain falls, often with thunder and lightning. Convectional rainfall is why hot summer days in the UK sometimes end in a thunderstorm, and it is the everyday rain of places near the Equator, where the sun is strongest.
The clue in the name is convection: the movement of heat by warm air rising. If a question describes a hot surface, a sunny afternoon or the Equator, the answer is convectional.
Tip: Convectional: the sun does the lifting. Think of a hot afternoon that ends in a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Relief rainfall. Say it in your own words, then check understanding with a quick question: ask a pupil from the pre-teach group first, since they met these words and ideas before the lesson. Pupils try to recall before you re-explain.
The second reason for air to rise is the shape of the land, which geographers call relief. When moist air blowing in from the sea meets a range of hills or mountains, it cannot go through them, so it is forced to rise up the slope. As it rises it cools, the water vapour condenses, clouds form and rain falls on the side of the hills facing the wind.
Once the air has passed over the top it sinks down the far side. Sinking air warms up and dries out, so the far side of the hills is much drier. This is why the west of the UK, where Atlantic air first meets the mountains of Wales, the Lake District and Scotland, is wetter than the east. Relief rainfall is the mountains doing the lifting.
Describe it in three moves: air is forced up over high land, it cools and condenses, rain falls on the windward side. Then add the fourth move for extra credit: the far side is drier because the air sinks and warms.
Worked example — model it step by step, thinking aloud: Explain how relief rainfall forms. (3 marks) (1) Say what forces the air up: moist air from the sea meets hills or mountains and is forced to rise over them. (2) Give the cooling step: as the air rises it cools. (3) Give the result: the water vapour condenses, clouds form and rain falls on the side facing the wind. (4) Lifting, cooling, condensing: the same chain as every type of rain, with the hills as the reason. Answer: Moist air blowing in from the sea meets hills or mountains and is forced to rise over them. As it rises it cools. The water vapour condenses into clouds and rain falls on the side of the hills facing the wind..
Tip: Relief rainfall: the hills do the lifting. Wet on the windward side, drier on the far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Relief rainfall. Say it in your own words, then check understanding with a quick question: ask a pupil from the pre-teach group first, since they met these words and ideas before the lesson. Pupils try to recall before you re-explain.
The second reason for air to rise is the shape of the land, which geographers call relief. When moist air blowing in from the sea meets a range of hills or mountains, it cannot go through them, so it is forced to rise up the slope. As it rises it cools, the water vapour condenses, clouds form and rain falls on the side of the hills facing the wind.
Once the air has passed over the top it sinks down the far side. Sinking air warms up and dries out, so the far side of the hills is much drier. This is why the west of the UK, where Atlantic air first meets the mountains of Wales, the Lake District and Scotland, is wetter than the east. Relief rainfall is the mountains doing the lifting.
Describe it in three moves: air is forced up over high land, it cools and condenses, rain falls on the windward side. Then add the fourth move for extra credit: the far side is drier because the air sinks and warms.
Worked example — model it step by step, thinking aloud: Explain how relief rainfall forms. (3 marks) (1) Say what forces the air up: moist air from the sea meets hills or mountains and is forced to rise over them. (2) Give the cooling step: as the air rises it cools. (3) Give the result: the water vapour condenses, clouds form and rain falls on the side facing the wind. (4) Lifting, cooling, condensing: the same chain as every type of rain, with the hills as the reason. Answer: Moist air blowing in from the sea meets hills or mountains and is forced to rise over them. As it rises it cools. The water vapour condenses into clouds and rain falls on the side of the hills facing the wind..
Tip: Relief rainfall: the hills do the lifting. Wet on the windward side, drier on the far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Frontal rainfall. Say it in your own words, then check understanding with a quick question: ask a pupil from the pre-teach group first, since they met these words and ideas before the lesson. Pupils try to recall before you re-explain.
The third reason for air to rise is another air mass. Frontal rainfall happens where a warm air mass meets a cold air mass. The boundary between them is called a front. Warm air is lighter than cold air, so at the front the warm air is pushed up and slides over the top of the cold air. As the warm air rises it cools, its water vapour condenses, and a long band of cloud and rain forms along the front.
This is the rain that depressions bring to the UK, which is why frontal rainfall is the type you see most often. A depression carries its fronts across the country from the Atlantic, so a day of frontal rain often starts with thickening cloud, gives steady rain for several hours, and then clears as the front passes. Frontal rainfall is the cold air doing the lifting.
To tell the three types apart, ask one question: what made the air rise? Heat from the ground means convectional, hills mean relief, and a meeting of warm and cold air means frontal.
Tip: Convectional: heat lifts. Relief: hills lift. Frontal: cold air lifts the warm air. Same chain, different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types of cloud. Say it in your own words, then check understanding with a quick question: ask a pupil from the pre-teach group first, since they met these words and ideas before the lesson. Pupils try to recall before you re-explain.
Before the rain comes the cloud, so in class you read about the two main types. Cumulus clouds are the heaped, fluffy ones that look like cotton wool, with a flat base and a rounded top. Small cumulus clouds drift across a sunny sky and mean fair weather, but on a hot afternoon a cumulus cloud can keep growing upwards until it becomes a towering storm cloud, which is where convectional rain comes from.
Stratus clouds are the opposite shape: flat, grey sheets that spread across the whole sky in a layer. Stratus means layer. A sky full of stratus is dull and grey, and it often brings drizzle or steady light rain. The flat layers of cloud that arrive with a front are a type of stratus. Heaped means cumulus; layered means stratus.
Tip: Cumulus: a pile (think accumulate). Stratus: a layer (think strata of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made the air rise?.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rainfall to the reason the air rises.
Support — work through the steps with the group: (1) Every type of rain needs rising air. The match is about what does the lifting. (2) Convection is heat rising, so convectional goes with the heated ground. (3) Relief means the shape of the land, so relief goes with hills and mountains. (4) A front is where two air masses meet, so frontal goes with warm meeting cold.
Parallel worked example for Support (model it, do not give the task answer): A pupil says: the rain today came because a depression crossed from the Atlantic. Which type of rainfall is that, and why? A depression forms where warm air meets cold air.; Warm meeting cold is a front.. Answer: Frontal rainfall, because a depression is made of warm air meeting cold air along a front..
Core — reveal the hint only on request: Heat, hills, or a meeting of warm and cold air. The name of each type tells you which.
Stretch — no help; when finished: Explain why the west of the UK gets more relief rainfall than the east, and more frontal rainfall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made the air rise?.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rainfall to the reason the air rises.
Support — work through the steps with the group: (1) Every type of rain needs rising air. The match is about what does the lifting. (2) Convection is heat rising, so convectional goes with the heated ground. (3) Relief means the shape of the land, so relief goes with hills and mountains. (4) A front is where two air masses meet, so frontal goes with warm meeting cold.
Parallel worked example for Support (model it, do not give the task answer): A pupil says: the rain today came because a depression crossed from the Atlantic. Which type of rainfall is that, and why? A depression forms where warm air meets cold air.; Warm meeting cold is a front.. Answer: Frontal rainfall, because a depression is made of warm air meeting cold air along a front..
Core — reveal the hint only on request: Heat, hills, or a meeting of warm and cold air. The name of each type tells you which.
Stretch — no help; when finished: Explain why the west of the UK gets more relief rainfall than the east, and more frontal rainfall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that rain.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It has been a hot, sunny afternoon in the UK. By late afternoon a huge cumulus cloud has built up and a thunderstorm breaks. Which type of rainfall is this, and why?
Support — work through the steps with the group: (1) Find what made the air rise. Is there heat from the ground, a hill, or a meeting of air masses? (2) A hot afternoon with a growing cloud is heat from the ground. (3) Heat lifting the air is convection, so the type is convectional. (4) Check the reason in the option matches: heated ground, not a mountain or a front.
Parallel worked example for Support (model it, do not give the task answer): Rain is falling steadily all day as a depression moves across from the Atlantic, with a long band of cloud. Which type of rainfall is this, and why? A depression is where warm air meets cold air.; Warm air pushed up over cold air is a front.. Answer: Frontal rainfall, because a depression lifts warm air over cold air along a front..
Core — reveal the hint only on request: Hot afternoon, heated ground, cloud growing taller. Which type of rain has heat as the lift?
Stretch — no help; when finished: Explain why convectional thunderstorms in the UK happen in the late afternoon rather than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that rain.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It has been a hot, sunny afternoon in the UK. By late afternoon a huge cumulus cloud has built up and a thunderstorm breaks. Which type of rainfall is this, and why?
Support — work through the steps with the group: (1) Find what made the air rise. Is there heat from the ground, a hill, or a meeting of air masses? (2) A hot afternoon with a growing cloud is heat from the ground. (3) Heat lifting the air is convection, so the type is convectional. (4) Check the reason in the option matches: heated ground, not a mountain or a front.
Parallel worked example for Support (model it, do not give the task answer): Rain is falling steadily all day as a depression moves across from the Atlantic, with a long band of cloud. Which type of rainfall is this, and why? A depression is where warm air meets cold air.; Warm air pushed up over cold air is a front.. Answer: Frontal rainfall, because a depression lifts warm air over cold air along a front..
Core — reveal the hint only on request: Hot afternoon, heated ground, cloud growing taller. Which type of rain has heat as the lift?
Stretch — no help; when finished: Explain why convectional thunderstorms in the UK happen in the late afternoon rather than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Moist air from the sea is forced to rise over a range of mountains, cools and rain falls. Which type of rainfall is this?
Answer: C   Relief rainfall. Relief means the shape of the land. When hills or mountains force air to rise, the rain that follows is relief rainfall.
Source of this question: gate item 1 re-asked (options rotated) — this chapter has no third quick-check module.
The ebook also holds task 3, "Explaining frontal rainfall",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made the air rise?. Reveal the answer; pupils mark their own work in a different colour, then read the "why" together. Same destination for every lane, so one answer serves the whole class.
Answer: Convectional rainfall  →  A  The sun heats the ground and the warm air above it rises; Relief rainfall  →  C  Moving air is forced up over hills or mountains; Frontal rainfall  →  B  A warm air mass meets a cold air mass and is pushed up over it
Why: Convectional rainfall is lifted by heat from the ground, relief rainfall by hills and mountains, and frontal rainfall by cold air pushing warm air upwards. In all three the rising air cools and condenses.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that rain. Reveal the answer; pupils mark their own work in a different colour, then read the "why" together. Same destination for every lane, so one answer serves the whole class.
Answer: C   Convectional, because the heated ground made the warm air rise
Why: The lifting here comes from the sun heating the ground, so the warm air above it rises, cools and condenses into a towering cumulus cloud: convectional rainfall.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Relief rainfall
Why: Relief means the shape of the land. When hills or mountains force air to rise, the rain that follows is relief rainfall.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213029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Three types of rainfall and two types of cloud</a:t>
            </a:r>
            <a:endParaRPr lang="en-US" sz="3600" dirty="0"/>
          </a:p>
        </p:txBody>
      </p:sp>
      <p:sp>
        <p:nvSpPr>
          <p:cNvPr id="11" name="lessons-card"/>
          <p:cNvSpPr/>
          <p:nvPr/>
        </p:nvSpPr>
        <p:spPr>
          <a:xfrm>
            <a:off x="548640" y="3674618"/>
            <a:ext cx="5287975" cy="1638300"/>
          </a:xfrm>
          <a:prstGeom prst="roundRect">
            <a:avLst>
              <a:gd name="adj" fmla="val 4465"/>
            </a:avLst>
          </a:prstGeom>
          <a:solidFill>
            <a:srgbClr val="F2F5F2"/>
          </a:solidFill>
          <a:ln/>
        </p:spPr>
      </p:sp>
      <p:sp>
        <p:nvSpPr>
          <p:cNvPr id="12" name="lessons"/>
          <p:cNvSpPr txBox="1"/>
          <p:nvPr/>
        </p:nvSpPr>
        <p:spPr>
          <a:xfrm>
            <a:off x="685800" y="376605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Types of rainfall</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Extreme weather: tropical cyclones and types of clouds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Moist air from the sea is forced to rise over a range of mountains, cools and rain falls. Which type of rainfall is this?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Convectional rainfall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Depression rainfall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Frontal rainfall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Relief rainfall</a:t>
            </a:r>
            <a:endParaRPr lang="en-US" sz="20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___ rainfall, the sun heats the ground, the warm air above it rises and cools, and heavy showers or thunderstorms follow.</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convectional  ·  relief  ·  frontal</a:t>
            </a:r>
            <a:endParaRPr lang="en-US" sz="22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type of cloud is a flat, grey sheet spread across the sky?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Cotton-wool cloud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Cumulus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Thunder cloud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Stratus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Relief rainfall</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Moist air from the sea is forced to rise over a range of mountains, cools and rain falls. Which type of rainfall is this?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Relief means the shape of the land. When hills or mountains force air to rise, the rain that follows is relief rainfall.</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convectional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___ rainfall, the sun heats the ground, the warm air above it rises and cools, and heavy showers or thunderstorms follow.</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Convection is heat moving by warm air rising. Heating from the ground is the cause, so this is convectional rainfall.</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Stratus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type of cloud is a flat, grey sheet spread across the sky?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Stratus means layer. Stratus clouds are flat grey sheets that often bring drizzle.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5F8F6"/>
          </a:solidFill>
          <a:ln/>
        </p:spPr>
      </p:sp>
      <p:sp>
        <p:nvSpPr>
          <p:cNvPr id="12" name="kw-hex"/>
          <p:cNvSpPr/>
          <p:nvPr/>
        </p:nvSpPr>
        <p:spPr>
          <a:xfrm>
            <a:off x="658368" y="2160915"/>
            <a:ext cx="411480" cy="356342"/>
          </a:xfrm>
          <a:prstGeom prst="hexagon">
            <a:avLst/>
          </a:prstGeom>
          <a:solidFill>
            <a:srgbClr val="3F6B4A"/>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3F6B4A"/>
                </a:solidFill>
                <a:latin typeface="Cambria" pitchFamily="34" charset="0"/>
                <a:ea typeface="Cambria" pitchFamily="34" charset="-122"/>
                <a:cs typeface="Cambria" pitchFamily="34" charset="-120"/>
              </a:rPr>
              <a:t>convectional</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caused by warm air rising from a heated surface</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Convectional rainfall is common on hot afternoons.</a:t>
            </a:r>
            <a:endParaRPr lang="en-US" sz="2000" dirty="0"/>
          </a:p>
        </p:txBody>
      </p:sp>
      <p:sp>
        <p:nvSpPr>
          <p:cNvPr id="16" name="kw-row"/>
          <p:cNvSpPr/>
          <p:nvPr/>
        </p:nvSpPr>
        <p:spPr>
          <a:xfrm>
            <a:off x="548640" y="2831084"/>
            <a:ext cx="11094415" cy="837692"/>
          </a:xfrm>
          <a:prstGeom prst="roundRect">
            <a:avLst>
              <a:gd name="adj" fmla="val 6549"/>
            </a:avLst>
          </a:prstGeom>
          <a:solidFill>
            <a:srgbClr val="F9F4EC"/>
          </a:solidFill>
          <a:ln/>
        </p:spPr>
      </p:sp>
      <p:sp>
        <p:nvSpPr>
          <p:cNvPr id="17" name="kw-hex"/>
          <p:cNvSpPr/>
          <p:nvPr/>
        </p:nvSpPr>
        <p:spPr>
          <a:xfrm>
            <a:off x="658368" y="3071759"/>
            <a:ext cx="411480" cy="356342"/>
          </a:xfrm>
          <a:prstGeom prst="hexagon">
            <a:avLst/>
          </a:prstGeom>
          <a:solidFill>
            <a:srgbClr val="B8862B"/>
          </a:solidFill>
          <a:ln/>
        </p:spPr>
      </p:sp>
      <p:sp>
        <p:nvSpPr>
          <p:cNvPr id="18" name="kw-cell"/>
          <p:cNvSpPr txBox="1"/>
          <p:nvPr/>
        </p:nvSpPr>
        <p:spPr>
          <a:xfrm>
            <a:off x="1143000" y="2831084"/>
            <a:ext cx="2331720" cy="837692"/>
          </a:xfrm>
          <a:prstGeom prst="rect">
            <a:avLst/>
          </a:prstGeom>
          <a:noFill/>
          <a:ln/>
        </p:spPr>
        <p:txBody>
          <a:bodyPr wrap="square" lIns="63500" tIns="63500" rIns="63500" bIns="63500" rtlCol="0" anchor="ctr"/>
          <a:lstStyle/>
          <a:p>
            <a:pPr algn="l" indent="0" marL="0">
              <a:buNone/>
            </a:pPr>
            <a:r>
              <a:rPr lang="en-US" sz="2200" b="1" dirty="0">
                <a:solidFill>
                  <a:srgbClr val="3F6B4A"/>
                </a:solidFill>
                <a:latin typeface="Cambria" pitchFamily="34" charset="0"/>
                <a:ea typeface="Cambria" pitchFamily="34" charset="-122"/>
                <a:cs typeface="Cambria" pitchFamily="34" charset="-120"/>
              </a:rPr>
              <a:t>relief</a:t>
            </a:r>
            <a:endParaRPr lang="en-US" sz="2200" dirty="0"/>
          </a:p>
        </p:txBody>
      </p:sp>
      <p:sp>
        <p:nvSpPr>
          <p:cNvPr id="19" name="kw-cell"/>
          <p:cNvSpPr txBox="1"/>
          <p:nvPr/>
        </p:nvSpPr>
        <p:spPr>
          <a:xfrm>
            <a:off x="3657600" y="2831084"/>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shape of the land, such as hills and mountains</a:t>
            </a:r>
            <a:endParaRPr lang="en-US" sz="2000" dirty="0"/>
          </a:p>
        </p:txBody>
      </p:sp>
      <p:sp>
        <p:nvSpPr>
          <p:cNvPr id="20" name="kw-cell"/>
          <p:cNvSpPr txBox="1"/>
          <p:nvPr/>
        </p:nvSpPr>
        <p:spPr>
          <a:xfrm>
            <a:off x="7315200" y="2831084"/>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Relief rainfall falls on the hills of Wales.</a:t>
            </a:r>
            <a:endParaRPr lang="en-US" sz="2000" dirty="0"/>
          </a:p>
        </p:txBody>
      </p:sp>
      <p:sp>
        <p:nvSpPr>
          <p:cNvPr id="21" name="kw-row"/>
          <p:cNvSpPr/>
          <p:nvPr/>
        </p:nvSpPr>
        <p:spPr>
          <a:xfrm>
            <a:off x="548640" y="3741928"/>
            <a:ext cx="11094415" cy="837692"/>
          </a:xfrm>
          <a:prstGeom prst="roundRect">
            <a:avLst>
              <a:gd name="adj" fmla="val 6549"/>
            </a:avLst>
          </a:prstGeom>
          <a:solidFill>
            <a:srgbClr val="F5F8F6"/>
          </a:solidFill>
          <a:ln/>
        </p:spPr>
      </p:sp>
      <p:sp>
        <p:nvSpPr>
          <p:cNvPr id="22" name="kw-hex"/>
          <p:cNvSpPr/>
          <p:nvPr/>
        </p:nvSpPr>
        <p:spPr>
          <a:xfrm>
            <a:off x="658368" y="3982603"/>
            <a:ext cx="411480" cy="356342"/>
          </a:xfrm>
          <a:prstGeom prst="hexagon">
            <a:avLst/>
          </a:prstGeom>
          <a:solidFill>
            <a:srgbClr val="3F6B4A"/>
          </a:solidFill>
          <a:ln/>
        </p:spPr>
      </p:sp>
      <p:sp>
        <p:nvSpPr>
          <p:cNvPr id="23" name="kw-cell"/>
          <p:cNvSpPr txBox="1"/>
          <p:nvPr/>
        </p:nvSpPr>
        <p:spPr>
          <a:xfrm>
            <a:off x="1143000" y="3741928"/>
            <a:ext cx="2331720" cy="837692"/>
          </a:xfrm>
          <a:prstGeom prst="rect">
            <a:avLst/>
          </a:prstGeom>
          <a:noFill/>
          <a:ln/>
        </p:spPr>
        <p:txBody>
          <a:bodyPr wrap="square" lIns="63500" tIns="63500" rIns="63500" bIns="63500" rtlCol="0" anchor="ctr"/>
          <a:lstStyle/>
          <a:p>
            <a:pPr algn="l" indent="0" marL="0">
              <a:buNone/>
            </a:pPr>
            <a:r>
              <a:rPr lang="en-US" sz="2200" b="1" dirty="0">
                <a:solidFill>
                  <a:srgbClr val="3F6B4A"/>
                </a:solidFill>
                <a:latin typeface="Cambria" pitchFamily="34" charset="0"/>
                <a:ea typeface="Cambria" pitchFamily="34" charset="-122"/>
                <a:cs typeface="Cambria" pitchFamily="34" charset="-120"/>
              </a:rPr>
              <a:t>frontal</a:t>
            </a:r>
            <a:endParaRPr lang="en-US" sz="2200" dirty="0"/>
          </a:p>
        </p:txBody>
      </p:sp>
      <p:sp>
        <p:nvSpPr>
          <p:cNvPr id="24" name="kw-cell"/>
          <p:cNvSpPr txBox="1"/>
          <p:nvPr/>
        </p:nvSpPr>
        <p:spPr>
          <a:xfrm>
            <a:off x="3657600" y="374192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happening along the front where warm air meets cold air</a:t>
            </a:r>
            <a:endParaRPr lang="en-US" sz="2000" dirty="0"/>
          </a:p>
        </p:txBody>
      </p:sp>
      <p:sp>
        <p:nvSpPr>
          <p:cNvPr id="25" name="kw-cell"/>
          <p:cNvSpPr txBox="1"/>
          <p:nvPr/>
        </p:nvSpPr>
        <p:spPr>
          <a:xfrm>
            <a:off x="7315200" y="374192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Frontal rainfall falls as a depression passes.</a:t>
            </a:r>
            <a:endParaRPr lang="en-US" sz="2000" dirty="0"/>
          </a:p>
        </p:txBody>
      </p:sp>
      <p:sp>
        <p:nvSpPr>
          <p:cNvPr id="26" name="kw-row"/>
          <p:cNvSpPr/>
          <p:nvPr/>
        </p:nvSpPr>
        <p:spPr>
          <a:xfrm>
            <a:off x="548640" y="4652772"/>
            <a:ext cx="11094415" cy="837692"/>
          </a:xfrm>
          <a:prstGeom prst="roundRect">
            <a:avLst>
              <a:gd name="adj" fmla="val 6549"/>
            </a:avLst>
          </a:prstGeom>
          <a:solidFill>
            <a:srgbClr val="F9F4EC"/>
          </a:solidFill>
          <a:ln/>
        </p:spPr>
      </p:sp>
      <p:sp>
        <p:nvSpPr>
          <p:cNvPr id="27" name="kw-hex"/>
          <p:cNvSpPr/>
          <p:nvPr/>
        </p:nvSpPr>
        <p:spPr>
          <a:xfrm>
            <a:off x="658368" y="4893447"/>
            <a:ext cx="411480" cy="356342"/>
          </a:xfrm>
          <a:prstGeom prst="hexagon">
            <a:avLst/>
          </a:prstGeom>
          <a:solidFill>
            <a:srgbClr val="B8862B"/>
          </a:solidFill>
          <a:ln/>
        </p:spPr>
      </p:sp>
      <p:sp>
        <p:nvSpPr>
          <p:cNvPr id="28" name="kw-cell"/>
          <p:cNvSpPr txBox="1"/>
          <p:nvPr/>
        </p:nvSpPr>
        <p:spPr>
          <a:xfrm>
            <a:off x="1143000" y="4652772"/>
            <a:ext cx="2331720" cy="837692"/>
          </a:xfrm>
          <a:prstGeom prst="rect">
            <a:avLst/>
          </a:prstGeom>
          <a:noFill/>
          <a:ln/>
        </p:spPr>
        <p:txBody>
          <a:bodyPr wrap="square" lIns="63500" tIns="63500" rIns="63500" bIns="63500" rtlCol="0" anchor="ctr"/>
          <a:lstStyle/>
          <a:p>
            <a:pPr algn="l" indent="0" marL="0">
              <a:buNone/>
            </a:pPr>
            <a:r>
              <a:rPr lang="en-US" sz="2200" b="1" dirty="0">
                <a:solidFill>
                  <a:srgbClr val="3F6B4A"/>
                </a:solidFill>
                <a:latin typeface="Cambria" pitchFamily="34" charset="0"/>
                <a:ea typeface="Cambria" pitchFamily="34" charset="-122"/>
                <a:cs typeface="Cambria" pitchFamily="34" charset="-120"/>
              </a:rPr>
              <a:t>cumulus</a:t>
            </a:r>
            <a:endParaRPr lang="en-US" sz="2200" dirty="0"/>
          </a:p>
        </p:txBody>
      </p:sp>
      <p:sp>
        <p:nvSpPr>
          <p:cNvPr id="29" name="kw-cell"/>
          <p:cNvSpPr txBox="1"/>
          <p:nvPr/>
        </p:nvSpPr>
        <p:spPr>
          <a:xfrm>
            <a:off x="3657600" y="465277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heaped, fluffy cloud with a flat base</a:t>
            </a:r>
            <a:endParaRPr lang="en-US" sz="2000" dirty="0"/>
          </a:p>
        </p:txBody>
      </p:sp>
      <p:sp>
        <p:nvSpPr>
          <p:cNvPr id="30" name="kw-cell"/>
          <p:cNvSpPr txBox="1"/>
          <p:nvPr/>
        </p:nvSpPr>
        <p:spPr>
          <a:xfrm>
            <a:off x="7315200" y="465277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Cumulus clouds look like cotton wool.</a:t>
            </a:r>
            <a:endParaRPr lang="en-US" sz="2000" dirty="0"/>
          </a:p>
        </p:txBody>
      </p:sp>
      <p:sp>
        <p:nvSpPr>
          <p:cNvPr id="31" name="kw-row"/>
          <p:cNvSpPr/>
          <p:nvPr/>
        </p:nvSpPr>
        <p:spPr>
          <a:xfrm>
            <a:off x="548640" y="5563616"/>
            <a:ext cx="11094415" cy="581152"/>
          </a:xfrm>
          <a:prstGeom prst="roundRect">
            <a:avLst>
              <a:gd name="adj" fmla="val 9441"/>
            </a:avLst>
          </a:prstGeom>
          <a:solidFill>
            <a:srgbClr val="F5F8F6"/>
          </a:solidFill>
          <a:ln/>
        </p:spPr>
      </p:sp>
      <p:sp>
        <p:nvSpPr>
          <p:cNvPr id="32" name="kw-hex"/>
          <p:cNvSpPr/>
          <p:nvPr/>
        </p:nvSpPr>
        <p:spPr>
          <a:xfrm>
            <a:off x="658368" y="5676021"/>
            <a:ext cx="411480" cy="356342"/>
          </a:xfrm>
          <a:prstGeom prst="hexagon">
            <a:avLst/>
          </a:prstGeom>
          <a:solidFill>
            <a:srgbClr val="3F6B4A"/>
          </a:solidFill>
          <a:ln/>
        </p:spPr>
      </p:sp>
      <p:sp>
        <p:nvSpPr>
          <p:cNvPr id="33" name="kw-cell"/>
          <p:cNvSpPr txBox="1"/>
          <p:nvPr/>
        </p:nvSpPr>
        <p:spPr>
          <a:xfrm>
            <a:off x="1143000" y="5563616"/>
            <a:ext cx="2331720" cy="581152"/>
          </a:xfrm>
          <a:prstGeom prst="rect">
            <a:avLst/>
          </a:prstGeom>
          <a:noFill/>
          <a:ln/>
        </p:spPr>
        <p:txBody>
          <a:bodyPr wrap="square" lIns="63500" tIns="63500" rIns="63500" bIns="63500" rtlCol="0" anchor="ctr"/>
          <a:lstStyle/>
          <a:p>
            <a:pPr algn="l" indent="0" marL="0">
              <a:buNone/>
            </a:pPr>
            <a:r>
              <a:rPr lang="en-US" sz="2200" b="1" dirty="0">
                <a:solidFill>
                  <a:srgbClr val="3F6B4A"/>
                </a:solidFill>
                <a:latin typeface="Cambria" pitchFamily="34" charset="0"/>
                <a:ea typeface="Cambria" pitchFamily="34" charset="-122"/>
                <a:cs typeface="Cambria" pitchFamily="34" charset="-120"/>
              </a:rPr>
              <a:t>stratus</a:t>
            </a:r>
            <a:endParaRPr lang="en-US" sz="2200" dirty="0"/>
          </a:p>
        </p:txBody>
      </p:sp>
      <p:sp>
        <p:nvSpPr>
          <p:cNvPr id="34" name="kw-cell"/>
          <p:cNvSpPr txBox="1"/>
          <p:nvPr/>
        </p:nvSpPr>
        <p:spPr>
          <a:xfrm>
            <a:off x="3657600" y="5563616"/>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flat, grey sheet of cloud</a:t>
            </a:r>
            <a:endParaRPr lang="en-US" sz="2000" dirty="0"/>
          </a:p>
        </p:txBody>
      </p:sp>
      <p:sp>
        <p:nvSpPr>
          <p:cNvPr id="35" name="kw-cell"/>
          <p:cNvSpPr txBox="1"/>
          <p:nvPr/>
        </p:nvSpPr>
        <p:spPr>
          <a:xfrm>
            <a:off x="7315200" y="5563616"/>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Stratus cloud covered the whole sky.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three types of rainfall.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All three happen because air rises, cools and its water vapour condenses.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What is different is the reason the air rises.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convectional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rainfall, the sun heats the ground.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warm air above it rises, cools and makes a cloud.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often brings heavy showers and thunderstorms on hot afternoons.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relief</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rainfall, moving air meets hills or mountains.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air is forced to rise over the high land, so it cools and rain falls.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frontal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rainfall, a warm air mass meets a cold air mass.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lighter warm air is pushed up over the cold air and rain falls along the front.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Before the rain, clouds form.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two main types of cloud.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Cumulus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clouds are heaped and fluffy.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Stratus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clouds are flat, grey sheets.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Convectional rainfall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Convectional: the sun does the lifting. Think of a hot afternoon that ends in a storm.</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already know the chain: rising air cools, water vapour condenses, clouds form and rain falls.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 the air rises it cools, and the vapour condenses into a towering cumulus cloud that grows taller through the afternoon.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clue in the name is convection: the movement of heat by warm air rising.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Relief rainfall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Relief rainfall: the hills do the lifting. Wet on the windward side, drier on the far side.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second reason for air to rise is the shape of the land, which geographers call relief.</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the air has passed over the top it sinks down the far side.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Describe it in three moves: air is forced up over high land, it cools and condenses, rain falls on the windward side.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Relief rainfall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relief rainfall forms. (3 marks)</a:t>
            </a:r>
            <a:endParaRPr lang="en-US" sz="2000" dirty="0"/>
          </a:p>
        </p:txBody>
      </p:sp>
      <p:sp>
        <p:nvSpPr>
          <p:cNvPr id="9" name="step-box"/>
          <p:cNvSpPr/>
          <p:nvPr/>
        </p:nvSpPr>
        <p:spPr>
          <a:xfrm>
            <a:off x="548640" y="2192528"/>
            <a:ext cx="11094415" cy="839216"/>
          </a:xfrm>
          <a:prstGeom prst="roundRect">
            <a:avLst>
              <a:gd name="adj" fmla="val 8717"/>
            </a:avLst>
          </a:prstGeom>
          <a:solidFill>
            <a:srgbClr val="FFFFFF"/>
          </a:solidFill>
          <a:ln w="15875">
            <a:solidFill>
              <a:srgbClr val="95AE9B"/>
            </a:solidFill>
            <a:prstDash val="solid"/>
          </a:ln>
        </p:spPr>
      </p:sp>
      <p:sp>
        <p:nvSpPr>
          <p:cNvPr id="10" name="step-hex"/>
          <p:cNvSpPr/>
          <p:nvPr/>
        </p:nvSpPr>
        <p:spPr>
          <a:xfrm>
            <a:off x="685800" y="2414168"/>
            <a:ext cx="457200" cy="395935"/>
          </a:xfrm>
          <a:prstGeom prst="hexagon">
            <a:avLst/>
          </a:prstGeom>
          <a:solidFill>
            <a:srgbClr val="3F6B4A"/>
          </a:solidFill>
          <a:ln/>
        </p:spPr>
      </p:sp>
      <p:sp>
        <p:nvSpPr>
          <p:cNvPr id="11" name="step-hex-label"/>
          <p:cNvSpPr txBox="1"/>
          <p:nvPr/>
        </p:nvSpPr>
        <p:spPr>
          <a:xfrm>
            <a:off x="685800" y="24141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83921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forces the air up: moist air from the sea meets hills or mountains and is forced to rise over them.</a:t>
            </a:r>
            <a:endParaRPr lang="en-US" sz="1800" dirty="0"/>
          </a:p>
        </p:txBody>
      </p:sp>
      <p:sp>
        <p:nvSpPr>
          <p:cNvPr id="13" name="step-box"/>
          <p:cNvSpPr/>
          <p:nvPr/>
        </p:nvSpPr>
        <p:spPr>
          <a:xfrm>
            <a:off x="548640" y="3104896"/>
            <a:ext cx="11094415" cy="575056"/>
          </a:xfrm>
          <a:prstGeom prst="roundRect">
            <a:avLst>
              <a:gd name="adj" fmla="val 12721"/>
            </a:avLst>
          </a:prstGeom>
          <a:solidFill>
            <a:srgbClr val="FFFFFF"/>
          </a:solidFill>
          <a:ln w="15875">
            <a:solidFill>
              <a:srgbClr val="95AE9B"/>
            </a:solidFill>
            <a:prstDash val="solid"/>
          </a:ln>
        </p:spPr>
      </p:sp>
      <p:sp>
        <p:nvSpPr>
          <p:cNvPr id="14" name="step-hex"/>
          <p:cNvSpPr/>
          <p:nvPr/>
        </p:nvSpPr>
        <p:spPr>
          <a:xfrm>
            <a:off x="685800" y="3194456"/>
            <a:ext cx="457200" cy="395935"/>
          </a:xfrm>
          <a:prstGeom prst="hexagon">
            <a:avLst/>
          </a:prstGeom>
          <a:solidFill>
            <a:srgbClr val="3F6B4A"/>
          </a:solidFill>
          <a:ln/>
        </p:spPr>
      </p:sp>
      <p:sp>
        <p:nvSpPr>
          <p:cNvPr id="15" name="step-hex-label"/>
          <p:cNvSpPr txBox="1"/>
          <p:nvPr/>
        </p:nvSpPr>
        <p:spPr>
          <a:xfrm>
            <a:off x="685800" y="31944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04896"/>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cooling step: as the air rises it cools.</a:t>
            </a:r>
            <a:endParaRPr lang="en-US" sz="1800" dirty="0"/>
          </a:p>
        </p:txBody>
      </p:sp>
      <p:sp>
        <p:nvSpPr>
          <p:cNvPr id="17" name="step-box"/>
          <p:cNvSpPr/>
          <p:nvPr/>
        </p:nvSpPr>
        <p:spPr>
          <a:xfrm>
            <a:off x="548640" y="3753104"/>
            <a:ext cx="11094415" cy="575056"/>
          </a:xfrm>
          <a:prstGeom prst="roundRect">
            <a:avLst>
              <a:gd name="adj" fmla="val 12721"/>
            </a:avLst>
          </a:prstGeom>
          <a:solidFill>
            <a:srgbClr val="FFFFFF"/>
          </a:solidFill>
          <a:ln w="15875">
            <a:solidFill>
              <a:srgbClr val="95AE9B"/>
            </a:solidFill>
            <a:prstDash val="solid"/>
          </a:ln>
        </p:spPr>
      </p:sp>
      <p:sp>
        <p:nvSpPr>
          <p:cNvPr id="18" name="step-hex"/>
          <p:cNvSpPr/>
          <p:nvPr/>
        </p:nvSpPr>
        <p:spPr>
          <a:xfrm>
            <a:off x="685800" y="3842664"/>
            <a:ext cx="457200" cy="395935"/>
          </a:xfrm>
          <a:prstGeom prst="hexagon">
            <a:avLst/>
          </a:prstGeom>
          <a:solidFill>
            <a:srgbClr val="3F6B4A"/>
          </a:solidFill>
          <a:ln/>
        </p:spPr>
      </p:sp>
      <p:sp>
        <p:nvSpPr>
          <p:cNvPr id="19" name="step-hex-label"/>
          <p:cNvSpPr txBox="1"/>
          <p:nvPr/>
        </p:nvSpPr>
        <p:spPr>
          <a:xfrm>
            <a:off x="685800" y="38426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53104"/>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result: the water vapour condenses, clouds form and rain falls on the side facing the wind.</a:t>
            </a:r>
            <a:endParaRPr lang="en-US" sz="1800" dirty="0"/>
          </a:p>
        </p:txBody>
      </p:sp>
      <p:sp>
        <p:nvSpPr>
          <p:cNvPr id="21" name="step-box"/>
          <p:cNvSpPr/>
          <p:nvPr/>
        </p:nvSpPr>
        <p:spPr>
          <a:xfrm>
            <a:off x="548640" y="4401312"/>
            <a:ext cx="11094415" cy="575056"/>
          </a:xfrm>
          <a:prstGeom prst="roundRect">
            <a:avLst>
              <a:gd name="adj" fmla="val 12721"/>
            </a:avLst>
          </a:prstGeom>
          <a:solidFill>
            <a:srgbClr val="FFFFFF"/>
          </a:solidFill>
          <a:ln w="15875">
            <a:solidFill>
              <a:srgbClr val="95AE9B"/>
            </a:solidFill>
            <a:prstDash val="solid"/>
          </a:ln>
        </p:spPr>
      </p:sp>
      <p:sp>
        <p:nvSpPr>
          <p:cNvPr id="22" name="step-hex"/>
          <p:cNvSpPr/>
          <p:nvPr/>
        </p:nvSpPr>
        <p:spPr>
          <a:xfrm>
            <a:off x="685800" y="4490872"/>
            <a:ext cx="457200" cy="395935"/>
          </a:xfrm>
          <a:prstGeom prst="hexagon">
            <a:avLst/>
          </a:prstGeom>
          <a:solidFill>
            <a:srgbClr val="3F6B4A"/>
          </a:solidFill>
          <a:ln/>
        </p:spPr>
      </p:sp>
      <p:sp>
        <p:nvSpPr>
          <p:cNvPr id="23" name="step-hex-label"/>
          <p:cNvSpPr txBox="1"/>
          <p:nvPr/>
        </p:nvSpPr>
        <p:spPr>
          <a:xfrm>
            <a:off x="685800" y="44908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01312"/>
            <a:ext cx="10180015" cy="5750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Lifting, cooling, condensing: the same chain as every type of rain, with the hills as the reason.</a:t>
            </a:r>
            <a:endParaRPr lang="en-US" sz="1800" dirty="0"/>
          </a:p>
        </p:txBody>
      </p:sp>
      <p:sp>
        <p:nvSpPr>
          <p:cNvPr id="25" name="worked-answer"/>
          <p:cNvSpPr/>
          <p:nvPr/>
        </p:nvSpPr>
        <p:spPr>
          <a:xfrm>
            <a:off x="548640" y="5159248"/>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Moist air blowing in from the sea meets hills or mountains and is forced to rise over them. As it rises it cools. The water vapour condenses into clouds and rain falls on the side of the hills facing the wind.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Frontal rainfall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Convectional: heat lifts. Relief: hills lift. Frontal: cold air lifts the warm air. Same chain, different lift.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third reason for air to rise is another air mass.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the rain that depressions bring to the UK, which is why frontal rainfall is the type you see most often.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tell the three types apart, ask one question: what made the air rise?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Two types of cloud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Cumulus: a pile (think accumulate). Stratus: a layer (think strata of rock).</a:t>
            </a:r>
            <a:endParaRPr lang="en-US" sz="1800" dirty="0"/>
          </a:p>
        </p:txBody>
      </p:sp>
      <p:sp>
        <p:nvSpPr>
          <p:cNvPr id="11" name="point-card"/>
          <p:cNvSpPr/>
          <p:nvPr/>
        </p:nvSpPr>
        <p:spPr>
          <a:xfrm>
            <a:off x="548640" y="1389888"/>
            <a:ext cx="5410048" cy="3964940"/>
          </a:xfrm>
          <a:prstGeom prst="roundRect">
            <a:avLst>
              <a:gd name="adj" fmla="val 1384"/>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Before the rain comes the cloud, so in class you read about the two main types.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Stratus clouds are the opposite shape: flat, grey sheets that spread across the whole sky in a layer.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made the air rise?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rainfall to the reason the air rises.</a:t>
            </a:r>
            <a:endParaRPr lang="en-US" sz="2400" dirty="0"/>
          </a:p>
        </p:txBody>
      </p:sp>
      <p:sp>
        <p:nvSpPr>
          <p:cNvPr id="11" name="match-card"/>
          <p:cNvSpPr/>
          <p:nvPr/>
        </p:nvSpPr>
        <p:spPr>
          <a:xfrm>
            <a:off x="777240" y="2468331"/>
            <a:ext cx="3081437" cy="1165352"/>
          </a:xfrm>
          <a:prstGeom prst="roundRect">
            <a:avLst>
              <a:gd name="adj" fmla="val 6277"/>
            </a:avLst>
          </a:prstGeom>
          <a:solidFill>
            <a:srgbClr val="F5F8F6"/>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Convectional rainfall</a:t>
            </a:r>
            <a:endParaRPr lang="en-US" sz="2200" dirty="0"/>
          </a:p>
        </p:txBody>
      </p:sp>
      <p:sp>
        <p:nvSpPr>
          <p:cNvPr id="15" name="match-card"/>
          <p:cNvSpPr/>
          <p:nvPr/>
        </p:nvSpPr>
        <p:spPr>
          <a:xfrm>
            <a:off x="4224437" y="2468331"/>
            <a:ext cx="7190019" cy="1165352"/>
          </a:xfrm>
          <a:prstGeom prst="roundRect">
            <a:avLst>
              <a:gd name="adj" fmla="val 6277"/>
            </a:avLst>
          </a:prstGeom>
          <a:solidFill>
            <a:srgbClr val="F9F4EC"/>
          </a:solidFill>
          <a:ln/>
        </p:spPr>
      </p:sp>
      <p:sp>
        <p:nvSpPr>
          <p:cNvPr id="16" name="match-hex"/>
          <p:cNvSpPr/>
          <p:nvPr/>
        </p:nvSpPr>
        <p:spPr>
          <a:xfrm>
            <a:off x="4297589" y="2884715"/>
            <a:ext cx="384048" cy="332586"/>
          </a:xfrm>
          <a:prstGeom prst="hexagon">
            <a:avLst/>
          </a:prstGeom>
          <a:solidFill>
            <a:srgbClr val="B8862B"/>
          </a:solidFill>
          <a:ln/>
        </p:spPr>
      </p:sp>
      <p:sp>
        <p:nvSpPr>
          <p:cNvPr id="17" name="match-hex-label"/>
          <p:cNvSpPr txBox="1"/>
          <p:nvPr/>
        </p:nvSpPr>
        <p:spPr>
          <a:xfrm>
            <a:off x="4297589"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sun heats the ground and the warm air above it rises</a:t>
            </a:r>
            <a:endParaRPr lang="en-US" sz="2200" dirty="0"/>
          </a:p>
        </p:txBody>
      </p:sp>
      <p:sp>
        <p:nvSpPr>
          <p:cNvPr id="19" name="match-card"/>
          <p:cNvSpPr/>
          <p:nvPr/>
        </p:nvSpPr>
        <p:spPr>
          <a:xfrm>
            <a:off x="777240" y="3725123"/>
            <a:ext cx="3081437" cy="1165352"/>
          </a:xfrm>
          <a:prstGeom prst="roundRect">
            <a:avLst>
              <a:gd name="adj" fmla="val 6277"/>
            </a:avLst>
          </a:prstGeom>
          <a:solidFill>
            <a:srgbClr val="F5F8F6"/>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2487077"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Relief rainfall</a:t>
            </a:r>
            <a:endParaRPr lang="en-US" sz="2200" dirty="0"/>
          </a:p>
        </p:txBody>
      </p:sp>
      <p:sp>
        <p:nvSpPr>
          <p:cNvPr id="23" name="match-card"/>
          <p:cNvSpPr/>
          <p:nvPr/>
        </p:nvSpPr>
        <p:spPr>
          <a:xfrm>
            <a:off x="4224437" y="3725123"/>
            <a:ext cx="7190019" cy="1165352"/>
          </a:xfrm>
          <a:prstGeom prst="roundRect">
            <a:avLst>
              <a:gd name="adj" fmla="val 6277"/>
            </a:avLst>
          </a:prstGeom>
          <a:solidFill>
            <a:srgbClr val="F9F4EC"/>
          </a:solidFill>
          <a:ln/>
        </p:spPr>
      </p:sp>
      <p:sp>
        <p:nvSpPr>
          <p:cNvPr id="24" name="match-hex"/>
          <p:cNvSpPr/>
          <p:nvPr/>
        </p:nvSpPr>
        <p:spPr>
          <a:xfrm>
            <a:off x="4297589" y="4141507"/>
            <a:ext cx="384048" cy="332586"/>
          </a:xfrm>
          <a:prstGeom prst="hexagon">
            <a:avLst/>
          </a:prstGeom>
          <a:solidFill>
            <a:srgbClr val="B8862B"/>
          </a:solidFill>
          <a:ln/>
        </p:spPr>
      </p:sp>
      <p:sp>
        <p:nvSpPr>
          <p:cNvPr id="25" name="match-hex-label"/>
          <p:cNvSpPr txBox="1"/>
          <p:nvPr/>
        </p:nvSpPr>
        <p:spPr>
          <a:xfrm>
            <a:off x="4297589"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725123"/>
            <a:ext cx="659565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warm air mass meets a cold air mass and is pushed up over it</a:t>
            </a:r>
            <a:endParaRPr lang="en-US" sz="2200" dirty="0"/>
          </a:p>
        </p:txBody>
      </p:sp>
      <p:sp>
        <p:nvSpPr>
          <p:cNvPr id="27" name="match-card"/>
          <p:cNvSpPr/>
          <p:nvPr/>
        </p:nvSpPr>
        <p:spPr>
          <a:xfrm>
            <a:off x="777240" y="4981915"/>
            <a:ext cx="3081437" cy="824484"/>
          </a:xfrm>
          <a:prstGeom prst="roundRect">
            <a:avLst>
              <a:gd name="adj" fmla="val 8872"/>
            </a:avLst>
          </a:prstGeom>
          <a:solidFill>
            <a:srgbClr val="F5F8F6"/>
          </a:solidFill>
          <a:ln/>
        </p:spPr>
      </p:sp>
      <p:sp>
        <p:nvSpPr>
          <p:cNvPr id="28" name="match-hex"/>
          <p:cNvSpPr/>
          <p:nvPr/>
        </p:nvSpPr>
        <p:spPr>
          <a:xfrm>
            <a:off x="850392" y="5227865"/>
            <a:ext cx="384048" cy="332586"/>
          </a:xfrm>
          <a:prstGeom prst="hexagon">
            <a:avLst/>
          </a:prstGeom>
          <a:solidFill>
            <a:srgbClr val="3F6B4A"/>
          </a:solidFill>
          <a:ln/>
        </p:spPr>
      </p:sp>
      <p:sp>
        <p:nvSpPr>
          <p:cNvPr id="29" name="match-hex-label"/>
          <p:cNvSpPr txBox="1"/>
          <p:nvPr/>
        </p:nvSpPr>
        <p:spPr>
          <a:xfrm>
            <a:off x="850392" y="52278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81915"/>
            <a:ext cx="2487077"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Frontal rainfall</a:t>
            </a:r>
            <a:endParaRPr lang="en-US" sz="2200" dirty="0"/>
          </a:p>
        </p:txBody>
      </p:sp>
      <p:sp>
        <p:nvSpPr>
          <p:cNvPr id="31" name="match-card"/>
          <p:cNvSpPr/>
          <p:nvPr/>
        </p:nvSpPr>
        <p:spPr>
          <a:xfrm>
            <a:off x="4224437" y="4981915"/>
            <a:ext cx="7190019" cy="824484"/>
          </a:xfrm>
          <a:prstGeom prst="roundRect">
            <a:avLst>
              <a:gd name="adj" fmla="val 8872"/>
            </a:avLst>
          </a:prstGeom>
          <a:solidFill>
            <a:srgbClr val="F9F4EC"/>
          </a:solidFill>
          <a:ln/>
        </p:spPr>
      </p:sp>
      <p:sp>
        <p:nvSpPr>
          <p:cNvPr id="32" name="match-hex"/>
          <p:cNvSpPr/>
          <p:nvPr/>
        </p:nvSpPr>
        <p:spPr>
          <a:xfrm>
            <a:off x="4297589" y="5227865"/>
            <a:ext cx="384048" cy="332586"/>
          </a:xfrm>
          <a:prstGeom prst="hexagon">
            <a:avLst/>
          </a:prstGeom>
          <a:solidFill>
            <a:srgbClr val="B8862B"/>
          </a:solidFill>
          <a:ln/>
        </p:spPr>
      </p:sp>
      <p:sp>
        <p:nvSpPr>
          <p:cNvPr id="33" name="match-hex-label"/>
          <p:cNvSpPr txBox="1"/>
          <p:nvPr/>
        </p:nvSpPr>
        <p:spPr>
          <a:xfrm>
            <a:off x="4297589" y="52278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981915"/>
            <a:ext cx="6595659"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Moving air is forced up over hills or mountains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What made the air rise?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rainfall to the reason the air rises.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type of rain needs rising air. The match is about what does the lifting.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Convection is heat rising, so convectional goes with the heated ground.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Relief means the shape of the land, so relief goes with hills and mountains.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front is where two air masses meet, so frontal goes with warm meeting cold.</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Heat, hills, or a meeting of warm and cold air. The name of each type tells you which.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west of the UK gets more relief rainfall than the east, and more frontal rainfall too.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Name that rain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It has been a hot, sunny afternoon in the UK. By late afternoon a huge cumulus cloud has built up and a thunderstorm breaks. Which type of rainfall is this,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Frontal, because a cold air mass pushed the warm air up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Convectional, because a mountain forced the air to rise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Convectional, because the heated ground made the warm air rise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Relief, because the cloud was forced up over high ground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Name that rain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that rain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what made the air rise. Is there heat from the ground, a hill, or a meeting of air masses?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hot afternoon with a growing cloud is heat from the ground.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Heat lifting the air is convection, so the type is convectional.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reason in the option matches: heated ground, not a mountain or a front.</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Hot afternoon, heated ground, cloud growing taller. Which type of rain has heat as the lift?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convectional thunderstorms in the UK happen in the late afternoon rather than in the morning.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Moist air from the sea is forced to rise over a range of mountains, cools and rain falls. Which type of rainfall is this?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Depression rainfall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Frontal rainfall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Relief rainfall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Convectional rainfall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made the air rise?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Convectional rainfall  →  A  The sun heats the ground and the warm air above it rises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Relief rainfall  →  C  Moving air is forced up over hills or mountains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Frontal rainfall  →  B  A warm air mass meets a cold air mass and is pushed up over it</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Convectional rainfall is lifted by heat from the ground, relief rainfall by hills and mountains, and frontal rainfall by cold air pushing warm air upwards. In all three the rising air cools and condenses.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Name that rain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It has been a hot, sunny afternoon in the UK. By late afternoon a huge cumulus cloud has built up and a thunderstorm breaks. Which type of rainfall is this, 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Convectional, because the heated ground made the warm air rise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lifting here comes from the sun heating the ground, so the warm air above it rises, cools and condenses into a towering cumulus cloud: convectional rainfall.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Moist air from the sea is forced to rise over a range of mountains, cools and rain falls. Which type of rainfall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Relief rainfall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Relief means the shape of the land. When hills or mountains force air to rise, the rain that follows is relief rainfall.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4: Three types of rainfall and two types of cloud</dc:title>
  <dc:subject>Geography · Year 7</dc:subject>
  <dc:creator>Dr Vitor Merissi de Carvalho</dc:creator>
  <cp:lastModifiedBy>Dr Vitor Merissi de Carvalho</cp:lastModifiedBy>
  <cp:revision>1</cp:revision>
  <dcterms:created xsi:type="dcterms:W3CDTF">2026-10-19T16:23:00Z</dcterms:created>
  <dcterms:modified xsi:type="dcterms:W3CDTF">2026-10-19T16:23:00Z</dcterms:modified>
</cp:coreProperties>
</file>