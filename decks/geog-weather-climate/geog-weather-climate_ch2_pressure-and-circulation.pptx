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6e907ee-405c-73d2-a25f-c86adeb48e46}">
          <p14:sldIdLst>
            <p14:sldId id="256"/>
          </p14:sldIdLst>
        </p14:section>
        <p14:section name="Gate" id="{e6fc538f-26a3-8741-b643-3e089ecc3bd3}">
          <p14:sldIdLst>
            <p14:sldId id="257"/>
            <p14:sldId id="258"/>
          </p14:sldIdLst>
        </p14:section>
        <p14:section name="Pre-teach" id="{0bba5df1-bf71-d03d-0f2b-6baa3847c4a0}">
          <p14:sldIdLst>
            <p14:sldId id="259"/>
            <p14:sldId id="260"/>
          </p14:sldIdLst>
        </p14:section>
        <p14:section name="Read-along" id="{49683626-8c3d-4824-5ac0-f1b060611db5}">
          <p14:sldIdLst>
            <p14:sldId id="261"/>
            <p14:sldId id="262"/>
          </p14:sldIdLst>
        </p14:section>
        <p14:section name="Teach" id="{ef431e34-113d-2cbe-de94-35e8c1df4b83}">
          <p14:sldIdLst>
            <p14:sldId id="263"/>
            <p14:sldId id="264"/>
            <p14:sldId id="265"/>
            <p14:sldId id="266"/>
          </p14:sldIdLst>
        </p14:section>
        <p14:section name="Routes" id="{6128e296-9ff1-de3a-5bfd-92e36bcf0f24}">
          <p14:sldIdLst>
            <p14:sldId id="267"/>
            <p14:sldId id="268"/>
            <p14:sldId id="269"/>
            <p14:sldId id="270"/>
          </p14:sldIdLst>
        </p14:section>
        <p14:section name="Close" id="{5e13beea-68ca-e07c-2600-6ca67c545631}">
          <p14:sldIdLst>
            <p14:sldId id="271"/>
          </p14:sldIdLst>
        </p14:section>
        <p14:section name="Answers" id="{08764580-d392-8a52-6d76-98a8b38a3cde}">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Air pressure and the global circulation. Why warm air rises and cold air sinks, what high and low pressure do to the weather, how isobars show pressure on a map, and the three giant loops of air that move heat around the planet.
This deck covers the department's lessons: 2 (Global atmospheric circulation: How does the movement of air create high and low pressure, and how is air circulated around the globe?); 8 (Climate and climate factors: What is the difference between weather and climate, and what affects the climate of a place?).
Read the big question aloud: "What makes our weather, and why is the climate changing?"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happens to air when it is warmed?  →  D   It expands, becomes less dense and rises
2. Cold air is more dense, so it sinks and creates ___ pressure at the ground.  →  high
3. In the global atmospheric circulation model, how many cells are there in each hemisphere?  →  3 cells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It expands, becomes less dense and rises. Warm air expands, so its particles spread out and it becomes less dense (lighter). Lighter air rises, leaving low pressure at the ground.
2. high. Sinking cold air presses down on the ground, so the pressure is high. High pressure brings dry, settled weather.
3. 3 cells. Each hemisphere has three cells: the Hadley cell, the Ferrel cell and the Polar cell. The pattern is mirrored across the Equator.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air pressure: how hard the air is pressing down on the ground. Example: "Sinking cold air gives high air pressure."
• dense: heavy for its size, with its particles packed closely together. Example: "Cold air is more dense than warm air, so it sinks."
• expand: to spread out and take up more space. Example: "When air is heated it expands and rises."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Equator: the imaginary line around the middle of the Earth. Example: "The Equator gets the strongest sunshine."
• hemisphere: one half of the Earth, north or south of the Equator. Example: "The UK is in the northern hemisphere."
• cell: one giant loop of circulating air. Example: "The Hadley cell is the loop nearest the Equator."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weather is controlled by the movement of air.
2. When air is warm it expands and rises.
3. Warm air is less dense, so it is lighter.
4. Rising air leaves low pressure at the ground.
5. Low pressure brings clouds and rain.
6. When air is cold it is more dense, so it is heavier.
7. Cold air sinks and presses down on the ground.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This gives high pressure.
9. High pressure brings settled weather with no clouds or rain.
10. This pattern of rising and sinking air happens all over the world.
11. The Earth has three giant loops of air in each hemisphere.
12. They are called the Hadley cell, the Ferrel cell and the Polar cell.
13. What happens north of the Equator also happens south of it.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Warm air rises, cold air sinks. Say it in your own words, then check understanding with a quick question: ask a pupil from the pre-teach group first, since they met these words and ideas before the lesson. Pupils try to recall before you re-explain.
Everything in this unit comes back to one idea: the weather is controlled by the movement of air. When the sun warms the ground, the air just above it warms too. Warm air expands, which means its particles spread out and it takes up more room. That makes it less dense than the cooler air around it, so, like a hot-air balloon, it rises. As the air lifts away from the ground, it presses down less, and we call this low atmospheric pressure. Rising air cools, its water vapour condenses, and low pressure brings clouds and rain.
Cold air does the opposite. Its particles are packed closer together, so it is more dense and heavier, and it sinks towards the ground. Sinking air presses down harder, which we call high atmospheric pressure. Sinking air is also drying out rather than cooling, so clouds cannot form: high pressure brings settled, dry weather with clear skies. In summer that means sunshine and warmth; in winter it can mean cold, frosty nights, because there are no clouds to keep the heat in.
So temperature, air movement and pressure are linked in a chain. Warm leads to rising, rising leads to low pressure, and low pressure leads to cloud and rain. Cold leads to sinking, sinking leads to high pressure, and high pressure leads to dry, clear weather. Learn the chain in both directions and most of the weather will make sense.
Worked example — model it step by step, thinking aloud: Describe the weather you would expect in an area of high pressure, and explain why. (3 marks) (1) Describe first: high pressure brings settled, dry weather with clear skies and little wind. (2) Explain the cause: high pressure forms where cold, dense air is sinking. (3) Link sinking to the weather: sinking air does not cool and its water vapour does not condense, so clouds cannot form and there is no rain. (4) Describe, then cause, then link. Three steps, three marks. Answer: High pressure brings dry, settled weather with clear skies. It forms where cold, dense air sinks towards the ground. Sinking air does not cool and condense, so no clouds form and there is no rain..
Tip: Think of the letters: Low pressure, Lifting air, Lots of cloud. High pressure, Heavy sinking air, Hardly a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Warm air rises, cold air sinks. Say it in your own words, then check understanding with a quick question: ask a pupil from the pre-teach group first, since they met these words and ideas before the lesson. Pupils try to recall before you re-explain.
Everything in this unit comes back to one idea: the weather is controlled by the movement of air. When the sun warms the ground, the air just above it warms too. Warm air expands, which means its particles spread out and it takes up more room. That makes it less dense than the cooler air around it, so, like a hot-air balloon, it rises. As the air lifts away from the ground, it presses down less, and we call this low atmospheric pressure. Rising air cools, its water vapour condenses, and low pressure brings clouds and rain.
Cold air does the opposite. Its particles are packed closer together, so it is more dense and heavier, and it sinks towards the ground. Sinking air presses down harder, which we call high atmospheric pressure. Sinking air is also drying out rather than cooling, so clouds cannot form: high pressure brings settled, dry weather with clear skies. In summer that means sunshine and warmth; in winter it can mean cold, frosty nights, because there are no clouds to keep the heat in.
So temperature, air movement and pressure are linked in a chain. Warm leads to rising, rising leads to low pressure, and low pressure leads to cloud and rain. Cold leads to sinking, sinking leads to high pressure, and high pressure leads to dry, clear weather. Learn the chain in both directions and most of the weather will make sense.
Worked example — model it step by step, thinking aloud: Describe the weather you would expect in an area of high pressure, and explain why. (3 marks) (1) Describe first: high pressure brings settled, dry weather with clear skies and little wind. (2) Explain the cause: high pressure forms where cold, dense air is sinking. (3) Link sinking to the weather: sinking air does not cool and its water vapour does not condense, so clouds cannot form and there is no rain. (4) Describe, then cause, then link. Three steps, three marks. Answer: High pressure brings dry, settled weather with clear skies. It forms where cold, dense air sinks towards the ground. Sinking air does not cool and condense, so no clouds form and there is no rain..
Tip: Think of the letters: Low pressure, Lifting air, Lots of cloud. High pressure, Heavy sinking air, Hardly a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Isobars on a weather map. Say it in your own words, then check understanding with a quick question: ask a pupil from the pre-teach group first, since they met these words and ideas before the lesson. Pupils try to recall before you re-explain.
Forecasters measure air pressure at hundreds of weather stations and draw the results on a map. An isobar is a line that joins up all the places with the same air pressure, in the same way that a contour line on an OS map joins places of the same height. The isobars make rings around areas of high pressure, marked H, and areas of low pressure, marked L.
Once you can read isobars you can read the weather. A big H sitting over the UK means sinking air and a run of dry, settled days. An L approaching from the Atlantic means rising air, cloud and rain on the way. Where the isobars are packed close together the pressure changes quickly over a short distance, and that is where the wind blows hardest; where they are far apart the air is calm.
Tip: Isobar: iso means equal, bar means pressure. A line of equal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cells that circulate the globe. Say it in your own words, then check understanding with a quick question: ask a pupil from the pre-teach group first, since they met these words and ideas before the lesson. Pupils try to recall before you re-explain.
The pattern of rising and sinking air does not happen only in one place. It happens all over the world, in a pattern geographers call the global atmospheric circulation model. The Earth can be divided into three sections in each hemisphere, and each section has its own giant loop of moving air, called a cell. In each cell, air rises in one place, travels high above the ground, sinks in another place and flows back along the surface.
The cell nearest the Equator is the Hadley cell. It fills the gap between the Equator and the tropics, the Tropic of Cancer in the north and the Tropic of Capricorn in the south. The Equator receives the strongest sunshine, so air there is heated, expands and rises, giving low pressure, towering clouds and heavy rain; the air then spreads out and sinks around the tropics. The middle cell is the Ferrel cell, which lies between the tropics and the polar circles, the Arctic Circle and the Antarctic Circle. The UK sits in this middle cell, which is one reason its weather is so changeable. The cell nearest the poles is the Polar cell, between the circles and the North or South Pole, where cold, dense air sinks.
The Earth is round, or very nearly, so the pattern is a mirror image on each side of the Equator. Whatever happens in the northern hemisphere is happening in the southern hemisphere too: three cells in the north, three cells in the south. When you draw the model, draw the Equator first and then copy each cell above and below it.
Tip: Order the cells from the Equator outwards: Hadley, Ferrel, Polar. H-F-P: Hot, Further, Polar.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pressure chain.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in the correct order to show how warm air leads to rain.
Support — work through the steps with the group: (1) Everything starts with heat. Which step is about the sun? (2) Heat changes the air before the air moves: expanding comes before rising. (3) Rising air leaves a gap at the ground. That gap is the low pressure. (4) Clouds and rain are always the last thing to happen.
Parallel worked example for Support (model it, do not give the task answer): Put these steps for cold air in order: high pressure forms at the surface; the air is cooled; the dense air sinks; the air becomes more dense; the sky stays clear and dry. Cooling comes first.; Cooling makes the air denser, and dense air sinks.; Sinking creates high pressure, and clear skies are the result.. Answer: The air is cooled; the air becomes more dense; the dense air sinks; high pressure forms at the surface; the sky stays clear and dry..
Core — reveal the hint only on request: Heat, expand, rise, low pressure, rain. Each step causes the next one.
Stretch — no help; when finished: Write the matching chain for cold air, from cooling to clear skies, and explain why no clouds form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pressure chain.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in the correct order to show how warm air leads to rain.
Support — work through the steps with the group: (1) Everything starts with heat. Which step is about the sun? (2) Heat changes the air before the air moves: expanding comes before rising. (3) Rising air leaves a gap at the ground. That gap is the low pressure. (4) Clouds and rain are always the last thing to happen.
Parallel worked example for Support (model it, do not give the task answer): Put these steps for cold air in order: high pressure forms at the surface; the air is cooled; the dense air sinks; the air becomes more dense; the sky stays clear and dry. Cooling comes first.; Cooling makes the air denser, and dense air sinks.; Sinking creates high pressure, and clear skies are the result.. Answer: The air is cooled; the air becomes more dense; the dense air sinks; high pressure forms at the surface; the sky stays clear and dry..
Core — reveal the hint only on request: Heat, expand, rise, low pressure, rain. Each step causes the next one.
Stretch — no help; when finished: Write the matching chain for cold air, from cooling to clear skies, and explain why no clouds form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Where is each cell?.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cell of the global atmospheric circulation model to where it is found.
Support — work through the steps with the group: (1) Start at the Equator and work outwards towards the pole. (2) The Hadley cell is the first one, next to the Equator. (3) The Polar cell must be the one touching the pole; its name tells you. (4) The Ferrel cell is whatever is left, in the middle.
Parallel worked example for Support (model it, do not give the task answer): Match: Tropic of Cancer, Arctic Circle. Choices: the line where the Polar cell begins in the north; the line where the Hadley cell ends in the north. The tropics are the edge of the Hadley cell.; The polar circles are the edge of the Polar cell.. Answer: Tropic of Cancer: where the Hadley cell ends in the north. Arctic Circle: where the Polar cell begins in the north..
Core — reveal the hint only on request: Equator first, pole last. The names Polar and Hadley give away two of them.
Stretch — no help; when finished: Explain why the UK, which sits in the Ferrel cell, has such changeable weather compared with a place under the sinking air of the Hadley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Where is each cell?.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cell of the global atmospheric circulation model to where it is found.
Support — work through the steps with the group: (1) Start at the Equator and work outwards towards the pole. (2) The Hadley cell is the first one, next to the Equator. (3) The Polar cell must be the one touching the pole; its name tells you. (4) The Ferrel cell is whatever is left, in the middle.
Parallel worked example for Support (model it, do not give the task answer): Match: Tropic of Cancer, Arctic Circle. Choices: the line where the Polar cell begins in the north; the line where the Hadley cell ends in the north. The tropics are the edge of the Hadley cell.; The polar circles are the edge of the Polar cell.. Answer: Tropic of Cancer: where the Hadley cell ends in the north. Arctic Circle: where the Polar cell begins in the north..
Core — reveal the hint only on request: Equator first, pole last. The names Polar and Hadley give away two of them.
Stretch — no help; when finished: Explain why the UK, which sits in the Ferrel cell, has such changeable weather compared with a place under the sinking air of the Hadley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option correctly links a type of pressure to its air movement and its weather?
Answer: D   High pressure: cold, dense air sinks, giving clear skies and dry weather. High pressure is made by cold, dense air sinking. Sinking air does not cool and condense, so no clouds form and the weather is clear and dry. Low pressure is the reverse: rising warm air, clouds and rain.
Source of this question: module 3 task ("Pressure and weather, matched up")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pressure chain. Reveal the answer; pupils mark their own work in a different colour, then read the "why" together. Same destination for every lane, so one answer serves the whole class.
Answer: The sun heats the ground and the air above it warms up  (E); The warm air expands and becomes less dense  (A); The lighter air rises away from the ground  (C); Low pressure is created at the surface  (B); The rising air cools, clouds form and rain falls  (D)
Why: Heating comes first; the warm air expands and becomes less dense; being lighter, it rises; its rising leaves low pressure at the surface; and as it climbs it cools, so clouds form and rain falls.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Where is each cell?. Reveal the answer; pupils mark their own work in a different colour, then read the "why" together. Same destination for every lane, so one answer serves the whole class.
Answer: Hadley cell  →  C  Between the Equator and the tropics; Ferrel cell  →  A  Between the tropics and the Arctic or Antarctic Circle; Polar cell  →  B  Between the polar circles and the North or South Pole
Why: The Hadley cell runs from the Equator to the tropics, the Ferrel cell from the tropics to the polar circles, and the Polar cell from the circles to the poles. The same three repeat in the southern hemisphere.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High pressure: cold, dense air sinks, giving clear skies and dry weather
Why: High pressure is made by cold, dense air sinking. Sinking air does not cool and condense, so no clouds form and the weather is clear and dry. Low pressure is the reverse: rising warm air, clouds and rain.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Weather and Climate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Weather and Climate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Weather and Climate · AQA KS3 → 8035</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Air pressure and the global circulation</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F2F5F2"/>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Global atmospheric circulation</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Climate and climate factors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makes our weather, and why is the climate changing?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happens to air when it is warmed?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 expands, becomes more dense and sinks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 stays the same but moves sideways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 shrinks, becomes more dense and sinks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 expands, becomes less dense and rises</a:t>
            </a:r>
            <a:endParaRPr lang="en-US" sz="18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Cold air is more dense, so it sinks and creates ___ pressure at the ground.</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high  ·  low  ·  no</a:t>
            </a:r>
            <a:endParaRPr lang="en-US" sz="24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the global atmospheric circulation model, how many cells are there in each hemisphere?</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cells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FE4D0"/>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It expands, becomes less dense and rises</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What happens to air when it is warmed?</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Warm air expands, so its particles spread out and it becomes less dense (lighter). Lighter air rises, leaving low pressure at the ground.</a:t>
            </a:r>
            <a:endParaRPr lang="en-US" sz="18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high</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Cold air is more dense, so it sinks and creates ___ pressure at the ground.</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Sinking cold air presses down on the ground, so the pressure is high. High pressure brings dry, settled weather.</a:t>
            </a:r>
            <a:endParaRPr lang="en-US" sz="20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 cells</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the global atmospheric circulation model, how many cells are there in each hemisphere?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Each hemisphere has three cells: the Hadley cell, the Ferrel cell and the Polar cell. The pattern is mirrored across the Equator.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air pressure</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hard the air is pressing down on the ground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Sinking cold air gives high air pressure.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dense</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heavy for its size, with its particles packed closely together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Cold air is more dense than warm air, so it sinks.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expand</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spread out and take up more space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When air is heated it expands and rises.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Equator</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imaginary line around the middle of the Earth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Equator gets the strongest sunshine.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hemisphere</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one half of the Earth, north or south of the Equator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UK is in the northern hemisphere.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cell</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one giant loop of circulating air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Hadley cell is the loop nearest the Equator.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weather is controlled by the movement of air.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When air is warm it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expands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rises.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Warm air is less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dense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so it is lighter.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Rising air leaves low pressure at the ground.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Low pressure brings clouds and rain.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When air is cold it is more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dense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so it is heavier.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Cold air sinks and presses down on the ground.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gives high pressure.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High pressure brings settled weather with no clouds or rain.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pattern of rising and sinking air happens all over the world.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Earth has three giant loops of air in each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hemisphere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are called the Hadley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cell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the Ferrel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cell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the Polar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cell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What happens north of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Equator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also happens south of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Warm air rises, cold air sinks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Think of the letters: Low pressure, Lifting air, Lots of cloud. High pressure, Heavy sinking air, Hardly a cloud.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Everything in this unit comes back to one idea: the weather is controlled by the movement of air.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Cold air does the opposite. Its particles are packed closer together, so it is more dense and heavier, and it sinks towards the ground.</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 temperature, air movement and pressure are linked in a chain.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Worked example: Warm air rises, cold air sinks</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2F5F2"/>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Describe the weather you would expect in an area of high pressure, and explain why. (3 marks)</a:t>
            </a:r>
            <a:endParaRPr lang="en-US" sz="2000" dirty="0"/>
          </a:p>
        </p:txBody>
      </p:sp>
      <p:sp>
        <p:nvSpPr>
          <p:cNvPr id="9" name="step-box"/>
          <p:cNvSpPr/>
          <p:nvPr/>
        </p:nvSpPr>
        <p:spPr>
          <a:xfrm>
            <a:off x="548640" y="2192528"/>
            <a:ext cx="11094415" cy="575056"/>
          </a:xfrm>
          <a:prstGeom prst="roundRect">
            <a:avLst>
              <a:gd name="adj" fmla="val 12721"/>
            </a:avLst>
          </a:prstGeom>
          <a:solidFill>
            <a:srgbClr val="FFFFFF"/>
          </a:solidFill>
          <a:ln w="15875">
            <a:solidFill>
              <a:srgbClr val="95AE9B"/>
            </a:solidFill>
            <a:prstDash val="solid"/>
          </a:ln>
        </p:spPr>
      </p:sp>
      <p:sp>
        <p:nvSpPr>
          <p:cNvPr id="10" name="step-hex"/>
          <p:cNvSpPr/>
          <p:nvPr/>
        </p:nvSpPr>
        <p:spPr>
          <a:xfrm>
            <a:off x="685800" y="2282088"/>
            <a:ext cx="457200" cy="395935"/>
          </a:xfrm>
          <a:prstGeom prst="hexagon">
            <a:avLst/>
          </a:prstGeom>
          <a:solidFill>
            <a:srgbClr val="3F6B4A"/>
          </a:solidFill>
          <a:ln/>
        </p:spPr>
      </p:sp>
      <p:sp>
        <p:nvSpPr>
          <p:cNvPr id="11" name="step-hex-label"/>
          <p:cNvSpPr txBox="1"/>
          <p:nvPr/>
        </p:nvSpPr>
        <p:spPr>
          <a:xfrm>
            <a:off x="685800" y="228208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57505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Describe first: high pressure brings settled, dry weather with clear skies and little wind.</a:t>
            </a:r>
            <a:endParaRPr lang="en-US" sz="1800" dirty="0"/>
          </a:p>
        </p:txBody>
      </p:sp>
      <p:sp>
        <p:nvSpPr>
          <p:cNvPr id="13" name="step-box"/>
          <p:cNvSpPr/>
          <p:nvPr/>
        </p:nvSpPr>
        <p:spPr>
          <a:xfrm>
            <a:off x="548640" y="2840736"/>
            <a:ext cx="11094415" cy="575056"/>
          </a:xfrm>
          <a:prstGeom prst="roundRect">
            <a:avLst>
              <a:gd name="adj" fmla="val 12721"/>
            </a:avLst>
          </a:prstGeom>
          <a:solidFill>
            <a:srgbClr val="FFFFFF"/>
          </a:solidFill>
          <a:ln w="15875">
            <a:solidFill>
              <a:srgbClr val="95AE9B"/>
            </a:solidFill>
            <a:prstDash val="solid"/>
          </a:ln>
        </p:spPr>
      </p:sp>
      <p:sp>
        <p:nvSpPr>
          <p:cNvPr id="14" name="step-hex"/>
          <p:cNvSpPr/>
          <p:nvPr/>
        </p:nvSpPr>
        <p:spPr>
          <a:xfrm>
            <a:off x="685800" y="2930296"/>
            <a:ext cx="457200" cy="395935"/>
          </a:xfrm>
          <a:prstGeom prst="hexagon">
            <a:avLst/>
          </a:prstGeom>
          <a:solidFill>
            <a:srgbClr val="3F6B4A"/>
          </a:solidFill>
          <a:ln/>
        </p:spPr>
      </p:sp>
      <p:sp>
        <p:nvSpPr>
          <p:cNvPr id="15" name="step-hex-label"/>
          <p:cNvSpPr txBox="1"/>
          <p:nvPr/>
        </p:nvSpPr>
        <p:spPr>
          <a:xfrm>
            <a:off x="685800" y="293029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840736"/>
            <a:ext cx="10180015" cy="57505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Explain the cause: high pressure forms where cold, dense air is sinking.</a:t>
            </a:r>
            <a:endParaRPr lang="en-US" sz="1800" dirty="0"/>
          </a:p>
        </p:txBody>
      </p:sp>
      <p:sp>
        <p:nvSpPr>
          <p:cNvPr id="17" name="step-box"/>
          <p:cNvSpPr/>
          <p:nvPr/>
        </p:nvSpPr>
        <p:spPr>
          <a:xfrm>
            <a:off x="548640" y="3488944"/>
            <a:ext cx="11094415" cy="839216"/>
          </a:xfrm>
          <a:prstGeom prst="roundRect">
            <a:avLst>
              <a:gd name="adj" fmla="val 8717"/>
            </a:avLst>
          </a:prstGeom>
          <a:solidFill>
            <a:srgbClr val="FFFFFF"/>
          </a:solidFill>
          <a:ln w="15875">
            <a:solidFill>
              <a:srgbClr val="95AE9B"/>
            </a:solidFill>
            <a:prstDash val="solid"/>
          </a:ln>
        </p:spPr>
      </p:sp>
      <p:sp>
        <p:nvSpPr>
          <p:cNvPr id="18" name="step-hex"/>
          <p:cNvSpPr/>
          <p:nvPr/>
        </p:nvSpPr>
        <p:spPr>
          <a:xfrm>
            <a:off x="685800" y="3710584"/>
            <a:ext cx="457200" cy="395935"/>
          </a:xfrm>
          <a:prstGeom prst="hexagon">
            <a:avLst/>
          </a:prstGeom>
          <a:solidFill>
            <a:srgbClr val="3F6B4A"/>
          </a:solidFill>
          <a:ln/>
        </p:spPr>
      </p:sp>
      <p:sp>
        <p:nvSpPr>
          <p:cNvPr id="19" name="step-hex-label"/>
          <p:cNvSpPr txBox="1"/>
          <p:nvPr/>
        </p:nvSpPr>
        <p:spPr>
          <a:xfrm>
            <a:off x="685800" y="37105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488944"/>
            <a:ext cx="10180015" cy="83921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Link sinking to the weather: sinking air does not cool and its water vapour does not condense, so clouds cannot form and there is no rain.</a:t>
            </a:r>
            <a:endParaRPr lang="en-US" sz="1800" dirty="0"/>
          </a:p>
        </p:txBody>
      </p:sp>
      <p:sp>
        <p:nvSpPr>
          <p:cNvPr id="21" name="step-box"/>
          <p:cNvSpPr/>
          <p:nvPr/>
        </p:nvSpPr>
        <p:spPr>
          <a:xfrm>
            <a:off x="548640" y="4401312"/>
            <a:ext cx="11094415" cy="575056"/>
          </a:xfrm>
          <a:prstGeom prst="roundRect">
            <a:avLst>
              <a:gd name="adj" fmla="val 12721"/>
            </a:avLst>
          </a:prstGeom>
          <a:solidFill>
            <a:srgbClr val="FFFFFF"/>
          </a:solidFill>
          <a:ln w="15875">
            <a:solidFill>
              <a:srgbClr val="95AE9B"/>
            </a:solidFill>
            <a:prstDash val="solid"/>
          </a:ln>
        </p:spPr>
      </p:sp>
      <p:sp>
        <p:nvSpPr>
          <p:cNvPr id="22" name="step-hex"/>
          <p:cNvSpPr/>
          <p:nvPr/>
        </p:nvSpPr>
        <p:spPr>
          <a:xfrm>
            <a:off x="685800" y="4490872"/>
            <a:ext cx="457200" cy="395935"/>
          </a:xfrm>
          <a:prstGeom prst="hexagon">
            <a:avLst/>
          </a:prstGeom>
          <a:solidFill>
            <a:srgbClr val="3F6B4A"/>
          </a:solidFill>
          <a:ln/>
        </p:spPr>
      </p:sp>
      <p:sp>
        <p:nvSpPr>
          <p:cNvPr id="23" name="step-hex-label"/>
          <p:cNvSpPr txBox="1"/>
          <p:nvPr/>
        </p:nvSpPr>
        <p:spPr>
          <a:xfrm>
            <a:off x="685800" y="449087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401312"/>
            <a:ext cx="10180015" cy="57505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Describe, then cause, then link. Three steps, three marks.</a:t>
            </a:r>
            <a:endParaRPr lang="en-US" sz="1800" dirty="0"/>
          </a:p>
        </p:txBody>
      </p:sp>
      <p:sp>
        <p:nvSpPr>
          <p:cNvPr id="25" name="worked-answer"/>
          <p:cNvSpPr/>
          <p:nvPr/>
        </p:nvSpPr>
        <p:spPr>
          <a:xfrm>
            <a:off x="548640" y="5159248"/>
            <a:ext cx="11094415" cy="831088"/>
          </a:xfrm>
          <a:prstGeom prst="roundRect">
            <a:avLst>
              <a:gd name="adj" fmla="val 16504"/>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High pressure brings dry, settled weather with clear skies. It forms where cold, dense air sinks towards the ground. Sinking air does not cool and condense, so no clouds form and there is no rain.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Isobars on a weather map</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Isobar: iso means equal, bar means pressure. A line of equal pressure.</a:t>
            </a:r>
            <a:endParaRPr lang="en-US" sz="1800" dirty="0"/>
          </a:p>
        </p:txBody>
      </p:sp>
      <p:sp>
        <p:nvSpPr>
          <p:cNvPr id="11" name="point-card"/>
          <p:cNvSpPr/>
          <p:nvPr/>
        </p:nvSpPr>
        <p:spPr>
          <a:xfrm>
            <a:off x="548640" y="1389888"/>
            <a:ext cx="5410048" cy="3964940"/>
          </a:xfrm>
          <a:prstGeom prst="roundRect">
            <a:avLst>
              <a:gd name="adj" fmla="val 1384"/>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Forecasters measure air pressure at hundreds of weather stations and draw the results on a map.</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9F4EC"/>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Once you can read isobars you can read the weather.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Three cells that circulate the globe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Order the cells from the Equator outwards: Hadley, Ferrel, Polar. H-F-P: Hot, Further, Polar.</a:t>
            </a:r>
            <a:endParaRPr lang="en-US" sz="1800" dirty="0"/>
          </a:p>
        </p:txBody>
      </p:sp>
      <p:sp>
        <p:nvSpPr>
          <p:cNvPr id="11" name="point-card"/>
          <p:cNvSpPr/>
          <p:nvPr/>
        </p:nvSpPr>
        <p:spPr>
          <a:xfrm>
            <a:off x="548640" y="1389888"/>
            <a:ext cx="3515258" cy="3964940"/>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pattern of rising and sinking air does not happen only in one place.</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cell nearest the Equator is the Hadley cell. It fills the gap between the Equator and the tropics, the Tropic of Cancer in the north and the Tropic of Capricorn in the south.</a:t>
            </a:r>
            <a:endParaRPr lang="en-US" sz="2200" dirty="0"/>
          </a:p>
        </p:txBody>
      </p:sp>
      <p:sp>
        <p:nvSpPr>
          <p:cNvPr id="19" name="point-card"/>
          <p:cNvSpPr/>
          <p:nvPr/>
        </p:nvSpPr>
        <p:spPr>
          <a:xfrm>
            <a:off x="8127797" y="1389888"/>
            <a:ext cx="3515258" cy="3964940"/>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Earth is round, or very nearly, so the pattern is a mirror image on each side of the Equator.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The pressure chain</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steps in the correct order to show how warm air leads to rain.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warm air expands and becomes less dense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Low pressure is created at the surface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lighter air rises away from the ground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rising air cools, clouds form and rain falls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sun heats the ground and the air above it warms up</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The pressure chain</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steps in the correct order to show how warm air leads to rain.</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2F5F2"/>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Everything starts with heat. Which step is about the sun?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Heat changes the air before the air moves: expanding comes before rising.</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Rising air leaves a gap at the ground. That gap is the low pressure.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Clouds and rain are always the last thing to happen.</a:t>
            </a:r>
            <a:endParaRPr lang="en-US" sz="1800" dirty="0"/>
          </a:p>
        </p:txBody>
      </p:sp>
      <p:sp>
        <p:nvSpPr>
          <p:cNvPr id="17" name="col-Core"/>
          <p:cNvSpPr/>
          <p:nvPr/>
        </p:nvSpPr>
        <p:spPr>
          <a:xfrm>
            <a:off x="5490762" y="2578608"/>
            <a:ext cx="2938987" cy="3566160"/>
          </a:xfrm>
          <a:prstGeom prst="roundRect">
            <a:avLst>
              <a:gd name="adj" fmla="val 1867"/>
            </a:avLst>
          </a:prstGeom>
          <a:solidFill>
            <a:srgbClr val="DBE3DD"/>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Heat, expand, rise, low pressure, rain. Each step causes the next one.</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Write the matching chain for cold air, from cooling to clear skies, and explain why no clouds form in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Where is each cell?</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cell of the global atmospheric circulation model to where it is found.</a:t>
            </a:r>
            <a:endParaRPr lang="en-US" sz="2400" dirty="0"/>
          </a:p>
        </p:txBody>
      </p:sp>
      <p:sp>
        <p:nvSpPr>
          <p:cNvPr id="11" name="match-card"/>
          <p:cNvSpPr/>
          <p:nvPr/>
        </p:nvSpPr>
        <p:spPr>
          <a:xfrm>
            <a:off x="777240" y="2672080"/>
            <a:ext cx="3081437" cy="824484"/>
          </a:xfrm>
          <a:prstGeom prst="roundRect">
            <a:avLst>
              <a:gd name="adj" fmla="val 8872"/>
            </a:avLst>
          </a:prstGeom>
          <a:solidFill>
            <a:srgbClr val="F5F8F6"/>
          </a:solidFill>
          <a:ln/>
        </p:spPr>
      </p:sp>
      <p:sp>
        <p:nvSpPr>
          <p:cNvPr id="12" name="match-hex"/>
          <p:cNvSpPr/>
          <p:nvPr/>
        </p:nvSpPr>
        <p:spPr>
          <a:xfrm>
            <a:off x="850392" y="2918029"/>
            <a:ext cx="384048" cy="332586"/>
          </a:xfrm>
          <a:prstGeom prst="hexagon">
            <a:avLst/>
          </a:prstGeom>
          <a:solidFill>
            <a:srgbClr val="3F6B4A"/>
          </a:solidFill>
          <a:ln/>
        </p:spPr>
      </p:sp>
      <p:sp>
        <p:nvSpPr>
          <p:cNvPr id="13" name="match-hex-label"/>
          <p:cNvSpPr txBox="1"/>
          <p:nvPr/>
        </p:nvSpPr>
        <p:spPr>
          <a:xfrm>
            <a:off x="850392" y="291802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2487077"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Hadley cell</a:t>
            </a:r>
            <a:endParaRPr lang="en-US" sz="2200" dirty="0"/>
          </a:p>
        </p:txBody>
      </p:sp>
      <p:sp>
        <p:nvSpPr>
          <p:cNvPr id="15" name="match-card"/>
          <p:cNvSpPr/>
          <p:nvPr/>
        </p:nvSpPr>
        <p:spPr>
          <a:xfrm>
            <a:off x="4224437" y="2672080"/>
            <a:ext cx="7190019" cy="824484"/>
          </a:xfrm>
          <a:prstGeom prst="roundRect">
            <a:avLst>
              <a:gd name="adj" fmla="val 8872"/>
            </a:avLst>
          </a:prstGeom>
          <a:solidFill>
            <a:srgbClr val="F9F4EC"/>
          </a:solidFill>
          <a:ln/>
        </p:spPr>
      </p:sp>
      <p:sp>
        <p:nvSpPr>
          <p:cNvPr id="16" name="match-hex"/>
          <p:cNvSpPr/>
          <p:nvPr/>
        </p:nvSpPr>
        <p:spPr>
          <a:xfrm>
            <a:off x="4297589" y="2918029"/>
            <a:ext cx="384048" cy="332586"/>
          </a:xfrm>
          <a:prstGeom prst="hexagon">
            <a:avLst/>
          </a:prstGeom>
          <a:solidFill>
            <a:srgbClr val="B8862B"/>
          </a:solidFill>
          <a:ln/>
        </p:spPr>
      </p:sp>
      <p:sp>
        <p:nvSpPr>
          <p:cNvPr id="17" name="match-hex-label"/>
          <p:cNvSpPr txBox="1"/>
          <p:nvPr/>
        </p:nvSpPr>
        <p:spPr>
          <a:xfrm>
            <a:off x="4297589" y="291802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672080"/>
            <a:ext cx="6595659"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Between the tropics and the Arctic or Antarctic Circle</a:t>
            </a:r>
            <a:endParaRPr lang="en-US" sz="2200" dirty="0"/>
          </a:p>
        </p:txBody>
      </p:sp>
      <p:sp>
        <p:nvSpPr>
          <p:cNvPr id="19" name="match-card"/>
          <p:cNvSpPr/>
          <p:nvPr/>
        </p:nvSpPr>
        <p:spPr>
          <a:xfrm>
            <a:off x="777240" y="3588004"/>
            <a:ext cx="3081437" cy="824484"/>
          </a:xfrm>
          <a:prstGeom prst="roundRect">
            <a:avLst>
              <a:gd name="adj" fmla="val 8872"/>
            </a:avLst>
          </a:prstGeom>
          <a:solidFill>
            <a:srgbClr val="F5F8F6"/>
          </a:solidFill>
          <a:ln/>
        </p:spPr>
      </p:sp>
      <p:sp>
        <p:nvSpPr>
          <p:cNvPr id="20" name="match-hex"/>
          <p:cNvSpPr/>
          <p:nvPr/>
        </p:nvSpPr>
        <p:spPr>
          <a:xfrm>
            <a:off x="850392" y="3833953"/>
            <a:ext cx="384048" cy="332586"/>
          </a:xfrm>
          <a:prstGeom prst="hexagon">
            <a:avLst/>
          </a:prstGeom>
          <a:solidFill>
            <a:srgbClr val="3F6B4A"/>
          </a:solidFill>
          <a:ln/>
        </p:spPr>
      </p:sp>
      <p:sp>
        <p:nvSpPr>
          <p:cNvPr id="21" name="match-hex-label"/>
          <p:cNvSpPr txBox="1"/>
          <p:nvPr/>
        </p:nvSpPr>
        <p:spPr>
          <a:xfrm>
            <a:off x="850392" y="383395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88004"/>
            <a:ext cx="2487077"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Ferrel cell</a:t>
            </a:r>
            <a:endParaRPr lang="en-US" sz="2200" dirty="0"/>
          </a:p>
        </p:txBody>
      </p:sp>
      <p:sp>
        <p:nvSpPr>
          <p:cNvPr id="23" name="match-card"/>
          <p:cNvSpPr/>
          <p:nvPr/>
        </p:nvSpPr>
        <p:spPr>
          <a:xfrm>
            <a:off x="4224437" y="3588004"/>
            <a:ext cx="7190019" cy="824484"/>
          </a:xfrm>
          <a:prstGeom prst="roundRect">
            <a:avLst>
              <a:gd name="adj" fmla="val 8872"/>
            </a:avLst>
          </a:prstGeom>
          <a:solidFill>
            <a:srgbClr val="F9F4EC"/>
          </a:solidFill>
          <a:ln/>
        </p:spPr>
      </p:sp>
      <p:sp>
        <p:nvSpPr>
          <p:cNvPr id="24" name="match-hex"/>
          <p:cNvSpPr/>
          <p:nvPr/>
        </p:nvSpPr>
        <p:spPr>
          <a:xfrm>
            <a:off x="4297589" y="3833953"/>
            <a:ext cx="384048" cy="332586"/>
          </a:xfrm>
          <a:prstGeom prst="hexagon">
            <a:avLst/>
          </a:prstGeom>
          <a:solidFill>
            <a:srgbClr val="B8862B"/>
          </a:solidFill>
          <a:ln/>
        </p:spPr>
      </p:sp>
      <p:sp>
        <p:nvSpPr>
          <p:cNvPr id="25" name="match-hex-label"/>
          <p:cNvSpPr txBox="1"/>
          <p:nvPr/>
        </p:nvSpPr>
        <p:spPr>
          <a:xfrm>
            <a:off x="4297589" y="383395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588004"/>
            <a:ext cx="6595659"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Between the polar circles and the North or South Pole</a:t>
            </a:r>
            <a:endParaRPr lang="en-US" sz="2200" dirty="0"/>
          </a:p>
        </p:txBody>
      </p:sp>
      <p:sp>
        <p:nvSpPr>
          <p:cNvPr id="27" name="match-card"/>
          <p:cNvSpPr/>
          <p:nvPr/>
        </p:nvSpPr>
        <p:spPr>
          <a:xfrm>
            <a:off x="777240" y="4503928"/>
            <a:ext cx="3081437" cy="824484"/>
          </a:xfrm>
          <a:prstGeom prst="roundRect">
            <a:avLst>
              <a:gd name="adj" fmla="val 8872"/>
            </a:avLst>
          </a:prstGeom>
          <a:solidFill>
            <a:srgbClr val="F5F8F6"/>
          </a:solidFill>
          <a:ln/>
        </p:spPr>
      </p:sp>
      <p:sp>
        <p:nvSpPr>
          <p:cNvPr id="28" name="match-hex"/>
          <p:cNvSpPr/>
          <p:nvPr/>
        </p:nvSpPr>
        <p:spPr>
          <a:xfrm>
            <a:off x="850392" y="4749877"/>
            <a:ext cx="384048" cy="332586"/>
          </a:xfrm>
          <a:prstGeom prst="hexagon">
            <a:avLst/>
          </a:prstGeom>
          <a:solidFill>
            <a:srgbClr val="3F6B4A"/>
          </a:solidFill>
          <a:ln/>
        </p:spPr>
      </p:sp>
      <p:sp>
        <p:nvSpPr>
          <p:cNvPr id="29" name="match-hex-label"/>
          <p:cNvSpPr txBox="1"/>
          <p:nvPr/>
        </p:nvSpPr>
        <p:spPr>
          <a:xfrm>
            <a:off x="850392" y="474987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503928"/>
            <a:ext cx="2487077"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Polar cell</a:t>
            </a:r>
            <a:endParaRPr lang="en-US" sz="2200" dirty="0"/>
          </a:p>
        </p:txBody>
      </p:sp>
      <p:sp>
        <p:nvSpPr>
          <p:cNvPr id="31" name="match-card"/>
          <p:cNvSpPr/>
          <p:nvPr/>
        </p:nvSpPr>
        <p:spPr>
          <a:xfrm>
            <a:off x="4224437" y="4503928"/>
            <a:ext cx="7190019" cy="824484"/>
          </a:xfrm>
          <a:prstGeom prst="roundRect">
            <a:avLst>
              <a:gd name="adj" fmla="val 8872"/>
            </a:avLst>
          </a:prstGeom>
          <a:solidFill>
            <a:srgbClr val="F9F4EC"/>
          </a:solidFill>
          <a:ln/>
        </p:spPr>
      </p:sp>
      <p:sp>
        <p:nvSpPr>
          <p:cNvPr id="32" name="match-hex"/>
          <p:cNvSpPr/>
          <p:nvPr/>
        </p:nvSpPr>
        <p:spPr>
          <a:xfrm>
            <a:off x="4297589" y="4749877"/>
            <a:ext cx="384048" cy="332586"/>
          </a:xfrm>
          <a:prstGeom prst="hexagon">
            <a:avLst/>
          </a:prstGeom>
          <a:solidFill>
            <a:srgbClr val="B8862B"/>
          </a:solidFill>
          <a:ln/>
        </p:spPr>
      </p:sp>
      <p:sp>
        <p:nvSpPr>
          <p:cNvPr id="33" name="match-hex-label"/>
          <p:cNvSpPr txBox="1"/>
          <p:nvPr/>
        </p:nvSpPr>
        <p:spPr>
          <a:xfrm>
            <a:off x="4297589" y="474987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503928"/>
            <a:ext cx="6595659"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Between the Equator and the tropics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Where is each cell?</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cell of the global atmospheric circulation model to where it is found.</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2F5F2"/>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at the Equator and work outwards towards the pole.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Hadley cell is the first one, next to the Equator.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Polar cell must be the one touching the pole; its name tells you.</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Ferrel cell is whatever is left, in the middle.</a:t>
            </a:r>
            <a:endParaRPr lang="en-US" sz="1800" dirty="0"/>
          </a:p>
        </p:txBody>
      </p:sp>
      <p:sp>
        <p:nvSpPr>
          <p:cNvPr id="17" name="col-Core"/>
          <p:cNvSpPr/>
          <p:nvPr/>
        </p:nvSpPr>
        <p:spPr>
          <a:xfrm>
            <a:off x="5490762" y="2593848"/>
            <a:ext cx="2938987" cy="3550920"/>
          </a:xfrm>
          <a:prstGeom prst="roundRect">
            <a:avLst>
              <a:gd name="adj" fmla="val 1867"/>
            </a:avLst>
          </a:prstGeom>
          <a:solidFill>
            <a:srgbClr val="DBE3DD"/>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Equator first, pole last. The names Polar and Hadley give away two of them.</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3F6B4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UK, which sits in the Ferrel cell, has such changeable weather compared with a place under the sinking air of the Hadley cell.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739136"/>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Which option correctly links a type of pressure to its air movement and its weather?</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High pressure: warm air rises, giving clouds and rain</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Low pressure: cold air sinks, giving clouds and rain</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Low pressure: warm air rises, giving clear skies and dry weather</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High pressure: cold, dense air sinks, giving clear skies and dry weather</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The pressure chain</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sun heats the ground and the air above it warms up  (E)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warm air expands and becomes less dense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lighter air rises away from the ground  (C)</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Low pressure is created at the surface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rising air cools, clouds form and rain falls  (D)</a:t>
            </a:r>
            <a:endParaRPr lang="en-US" sz="22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Heating comes first; the warm air expands and becomes less dense; being lighter, it rises; its rising leaves low pressure at the surface; and as it climbs it cools, so clouds form and rain falls.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Where is each cell?</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Hadley cell  →  C  Between the Equator and the tropics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Ferrel cell  →  A  Between the tropics and the Arctic or Antarctic Circle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Polar cell  →  B  Between the polar circles and the North or South Pole</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Hadley cell runs from the Equator to the tropics, the Ferrel cell from the tropics to the polar circles, and the Polar cell from the circles to the poles. The same three repeat in the southern hemisphere.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option correctly links a type of pressure to its air movement and its weather?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High pressure: cold, dense air sinks, giving clear skies and dry weather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High pressure is made by cold, dense air sinking. Sinking air does not cool and condense, so no clouds form and the weather is clear and dry. Low pressure is the reverse: rising warm air, clouds and rain.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Weather and Climate · Chapter 2: Air pressure and the global circulation</dc:title>
  <dc:subject>Geography · Year 7</dc:subject>
  <dc:creator>Dr Vitor Merissi de Carvalho</dc:creator>
  <cp:lastModifiedBy>Dr Vitor Merissi de Carvalho</cp:lastModifiedBy>
  <cp:revision>1</cp:revision>
  <dcterms:created xsi:type="dcterms:W3CDTF">2026-10-19T16:23:00Z</dcterms:created>
  <dcterms:modified xsi:type="dcterms:W3CDTF">2026-10-19T16:23:00Z</dcterms:modified>
</cp:coreProperties>
</file>