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a350315-1d50-e32c-df2e-95f94904acaa}">
          <p14:sldIdLst>
            <p14:sldId id="256"/>
          </p14:sldIdLst>
        </p14:section>
        <p14:section name="Gate" id="{43a30389-ad17-3774-86f6-932c5b030002}">
          <p14:sldIdLst>
            <p14:sldId id="257"/>
            <p14:sldId id="258"/>
          </p14:sldIdLst>
        </p14:section>
        <p14:section name="Pre-teach" id="{07c0dbce-a081-b1bc-59dd-eca2eec1b2c1}">
          <p14:sldIdLst>
            <p14:sldId id="259"/>
            <p14:sldId id="260"/>
          </p14:sldIdLst>
        </p14:section>
        <p14:section name="Read-along" id="{4daa7446-f7af-c168-6005-3d0aee59030a}">
          <p14:sldIdLst>
            <p14:sldId id="261"/>
            <p14:sldId id="262"/>
          </p14:sldIdLst>
        </p14:section>
        <p14:section name="Teach" id="{c50c7889-cda5-8f39-6c5b-48c69f28564b}">
          <p14:sldIdLst>
            <p14:sldId id="263"/>
            <p14:sldId id="264"/>
            <p14:sldId id="265"/>
            <p14:sldId id="266"/>
          </p14:sldIdLst>
        </p14:section>
        <p14:section name="Routes" id="{284667e8-7423-a81d-f9db-d88e831c376b}">
          <p14:sldIdLst>
            <p14:sldId id="267"/>
            <p14:sldId id="268"/>
            <p14:sldId id="269"/>
            <p14:sldId id="270"/>
          </p14:sldIdLst>
        </p14:section>
        <p14:section name="Close" id="{0f541c58-5580-e9af-f4e0-347bc811f572}">
          <p14:sldIdLst>
            <p14:sldId id="271"/>
          </p14:sldIdLst>
        </p14:section>
        <p14:section name="Answers" id="{232c086b-3a03-bc3f-5eed-30a90634ef81}">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UK weather roundabout and how rain forms. Why the UK gets weather from four directions, what an air mass and a depression are, and the chain of steps that turns water on the ground into rain from a cloud.
This deck covers the department's lessons: 3 (The UK weather roundabout: Why is the UK like a weather roundabout, and can you write a forecast for it?); 4 (How is rain formed?: How does water in the air become rain?).
Read the big question aloud: "What makes our weather, and why is the climate changing?"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direction brings hot, sunny weather that can lead to heatwaves and droughts in the UK?  →  D   The south
2. Storms from the ___ bring heavy rain and strong winds to the UK.  →  Atlantic
3. What is the name for water vapour cooling and turning back into tiny liquid droplets?  →  C   Condensation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south. Air from the south has come up from hot lands, so it brings hot, sunny weather and, if it stays, heatwaves and droughts.
2. Atlantic. Storms cross the Atlantic Ocean to the west of the UK, picking up moisture on the way, so they bring heavy rain and strong winds.
3. C   Condensation. Condensation is vapour turning back into liquid. It happens when rising air cools, and it is how clouds form.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air mass: a huge body of air that is much the same temperature all the way through. Example: "A cold air mass from the Arctic brought snow to Scotland."
• Arctic: the frozen region around the North Pole. Example: "Arctic air is bitterly cold."
• Atlantic: the ocean to the west of the UK. Example: "Storms from the Atlantic bring heavy rain."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heatwave: several days of weather much hotter than usual. Example: "The heatwave made the classrooms very warm."
• drought: a long time with far less rain than usual. Example: "In the drought, the reservoir dried up."
• depression: an area of low pressure where warm air meets cold air. Example: "A depression crossed the UK and brought a wet weekend."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The UK is like a roundabout for weather.
2. Air arrives from several directions, and each brings its own weather.
3. Arctic air from the north brings heavy snow and bitter cold.
4. Severe winter weather can come from the east.
5. Hot, sunny air from the south can bring heatwaves and droughts.
6. Storms from the Atlantic bring heavy rain and strong winds.
7. A huge body of air like this is called an air mass.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Where warm air meets cold air, a depression forms.
9. A depression is an area of low pressure with cloud, rain and wind.
10. Rain starts when the sun heats water and it evaporates.
11. The warm, damp air rises and cools.
12. The water vapour condenses into tiny droplets, which make clouds.
13. The droplets join together, grow heavy and fall as rain.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directions, four kinds of weather. Say it in your own words, then check understanding with a quick question: ask a pupil from the pre-teach group first, since they met these words and ideas before the lesson. Pupils try to recall before you re-explain.
Picture the UK sitting in the middle of a roundabout. Traffic comes in from every road, and so does the weather: the UK is at the meeting point of several different types of weather arriving from different directions. That is why one week can be frosty and the next mild and wet. Which weather you get depends on where the air has come from and what it travelled over on the way.
From the north, Arctic air can bring heavy snow and bitterly cold conditions, because it has travelled over the frozen Arctic. From the east, severe winter weather can arrive after crossing the cold continent of Europe. From the south, hot and sunny weather can lead to heatwaves and droughts, because the air has come up from hot lands. From the west, storms from the Atlantic bring heavy rain and strong winds, because the air has picked up moisture from thousands of miles of ocean.
In class you matched these four statements to the arrows on your roundabout diagram. When you forecast or explain UK weather, start with the compass: name the direction, say what the air crossed, and then say what weather it brings.
Tip: North: snow and cold. East: severe winter weather. South: heatwaves and droughts. West: Atlantic storms, rain and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Air masses and depressions. Say it in your own words, then check understanding with a quick question: ask a pupil from the pre-teach group first, since they met these words and ideas before the lesson. Pupils try to recall before you re-explain.
Each road onto the roundabout carries an air mass. An air mass is a huge body of air, often bigger than the UK itself, that has much the same temperature and moisture all the way through. It picks up the character of the surface it forms over: an air mass from the Arctic is cold and dry, one from the Atlantic is mild and damp, one from the south is warm. When an air mass reaches the UK, it brings that character with it.
The interesting weather happens where two air masses meet. In your bell work you completed the sentence beginning: a depression forms when. The answer is that a depression forms when a warm air mass meets a cold air mass. The warm air is lighter, so it is pushed up over the cold air; rising air means low pressure, and low pressure means cloud, rain and wind. A depression is therefore an area of low pressure that travels across the UK, usually from the Atlantic, bringing a spell of unsettled weather as it passes.
On a weather map a depression shows up as a set of rings of isobars around an L, often with the lines close together, which is why depressions are windy. When you hear the forecaster say that a low is moving in from the west, that is a depression on its way round the roundabout.
Worked example — model it step by step, thinking aloud: Explain why a depression brings rain to the UK. (3 marks) (1) Say what a depression is: an area of low pressure that forms where a warm air mass meets a cold air mass. (2) Explain the movement: the warm air is lighter, so it is forced to rise over the cold air. (3) Link rising air to rain: as the warm air rises it cools, its water vapour condenses into clouds, and rain falls. (4) Definition, movement, result: three linked sentences for three marks. Answer: A depression is an area of low pressure that forms where warm air meets cold air. The warm air is lighter, so it rises over the cold air. As it rises it cools and its water vapour condenses into clouds, which bring rain..
Tip: Depression, low pressure, rising air, rain. If you can say those four in order, you can explain any wet day in the 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Air masses and depressions. Say it in your own words, then check understanding with a quick question: ask a pupil from the pre-teach group first, since they met these words and ideas before the lesson. Pupils try to recall before you re-explain.
Each road onto the roundabout carries an air mass. An air mass is a huge body of air, often bigger than the UK itself, that has much the same temperature and moisture all the way through. It picks up the character of the surface it forms over: an air mass from the Arctic is cold and dry, one from the Atlantic is mild and damp, one from the south is warm. When an air mass reaches the UK, it brings that character with it.
The interesting weather happens where two air masses meet. In your bell work you completed the sentence beginning: a depression forms when. The answer is that a depression forms when a warm air mass meets a cold air mass. The warm air is lighter, so it is pushed up over the cold air; rising air means low pressure, and low pressure means cloud, rain and wind. A depression is therefore an area of low pressure that travels across the UK, usually from the Atlantic, bringing a spell of unsettled weather as it passes.
On a weather map a depression shows up as a set of rings of isobars around an L, often with the lines close together, which is why depressions are windy. When you hear the forecaster say that a low is moving in from the west, that is a depression on its way round the roundabout.
Worked example — model it step by step, thinking aloud: Explain why a depression brings rain to the UK. (3 marks) (1) Say what a depression is: an area of low pressure that forms where a warm air mass meets a cold air mass. (2) Explain the movement: the warm air is lighter, so it is forced to rise over the cold air. (3) Link rising air to rain: as the warm air rises it cools, its water vapour condenses into clouds, and rain falls. (4) Definition, movement, result: three linked sentences for three marks. Answer: A depression is an area of low pressure that forms where warm air meets cold air. The warm air is lighter, so it rises over the cold air. As it rises it cools and its water vapour condenses into clouds, which bring rain..
Tip: Depression, low pressure, rising air, rain. If you can say those four in order, you can explain any wet day in the 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rain forms. Say it in your own words, then check understanding with a quick question: ask a pupil from the pre-teach group first, since they met these words and ideas before the lesson. Pupils try to recall before you re-explain.
Rain is water that has been on a journey. In class you copied a flow diagram showing the steps, and every type of rain in the next chapter follows the same chain. It begins when the sun heats water in the sea, lakes, rivers and soil. Some of the water evaporates, turning into an invisible gas called water vapour that mixes with the warm air above the surface.
Warm air rises, and it carries the water vapour up with it. The higher the air climbs, the cooler it gets. Cool air cannot hold as much water vapour as warm air, so the vapour condenses: it turns back into tiny liquid droplets. Billions of these droplets floating together are what you see as a cloud. Inside the cloud the droplets bump into each other and join up, growing bigger and heavier, until the air can no longer hold them up and they fall as rain. If it is cold enough, they fall as snow instead.
So the chain is: heat, evaporation, rising air, cooling, condensation, cloud, droplets growing, rain. Every step causes the next one, and the two words to spell correctly are evaporation and condensation.
Tip: Evaporation turns liquid into vapour on the way up. Condensation turns vapour back into liquid at the top. Up: evaporate. Top: condense.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Round the roundabout.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direction the air comes from to the weather it brings to the UK.
Support — work through the steps with the group: (1) Ask where the air has travelled from. The Arctic is frozen, so northern air is the coldest and snowiest. (2) The Atlantic is an ocean, so western air is full of moisture: rain and wind. (3) Hot lands lie to the south, so southern air brings heat. (4) The one left, the east, brings severe winter cold from the continent.
Parallel worked example for Support (model it, do not give the task answer): A wind reaches the UK after crossing thousands of miles of ocean. Will it be dry or damp, and why? Air picks up the character of what it crosses.; An ocean is water, so the air picks up moisture.. Answer: Damp, because it has picked up moisture from the ocean on the way..
Core — reveal the hint only on request: Frozen Arctic, wet ocean, hot south, cold continent. Each surface gives the air its weather.
Stretch — no help; when finished: Explain why the UK's position on the weather roundabout makes its weather harder to forecast than the weather of a place deep inside a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Round the roundabout.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direction the air comes from to the weather it brings to the UK.
Support — work through the steps with the group: (1) Ask where the air has travelled from. The Arctic is frozen, so northern air is the coldest and snowiest. (2) The Atlantic is an ocean, so western air is full of moisture: rain and wind. (3) Hot lands lie to the south, so southern air brings heat. (4) The one left, the east, brings severe winter cold from the continent.
Parallel worked example for Support (model it, do not give the task answer): A wind reaches the UK after crossing thousands of miles of ocean. Will it be dry or damp, and why? Air picks up the character of what it crosses.; An ocean is water, so the air picks up moisture.. Answer: Damp, because it has picked up moisture from the ocean on the way..
Core — reveal the hint only on request: Frozen Arctic, wet ocean, hot south, cold continent. Each surface gives the air its weather.
Stretch — no help; when finished: Explain why the UK's position on the weather roundabout makes its weather harder to forecast than the weather of a place deep inside a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puddle to cloud to rain.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how rain forms in the correct order.
Support — work through the steps with the group: (1) Start at the ground, with water and sunshine. Which step mentions the sun? (2) Water vapour has to go up before anything else can happen. (3) Going up makes the air cooler, and cooling comes before condensing. (4) A cloud must exist before rain can fall from it.
Parallel worked example for Support (model it, do not give the task answer): Put the steps for a steamy bathroom mirror in order: the mirror is cold; hot water evaporates from the shower; droplets form on the glass; the vapour touches the cold mirror and cools. Evaporation from the hot shower comes first.; The vapour has to meet something cold before it can condense.; Droplets are the result.. Answer: Hot water evaporates from the shower; the mirror is cold; the vapour touches the cold mirror and cools; droplets form on the glass..
Core — reveal the hint only on request: Heat and evaporate, rise, cool, condense, fall. Up first, then down.
Stretch — no help; when finished: Explain what would be different about the last step on a very cold day,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puddle to cloud to rain.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steps of how rain forms in the correct order.
Support — work through the steps with the group: (1) Start at the ground, with water and sunshine. Which step mentions the sun? (2) Water vapour has to go up before anything else can happen. (3) Going up makes the air cooler, and cooling comes before condensing. (4) A cloud must exist before rain can fall from it.
Parallel worked example for Support (model it, do not give the task answer): Put the steps for a steamy bathroom mirror in order: the mirror is cold; hot water evaporates from the shower; droplets form on the glass; the vapour touches the cold mirror and cools. Evaporation from the hot shower comes first.; The vapour has to meet something cold before it can condense.; Droplets are the result.. Answer: Hot water evaporates from the shower; the mirror is cold; the vapour touches the cold mirror and cools; droplets form on the glass..
Core — reveal the hint only on request: Heat and evaporate, rise, cool, condense, fall. Up first, then down.
Stretch — no help; when finished: Explain what would be different about the last step on a very cold day,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direction brings hot, sunny weather that can lead to heatwaves and droughts in the UK?
Answer: C   The south. Air from the south has come up from hot lands, so it brings hot, sunny weather and, if it stays, heatwaves and droughts.
Source of this question: gate item 1 re-asked (options rotated) — this chapter has no third quick-check module.
The ebook also holds task 3, "Why is UK weather so changeable?",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Round the roundabout. Reveal the answer; pupils mark their own work in a different colour, then read the "why" together. Same destination for every lane, so one answer serves the whole class.
Answer: From the north (Arctic air)  →  B  Heavy snow and bitterly cold conditions; From the east  →  A  Severe winter weather; From the south  →  D  Hot, sunny weather, heatwaves and droughts; From the west (the Atlantic)  →  C  Storms with heavy rain and strong winds
Why: Arctic air from the north brings snow and bitter cold; air from the east brings severe winter weather; air from the south brings heat, heatwaves and droughts; Atlantic air from the west brings storms, heavy rain and strong winds.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puddle to cloud to rain. Reveal the answer; pupils mark their own work in a different colour, then read the "why" together. Same destination for every lane, so one answer serves the whole class.
Answer: The sun heats water on the surface and some of it evaporates into water vapour  (D); The warm, damp air rises  (B); The rising air cools  (A); The water vapour condenses into tiny droplets, which form a cloud  (E); The droplets join together, grow heavy and fall as rain  (C)
Why: The sun evaporates water into vapour; the warm damp air rises; it cools as it climbs; the vapour condenses into droplets that make a cloud; the droplets grow heavy and fall as rain.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The south
Why: Air from the south has come up from hot lands, so it brings hot, sunny weather and, if it stays, heatwaves and droughts.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2F5F2"/>
          </a:solidFill>
          <a:ln w="12700">
            <a:solidFill>
              <a:srgbClr val="F2F5F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7 · Weather and Climate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EE6E0"/>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Weather and Climate · AQA KS3 → 8035</a:t>
            </a:r>
            <a:endParaRPr lang="en-US" sz="1800" dirty="0"/>
          </a:p>
        </p:txBody>
      </p:sp>
      <p:sp>
        <p:nvSpPr>
          <p:cNvPr id="10" name="deck-title"/>
          <p:cNvSpPr txBox="1"/>
          <p:nvPr/>
        </p:nvSpPr>
        <p:spPr>
          <a:xfrm>
            <a:off x="548640" y="241731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UK weather roundabout and how rain forms</a:t>
            </a:r>
            <a:endParaRPr lang="en-US" sz="2800" dirty="0"/>
          </a:p>
        </p:txBody>
      </p:sp>
      <p:sp>
        <p:nvSpPr>
          <p:cNvPr id="11" name="lessons-card"/>
          <p:cNvSpPr/>
          <p:nvPr/>
        </p:nvSpPr>
        <p:spPr>
          <a:xfrm>
            <a:off x="548640" y="3697478"/>
            <a:ext cx="5287975" cy="1328420"/>
          </a:xfrm>
          <a:prstGeom prst="roundRect">
            <a:avLst>
              <a:gd name="adj" fmla="val 5507"/>
            </a:avLst>
          </a:prstGeom>
          <a:solidFill>
            <a:srgbClr val="F2F5F2"/>
          </a:solidFill>
          <a:ln/>
        </p:spPr>
      </p:sp>
      <p:sp>
        <p:nvSpPr>
          <p:cNvPr id="12" name="lessons"/>
          <p:cNvSpPr txBox="1"/>
          <p:nvPr/>
        </p:nvSpPr>
        <p:spPr>
          <a:xfrm>
            <a:off x="685800" y="378891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UK weather roundabout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is rain formed?</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F5F2"/>
          </a:solidFill>
          <a:ln w="12700">
            <a:solidFill>
              <a:srgbClr val="B8C8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What makes our weather, and why is the climate changing?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direction brings hot, sunny weather that can lead to heatwaves and droughts in the UK?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north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west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east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a:t>
            </a:r>
            <a:endParaRPr lang="en-US" sz="2200" dirty="0"/>
          </a:p>
        </p:txBody>
      </p:sp>
      <p:sp>
        <p:nvSpPr>
          <p:cNvPr id="12"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Storms from the ___ bring heavy rain and strong winds to the UK.</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Atlantic  ·  Arctic  ·  east</a:t>
            </a:r>
            <a:endParaRPr lang="en-US" sz="2400" dirty="0"/>
          </a:p>
        </p:txBody>
      </p:sp>
      <p:sp>
        <p:nvSpPr>
          <p:cNvPr id="17"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is the name for water vapour cooling and turning back into tiny liquid droplets?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Precipitation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Evaporation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Condensation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Expansion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9F8"/>
          </a:solidFill>
          <a:ln w="12700">
            <a:solidFill>
              <a:srgbClr val="C2D0C5"/>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south</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direction brings hot, sunny weather that can lead to heatwaves and droughts in the UK?</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Air from the south has come up from hot lands, so it brings hot, sunny weather and, if it stays, heatwaves and droughts.</a:t>
            </a:r>
            <a:endParaRPr lang="en-US" sz="1800" dirty="0"/>
          </a:p>
        </p:txBody>
      </p:sp>
      <p:sp>
        <p:nvSpPr>
          <p:cNvPr id="14" name="card"/>
          <p:cNvSpPr/>
          <p:nvPr/>
        </p:nvSpPr>
        <p:spPr>
          <a:xfrm>
            <a:off x="4338218" y="1389888"/>
            <a:ext cx="3515258" cy="4754880"/>
          </a:xfrm>
          <a:prstGeom prst="roundRect">
            <a:avLst>
              <a:gd name="adj" fmla="val 1561"/>
            </a:avLst>
          </a:prstGeom>
          <a:solidFill>
            <a:srgbClr val="F7F9F8"/>
          </a:solidFill>
          <a:ln w="12700">
            <a:solidFill>
              <a:srgbClr val="C2D0C5"/>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Atlantic</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Storms from the ___ bring heavy rain and strong winds to the UK.</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Storms cross the Atlantic Ocean to the west of the UK, picking up moisture on the way, so they bring heavy rain and strong winds.</a:t>
            </a:r>
            <a:endParaRPr lang="en-US" sz="1800" dirty="0"/>
          </a:p>
        </p:txBody>
      </p:sp>
      <p:sp>
        <p:nvSpPr>
          <p:cNvPr id="21" name="card"/>
          <p:cNvSpPr/>
          <p:nvPr/>
        </p:nvSpPr>
        <p:spPr>
          <a:xfrm>
            <a:off x="8127797" y="1389888"/>
            <a:ext cx="3515258" cy="4754880"/>
          </a:xfrm>
          <a:prstGeom prst="roundRect">
            <a:avLst>
              <a:gd name="adj" fmla="val 1561"/>
            </a:avLst>
          </a:prstGeom>
          <a:solidFill>
            <a:srgbClr val="F7F9F8"/>
          </a:solidFill>
          <a:ln w="12700">
            <a:solidFill>
              <a:srgbClr val="C2D0C5"/>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Condensation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What is the name for water vapour cooling and turning back into tiny liquid droplets?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Condensation is vapour turning back into liquid. It happens when rising air cools, and it is how clouds form.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air mass</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huge body of air that is much the same temperature all the way through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cold air mass from the Arctic brought snow to Scotland.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Arctic</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frozen region around the North Pole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Arctic air is bitterly cold.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Atlantic</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ocean to the west of the UK</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Storms from the Atlantic bring heavy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8F6"/>
          </a:solidFill>
          <a:ln w="12700">
            <a:solidFill>
              <a:srgbClr val="B8C8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heatwave</a:t>
            </a:r>
            <a:endParaRPr lang="en-US" sz="2600" dirty="0"/>
          </a:p>
        </p:txBody>
      </p:sp>
      <p:sp>
        <p:nvSpPr>
          <p:cNvPr id="11" name="word-rule"/>
          <p:cNvSpPr/>
          <p:nvPr/>
        </p:nvSpPr>
        <p:spPr>
          <a:xfrm>
            <a:off x="731520" y="2129028"/>
            <a:ext cx="3149498" cy="0"/>
          </a:xfrm>
          <a:prstGeom prst="line">
            <a:avLst/>
          </a:prstGeom>
          <a:ln w="12700">
            <a:solidFill>
              <a:srgbClr val="B8C8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several days of weather much hotter than usual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heatwave made the classrooms very warm.</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8F6"/>
          </a:solidFill>
          <a:ln w="12700">
            <a:solidFill>
              <a:srgbClr val="B8C8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drought</a:t>
            </a:r>
            <a:endParaRPr lang="en-US" sz="2600" dirty="0"/>
          </a:p>
        </p:txBody>
      </p:sp>
      <p:sp>
        <p:nvSpPr>
          <p:cNvPr id="17" name="word-rule"/>
          <p:cNvSpPr/>
          <p:nvPr/>
        </p:nvSpPr>
        <p:spPr>
          <a:xfrm>
            <a:off x="4521098" y="2129028"/>
            <a:ext cx="3149498" cy="0"/>
          </a:xfrm>
          <a:prstGeom prst="line">
            <a:avLst/>
          </a:prstGeom>
          <a:ln w="12700">
            <a:solidFill>
              <a:srgbClr val="B8C8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time with far less rain than usual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the drought, the reservoir dried up.</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8F6"/>
          </a:solidFill>
          <a:ln w="12700">
            <a:solidFill>
              <a:srgbClr val="B8C8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depression</a:t>
            </a:r>
            <a:endParaRPr lang="en-US" sz="2600" dirty="0"/>
          </a:p>
        </p:txBody>
      </p:sp>
      <p:sp>
        <p:nvSpPr>
          <p:cNvPr id="23" name="word-rule"/>
          <p:cNvSpPr/>
          <p:nvPr/>
        </p:nvSpPr>
        <p:spPr>
          <a:xfrm>
            <a:off x="8310677" y="2129028"/>
            <a:ext cx="3149498" cy="0"/>
          </a:xfrm>
          <a:prstGeom prst="line">
            <a:avLst/>
          </a:prstGeom>
          <a:ln w="12700">
            <a:solidFill>
              <a:srgbClr val="B8C8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area of low pressure where warm air meets cold air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depression crossed the UK and brought a wet weekend.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UK is like a roundabout for weather.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Air arrives from several directions, and each brings its own weather.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Arctic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air from the north brings heavy snow and bitter cold.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Severe winter weather can come from the east.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Hot, sunny air from the south can bring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heatwaves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droughts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Storms from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Atlantic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bring heavy rain and strong winds.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huge body of air like this is called an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air mass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9F8"/>
          </a:solidFill>
          <a:ln w="12700">
            <a:solidFill>
              <a:srgbClr val="CBD7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Where warm air meets cold air,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depression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forms.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depression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an area of low pressure with cloud, rain and wind.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Rain starts when the sun heats water and it evaporates.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warm, damp air rises and cools.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water vapour condenses into tiny droplets, which make clouds.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droplets join together, grow heavy and fall as rain.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 directions, four kinds of weather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North: snow and cold. East: severe winter weather. South: heatwaves and droughts. West: Atlantic storms, rain and wind.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Picture the UK sitting in the middle of a roundabout.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From the north, Arctic air can bring heavy snow and bitterly cold conditions, because it has travelled over the frozen Arctic.</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class you matched these four statements to the arrows on your roundabout diagram.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Air masses and depressions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Depression, low pressure, rising air, rain. If you can say those four in order, you can explain any wet day in the UK.</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road onto the roundabout carries an air mass. An air mass is a huge body of air, often bigger than the UK itself, that has much the same temperature and moisture all the way through.</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interesting weather happens where two air masses meet. In your bell work you completed the sentence beginning: a depression forms when.</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 a weather map a depression shows up as a set of rings of isobars around an L, often with the lines close together, which is why depressions are windy.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Air masses and depressions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F5F2"/>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why a depression brings rain to the UK. (3 marks)</a:t>
            </a:r>
            <a:endParaRPr lang="en-US" sz="2000" dirty="0"/>
          </a:p>
        </p:txBody>
      </p:sp>
      <p:sp>
        <p:nvSpPr>
          <p:cNvPr id="9" name="step-box"/>
          <p:cNvSpPr/>
          <p:nvPr/>
        </p:nvSpPr>
        <p:spPr>
          <a:xfrm>
            <a:off x="548640" y="2192528"/>
            <a:ext cx="11094415" cy="730606"/>
          </a:xfrm>
          <a:prstGeom prst="roundRect">
            <a:avLst>
              <a:gd name="adj" fmla="val 10013"/>
            </a:avLst>
          </a:prstGeom>
          <a:solidFill>
            <a:srgbClr val="FFFFFF"/>
          </a:solidFill>
          <a:ln w="15875">
            <a:solidFill>
              <a:srgbClr val="95AE9B"/>
            </a:solidFill>
            <a:prstDash val="solid"/>
          </a:ln>
        </p:spPr>
      </p:sp>
      <p:sp>
        <p:nvSpPr>
          <p:cNvPr id="10" name="step-hex"/>
          <p:cNvSpPr/>
          <p:nvPr/>
        </p:nvSpPr>
        <p:spPr>
          <a:xfrm>
            <a:off x="685800" y="2359863"/>
            <a:ext cx="457200" cy="395935"/>
          </a:xfrm>
          <a:prstGeom prst="hexagon">
            <a:avLst/>
          </a:prstGeom>
          <a:solidFill>
            <a:srgbClr val="3F6B4A"/>
          </a:solidFill>
          <a:ln/>
        </p:spPr>
      </p:sp>
      <p:sp>
        <p:nvSpPr>
          <p:cNvPr id="11" name="step-hex-label"/>
          <p:cNvSpPr txBox="1"/>
          <p:nvPr/>
        </p:nvSpPr>
        <p:spPr>
          <a:xfrm>
            <a:off x="685800" y="2359863"/>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a depression is: an area of low pressure that forms where a warm air mass meets a cold air mass.</a:t>
            </a:r>
            <a:endParaRPr lang="en-US" sz="1800" dirty="0"/>
          </a:p>
        </p:txBody>
      </p:sp>
      <p:sp>
        <p:nvSpPr>
          <p:cNvPr id="13" name="step-box"/>
          <p:cNvSpPr/>
          <p:nvPr/>
        </p:nvSpPr>
        <p:spPr>
          <a:xfrm>
            <a:off x="548640" y="2996286"/>
            <a:ext cx="11094415" cy="466446"/>
          </a:xfrm>
          <a:prstGeom prst="roundRect">
            <a:avLst>
              <a:gd name="adj" fmla="val 15683"/>
            </a:avLst>
          </a:prstGeom>
          <a:solidFill>
            <a:srgbClr val="FFFFFF"/>
          </a:solidFill>
          <a:ln w="15875">
            <a:solidFill>
              <a:srgbClr val="95AE9B"/>
            </a:solidFill>
            <a:prstDash val="solid"/>
          </a:ln>
        </p:spPr>
      </p:sp>
      <p:sp>
        <p:nvSpPr>
          <p:cNvPr id="14" name="step-hex"/>
          <p:cNvSpPr/>
          <p:nvPr/>
        </p:nvSpPr>
        <p:spPr>
          <a:xfrm>
            <a:off x="685800" y="3031541"/>
            <a:ext cx="457200" cy="395935"/>
          </a:xfrm>
          <a:prstGeom prst="hexagon">
            <a:avLst/>
          </a:prstGeom>
          <a:solidFill>
            <a:srgbClr val="3F6B4A"/>
          </a:solidFill>
          <a:ln/>
        </p:spPr>
      </p:sp>
      <p:sp>
        <p:nvSpPr>
          <p:cNvPr id="15" name="step-hex-label"/>
          <p:cNvSpPr txBox="1"/>
          <p:nvPr/>
        </p:nvSpPr>
        <p:spPr>
          <a:xfrm>
            <a:off x="685800" y="303154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6286"/>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movement: the warm air is lighter, so it is forced to rise over the cold air.</a:t>
            </a:r>
            <a:endParaRPr lang="en-US" sz="1800" dirty="0"/>
          </a:p>
        </p:txBody>
      </p:sp>
      <p:sp>
        <p:nvSpPr>
          <p:cNvPr id="17" name="step-box"/>
          <p:cNvSpPr/>
          <p:nvPr/>
        </p:nvSpPr>
        <p:spPr>
          <a:xfrm>
            <a:off x="548640" y="3535883"/>
            <a:ext cx="11094415" cy="730606"/>
          </a:xfrm>
          <a:prstGeom prst="roundRect">
            <a:avLst>
              <a:gd name="adj" fmla="val 10013"/>
            </a:avLst>
          </a:prstGeom>
          <a:solidFill>
            <a:srgbClr val="FFFFFF"/>
          </a:solidFill>
          <a:ln w="15875">
            <a:solidFill>
              <a:srgbClr val="95AE9B"/>
            </a:solidFill>
            <a:prstDash val="solid"/>
          </a:ln>
        </p:spPr>
      </p:sp>
      <p:sp>
        <p:nvSpPr>
          <p:cNvPr id="18" name="step-hex"/>
          <p:cNvSpPr/>
          <p:nvPr/>
        </p:nvSpPr>
        <p:spPr>
          <a:xfrm>
            <a:off x="685800" y="3703218"/>
            <a:ext cx="457200" cy="395935"/>
          </a:xfrm>
          <a:prstGeom prst="hexagon">
            <a:avLst/>
          </a:prstGeom>
          <a:solidFill>
            <a:srgbClr val="3F6B4A"/>
          </a:solidFill>
          <a:ln/>
        </p:spPr>
      </p:sp>
      <p:sp>
        <p:nvSpPr>
          <p:cNvPr id="19" name="step-hex-label"/>
          <p:cNvSpPr txBox="1"/>
          <p:nvPr/>
        </p:nvSpPr>
        <p:spPr>
          <a:xfrm>
            <a:off x="685800" y="370321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35883"/>
            <a:ext cx="10180015" cy="73060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Link rising air to rain: as the warm air rises it cools, its water vapour condenses into clouds, and rain falls.</a:t>
            </a:r>
            <a:endParaRPr lang="en-US" sz="1800" dirty="0"/>
          </a:p>
        </p:txBody>
      </p:sp>
      <p:sp>
        <p:nvSpPr>
          <p:cNvPr id="21" name="step-box"/>
          <p:cNvSpPr/>
          <p:nvPr/>
        </p:nvSpPr>
        <p:spPr>
          <a:xfrm>
            <a:off x="548640" y="4339641"/>
            <a:ext cx="11094415" cy="466446"/>
          </a:xfrm>
          <a:prstGeom prst="roundRect">
            <a:avLst>
              <a:gd name="adj" fmla="val 15683"/>
            </a:avLst>
          </a:prstGeom>
          <a:solidFill>
            <a:srgbClr val="FFFFFF"/>
          </a:solidFill>
          <a:ln w="15875">
            <a:solidFill>
              <a:srgbClr val="95AE9B"/>
            </a:solidFill>
            <a:prstDash val="solid"/>
          </a:ln>
        </p:spPr>
      </p:sp>
      <p:sp>
        <p:nvSpPr>
          <p:cNvPr id="22" name="step-hex"/>
          <p:cNvSpPr/>
          <p:nvPr/>
        </p:nvSpPr>
        <p:spPr>
          <a:xfrm>
            <a:off x="685800" y="4374896"/>
            <a:ext cx="457200" cy="395935"/>
          </a:xfrm>
          <a:prstGeom prst="hexagon">
            <a:avLst/>
          </a:prstGeom>
          <a:solidFill>
            <a:srgbClr val="3F6B4A"/>
          </a:solidFill>
          <a:ln/>
        </p:spPr>
      </p:sp>
      <p:sp>
        <p:nvSpPr>
          <p:cNvPr id="23" name="step-hex-label"/>
          <p:cNvSpPr txBox="1"/>
          <p:nvPr/>
        </p:nvSpPr>
        <p:spPr>
          <a:xfrm>
            <a:off x="685800" y="437489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39641"/>
            <a:ext cx="10180015" cy="46644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Definition, movement, result: three linked sentences for three marks.</a:t>
            </a:r>
            <a:endParaRPr lang="en-US" sz="1800" dirty="0"/>
          </a:p>
        </p:txBody>
      </p:sp>
      <p:sp>
        <p:nvSpPr>
          <p:cNvPr id="25" name="worked-answer"/>
          <p:cNvSpPr/>
          <p:nvPr/>
        </p:nvSpPr>
        <p:spPr>
          <a:xfrm>
            <a:off x="548640" y="4988966"/>
            <a:ext cx="11094415" cy="1109980"/>
          </a:xfrm>
          <a:prstGeom prst="roundRect">
            <a:avLst>
              <a:gd name="adj" fmla="val 12357"/>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 depression is an area of low pressure that forms where warm air meets cold air. The warm air is lighter, so it rises over the cold air. As it rises it cools and its water vapour condenses into clouds, which bring rain.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How rain forms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Evaporation turns liquid into vapour on the way up. Condensation turns vapour back into liquid at the top. Up: evaporate. Top: condense.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F5F2"/>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Rain is water that has been on a journey. In class you copied a flow diagram showing the steps, and every type of rain in the next chapter follows the same chain.</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Warm air rises, and it carries the water vapour up with it.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F5F2"/>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the chain is: heat, evaporation, rising air, cooling, condensation, cloud, droplets growing,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Round the roundabout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36880"/>
          </a:xfrm>
          <a:prstGeom prst="rect">
            <a:avLst/>
          </a:prstGeom>
          <a:noFill/>
          <a:ln/>
        </p:spPr>
        <p:txBody>
          <a:bodyPr wrap="square" lIns="63500" tIns="63500" rIns="63500" bIns="63500" rtlCol="0" anchor="t"/>
          <a:lstStyle/>
          <a:p>
            <a:pPr algn="ctr" indent="0" marL="0">
              <a:buNone/>
            </a:pPr>
            <a:r>
              <a:rPr lang="en-US" sz="2000" b="1" dirty="0">
                <a:solidFill>
                  <a:srgbClr val="1E2229"/>
                </a:solidFill>
                <a:latin typeface="Calibri" pitchFamily="34" charset="0"/>
                <a:ea typeface="Calibri" pitchFamily="34" charset="-122"/>
                <a:cs typeface="Calibri" pitchFamily="34" charset="-120"/>
              </a:rPr>
              <a:t>Match each direction the air comes from to the weather it brings to the UK.</a:t>
            </a:r>
            <a:endParaRPr lang="en-US" sz="2000" dirty="0"/>
          </a:p>
        </p:txBody>
      </p:sp>
      <p:sp>
        <p:nvSpPr>
          <p:cNvPr id="11" name="match-card"/>
          <p:cNvSpPr/>
          <p:nvPr/>
        </p:nvSpPr>
        <p:spPr>
          <a:xfrm>
            <a:off x="777240" y="2468331"/>
            <a:ext cx="4299679" cy="719592"/>
          </a:xfrm>
          <a:prstGeom prst="roundRect">
            <a:avLst>
              <a:gd name="adj" fmla="val 10166"/>
            </a:avLst>
          </a:prstGeom>
          <a:solidFill>
            <a:srgbClr val="F5F8F6"/>
          </a:solidFill>
          <a:ln/>
        </p:spPr>
      </p:sp>
      <p:sp>
        <p:nvSpPr>
          <p:cNvPr id="12" name="match-hex"/>
          <p:cNvSpPr/>
          <p:nvPr/>
        </p:nvSpPr>
        <p:spPr>
          <a:xfrm>
            <a:off x="850392" y="2661835"/>
            <a:ext cx="384048" cy="332586"/>
          </a:xfrm>
          <a:prstGeom prst="hexagon">
            <a:avLst/>
          </a:prstGeom>
          <a:solidFill>
            <a:srgbClr val="3F6B4A"/>
          </a:solidFill>
          <a:ln/>
        </p:spPr>
      </p:sp>
      <p:sp>
        <p:nvSpPr>
          <p:cNvPr id="13" name="match-hex-label"/>
          <p:cNvSpPr txBox="1"/>
          <p:nvPr/>
        </p:nvSpPr>
        <p:spPr>
          <a:xfrm>
            <a:off x="850392" y="26618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705319"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north (Arctic air)</a:t>
            </a:r>
            <a:endParaRPr lang="en-US" sz="2200" dirty="0"/>
          </a:p>
        </p:txBody>
      </p:sp>
      <p:sp>
        <p:nvSpPr>
          <p:cNvPr id="15" name="match-card"/>
          <p:cNvSpPr/>
          <p:nvPr/>
        </p:nvSpPr>
        <p:spPr>
          <a:xfrm>
            <a:off x="5442679" y="2468331"/>
            <a:ext cx="5971776" cy="719592"/>
          </a:xfrm>
          <a:prstGeom prst="roundRect">
            <a:avLst>
              <a:gd name="adj" fmla="val 10166"/>
            </a:avLst>
          </a:prstGeom>
          <a:solidFill>
            <a:srgbClr val="F9F4EC"/>
          </a:solidFill>
          <a:ln/>
        </p:spPr>
      </p:sp>
      <p:sp>
        <p:nvSpPr>
          <p:cNvPr id="16" name="match-hex"/>
          <p:cNvSpPr/>
          <p:nvPr/>
        </p:nvSpPr>
        <p:spPr>
          <a:xfrm>
            <a:off x="5515831" y="2661835"/>
            <a:ext cx="384048" cy="332586"/>
          </a:xfrm>
          <a:prstGeom prst="hexagon">
            <a:avLst/>
          </a:prstGeom>
          <a:solidFill>
            <a:srgbClr val="B8862B"/>
          </a:solidFill>
          <a:ln/>
        </p:spPr>
      </p:sp>
      <p:sp>
        <p:nvSpPr>
          <p:cNvPr id="17" name="match-hex-label"/>
          <p:cNvSpPr txBox="1"/>
          <p:nvPr/>
        </p:nvSpPr>
        <p:spPr>
          <a:xfrm>
            <a:off x="5515831" y="26618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963887" y="2468331"/>
            <a:ext cx="5377416"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Severe winter weather</a:t>
            </a:r>
            <a:endParaRPr lang="en-US" sz="2200" dirty="0"/>
          </a:p>
        </p:txBody>
      </p:sp>
      <p:sp>
        <p:nvSpPr>
          <p:cNvPr id="19" name="match-card"/>
          <p:cNvSpPr/>
          <p:nvPr/>
        </p:nvSpPr>
        <p:spPr>
          <a:xfrm>
            <a:off x="777240" y="3279364"/>
            <a:ext cx="4299679" cy="719592"/>
          </a:xfrm>
          <a:prstGeom prst="roundRect">
            <a:avLst>
              <a:gd name="adj" fmla="val 10166"/>
            </a:avLst>
          </a:prstGeom>
          <a:solidFill>
            <a:srgbClr val="F5F8F6"/>
          </a:solidFill>
          <a:ln/>
        </p:spPr>
      </p:sp>
      <p:sp>
        <p:nvSpPr>
          <p:cNvPr id="20" name="match-hex"/>
          <p:cNvSpPr/>
          <p:nvPr/>
        </p:nvSpPr>
        <p:spPr>
          <a:xfrm>
            <a:off x="850392" y="3472867"/>
            <a:ext cx="384048" cy="332586"/>
          </a:xfrm>
          <a:prstGeom prst="hexagon">
            <a:avLst/>
          </a:prstGeom>
          <a:solidFill>
            <a:srgbClr val="3F6B4A"/>
          </a:solidFill>
          <a:ln/>
        </p:spPr>
      </p:sp>
      <p:sp>
        <p:nvSpPr>
          <p:cNvPr id="21" name="match-hex-label"/>
          <p:cNvSpPr txBox="1"/>
          <p:nvPr/>
        </p:nvSpPr>
        <p:spPr>
          <a:xfrm>
            <a:off x="850392" y="34728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279364"/>
            <a:ext cx="3705319"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east</a:t>
            </a:r>
            <a:endParaRPr lang="en-US" sz="2200" dirty="0"/>
          </a:p>
        </p:txBody>
      </p:sp>
      <p:sp>
        <p:nvSpPr>
          <p:cNvPr id="23" name="match-card"/>
          <p:cNvSpPr/>
          <p:nvPr/>
        </p:nvSpPr>
        <p:spPr>
          <a:xfrm>
            <a:off x="5442679" y="3279364"/>
            <a:ext cx="5971776" cy="719592"/>
          </a:xfrm>
          <a:prstGeom prst="roundRect">
            <a:avLst>
              <a:gd name="adj" fmla="val 10166"/>
            </a:avLst>
          </a:prstGeom>
          <a:solidFill>
            <a:srgbClr val="F9F4EC"/>
          </a:solidFill>
          <a:ln/>
        </p:spPr>
      </p:sp>
      <p:sp>
        <p:nvSpPr>
          <p:cNvPr id="24" name="match-hex"/>
          <p:cNvSpPr/>
          <p:nvPr/>
        </p:nvSpPr>
        <p:spPr>
          <a:xfrm>
            <a:off x="5515831" y="3472867"/>
            <a:ext cx="384048" cy="332586"/>
          </a:xfrm>
          <a:prstGeom prst="hexagon">
            <a:avLst/>
          </a:prstGeom>
          <a:solidFill>
            <a:srgbClr val="B8862B"/>
          </a:solidFill>
          <a:ln/>
        </p:spPr>
      </p:sp>
      <p:sp>
        <p:nvSpPr>
          <p:cNvPr id="25" name="match-hex-label"/>
          <p:cNvSpPr txBox="1"/>
          <p:nvPr/>
        </p:nvSpPr>
        <p:spPr>
          <a:xfrm>
            <a:off x="5515831" y="34728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963887" y="3279364"/>
            <a:ext cx="5377416"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Heavy snow and bitterly cold conditions</a:t>
            </a:r>
            <a:endParaRPr lang="en-US" sz="2200" dirty="0"/>
          </a:p>
        </p:txBody>
      </p:sp>
      <p:sp>
        <p:nvSpPr>
          <p:cNvPr id="27" name="match-card"/>
          <p:cNvSpPr/>
          <p:nvPr/>
        </p:nvSpPr>
        <p:spPr>
          <a:xfrm>
            <a:off x="777240" y="4090396"/>
            <a:ext cx="4299679" cy="719592"/>
          </a:xfrm>
          <a:prstGeom prst="roundRect">
            <a:avLst>
              <a:gd name="adj" fmla="val 10166"/>
            </a:avLst>
          </a:prstGeom>
          <a:solidFill>
            <a:srgbClr val="F5F8F6"/>
          </a:solidFill>
          <a:ln/>
        </p:spPr>
      </p:sp>
      <p:sp>
        <p:nvSpPr>
          <p:cNvPr id="28" name="match-hex"/>
          <p:cNvSpPr/>
          <p:nvPr/>
        </p:nvSpPr>
        <p:spPr>
          <a:xfrm>
            <a:off x="850392" y="4283899"/>
            <a:ext cx="384048" cy="332586"/>
          </a:xfrm>
          <a:prstGeom prst="hexagon">
            <a:avLst/>
          </a:prstGeom>
          <a:solidFill>
            <a:srgbClr val="3F6B4A"/>
          </a:solidFill>
          <a:ln/>
        </p:spPr>
      </p:sp>
      <p:sp>
        <p:nvSpPr>
          <p:cNvPr id="29" name="match-hex-label"/>
          <p:cNvSpPr txBox="1"/>
          <p:nvPr/>
        </p:nvSpPr>
        <p:spPr>
          <a:xfrm>
            <a:off x="850392" y="4283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90396"/>
            <a:ext cx="3705319"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south</a:t>
            </a:r>
            <a:endParaRPr lang="en-US" sz="2200" dirty="0"/>
          </a:p>
        </p:txBody>
      </p:sp>
      <p:sp>
        <p:nvSpPr>
          <p:cNvPr id="31" name="match-card"/>
          <p:cNvSpPr/>
          <p:nvPr/>
        </p:nvSpPr>
        <p:spPr>
          <a:xfrm>
            <a:off x="5442679" y="4090396"/>
            <a:ext cx="5971776" cy="719592"/>
          </a:xfrm>
          <a:prstGeom prst="roundRect">
            <a:avLst>
              <a:gd name="adj" fmla="val 10166"/>
            </a:avLst>
          </a:prstGeom>
          <a:solidFill>
            <a:srgbClr val="F9F4EC"/>
          </a:solidFill>
          <a:ln/>
        </p:spPr>
      </p:sp>
      <p:sp>
        <p:nvSpPr>
          <p:cNvPr id="32" name="match-hex"/>
          <p:cNvSpPr/>
          <p:nvPr/>
        </p:nvSpPr>
        <p:spPr>
          <a:xfrm>
            <a:off x="5515831" y="4283899"/>
            <a:ext cx="384048" cy="332586"/>
          </a:xfrm>
          <a:prstGeom prst="hexagon">
            <a:avLst/>
          </a:prstGeom>
          <a:solidFill>
            <a:srgbClr val="B8862B"/>
          </a:solidFill>
          <a:ln/>
        </p:spPr>
      </p:sp>
      <p:sp>
        <p:nvSpPr>
          <p:cNvPr id="33" name="match-hex-label"/>
          <p:cNvSpPr txBox="1"/>
          <p:nvPr/>
        </p:nvSpPr>
        <p:spPr>
          <a:xfrm>
            <a:off x="5515831" y="4283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963887" y="4090396"/>
            <a:ext cx="5377416"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Storms with heavy rain and strong winds</a:t>
            </a:r>
            <a:endParaRPr lang="en-US" sz="2200" dirty="0"/>
          </a:p>
        </p:txBody>
      </p:sp>
      <p:sp>
        <p:nvSpPr>
          <p:cNvPr id="35" name="match-card"/>
          <p:cNvSpPr/>
          <p:nvPr/>
        </p:nvSpPr>
        <p:spPr>
          <a:xfrm>
            <a:off x="777240" y="4901428"/>
            <a:ext cx="4299679" cy="1060460"/>
          </a:xfrm>
          <a:prstGeom prst="roundRect">
            <a:avLst>
              <a:gd name="adj" fmla="val 6898"/>
            </a:avLst>
          </a:prstGeom>
          <a:solidFill>
            <a:srgbClr val="F5F8F6"/>
          </a:solidFill>
          <a:ln/>
        </p:spPr>
      </p:sp>
      <p:sp>
        <p:nvSpPr>
          <p:cNvPr id="36" name="match-hex"/>
          <p:cNvSpPr/>
          <p:nvPr/>
        </p:nvSpPr>
        <p:spPr>
          <a:xfrm>
            <a:off x="850392" y="5265365"/>
            <a:ext cx="384048" cy="332586"/>
          </a:xfrm>
          <a:prstGeom prst="hexagon">
            <a:avLst/>
          </a:prstGeom>
          <a:solidFill>
            <a:srgbClr val="3F6B4A"/>
          </a:solidFill>
          <a:ln/>
        </p:spPr>
      </p:sp>
      <p:sp>
        <p:nvSpPr>
          <p:cNvPr id="37" name="match-hex-label"/>
          <p:cNvSpPr txBox="1"/>
          <p:nvPr/>
        </p:nvSpPr>
        <p:spPr>
          <a:xfrm>
            <a:off x="850392" y="52653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01428"/>
            <a:ext cx="3705319"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From the west (the Atlantic)</a:t>
            </a:r>
            <a:endParaRPr lang="en-US" sz="2200" dirty="0"/>
          </a:p>
        </p:txBody>
      </p:sp>
      <p:sp>
        <p:nvSpPr>
          <p:cNvPr id="39" name="match-card"/>
          <p:cNvSpPr/>
          <p:nvPr/>
        </p:nvSpPr>
        <p:spPr>
          <a:xfrm>
            <a:off x="5442679" y="4901428"/>
            <a:ext cx="5971776" cy="1060460"/>
          </a:xfrm>
          <a:prstGeom prst="roundRect">
            <a:avLst>
              <a:gd name="adj" fmla="val 6898"/>
            </a:avLst>
          </a:prstGeom>
          <a:solidFill>
            <a:srgbClr val="F9F4EC"/>
          </a:solidFill>
          <a:ln/>
        </p:spPr>
      </p:sp>
      <p:sp>
        <p:nvSpPr>
          <p:cNvPr id="40" name="match-hex"/>
          <p:cNvSpPr/>
          <p:nvPr/>
        </p:nvSpPr>
        <p:spPr>
          <a:xfrm>
            <a:off x="5515831" y="5265365"/>
            <a:ext cx="384048" cy="332586"/>
          </a:xfrm>
          <a:prstGeom prst="hexagon">
            <a:avLst/>
          </a:prstGeom>
          <a:solidFill>
            <a:srgbClr val="B8862B"/>
          </a:solidFill>
          <a:ln/>
        </p:spPr>
      </p:sp>
      <p:sp>
        <p:nvSpPr>
          <p:cNvPr id="41" name="match-hex-label"/>
          <p:cNvSpPr txBox="1"/>
          <p:nvPr/>
        </p:nvSpPr>
        <p:spPr>
          <a:xfrm>
            <a:off x="5515831" y="52653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963887" y="4901428"/>
            <a:ext cx="5377416"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Hot, sunny weather, heatwaves and droughts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Round the roundabout</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Round the roundabout</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F5F2"/>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where the air has travelled from. The Arctic is frozen, so northern air is the coldest and snowiest.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Atlantic is an ocean, so western air is full of moisture: rain and wind.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Hot lands lie to the south, so southern air brings heat.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one left, the east, brings severe winter cold from the continent.</a:t>
            </a:r>
            <a:endParaRPr lang="en-US" sz="1800" dirty="0"/>
          </a:p>
        </p:txBody>
      </p:sp>
      <p:sp>
        <p:nvSpPr>
          <p:cNvPr id="17" name="col-Core"/>
          <p:cNvSpPr/>
          <p:nvPr/>
        </p:nvSpPr>
        <p:spPr>
          <a:xfrm>
            <a:off x="5490762" y="2395728"/>
            <a:ext cx="2938987" cy="3749040"/>
          </a:xfrm>
          <a:prstGeom prst="roundRect">
            <a:avLst>
              <a:gd name="adj" fmla="val 1867"/>
            </a:avLst>
          </a:prstGeom>
          <a:solidFill>
            <a:srgbClr val="DBE3DD"/>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Frozen Arctic, wet ocean, hot south, cold continent. Each surface gives the air its weather.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UK's position on the weather roundabout makes its weather harder to forecast than the weather of a place deep inside a continent.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puddle to cloud to rain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steps of how rain forms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rising air cools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warm, damp air rises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droplets join together, grow heavy and fall as rain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sun heats water on the surface and some of it evaporates into water vapour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water vapour condenses into tiny droplets, which form a cloud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From puddle to cloud to rain</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steps of how rain forms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F5F2"/>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at the ground, with water and sunshine. Which step mentions the sun?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Water vapour has to go up before anything else can happen.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Going up makes the air cooler, and cooling comes before condensing.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cloud must exist before rain can fall from it.</a:t>
            </a:r>
            <a:endParaRPr lang="en-US" sz="1800" dirty="0"/>
          </a:p>
        </p:txBody>
      </p:sp>
      <p:sp>
        <p:nvSpPr>
          <p:cNvPr id="17" name="col-Core"/>
          <p:cNvSpPr/>
          <p:nvPr/>
        </p:nvSpPr>
        <p:spPr>
          <a:xfrm>
            <a:off x="5490762" y="2578608"/>
            <a:ext cx="2938987" cy="3566160"/>
          </a:xfrm>
          <a:prstGeom prst="roundRect">
            <a:avLst>
              <a:gd name="adj" fmla="val 1867"/>
            </a:avLst>
          </a:prstGeom>
          <a:solidFill>
            <a:srgbClr val="DBE3DD"/>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Heat and evaporate, rise, cool, condense, fall. Up first, then down.</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would be different about the last step on a very cold day, and why.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direction brings hot, sunny weather that can lead to heatwaves and droughts in the UK?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west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east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north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9F8"/>
          </a:solidFill>
          <a:ln w="12700">
            <a:solidFill>
              <a:srgbClr val="A5B9AA"/>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Round the roundabout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north (Arctic air)  →  B  Heavy snow and bitterly cold conditions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east  →  A  Severe winter weather</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south  →  D  Hot, sunny weather, heatwaves and droughts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From the west (the Atlantic)  →  C  Storms with heavy rain and strong winds</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Arctic air from the north brings snow and bitter cold; air from the east brings severe winter weather; air from the south brings heat, heatwaves and droughts; Atlantic air from the west brings storms, heavy rain and strong winds.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puddle to cloud to rain</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sun heats water on the surface and some of it evaporates into water vapour  (D)</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warm, damp air rises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rising air cools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water vapour condenses into tiny droplets, which form a cloud  (E)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droplets join together, grow heavy and fall as rain  (C)</a:t>
            </a:r>
            <a:endParaRPr lang="en-US" sz="24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sun evaporates water into vapour; the warm damp air rises; it cools as it climbs; the vapour condenses into droplets that make a cloud; the droplets grow heavy and fall as rain.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direction brings hot, sunny weather that can lead to heatwaves and droughts in the UK?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The south</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F5F2"/>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Air from the south has come up from hot lands, so it brings hot, sunny weather and, if it stays, heatwaves and droughts.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F2F5F2"/>
      </a:lt2>
      <a:accent1>
        <a:srgbClr val="3F6B4A"/>
      </a:accent1>
      <a:accent2>
        <a:srgbClr val="B8862B"/>
      </a:accent2>
      <a:accent3>
        <a:srgbClr val="8CA692"/>
      </a:accent3>
      <a:accent4>
        <a:srgbClr val="815E1E"/>
      </a:accent4>
      <a:accent5>
        <a:srgbClr val="4A505C"/>
      </a:accent5>
      <a:accent6>
        <a:srgbClr val="DEC69B"/>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 Chapter 3: The UK weather roundabout and how rain forms</dc:title>
  <dc:subject>Geography · Year 7</dc:subject>
  <dc:creator>Dr Vitor Merissi de Carvalho</dc:creator>
  <cp:lastModifiedBy>Dr Vitor Merissi de Carvalho</cp:lastModifiedBy>
  <cp:revision>1</cp:revision>
  <dcterms:created xsi:type="dcterms:W3CDTF">2026-10-19T16:23:00Z</dcterms:created>
  <dcterms:modified xsi:type="dcterms:W3CDTF">2026-10-19T16:23:00Z</dcterms:modified>
</cp:coreProperties>
</file>