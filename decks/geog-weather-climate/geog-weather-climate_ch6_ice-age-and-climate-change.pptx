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10e3874-6895-db82-c611-8aae2a533834}">
          <p14:sldIdLst>
            <p14:sldId id="256"/>
          </p14:sldIdLst>
        </p14:section>
        <p14:section name="Gate" id="{bfdc06ef-96d1-24be-cf09-15ff0f05df59}">
          <p14:sldIdLst>
            <p14:sldId id="257"/>
            <p14:sldId id="258"/>
          </p14:sldIdLst>
        </p14:section>
        <p14:section name="Pre-teach" id="{83106a10-76fd-f822-6e1b-2092b53a453c}">
          <p14:sldIdLst>
            <p14:sldId id="259"/>
            <p14:sldId id="260"/>
          </p14:sldIdLst>
        </p14:section>
        <p14:section name="Read-along" id="{0cb3b8d8-4040-6886-63d2-48240eb53531}">
          <p14:sldIdLst>
            <p14:sldId id="261"/>
            <p14:sldId id="262"/>
          </p14:sldIdLst>
        </p14:section>
        <p14:section name="Teach" id="{c3373fdc-2434-b3aa-df9c-b35387a0be84}">
          <p14:sldIdLst>
            <p14:sldId id="263"/>
            <p14:sldId id="264"/>
            <p14:sldId id="265"/>
            <p14:sldId id="266"/>
            <p14:sldId id="267"/>
          </p14:sldIdLst>
        </p14:section>
        <p14:section name="Routes" id="{21ff5ba2-c3d9-49a5-a3a6-401cb1cab95d}">
          <p14:sldIdLst>
            <p14:sldId id="268"/>
            <p14:sldId id="269"/>
            <p14:sldId id="270"/>
          </p14:sldIdLst>
        </p14:section>
        <p14:section name="Close" id="{6425737c-fd0f-1af3-6e4e-018305d2ccea}">
          <p14:sldIdLst>
            <p14:sldId id="271"/>
          </p14:sldIdLst>
        </p14:section>
        <p14:section name="Answers" id="{6e95b7d4-7ab9-62b8-5ed9-34e33cf7f7f4}">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From the Ice Age to climate change. What the UK was like under the ice about 20 000 years ago, how the land sank and rose again, the natural and human causes of climate change, the greenhouse gases behind it, and the effects it has on people and the environment.
This deck covers the department's lessons: 9 (The Ice Age: Which parts of Europe were covered by ice 20 000 years ago, what was the climate like, and what happened to the land and sea?); 10 (Causes of climate change: Which causes of climate change are natural, and which are human?); 11 (Causes of climate change: greenhouse gases: What are greenhouse gases, and where do carbon dioxide and methane come from?); 12 (The effects of climate change: What range of effects does climate change have on people and the environment, and which are the most serious?).
Read the big question aloud: "What makes our weather, and why is the climate changing?"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About what percentage of the Earth's land surface is covered by ice today?  →  10 per cent
2. Fossil fuels, deforestation and agriculture are the ___ causes of climate change.  →  human
3. Which of these is a natural cause of climate change?  →  D   Volcanic eruptions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10 per cent. Ice covers about 10 per cent of the Earth's land surface today, as glaciers, ice caps and ice sheets.
2. human. All three are things people do: burning fuels, cutting down forests and farming. They are the human causes.
3. D   Volcanic eruptions. Volcanic eruptions happen without people. The other three are human activities that release greenhouse gases.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glacier: a large mass of ice that flows very slowly downhill. Example: "A glacier moves so slowly you cannot see it move."
• ice sheet: a huge layer of ice covering a whole region. Example: "An ice sheet once covered most of the UK."
• isostatic change: the land sinking under ice and rising again after it melts. Example: "Isostatic change is still lifting Scotland today."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greenhouse gas: a gas that traps heat in the atmosphere. Example: "Carbon dioxide is a greenhouse gas."
• fossil fuel: coal, oil or gas, made from living things that died long ago. Example: "Burning a fossil fuel releases carbon dioxide."
• climate change: a long-term change in the Earth's usual weather. Example: "Climate change is making heatwaves more common."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The Earth's climate has not always been the same.
2. About 20 000 years ago there was an Ice Age.
3. Ice covered much of Europe, including most of the United Kingdom.
4. Today ice covers about 10 per cent of the Earth's land surface.
5. This ice is in glaciers, ice caps and ice sheets.
6. A glacier is a large mass of ice that flows very slowly, like a frozen river.
7. The weight of the ice pushed the land down.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When the ice melted, the land slowly rose again.
9. This is called isostatic change.
10. Today the climate is changing again, and it is getting warmer.
11. Some causes are natural, such as volcanic eruptions.
12. Some causes are human, such as burning fossil fuels.
13. Greenhouse gases like carbon dioxide trap heat in the air.
14. Climate change affects people and the environment all over the world.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last Ice Age. Say it in your own words, then check understanding with a quick question: ask a pupil from the pre-teach group first, since they met these words and ideas before the lesson. Pupils try to recall before you re-explain.
Climate is the usual weather over many years, but over thousands of years even the climate changes. About 20 000 years ago the Earth was in the grip of an Ice Age. The climate was far colder than today, and a sheet of ice lay across northern Europe, reaching down over nearly all of Britain. Where you are sitting now may have been under hundreds of metres of ice, with only the south of England left as a cold, treeless land where few plants could grow and animals adapted to the cold roamed.
The ice is still with us, but there is far less of it. Today ice covers about 10 per cent of the Earth's land surface, in the form of glaciers, ice caps and ice sheets. A glacier is a large mass of ice, often shaped like a river, that flows very slowly downhill under the force of gravity. Glaciers grow and shrink with the seasons: they thicken when winter snow piles up and thin when summer melts it.
An Ice Age changes the sea as well as the land. The water locked up in the ice sheets had to come from somewhere, and it came from the oceans, so sea level was much lower than it is now. As the ice melted at the end of the Ice Age, that water returned to the sea and sea level rose. When you link the timeline of the Ice Age to sea level, remember: more ice means lower seas, less ice means higher seas.
Worked example — model it step by step, thinking aloud: The last Ice Age was about 20 000 years ago. About how many centuries is that? And if ice covers about 10 per cent of the Earth's land surface today, what percentage of the land is not covered by ice? (1) A century is 100 years, so divide the years by 100: 20 000 ÷ 100 = 200 centuries. (2) Check by multiplying back: 200 × 100 = 20 000. (3) The whole land surface is 100 per cent. Take away the 10 per cent that is ice: 100 − 10 = 90 per cent. (4) Two different questions, two different units: centuries for the first, per cent for the second. Answer: About 200 centuries; about 90 per cent of the land surface is not covered by ice..
Tip: Two numbers to remember from this lesson: about 20 000 years ago, and about 10 per cent of the land surface is ice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last Ice Age. Say it in your own words, then check understanding with a quick question: ask a pupil from the pre-teach group first, since they met these words and ideas before the lesson. Pupils try to recall before you re-explain.
Climate is the usual weather over many years, but over thousands of years even the climate changes. About 20 000 years ago the Earth was in the grip of an Ice Age. The climate was far colder than today, and a sheet of ice lay across northern Europe, reaching down over nearly all of Britain. Where you are sitting now may have been under hundreds of metres of ice, with only the south of England left as a cold, treeless land where few plants could grow and animals adapted to the cold roamed.
The ice is still with us, but there is far less of it. Today ice covers about 10 per cent of the Earth's land surface, in the form of glaciers, ice caps and ice sheets. A glacier is a large mass of ice, often shaped like a river, that flows very slowly downhill under the force of gravity. Glaciers grow and shrink with the seasons: they thicken when winter snow piles up and thin when summer melts it.
An Ice Age changes the sea as well as the land. The water locked up in the ice sheets had to come from somewhere, and it came from the oceans, so sea level was much lower than it is now. As the ice melted at the end of the Ice Age, that water returned to the sea and sea level rose. When you link the timeline of the Ice Age to sea level, remember: more ice means lower seas, less ice means higher seas.
Worked example — model it step by step, thinking aloud: The last Ice Age was about 20 000 years ago. About how many centuries is that? And if ice covers about 10 per cent of the Earth's land surface today, what percentage of the land is not covered by ice? (1) A century is 100 years, so divide the years by 100: 20 000 ÷ 100 = 200 centuries. (2) Check by multiplying back: 200 × 100 = 20 000. (3) The whole land surface is 100 per cent. Take away the 10 per cent that is ice: 100 − 10 = 90 per cent. (4) Two different questions, two different units: centuries for the first, per cent for the second. Answer: About 200 centuries; about 90 per cent of the land surface is not covered by ice..
Tip: Two numbers to remember from this lesson: about 20 000 years ago, and about 10 per cent of the land surface is ice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land that sank and rose again. Say it in your own words, then check understanding with a quick question: ask a pupil from the pre-teach group first, since they met these words and ideas before the lesson. Pupils try to recall before you re-explain.
Ice is heavy. An ice sheet hundreds of metres thick weighs so much that it pushes the Earth's crust down beneath it, the way a mattress sinks under you when you sit on it. During the Ice Age the land under the ice was pressed downwards. When the ice melted and the weight was lifted, the crust slowly began to rise back up, and in the north of the UK it is still rising today, a few millimetres a year.
This sinking and rising of the land is called isostatic change. It explains some odd features of the UK coast. In class you looked at a photograph from Paignton in Devon. In places you can find old beaches now standing well above the sea, and in others land that was once dry is now under water, because the land and the sea have both moved since the ice went. When a question asks what happened to the Earth's crust during and after the Ice Age, give both halves: pressed down by the weight of the ice, then rising again after the ice melted.
Tip: Isostatic: down under the ice, up after the melt. Draw it as a see-saw of land and 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Causes of climate change: natural and human. Say it in your own words, then check understanding with a quick question: ask a pupil from the pre-teach group first, since they met these words and ideas before the lesson. Pupils try to recall before you re-explain.
The climate is changing again, and this time it is getting warmer. In class you sorted seven causes of climate change into two columns. The three human causes are fossil fuels, deforestation and agriculture. Burning fossil fuels (coal, oil and gas) in power stations, factories, cars and homes releases carbon dioxide. Deforestation, cutting down forests, removes trees that would otherwise take carbon dioxide out of the air, and burning the cleared trees releases even more. Agriculture adds methane, a gas given off by cattle and by flooded rice fields, and more carbon dioxide from clearing land and running machinery.
The four natural causes are volcanic eruptions, ocean currents, solar output and orbital changes. Volcanic eruptions throw ash and gases high into the atmosphere, which can block sunlight and cool the Earth for a year or two. Ocean currents move heat around the planet, and when they shift, the climate of whole regions shifts with them. Solar output, the amount of energy the sun gives out, rises and falls slightly over the years. Orbital changes are slow wobbles in the Earth's path around the sun that alter how much sunlight reaches us, and they are thought to be behind the coming and going of Ice Ages.
The link between the human causes and a warming world is greenhouse gases. Carbon dioxide and methane (its chemical formula is CH4) are greenhouse gases: they let sunlight in but trap the heat that would otherwise escape back into space, like the glass of a greenhouse. Some greenhouse gas in the atmosphere is natural and keeps the Earth warm enough to live on. The problem is that fossil fuels, deforestation and agriculture are pumping out far more than before, so more heat is trapped and the Earth warms.
Tip: Human: fossil fuels, deforestation, agriculture (three). Natural: volcanic eruptions, ocean currents, solar output, orbital changes (four). Seven in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effects of climate change. Say it in your own words, then check understanding with a quick question: ask a pupil from the pre-teach group first, since they met these words and ideas before the lesson. Pupils try to recall before you re-explain.
A warming climate has a wide range of effects on people and on the environment, and not all of them are equally serious. In class you ranked fourteen effects from most important to least important and justified your top and bottom choices. There is no single right order, but a good ranking explains its reasons: how many people are affected, how badly, and whether anything can be done about it.
Two of the effects you discussed show how different they can be. Increased migration happens when climate change makes places harder to live in, through drought, flooding or failed harvests, so people are forced to move; large movements of people can put pressure on the countries they move to and raise tension between nations. Changes to agricultural yields mean that crops grow better in some places and worse in others as temperatures and rainfall shift; this effect can be reduced by using technology and new types of crop, which is why some people rank it lower.
The Ice Age chapter gives you a third effect to think about. The ice sheets are a store of frozen water, and as a warming climate melts them that water returns to the sea. Just as the end of the Ice Age raised sea level, a warming world raises it again, and low-lying coasts are the first to feel it. When you write about effects, say who or what is affected, how, and how serious you judge it to be.
Tip: For any effect: who or what is affected, how, and how serious. Then you can justify a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Cause and explanation.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cause of climate change to its explanation.
Support — work through the steps with the group: (1) Two of these are human and two are natural. Sort them first. (2) Fossil fuels are burned, so look for the explanation about burning. (3) Deforestation is about trees, so look for the one that mentions trees. (4) Of the two natural causes in this list, one is about a volcano and one is about the Earth moving around the sun.
Parallel worked example for Support (model it, do not give the task answer): Match: agriculture, solar output. Choices: the sun giving out slightly more or less energy; cattle and rice fields giving off methane. Agriculture is farming, so cattle and rice fields.; Solar means the sun.. Answer: Agriculture: cattle and rice fields giving off methane. Solar output: the sun giving out slightly more or less energy..
Core — reveal the hint only on request: Burning, trees, ash, and the Earth's path round the sun. Each explanation has one giveaway word.
Stretch — no help; when finished: Explain why deforestation counts twice: what is lost when the trees go, and what is released if they are burned.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Cause and explanation.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cause of climate change to its explanation.
Support — work through the steps with the group: (1) Two of these are human and two are natural. Sort them first. (2) Fossil fuels are burned, so look for the explanation about burning. (3) Deforestation is about trees, so look for the one that mentions trees. (4) Of the two natural causes in this list, one is about a volcano and one is about the Earth moving around the sun.
Parallel worked example for Support (model it, do not give the task answer): Match: agriculture, solar output. Choices: the sun giving out slightly more or less energy; cattle and rice fields giving off methane. Agriculture is farming, so cattle and rice fields.; Solar means the sun.. Answer: Agriculture: cattle and rice fields giving off methane. Solar output: the sun giving out slightly more or less energy..
Core — reveal the hint only on request: Burning, trees, ash, and the Earth's path round the sun. Each explanation has one giveaway word.
Stretch — no help; when finished: Explain why deforestation counts twice: what is lost when the trees go, and what is released if they are burned.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Counting back to the 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last Ice Age was at its height about 20 000 years ago. A century is 100 years. About how many centuries ago was that?
Support — work through the steps with the group: (1) Write down the number of years: 20 000. (2) Write down how many years are in a century: 100. (3) Divide the years by 100. Dividing by 100 takes two zeros off the end. (4) Check by multiplying your answer by 100; you should get 20 000 back.
Parallel worked example for Support (model it, do not give the task answer): A castle is 600 years old. How many centuries is that? A century is 100 years.; 600 ÷ 100 = 6.. Answer: 6 centuries.
Core — reveal the hint only on request: A century is 100 years. How many hundreds are there in 20 000?
Stretch — no help; when finished: Suppose written history goes back about 50 centuries. Explain how many times longer ago the Ice Age was than the start of written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About what percentage of the Earth's land surface is covered by ice today?
Answer: 10 per cent. Ice covers about 10 per cent of the Earth's land surface today, as glaciers, ice caps and ice sheets.
Source of this question: gate item 1 re-asked (options rotated) — this chapter has no third quick-check module.
The ebook also holds task 3, "Which effect matters most?",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Cause and explanation. Reveal the answer; pupils mark their own work in a different colour, then read the "why" together. Same destination for every lane, so one answer serves the whole class.
Answer: Fossil fuels  →  A  Burning coal, oil and gas releases carbon dioxide into the atmosphere; Deforestation  →  B  Cutting down forests removes the trees that take carbon dioxide out of the air; Volcanic eruptions  →  D  Ash and gases thrown into the atmosphere can block sunlight and change the climate; Orbital changes  →  C  Slow changes in the Earth's path around the sun alter how much sunlight reaches it
Why: Fossil fuels release carbon dioxide when burned; deforestation removes the trees that absorb it; volcanic eruptions throw ash and gas into the air; orbital changes alter how much sunlight the Earth receives.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Counting back to the ice. Reveal the answer; pupils mark their own work in a different colour, then read the "why" together. Same destination for every lane, so one answer serves the whole class.
Answer: 200 centuries
Why: There are 100 years in a century, so 20 000 years is 20 000 ÷ 100 = 200 centuries. Multiplying back, 200 × 100 = 20 000, confirms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10 per cent
Why: Ice covers about 10 per cent of the Earth's land surface today, as glaciers, ice caps and ice sheets.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Weather and Climate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Weather and Climate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Weather and Climate · AQA KS3 → 8035</a:t>
            </a:r>
            <a:endParaRPr lang="en-US" sz="1800" dirty="0"/>
          </a:p>
        </p:txBody>
      </p:sp>
      <p:sp>
        <p:nvSpPr>
          <p:cNvPr id="10" name="deck-title"/>
          <p:cNvSpPr txBox="1"/>
          <p:nvPr/>
        </p:nvSpPr>
        <p:spPr>
          <a:xfrm>
            <a:off x="548640" y="171627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From the Ice Age to climate change</a:t>
            </a:r>
            <a:endParaRPr lang="en-US" sz="4000" dirty="0"/>
          </a:p>
        </p:txBody>
      </p:sp>
      <p:sp>
        <p:nvSpPr>
          <p:cNvPr id="11" name="lessons-card"/>
          <p:cNvSpPr/>
          <p:nvPr/>
        </p:nvSpPr>
        <p:spPr>
          <a:xfrm>
            <a:off x="548640" y="3392678"/>
            <a:ext cx="5287975" cy="2334260"/>
          </a:xfrm>
          <a:prstGeom prst="roundRect">
            <a:avLst>
              <a:gd name="adj" fmla="val 3134"/>
            </a:avLst>
          </a:prstGeom>
          <a:solidFill>
            <a:srgbClr val="F2F5F2"/>
          </a:solidFill>
          <a:ln/>
        </p:spPr>
      </p:sp>
      <p:sp>
        <p:nvSpPr>
          <p:cNvPr id="12" name="lessons"/>
          <p:cNvSpPr txBox="1"/>
          <p:nvPr/>
        </p:nvSpPr>
        <p:spPr>
          <a:xfrm>
            <a:off x="685800" y="3484118"/>
            <a:ext cx="5013655" cy="215138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Ice Age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Causes of climate change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Causes of climate change: greenhouse gases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effects of climate change</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makes our weather, and why is the climate changing?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About what percentage of the Earth's land surface is covered by ice today?</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per cent</a:t>
            </a:r>
            <a:endParaRPr lang="en-US" sz="24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Fossil fuels, deforestation and agriculture are the ___ causes of climate change.</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human  ·  natural  ·  ancient</a:t>
            </a:r>
            <a:endParaRPr lang="en-US" sz="24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a natural cause of climate change?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Agriculture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Deforestation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Burning fossil fuels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Volcanic eruptions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10 per cent</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About what percentage of the Earth's land surface is covered by ice today?</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Ice covers about 10 per cent of the Earth's land surface today, as glaciers, ice caps and ice sheets.</a:t>
            </a:r>
            <a:endParaRPr lang="en-US" sz="20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human</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Fossil fuels, deforestation and agriculture are the ___ causes of climate change.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All three are things people do: burning fuels, cutting down forests and farming. They are the human causes.</a:t>
            </a:r>
            <a:endParaRPr lang="en-US" sz="20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Volcanic eruptions</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is a natural cause of climate change?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Volcanic eruptions happen without people. The other three are human activities that release greenhouse gases.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glacier</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large mass of ice that flows very slowly downhill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glacier moves so slowly you cannot see it move.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ice sheet</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huge layer of ice covering a whole region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 ice sheet once covered most of the UK.</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isostatic change</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land sinking under ice and rising again after it melts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Isostatic change is still lifting Scotland today.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greenhouse gas</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gas that traps heat in the atmosphere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Carbon dioxide is a greenhouse gas.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fossil fuel</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coal, oil or gas, made from living things that died long ago</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Burning a fossil fuel releases carbon dioxide.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climate change</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long-term change in the Earth's usual weather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Climate change is making heatwaves more common.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Earth's climate has not always been the same.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About 20 000 years ago there was an Ice Age.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Ice covered much of Europe, including most of the United Kingdom.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Today ice covers about 10 per cent of the Earth's land surface.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ice is in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glaciers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ice caps and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ice sheets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glacier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large mass of ice that flows very slowly, like a frozen river.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weight of the ice pushed the land down.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When the ice melted, the land slowly rose again.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is called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isostatic change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Today the climate is changing again, and it is getting warmer.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Some causes are natural, such as volcanic eruptions.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Some causes are human, such as burning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fossil fuels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Greenhouse gases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like carbon dioxide trap heat in the air.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Climate change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affects people and the environment all over the world.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last Ice Age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Two numbers to remember from this lesson: about 20 000 years ago, and about 10 per cent of the land surface is ice today.</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Climate is the usual weather over many years, but over thousands of years even the climate changes.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ice is still with us, but there is far less of it.</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Ice Age changes the sea as well as the land.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The last Ice Age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239520"/>
          </a:xfrm>
          <a:prstGeom prst="roundRect">
            <a:avLst>
              <a:gd name="adj" fmla="val 7377"/>
            </a:avLst>
          </a:prstGeom>
          <a:solidFill>
            <a:srgbClr val="F2F5F2"/>
          </a:solidFill>
          <a:ln/>
        </p:spPr>
      </p:sp>
      <p:sp>
        <p:nvSpPr>
          <p:cNvPr id="8" name="worked-q"/>
          <p:cNvSpPr txBox="1"/>
          <p:nvPr/>
        </p:nvSpPr>
        <p:spPr>
          <a:xfrm>
            <a:off x="731520" y="1481328"/>
            <a:ext cx="10728655" cy="105664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The last Ice Age was about 20 000 years ago. About how many centuries is that? And if ice covers about 10 per cent of the Earth's land surface today, what percentage of the land is not covered by ice?</a:t>
            </a:r>
            <a:endParaRPr lang="en-US" sz="2000" dirty="0"/>
          </a:p>
        </p:txBody>
      </p:sp>
      <p:sp>
        <p:nvSpPr>
          <p:cNvPr id="9" name="step-box"/>
          <p:cNvSpPr/>
          <p:nvPr/>
        </p:nvSpPr>
        <p:spPr>
          <a:xfrm>
            <a:off x="548640" y="2812288"/>
            <a:ext cx="11094415" cy="559714"/>
          </a:xfrm>
          <a:prstGeom prst="roundRect">
            <a:avLst>
              <a:gd name="adj" fmla="val 13070"/>
            </a:avLst>
          </a:prstGeom>
          <a:solidFill>
            <a:srgbClr val="FFFFFF"/>
          </a:solidFill>
          <a:ln w="15875">
            <a:solidFill>
              <a:srgbClr val="95AE9B"/>
            </a:solidFill>
            <a:prstDash val="solid"/>
          </a:ln>
        </p:spPr>
      </p:sp>
      <p:sp>
        <p:nvSpPr>
          <p:cNvPr id="10" name="step-hex"/>
          <p:cNvSpPr/>
          <p:nvPr/>
        </p:nvSpPr>
        <p:spPr>
          <a:xfrm>
            <a:off x="685800" y="2894178"/>
            <a:ext cx="457200" cy="395935"/>
          </a:xfrm>
          <a:prstGeom prst="hexagon">
            <a:avLst/>
          </a:prstGeom>
          <a:solidFill>
            <a:srgbClr val="3F6B4A"/>
          </a:solidFill>
          <a:ln/>
        </p:spPr>
      </p:sp>
      <p:sp>
        <p:nvSpPr>
          <p:cNvPr id="11" name="step-hex-label"/>
          <p:cNvSpPr txBox="1"/>
          <p:nvPr/>
        </p:nvSpPr>
        <p:spPr>
          <a:xfrm>
            <a:off x="685800" y="289417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812288"/>
            <a:ext cx="10180015" cy="55971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century is 100 years, so divide the years by 100: 20 000 ÷ 100 = 200 centuries.</a:t>
            </a:r>
            <a:endParaRPr lang="en-US" sz="1800" dirty="0"/>
          </a:p>
        </p:txBody>
      </p:sp>
      <p:sp>
        <p:nvSpPr>
          <p:cNvPr id="13" name="step-box"/>
          <p:cNvSpPr/>
          <p:nvPr/>
        </p:nvSpPr>
        <p:spPr>
          <a:xfrm>
            <a:off x="548640" y="3445154"/>
            <a:ext cx="11094415" cy="559714"/>
          </a:xfrm>
          <a:prstGeom prst="roundRect">
            <a:avLst>
              <a:gd name="adj" fmla="val 13070"/>
            </a:avLst>
          </a:prstGeom>
          <a:solidFill>
            <a:srgbClr val="FFFFFF"/>
          </a:solidFill>
          <a:ln w="15875">
            <a:solidFill>
              <a:srgbClr val="95AE9B"/>
            </a:solidFill>
            <a:prstDash val="solid"/>
          </a:ln>
        </p:spPr>
      </p:sp>
      <p:sp>
        <p:nvSpPr>
          <p:cNvPr id="14" name="step-hex"/>
          <p:cNvSpPr/>
          <p:nvPr/>
        </p:nvSpPr>
        <p:spPr>
          <a:xfrm>
            <a:off x="685800" y="3527044"/>
            <a:ext cx="457200" cy="395935"/>
          </a:xfrm>
          <a:prstGeom prst="hexagon">
            <a:avLst/>
          </a:prstGeom>
          <a:solidFill>
            <a:srgbClr val="3F6B4A"/>
          </a:solidFill>
          <a:ln/>
        </p:spPr>
      </p:sp>
      <p:sp>
        <p:nvSpPr>
          <p:cNvPr id="15" name="step-hex-label"/>
          <p:cNvSpPr txBox="1"/>
          <p:nvPr/>
        </p:nvSpPr>
        <p:spPr>
          <a:xfrm>
            <a:off x="685800" y="352704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445154"/>
            <a:ext cx="10180015" cy="55971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by multiplying back: 200 × 100 = 20 000.</a:t>
            </a:r>
            <a:endParaRPr lang="en-US" sz="1800" dirty="0"/>
          </a:p>
        </p:txBody>
      </p:sp>
      <p:sp>
        <p:nvSpPr>
          <p:cNvPr id="17" name="step-box"/>
          <p:cNvSpPr/>
          <p:nvPr/>
        </p:nvSpPr>
        <p:spPr>
          <a:xfrm>
            <a:off x="548640" y="4078021"/>
            <a:ext cx="11094415" cy="559714"/>
          </a:xfrm>
          <a:prstGeom prst="roundRect">
            <a:avLst>
              <a:gd name="adj" fmla="val 13070"/>
            </a:avLst>
          </a:prstGeom>
          <a:solidFill>
            <a:srgbClr val="FFFFFF"/>
          </a:solidFill>
          <a:ln w="15875">
            <a:solidFill>
              <a:srgbClr val="95AE9B"/>
            </a:solidFill>
            <a:prstDash val="solid"/>
          </a:ln>
        </p:spPr>
      </p:sp>
      <p:sp>
        <p:nvSpPr>
          <p:cNvPr id="18" name="step-hex"/>
          <p:cNvSpPr/>
          <p:nvPr/>
        </p:nvSpPr>
        <p:spPr>
          <a:xfrm>
            <a:off x="685800" y="4159910"/>
            <a:ext cx="457200" cy="395935"/>
          </a:xfrm>
          <a:prstGeom prst="hexagon">
            <a:avLst/>
          </a:prstGeom>
          <a:solidFill>
            <a:srgbClr val="3F6B4A"/>
          </a:solidFill>
          <a:ln/>
        </p:spPr>
      </p:sp>
      <p:sp>
        <p:nvSpPr>
          <p:cNvPr id="19" name="step-hex-label"/>
          <p:cNvSpPr txBox="1"/>
          <p:nvPr/>
        </p:nvSpPr>
        <p:spPr>
          <a:xfrm>
            <a:off x="685800" y="415991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4078021"/>
            <a:ext cx="10180015" cy="55971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whole land surface is 100 per cent. Take away the 10 per cent that is ice: 100 − 10 = 90 per cent.</a:t>
            </a:r>
            <a:endParaRPr lang="en-US" sz="1800" dirty="0"/>
          </a:p>
        </p:txBody>
      </p:sp>
      <p:sp>
        <p:nvSpPr>
          <p:cNvPr id="21" name="step-box"/>
          <p:cNvSpPr/>
          <p:nvPr/>
        </p:nvSpPr>
        <p:spPr>
          <a:xfrm>
            <a:off x="548640" y="4710887"/>
            <a:ext cx="11094415" cy="559714"/>
          </a:xfrm>
          <a:prstGeom prst="roundRect">
            <a:avLst>
              <a:gd name="adj" fmla="val 13070"/>
            </a:avLst>
          </a:prstGeom>
          <a:solidFill>
            <a:srgbClr val="FFFFFF"/>
          </a:solidFill>
          <a:ln w="15875">
            <a:solidFill>
              <a:srgbClr val="95AE9B"/>
            </a:solidFill>
            <a:prstDash val="solid"/>
          </a:ln>
        </p:spPr>
      </p:sp>
      <p:sp>
        <p:nvSpPr>
          <p:cNvPr id="22" name="step-hex"/>
          <p:cNvSpPr/>
          <p:nvPr/>
        </p:nvSpPr>
        <p:spPr>
          <a:xfrm>
            <a:off x="685800" y="4792777"/>
            <a:ext cx="457200" cy="395935"/>
          </a:xfrm>
          <a:prstGeom prst="hexagon">
            <a:avLst/>
          </a:prstGeom>
          <a:solidFill>
            <a:srgbClr val="3F6B4A"/>
          </a:solidFill>
          <a:ln/>
        </p:spPr>
      </p:sp>
      <p:sp>
        <p:nvSpPr>
          <p:cNvPr id="23" name="step-hex-label"/>
          <p:cNvSpPr txBox="1"/>
          <p:nvPr/>
        </p:nvSpPr>
        <p:spPr>
          <a:xfrm>
            <a:off x="685800" y="4792777"/>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710887"/>
            <a:ext cx="10180015" cy="55971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Two different questions, two different units: centuries for the first, per cent for the second.</a:t>
            </a:r>
            <a:endParaRPr lang="en-US" sz="1800" dirty="0"/>
          </a:p>
        </p:txBody>
      </p:sp>
      <p:sp>
        <p:nvSpPr>
          <p:cNvPr id="25" name="worked-answer"/>
          <p:cNvSpPr/>
          <p:nvPr/>
        </p:nvSpPr>
        <p:spPr>
          <a:xfrm>
            <a:off x="548640" y="5453482"/>
            <a:ext cx="11094415" cy="552196"/>
          </a:xfrm>
          <a:prstGeom prst="roundRect">
            <a:avLst>
              <a:gd name="adj" fmla="val 2483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About 200 centuries; about 90 per cent of the land surface is not covered by ice.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land that sank and rose again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Isostatic: down under the ice, up after the melt. Draw it as a see-saw of land and ice.</a:t>
            </a:r>
            <a:endParaRPr lang="en-US" sz="1800" dirty="0"/>
          </a:p>
        </p:txBody>
      </p:sp>
      <p:sp>
        <p:nvSpPr>
          <p:cNvPr id="11" name="point-card"/>
          <p:cNvSpPr/>
          <p:nvPr/>
        </p:nvSpPr>
        <p:spPr>
          <a:xfrm>
            <a:off x="548640" y="1389888"/>
            <a:ext cx="5410048" cy="3964940"/>
          </a:xfrm>
          <a:prstGeom prst="roundRect">
            <a:avLst>
              <a:gd name="adj" fmla="val 1384"/>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Ice is heavy. An ice sheet hundreds of metres thick weighs so much that it pushes the Earth's crust down beneath it, the way a mattress sinks under you when you sit on it.</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9F4EC"/>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sinking and rising of the land is called isostatic change.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Causes of climate change: natural and human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Human: fossil fuels, deforestation, agriculture (three). Natural: volcanic eruptions, ocean currents, solar output, orbital changes (four). Seven in all.</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climate is changing again, and this time it is getting warmer.</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four natural causes are volcanic eruptions, ocean currents, solar output and orbital changes.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link between the human causes and a warming world is greenhouse gases.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effects of climate change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any effect: who or what is affected, how, and how serious. Then you can justify a ranking.</a:t>
            </a:r>
            <a:endParaRPr lang="en-US" sz="1800" dirty="0"/>
          </a:p>
        </p:txBody>
      </p:sp>
      <p:sp>
        <p:nvSpPr>
          <p:cNvPr id="11" name="point-card"/>
          <p:cNvSpPr/>
          <p:nvPr/>
        </p:nvSpPr>
        <p:spPr>
          <a:xfrm>
            <a:off x="548640" y="1389888"/>
            <a:ext cx="3515258" cy="3964940"/>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warming climate has a wide range of effects on people and on the environment, and not all of them are equally serious.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Two of the effects you discussed show how different they can be.</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Ice Age chapter gives you a third effect to think about.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Cause and explanation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cause of climate change to its explanation.</a:t>
            </a:r>
            <a:endParaRPr lang="en-US" sz="2400" dirty="0"/>
          </a:p>
        </p:txBody>
      </p:sp>
      <p:sp>
        <p:nvSpPr>
          <p:cNvPr id="11" name="match-card"/>
          <p:cNvSpPr/>
          <p:nvPr/>
        </p:nvSpPr>
        <p:spPr>
          <a:xfrm>
            <a:off x="777240" y="2468331"/>
            <a:ext cx="3081437" cy="804809"/>
          </a:xfrm>
          <a:prstGeom prst="roundRect">
            <a:avLst>
              <a:gd name="adj" fmla="val 9089"/>
            </a:avLst>
          </a:prstGeom>
          <a:solidFill>
            <a:srgbClr val="F5F8F6"/>
          </a:solidFill>
          <a:ln/>
        </p:spPr>
      </p:sp>
      <p:sp>
        <p:nvSpPr>
          <p:cNvPr id="12" name="match-hex"/>
          <p:cNvSpPr/>
          <p:nvPr/>
        </p:nvSpPr>
        <p:spPr>
          <a:xfrm>
            <a:off x="850392" y="2704443"/>
            <a:ext cx="384048" cy="332586"/>
          </a:xfrm>
          <a:prstGeom prst="hexagon">
            <a:avLst/>
          </a:prstGeom>
          <a:solidFill>
            <a:srgbClr val="3F6B4A"/>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Fossil fuels</a:t>
            </a:r>
            <a:endParaRPr lang="en-US" sz="2000" dirty="0"/>
          </a:p>
        </p:txBody>
      </p:sp>
      <p:sp>
        <p:nvSpPr>
          <p:cNvPr id="15" name="match-card"/>
          <p:cNvSpPr/>
          <p:nvPr/>
        </p:nvSpPr>
        <p:spPr>
          <a:xfrm>
            <a:off x="4224437" y="2468331"/>
            <a:ext cx="7190019" cy="804809"/>
          </a:xfrm>
          <a:prstGeom prst="roundRect">
            <a:avLst>
              <a:gd name="adj" fmla="val 9089"/>
            </a:avLst>
          </a:prstGeom>
          <a:solidFill>
            <a:srgbClr val="F9F4EC"/>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Burning coal, oil and gas releases carbon dioxide into the atmosphere</a:t>
            </a:r>
            <a:endParaRPr lang="en-US" sz="2000" dirty="0"/>
          </a:p>
        </p:txBody>
      </p:sp>
      <p:sp>
        <p:nvSpPr>
          <p:cNvPr id="19" name="match-card"/>
          <p:cNvSpPr/>
          <p:nvPr/>
        </p:nvSpPr>
        <p:spPr>
          <a:xfrm>
            <a:off x="777240" y="3364581"/>
            <a:ext cx="3081437" cy="804809"/>
          </a:xfrm>
          <a:prstGeom prst="roundRect">
            <a:avLst>
              <a:gd name="adj" fmla="val 9089"/>
            </a:avLst>
          </a:prstGeom>
          <a:solidFill>
            <a:srgbClr val="F5F8F6"/>
          </a:solidFill>
          <a:ln/>
        </p:spPr>
      </p:sp>
      <p:sp>
        <p:nvSpPr>
          <p:cNvPr id="20" name="match-hex"/>
          <p:cNvSpPr/>
          <p:nvPr/>
        </p:nvSpPr>
        <p:spPr>
          <a:xfrm>
            <a:off x="850392" y="3600692"/>
            <a:ext cx="384048" cy="332586"/>
          </a:xfrm>
          <a:prstGeom prst="hexagon">
            <a:avLst/>
          </a:prstGeom>
          <a:solidFill>
            <a:srgbClr val="3F6B4A"/>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Deforestation</a:t>
            </a:r>
            <a:endParaRPr lang="en-US" sz="2000" dirty="0"/>
          </a:p>
        </p:txBody>
      </p:sp>
      <p:sp>
        <p:nvSpPr>
          <p:cNvPr id="23" name="match-card"/>
          <p:cNvSpPr/>
          <p:nvPr/>
        </p:nvSpPr>
        <p:spPr>
          <a:xfrm>
            <a:off x="4224437" y="3364581"/>
            <a:ext cx="7190019" cy="804809"/>
          </a:xfrm>
          <a:prstGeom prst="roundRect">
            <a:avLst>
              <a:gd name="adj" fmla="val 9089"/>
            </a:avLst>
          </a:prstGeom>
          <a:solidFill>
            <a:srgbClr val="F9F4EC"/>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Cutting down forests removes the trees that take carbon dioxide out of the air</a:t>
            </a:r>
            <a:endParaRPr lang="en-US" sz="2000" dirty="0"/>
          </a:p>
        </p:txBody>
      </p:sp>
      <p:sp>
        <p:nvSpPr>
          <p:cNvPr id="27" name="match-card"/>
          <p:cNvSpPr/>
          <p:nvPr/>
        </p:nvSpPr>
        <p:spPr>
          <a:xfrm>
            <a:off x="777240" y="4260830"/>
            <a:ext cx="3081437" cy="804809"/>
          </a:xfrm>
          <a:prstGeom prst="roundRect">
            <a:avLst>
              <a:gd name="adj" fmla="val 9089"/>
            </a:avLst>
          </a:prstGeom>
          <a:solidFill>
            <a:srgbClr val="F5F8F6"/>
          </a:solidFill>
          <a:ln/>
        </p:spPr>
      </p:sp>
      <p:sp>
        <p:nvSpPr>
          <p:cNvPr id="28" name="match-hex"/>
          <p:cNvSpPr/>
          <p:nvPr/>
        </p:nvSpPr>
        <p:spPr>
          <a:xfrm>
            <a:off x="850392" y="4496941"/>
            <a:ext cx="384048" cy="332586"/>
          </a:xfrm>
          <a:prstGeom prst="hexagon">
            <a:avLst/>
          </a:prstGeom>
          <a:solidFill>
            <a:srgbClr val="3F6B4A"/>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Volcanic eruptions</a:t>
            </a:r>
            <a:endParaRPr lang="en-US" sz="2000" dirty="0"/>
          </a:p>
        </p:txBody>
      </p:sp>
      <p:sp>
        <p:nvSpPr>
          <p:cNvPr id="31" name="match-card"/>
          <p:cNvSpPr/>
          <p:nvPr/>
        </p:nvSpPr>
        <p:spPr>
          <a:xfrm>
            <a:off x="4224437" y="4260830"/>
            <a:ext cx="7190019" cy="804809"/>
          </a:xfrm>
          <a:prstGeom prst="roundRect">
            <a:avLst>
              <a:gd name="adj" fmla="val 9089"/>
            </a:avLst>
          </a:prstGeom>
          <a:solidFill>
            <a:srgbClr val="F9F4EC"/>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Slow changes in the Earth's path around the sun alter how much sunlight reaches it</a:t>
            </a:r>
            <a:endParaRPr lang="en-US" sz="2000" dirty="0"/>
          </a:p>
        </p:txBody>
      </p:sp>
      <p:sp>
        <p:nvSpPr>
          <p:cNvPr id="35" name="match-card"/>
          <p:cNvSpPr/>
          <p:nvPr/>
        </p:nvSpPr>
        <p:spPr>
          <a:xfrm>
            <a:off x="777240" y="5157079"/>
            <a:ext cx="3081437" cy="804809"/>
          </a:xfrm>
          <a:prstGeom prst="roundRect">
            <a:avLst>
              <a:gd name="adj" fmla="val 9089"/>
            </a:avLst>
          </a:prstGeom>
          <a:solidFill>
            <a:srgbClr val="F5F8F6"/>
          </a:solidFill>
          <a:ln/>
        </p:spPr>
      </p:sp>
      <p:sp>
        <p:nvSpPr>
          <p:cNvPr id="36" name="match-hex"/>
          <p:cNvSpPr/>
          <p:nvPr/>
        </p:nvSpPr>
        <p:spPr>
          <a:xfrm>
            <a:off x="850392" y="5393191"/>
            <a:ext cx="384048" cy="332586"/>
          </a:xfrm>
          <a:prstGeom prst="hexagon">
            <a:avLst/>
          </a:prstGeom>
          <a:solidFill>
            <a:srgbClr val="3F6B4A"/>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Orbital changes</a:t>
            </a:r>
            <a:endParaRPr lang="en-US" sz="2000" dirty="0"/>
          </a:p>
        </p:txBody>
      </p:sp>
      <p:sp>
        <p:nvSpPr>
          <p:cNvPr id="39" name="match-card"/>
          <p:cNvSpPr/>
          <p:nvPr/>
        </p:nvSpPr>
        <p:spPr>
          <a:xfrm>
            <a:off x="4224437" y="5157079"/>
            <a:ext cx="7190019" cy="804809"/>
          </a:xfrm>
          <a:prstGeom prst="roundRect">
            <a:avLst>
              <a:gd name="adj" fmla="val 9089"/>
            </a:avLst>
          </a:prstGeom>
          <a:solidFill>
            <a:srgbClr val="F9F4EC"/>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Ash and gases thrown into the atmosphere can block sunlight and change the climate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Cause and explanation</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Cause and explanation</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of these are human and two are natural. Sort them first.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Fossil fuels are burned, so look for the explanation about burning.</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Deforestation is about trees, so look for the one that mentions trees.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the two natural causes in this list, one is about a volcano and one is about the Earth moving around the sun.</a:t>
            </a:r>
            <a:endParaRPr lang="en-US" sz="1800" dirty="0"/>
          </a:p>
        </p:txBody>
      </p:sp>
      <p:sp>
        <p:nvSpPr>
          <p:cNvPr id="17" name="col-Core"/>
          <p:cNvSpPr/>
          <p:nvPr/>
        </p:nvSpPr>
        <p:spPr>
          <a:xfrm>
            <a:off x="5490762" y="2395728"/>
            <a:ext cx="2938987" cy="3749040"/>
          </a:xfrm>
          <a:prstGeom prst="roundRect">
            <a:avLst>
              <a:gd name="adj" fmla="val 1867"/>
            </a:avLst>
          </a:prstGeom>
          <a:solidFill>
            <a:srgbClr val="DBE3DD"/>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Burning, trees, ash, and the Earth's path round the sun. Each explanation has one giveaway word.</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deforestation counts twice: what is lost when the trees go, and what is released if they are burned.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Counting back to the ice</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The last Ice Age was at its height about 20 000 years ago. A century is 100 years. About how many centuries ago was that?</a:t>
            </a:r>
            <a:endParaRPr lang="en-US" sz="2000" dirty="0"/>
          </a:p>
          <a:p>
            <a:pPr algn="ctr" indent="0" marL="0">
              <a:buNone/>
            </a:pPr>
            <a:r>
              <a:rPr lang="en-US" sz="1800" b="1" dirty="0">
                <a:solidFill>
                  <a:srgbClr val="3F6B4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centuries</a:t>
            </a:r>
            <a:endParaRPr lang="en-US" sz="2000" dirty="0"/>
          </a:p>
        </p:txBody>
      </p:sp>
      <p:sp>
        <p:nvSpPr>
          <p:cNvPr id="12" name="col-Support"/>
          <p:cNvSpPr/>
          <p:nvPr/>
        </p:nvSpPr>
        <p:spPr>
          <a:xfrm>
            <a:off x="548640" y="2948940"/>
            <a:ext cx="4667802" cy="3195828"/>
          </a:xfrm>
          <a:prstGeom prst="roundRect">
            <a:avLst>
              <a:gd name="adj" fmla="val 1717"/>
            </a:avLst>
          </a:prstGeom>
          <a:solidFill>
            <a:srgbClr val="F2F5F2"/>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the number of years: 20 000.</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how many years are in a century: 100.</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Divide the years by 100. Dividing by 100 takes two zeros off the end.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by multiplying your answer by 100; you should get 20 000 back.</a:t>
            </a:r>
            <a:endParaRPr lang="en-US" sz="1800" dirty="0"/>
          </a:p>
        </p:txBody>
      </p:sp>
      <p:sp>
        <p:nvSpPr>
          <p:cNvPr id="17" name="col-Core"/>
          <p:cNvSpPr/>
          <p:nvPr/>
        </p:nvSpPr>
        <p:spPr>
          <a:xfrm>
            <a:off x="5490762" y="2948940"/>
            <a:ext cx="2938987" cy="3195828"/>
          </a:xfrm>
          <a:prstGeom prst="roundRect">
            <a:avLst>
              <a:gd name="adj" fmla="val 1867"/>
            </a:avLst>
          </a:prstGeom>
          <a:solidFill>
            <a:srgbClr val="DBE3DD"/>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 century is 100 years. How many hundreds are there in 20 000?</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3F6B4A"/>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Suppose written history goes back about 50 centuries. Explain how many times longer ago the Ice Age was than the start of written history.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About what percentage of the Earth's land surface is covered by ice today?</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 (per cent):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Cause and explanation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Fossil fuels  →  A  Burning coal, oil and gas releases carbon dioxide into the atmosphere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Deforestation  →  B  Cutting down forests removes the trees that take carbon dioxide out of the air</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Volcanic eruptions  →  D  Ash and gases thrown into the atmosphere can block sunlight and change the climate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Orbital changes  →  C  Slow changes in the Earth's path around the sun alter how much sunlight reaches it</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Fossil fuels release carbon dioxide when burned; deforestation removes the trees that absorb it; volcanic eruptions throw ash and gas into the air; orbital changes alter how much sunlight the Earth receives.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Counting back to the ice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last Ice Age was at its height about 20 000 years ago. A century is 100 years. About how many centuries ago was that?</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200 centuries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There are 100 years in a century, so 20 000 years is 20 000 ÷ 100 = 200 centuries. Multiplying back, 200 × 100 = 20 000, confirms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About what percentage of the Earth's land surface is covered by ice today?</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10 per cent</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Ice covers about 10 per cent of the Earth's land surface today, as glaciers, ice caps and ice sheets.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 and Climate · Chapter 6: From the Ice Age to climate change</dc:title>
  <dc:subject>Geography · Year 7</dc:subject>
  <dc:creator>Dr Vitor Merissi de Carvalho</dc:creator>
  <cp:lastModifiedBy>Dr Vitor Merissi de Carvalho</cp:lastModifiedBy>
  <cp:revision>1</cp:revision>
  <dcterms:created xsi:type="dcterms:W3CDTF">2026-10-19T16:23:01Z</dcterms:created>
  <dcterms:modified xsi:type="dcterms:W3CDTF">2026-10-19T16:23:01Z</dcterms:modified>
</cp:coreProperties>
</file>