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5be24d9-a607-7097-4ade-18c43f8657a8}">
          <p14:sldIdLst>
            <p14:sldId id="256"/>
          </p14:sldIdLst>
        </p14:section>
        <p14:section name="Gate" id="{73add2d8-0ef3-67c7-81e2-b0570b69a58b}">
          <p14:sldIdLst>
            <p14:sldId id="257"/>
            <p14:sldId id="258"/>
          </p14:sldIdLst>
        </p14:section>
        <p14:section name="Pre-teach" id="{d1c8aa7b-4d20-bf38-cc2f-c2ac5bee3d5b}">
          <p14:sldIdLst>
            <p14:sldId id="259"/>
          </p14:sldIdLst>
        </p14:section>
        <p14:section name="Read-along" id="{7addb464-89a0-d8b1-ab02-d0b2cf888eeb}">
          <p14:sldIdLst>
            <p14:sldId id="260"/>
            <p14:sldId id="261"/>
          </p14:sldIdLst>
        </p14:section>
        <p14:section name="Teach" id="{66e595ee-5fab-19bf-8656-89f5499d1cdf}">
          <p14:sldIdLst>
            <p14:sldId id="262"/>
            <p14:sldId id="263"/>
            <p14:sldId id="264"/>
            <p14:sldId id="265"/>
            <p14:sldId id="266"/>
          </p14:sldIdLst>
        </p14:section>
        <p14:section name="Routes" id="{00b4ad65-69ae-f44b-0a26-df9d9ed68484}">
          <p14:sldIdLst>
            <p14:sldId id="267"/>
            <p14:sldId id="268"/>
            <p14:sldId id="269"/>
            <p14:sldId id="270"/>
          </p14:sldIdLst>
        </p14:section>
        <p14:section name="Close" id="{4b3eb9da-59a8-5060-edbb-b501540d0abc}">
          <p14:sldIdLst>
            <p14:sldId id="271"/>
          </p14:sldIdLst>
        </p14:section>
        <p14:section name="Answers" id="{fb83ea87-586c-6b6c-47d5-eb13cd7ad378}">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Weather, climate and the forecast. The difference between the weather you can see today and the climate a place has over many years, how to read the symbols on a weather map, and how to write a forecast of your own.
This deck covers the department's lessons: 1 (Introduction to Weather and Climate: What do you already know about weather and climate, and what do the weather symbols mean?); 3 (The UK weather roundabout: Why is the UK like a weather roundabout, and can you write a forecast for it?); 8 (Climate and climate factors: What is the difference between weather and climate, and what affects the climate of a place?).
Read the big question aloud: "What makes our weather, and why is the climate changing?"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statements is about weather, not climate?  →  C   It is raining in Manchester this afternoon
2. On a weather map the number beside a wind arrow gives the wind speed, and the wind is named after the direction it is blowing ___.  →  from
3. On the symbol slide, one arrow showed a wind of 12 mph from the north east and another a wind of 6 mph from the west. How much faster, in mph, was the north-easterly wind?  →  6 mph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It is raining in Manchester this afternoon. Weather is what the air is like at one place and one time. This afternoon is a time, so this is weather. The other three describe what a place is usually like over years: climate.
2. from. Winds are named after where they come from. A north-easterly wind blows out of the north east.
3. 6 mph. How much faster means find the difference: 12 − 6 = 6 mph.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weather: what the air is like outside at one place and one time. Example: "Today the weather in London is cloudy with light rain."
• climate: the usual weather of a place, measured over many years. Example: "The climate of the UK is mild and wet."
• forecast: a prediction of what the weather will be like soon. Example: "The forecast says it will snow on Friday."
• temperature: how hot or cold the air is, measured in degrees Celsius. Example: "The temperature fell to 1 degree Celsius overnight."
• symbol: a small picture that stands for a type of weather on a map. Example: "A sun symbol means it will be sunny."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Weather is what the air is like right now, at one place.
2. It can be sunny, cloudy, rainy, windy, snowy or stormy.
3. The weather can change from hour to hour.
4. Climate is different.
5. Climate is the usual weather of a place over many years.
6. The UK has a mild, wet climate, even when one day is hot and dry.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Weather maps use symbols to show the weather.
8. A sun means sunny, and a cloud with drops means rain.
9. A number tells you the temperature in degrees Celsius.
10. An arrow shows the wind, with its speed in miles per hour.
11. The arrow points the way the wind is blowing.
12. A forecast uses these symbols to predict the weather for the days ahead.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Weather or climate?. Say it in your own words, then check understanding with a quick question: ask a pupil from the pre-teach group first, since they met these words and ideas before the lesson. Pupils try to recall before you re-explain.
Weather is the state of the air around you at a particular place and a particular time. It includes the temperature, whether it is raining or snowing, how cloudy it is, how sunny it is and how hard the wind is blowing. Weather changes quickly: a morning can start frosty and end in warm sunshine, and tomorrow may be nothing like today. When you look out of the window, you are looking at the weather.
Climate is the pattern of weather a place usually has, worked out from measurements taken over many years. It tells you what to expect in a typical January or a typical July, not what will happen this afternoon. The UK, for example, has a mild, wet climate: winters are rarely very cold and summers rarely very hot, and rain can fall in any month. A single hot day does not change the climate, just as a single goal does not change a team's record for the season.
Geographers also study what controls the climate of a place: why the Equator is hot, why mountains are cold, why coasts are milder than inland areas. In class you read about five factors that affect the climate and listed them in your book. The lesson slides do not list the five, so use your own class notes when you revise them.
Worked example — model it step by step, thinking aloud: Explain the difference between weather and climate, giving one example of each. (2 marks) (1) Start with weather: say that it is the condition of the air at one place and one time, and that it changes from day to day. (2) Give a weather example that is tied to a time: it is raining in Birmingham this afternoon. (3) Now climate: say that it is the average weather of a place over many years. (4) Give a climate example that covers a long time: the UK has mild, wet winters. Answer: Weather is what the air is like at one place and one time, such as rain in Birmingham this afternoon. Climate is the usual weather of a place over many years, such as the mild, wet winters of the UK..
Tip: A quick test: if the sentence has a day or a time in it, it is about weather. If it says usually or on average, it is about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Weather or climate?. Say it in your own words, then check understanding with a quick question: ask a pupil from the pre-teach group first, since they met these words and ideas before the lesson. Pupils try to recall before you re-explain.
Weather is the state of the air around you at a particular place and a particular time. It includes the temperature, whether it is raining or snowing, how cloudy it is, how sunny it is and how hard the wind is blowing. Weather changes quickly: a morning can start frosty and end in warm sunshine, and tomorrow may be nothing like today. When you look out of the window, you are looking at the weather.
Climate is the pattern of weather a place usually has, worked out from measurements taken over many years. It tells you what to expect in a typical January or a typical July, not what will happen this afternoon. The UK, for example, has a mild, wet climate: winters are rarely very cold and summers rarely very hot, and rain can fall in any month. A single hot day does not change the climate, just as a single goal does not change a team's record for the season.
Geographers also study what controls the climate of a place: why the Equator is hot, why mountains are cold, why coasts are milder than inland areas. In class you read about five factors that affect the climate and listed them in your book. The lesson slides do not list the five, so use your own class notes when you revise them.
Worked example — model it step by step, thinking aloud: Explain the difference between weather and climate, giving one example of each. (2 marks) (1) Start with weather: say that it is the condition of the air at one place and one time, and that it changes from day to day. (2) Give a weather example that is tied to a time: it is raining in Birmingham this afternoon. (3) Now climate: say that it is the average weather of a place over many years. (4) Give a climate example that covers a long time: the UK has mild, wet winters. Answer: Weather is what the air is like at one place and one time, such as rain in Birmingham this afternoon. Climate is the usual weather of a place over many years, such as the mild, wet winters of the UK..
Tip: A quick test: if the sentence has a day or a time in it, it is about weather. If it says usually or on average, it is about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weather symbols. Say it in your own words, then check understanding with a quick question: ask a pupil from the pre-teach group first, since they met these words and ideas before the lesson. Pupils try to recall before you re-explain.
A weather map is crowded, so forecasters use symbols instead of words. The ones you matched in class were sunny, sunny intervals, light cloud, low level cloud, light rain, light snow and thunderstorms. A full sun means sunny; a sun peeping from behind a cloud means sunny intervals; a white cloud means light cloud and a grey one means low level cloud; a cloud with drops means light rain; a cloud with flakes means light snow; a dark cloud with a lightning flash means thunderstorms.
Numbers on the map tell you how hot or cold it is. The symbol slide showed a temperature of 1 degree Celsius, which is just above freezing. Wind is shown with an arrow and a number. The number is the wind speed in miles per hour (mph), and the arrow points in the direction the wind is blowing towards, so the wind comes from the opposite end. On the slide, one arrow showed a 12 mph wind from the north east and another a 6 mph wind from the west.
Direction matters as much as speed. A wind from the north east has travelled across cold northern Europe, so it feels bitter; a wind from the west has crossed the Atlantic, so it is milder and damper. Later in this unit you will see that the direction the air comes from is the key to the UK's weather.
Worked example — model it step by step, thinking aloud: The map shows a 12 mph wind from the north east over Scotland and a 6 mph wind from the west over Wales. How much stronger is the wind over Scotland? (1) Write down both speeds with their units: 12 mph and 6 mph. (2) The question asks how much stronger, so subtract the smaller from the larger: 12 − 6 = 6. (3) Keep the unit: the Scottish wind is 6 mph stronger. (4) Check it makes sense: 6 mph is half of 12 mph, so the Welsh wind is half as strong. Answer: 6 mph stronger.
Tip: Winds are named after where they come FROM. A north-easterly wind blows out of the north east, towards the south 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weather symbols. Say it in your own words, then check understanding with a quick question: ask a pupil from the pre-teach group first, since they met these words and ideas before the lesson. Pupils try to recall before you re-explain.
A weather map is crowded, so forecasters use symbols instead of words. The ones you matched in class were sunny, sunny intervals, light cloud, low level cloud, light rain, light snow and thunderstorms. A full sun means sunny; a sun peeping from behind a cloud means sunny intervals; a white cloud means light cloud and a grey one means low level cloud; a cloud with drops means light rain; a cloud with flakes means light snow; a dark cloud with a lightning flash means thunderstorms.
Numbers on the map tell you how hot or cold it is. The symbol slide showed a temperature of 1 degree Celsius, which is just above freezing. Wind is shown with an arrow and a number. The number is the wind speed in miles per hour (mph), and the arrow points in the direction the wind is blowing towards, so the wind comes from the opposite end. On the slide, one arrow showed a 12 mph wind from the north east and another a 6 mph wind from the west.
Direction matters as much as speed. A wind from the north east has travelled across cold northern Europe, so it feels bitter; a wind from the west has crossed the Atlantic, so it is milder and damper. Later in this unit you will see that the direction the air comes from is the key to the UK's weather.
Worked example — model it step by step, thinking aloud: The map shows a 12 mph wind from the north east over Scotland and a 6 mph wind from the west over Wales. How much stronger is the wind over Scotland? (1) Write down both speeds with their units: 12 mph and 6 mph. (2) The question asks how much stronger, so subtract the smaller from the larger: 12 − 6 = 6. (3) Keep the unit: the Scottish wind is 6 mph stronger. (4) Check it makes sense: 6 mph is half of 12 mph, so the Welsh wind is half as strong. Answer: 6 mph stronger.
Tip: Winds are named after where they come FROM. A north-easterly wind blows out of the north east, towards the south 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your own forecast. Say it in your own words, then check understanding with a quick question: ask a pupil from the pre-teach group first, since they met these words and ideas before the lesson. Pupils try to recall before you re-explain.
In class you created a weather forecast map and script for the UK. A good forecast splits the country into regions using compass directions: the north east, the south west, the Midlands, Northern Ireland and so on. For each region it gives the temperature and the general conditions, using the symbols you have learned. An even better forecast adds the wind speed and direction and names specific places from the atlas.
A forecast script should sound like a story that moves across the map. Start in one corner, say what the weather is doing there, then travel: cloud in the north east will clear by the afternoon; the south west stays mild with a light 6 mph westerly wind. Forecasters also link the weather to its cause, which is what the rest of this unit teaches you to do.
Tip: In a forecast, give a region, a temperature, a condition and a wind. Four things for every part of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symbol is which?.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weather symbol to the weather it stands for.
Support — work through the steps with the group: (1) Look at what is falling from the cloud, if anything. Drops mean rain; flakes mean snow. (2) A lightning flash always means a thunderstorm. (3) If there is a sun in the picture, the word sunny must be in the answer. (4) Sunny intervals means sunny spells broken by cloud, so the sun is partly hidden.
Parallel worked example for Support (model it, do not give the task answer): Match: a full yellow sun; a plain white cloud. Choices: light cloud; sunny. A full sun with nothing in front of it means sunny.; A plain white cloud with nothing falling from it means light cloud.. Answer: Full yellow sun: sunny. Plain white cloud: light cloud..
Core — reveal the hint only on request: Two symbols show something falling from a cloud; one shows something flashing; one shows a sun.
Stretch — no help; when finished: Explain why a forecaster would use a different symbol for light cloud and low level cloud, and what difference the two make to a day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symbol is which?.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weather symbol to the weather it stands for.
Support — work through the steps with the group: (1) Look at what is falling from the cloud, if anything. Drops mean rain; flakes mean snow. (2) A lightning flash always means a thunderstorm. (3) If there is a sun in the picture, the word sunny must be in the answer. (4) Sunny intervals means sunny spells broken by cloud, so the sun is partly hidden.
Parallel worked example for Support (model it, do not give the task answer): Match: a full yellow sun; a plain white cloud. Choices: light cloud; sunny. A full sun with nothing in front of it means sunny.; A plain white cloud with nothing falling from it means light cloud.. Answer: Full yellow sun: sunny. Plain white cloud: light cloud..
Core — reveal the hint only on request: Two symbols show something falling from a cloud; one shows something flashing; one shows a sun.
Stretch — no help; when finished: Explain why a forecaster would use a different symbol for light cloud and low level cloud, and what difference the two make to a day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Weather and climate in your own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the difference between weather and climate. Give one example of each. (4 marks)
Support — work through the steps with the group: (1) Sentence 1: Weather is ... at one place and one time. Add that it changes quickly. (2) Sentence 2: give a weather example with a time in it, such as this morning or last Tuesday. (3) Sentence 3: Climate is ... over many years. (4) Sentence 4: give a climate example that uses the word usually or on average.
Parallel worked example for Support (model it, do not give the task answer): In two sentences, explain the difference between a single football result and a team's record over a season. A single result is one match on one day.; A record is the pattern across all the matches in the season.. Answer: A single result is what happened in one match on one day, like a 2–1 win last Saturday. A record is the pattern over the whole season, like a team that usually wins at home..
Core — reveal the hint only on request: Weather needs the words one time; climate needs the words many years. Then one example for each.
Stretch — no help; when finished: Add a sentence explaining why one very hot day in the UK does not prove that the climate has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Weather and climate in your own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the difference between weather and climate. Give one example of each. (4 marks)
Support — work through the steps with the group: (1) Sentence 1: Weather is ... at one place and one time. Add that it changes quickly. (2) Sentence 2: give a weather example with a time in it, such as this morning or last Tuesday. (3) Sentence 3: Climate is ... over many years. (4) Sentence 4: give a climate example that uses the word usually or on average.
Parallel worked example for Support (model it, do not give the task answer): In two sentences, explain the difference between a single football result and a team's record over a season. A single result is one match on one day.; A record is the pattern across all the matches in the season.. Answer: A single result is what happened in one match on one day, like a 2–1 win last Saturday. A record is the pattern over the whole season, like a team that usually wins at home..
Core — reveal the hint only on request: Weather needs the words one time; climate needs the words many years. Then one example for each.
Stretch — no help; when finished: Add a sentence explaining why one very hot day in the UK does not prove that the climate has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forecaster says there is a 12 mph wind from the north east over Scotland. Which way is the air moving?
Answer: D   Out of the north east, towards the south west. A wind is named after the direction it comes from. A north-easterly wind begins in the north east and blows towards the south west, which is why it brings cold air from northern Europe to the UK.
Source of this question: module 3 task ("Where is the wind coming from?")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Which symbol is which?. Reveal the answer; pupils mark their own work in a different colour, then read the "why" together. Same destination for every lane, so one answer serves the whole class.
Answer: A cloud with a few drops falling from it  →  D  Light rain; A dark cloud with a lightning flash  →  C  Thunderstorms; A cloud with snowflakes beneath it  →  B  Light snow; A sun partly hidden behind a cloud  →  A  Sunny intervals
Why: Drops falling mean light rain, flakes falling mean light snow, a lightning flash means thunderstorms, and a sun half behind a cloud means sunny intervals.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Weather and climate in your own words. Reveal the answer; pupils mark their own work in a different colour, then read the "why" together. Same destination for every lane, so one answer serves the whole class.
Answer: Says that weather is the condition of the air at one place and one time, and changes quickly; Says that climate is the usual or average weather of a place over many years; Gives a weather example tied to a particular day or time; Gives a climate example that describes a place over a long period
Why: Full marks need both definitions and both examples: weather is the air at one place and time and changes fast; climate is the average over many years. The examples must match: a dated day for weather, a long-term pattern for climate.
Model answer: Weather is what the air is like at one place at one time, and it can change from hour to hour; for example, it was foggy in Leeds this morning. Climate is the usual weather a place has, worked out over many years; for example, the UK has a mild, wet climate with rain in every month. So the weather is what happens on a single day, and the climate is the pattern those days make over a long time.
Success criteria: Says that weather is the condition of the air at one place and one time, and changes quickly; Says that climate is the usual or average weather of a place over many years; Gives a weather example tied to a particular day or time; Gives a climate example that describes a place over a long period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Out of the north east, towards the south west
Why: A wind is named after the direction it comes from. A north-easterly wind begins in the north east and blows towards the south west, which is why it brings cold air from northern Europe to the UK.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Weather and Climate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Weather and Climate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Weather and Climate · AQA KS3 → 8035</a:t>
            </a:r>
            <a:endParaRPr lang="en-US" sz="1800" dirty="0"/>
          </a:p>
        </p:txBody>
      </p:sp>
      <p:sp>
        <p:nvSpPr>
          <p:cNvPr id="10" name="deck-title"/>
          <p:cNvSpPr txBox="1"/>
          <p:nvPr/>
        </p:nvSpPr>
        <p:spPr>
          <a:xfrm>
            <a:off x="548640" y="204520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Weather, climate and the forecast</a:t>
            </a:r>
            <a:endParaRPr lang="en-US" sz="4000" dirty="0"/>
          </a:p>
        </p:txBody>
      </p:sp>
      <p:sp>
        <p:nvSpPr>
          <p:cNvPr id="11" name="lessons-card"/>
          <p:cNvSpPr/>
          <p:nvPr/>
        </p:nvSpPr>
        <p:spPr>
          <a:xfrm>
            <a:off x="548640" y="3721608"/>
            <a:ext cx="5287975" cy="1676400"/>
          </a:xfrm>
          <a:prstGeom prst="roundRect">
            <a:avLst>
              <a:gd name="adj" fmla="val 4364"/>
            </a:avLst>
          </a:prstGeom>
          <a:solidFill>
            <a:srgbClr val="F2F5F2"/>
          </a:solidFill>
          <a:ln/>
        </p:spPr>
      </p:sp>
      <p:sp>
        <p:nvSpPr>
          <p:cNvPr id="12" name="lessons"/>
          <p:cNvSpPr txBox="1"/>
          <p:nvPr/>
        </p:nvSpPr>
        <p:spPr>
          <a:xfrm>
            <a:off x="685800" y="3813048"/>
            <a:ext cx="5013655" cy="14935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Introduction to Weather and Climate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UK weather roundabout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Climate and climate factors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makes our weather, and why is the climate changing?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statements is about weather, not climate?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Arctic is cold for most of the year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UK has mild, wet winters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 is raining in Manchester this afternoon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Deserts are dry all year round</a:t>
            </a:r>
            <a:endParaRPr lang="en-US" sz="18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On a weather map the number beside a wind arrow gives the wind speed, and the wind is named after the direction it is blowing ___.</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from  ·  around  ·  at random</a:t>
            </a:r>
            <a:endParaRPr lang="en-US" sz="22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On the symbol slide, one arrow showed a wind of 12 mph from the north east and another a wind of 6 mph from the west. How much faster, in mph, was the north-easterly wind?</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mph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FE4D0"/>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It is raining in Manchester this afternoon</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Weather is what the air is like at one place and one time. This afternoon is a time, so this is weather. The other three describe what a place is usually like over years: climate.</a:t>
            </a:r>
            <a:endParaRPr lang="en-US" sz="18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from</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On a weather map the number beside a wind arrow gives the wind speed, and the wind is named after the direction it is blowing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Winds are named after where they come from. A north-easterly wind blows out of the north east.</a:t>
            </a:r>
            <a:endParaRPr lang="en-US" sz="18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6 mph</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On the symbol slide, one arrow showed a wind of 12 mph from the north east and another a wind of 6 mph from the west. How much faster, in mph, was the north-easterly wind?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How much faster means find the difference: 12 − 6 = 6 mph.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3F6B4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5F8F6"/>
          </a:solidFill>
          <a:ln/>
        </p:spPr>
      </p:sp>
      <p:sp>
        <p:nvSpPr>
          <p:cNvPr id="12" name="kw-hex"/>
          <p:cNvSpPr/>
          <p:nvPr/>
        </p:nvSpPr>
        <p:spPr>
          <a:xfrm>
            <a:off x="658368" y="2135261"/>
            <a:ext cx="411480" cy="356342"/>
          </a:xfrm>
          <a:prstGeom prst="hexagon">
            <a:avLst/>
          </a:prstGeom>
          <a:solidFill>
            <a:srgbClr val="3F6B4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weather</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what the air is like outside at one place and one time</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Today the weather in London is cloudy with light rain.</a:t>
            </a:r>
            <a:endParaRPr lang="en-US" sz="1800" dirty="0"/>
          </a:p>
        </p:txBody>
      </p:sp>
      <p:sp>
        <p:nvSpPr>
          <p:cNvPr id="16" name="kw-row"/>
          <p:cNvSpPr/>
          <p:nvPr/>
        </p:nvSpPr>
        <p:spPr>
          <a:xfrm>
            <a:off x="548640" y="2779776"/>
            <a:ext cx="11094415" cy="786384"/>
          </a:xfrm>
          <a:prstGeom prst="roundRect">
            <a:avLst>
              <a:gd name="adj" fmla="val 6977"/>
            </a:avLst>
          </a:prstGeom>
          <a:solidFill>
            <a:srgbClr val="F9F4EC"/>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climate</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usual weather of a place, measured over many years</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climate of the UK is mild and wet.</a:t>
            </a:r>
            <a:endParaRPr lang="en-US" sz="1800" dirty="0"/>
          </a:p>
        </p:txBody>
      </p:sp>
      <p:sp>
        <p:nvSpPr>
          <p:cNvPr id="21" name="kw-row"/>
          <p:cNvSpPr/>
          <p:nvPr/>
        </p:nvSpPr>
        <p:spPr>
          <a:xfrm>
            <a:off x="548640" y="3639312"/>
            <a:ext cx="11094415" cy="786384"/>
          </a:xfrm>
          <a:prstGeom prst="roundRect">
            <a:avLst>
              <a:gd name="adj" fmla="val 6977"/>
            </a:avLst>
          </a:prstGeom>
          <a:solidFill>
            <a:srgbClr val="F5F8F6"/>
          </a:solidFill>
          <a:ln/>
        </p:spPr>
      </p:sp>
      <p:sp>
        <p:nvSpPr>
          <p:cNvPr id="22" name="kw-hex"/>
          <p:cNvSpPr/>
          <p:nvPr/>
        </p:nvSpPr>
        <p:spPr>
          <a:xfrm>
            <a:off x="658368" y="3854333"/>
            <a:ext cx="411480" cy="356342"/>
          </a:xfrm>
          <a:prstGeom prst="hexagon">
            <a:avLst/>
          </a:prstGeom>
          <a:solidFill>
            <a:srgbClr val="3F6B4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forecast</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prediction of what the weather will be like soon</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forecast says it will snow on Friday.</a:t>
            </a:r>
            <a:endParaRPr lang="en-US" sz="1800" dirty="0"/>
          </a:p>
        </p:txBody>
      </p:sp>
      <p:sp>
        <p:nvSpPr>
          <p:cNvPr id="26" name="kw-row"/>
          <p:cNvSpPr/>
          <p:nvPr/>
        </p:nvSpPr>
        <p:spPr>
          <a:xfrm>
            <a:off x="548640" y="4498848"/>
            <a:ext cx="11094415" cy="786384"/>
          </a:xfrm>
          <a:prstGeom prst="roundRect">
            <a:avLst>
              <a:gd name="adj" fmla="val 6977"/>
            </a:avLst>
          </a:prstGeom>
          <a:solidFill>
            <a:srgbClr val="F9F4EC"/>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temperature</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hot or cold the air is, measured in degrees Celsius</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temperature fell to 1 degree Celsius overnight.</a:t>
            </a:r>
            <a:endParaRPr lang="en-US" sz="1800" dirty="0"/>
          </a:p>
        </p:txBody>
      </p:sp>
      <p:sp>
        <p:nvSpPr>
          <p:cNvPr id="31" name="kw-row"/>
          <p:cNvSpPr/>
          <p:nvPr/>
        </p:nvSpPr>
        <p:spPr>
          <a:xfrm>
            <a:off x="548640" y="5358384"/>
            <a:ext cx="11094415" cy="786384"/>
          </a:xfrm>
          <a:prstGeom prst="roundRect">
            <a:avLst>
              <a:gd name="adj" fmla="val 6977"/>
            </a:avLst>
          </a:prstGeom>
          <a:solidFill>
            <a:srgbClr val="F5F8F6"/>
          </a:solidFill>
          <a:ln/>
        </p:spPr>
      </p:sp>
      <p:sp>
        <p:nvSpPr>
          <p:cNvPr id="32" name="kw-hex"/>
          <p:cNvSpPr/>
          <p:nvPr/>
        </p:nvSpPr>
        <p:spPr>
          <a:xfrm>
            <a:off x="658368" y="5573405"/>
            <a:ext cx="411480" cy="356342"/>
          </a:xfrm>
          <a:prstGeom prst="hexagon">
            <a:avLst/>
          </a:prstGeom>
          <a:solidFill>
            <a:srgbClr val="3F6B4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symbol</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small picture that stands for a type of weather on a map</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sun symbol means it will be sunny.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Weather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what the air is like right now, at one place.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can be sunny, cloudy, rainy, windy, snowy or stormy.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weather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can change from hour to hour.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Climate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different.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Climate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the usual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weather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of a place over many years.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UK has a mild, wet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climate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even when one day is hot and dry.</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Weather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maps use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symbols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to show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weather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sun means sunny, and a cloud with drops means rain.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number tells you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temperature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in degrees Celsius.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 arrow shows the wind, with its speed in miles per hour.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arrow points the way the wind is blowing.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forecast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uses these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symbols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to predict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weather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for the days ahead.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Weather or climate?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quick test: if the sentence has a day or a time in it, it is about weather. If it says usually or on average, it is about climate.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Weather is the state of the air around you at a particular place and a particular time.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Climate is the pattern of weather a place usually has, worked out from measurements taken over many years.</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Geographers also study what controls the climate of a place: why the Equator is hot, why mountains are cold, why coasts are milder than inland areas.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Weather or climate?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2F5F2"/>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the difference between weather and climate, giving one example of each. (2 marks)</a:t>
            </a:r>
            <a:endParaRPr lang="en-US" sz="2000" dirty="0"/>
          </a:p>
        </p:txBody>
      </p:sp>
      <p:sp>
        <p:nvSpPr>
          <p:cNvPr id="9" name="step-box"/>
          <p:cNvSpPr/>
          <p:nvPr/>
        </p:nvSpPr>
        <p:spPr>
          <a:xfrm>
            <a:off x="548640" y="2192528"/>
            <a:ext cx="11094415" cy="783438"/>
          </a:xfrm>
          <a:prstGeom prst="roundRect">
            <a:avLst>
              <a:gd name="adj" fmla="val 9337"/>
            </a:avLst>
          </a:prstGeom>
          <a:solidFill>
            <a:srgbClr val="FFFFFF"/>
          </a:solidFill>
          <a:ln w="15875">
            <a:solidFill>
              <a:srgbClr val="95AE9B"/>
            </a:solidFill>
            <a:prstDash val="solid"/>
          </a:ln>
        </p:spPr>
      </p:sp>
      <p:sp>
        <p:nvSpPr>
          <p:cNvPr id="10" name="step-hex"/>
          <p:cNvSpPr/>
          <p:nvPr/>
        </p:nvSpPr>
        <p:spPr>
          <a:xfrm>
            <a:off x="685800" y="2386279"/>
            <a:ext cx="457200" cy="395935"/>
          </a:xfrm>
          <a:prstGeom prst="hexagon">
            <a:avLst/>
          </a:prstGeom>
          <a:solidFill>
            <a:srgbClr val="3F6B4A"/>
          </a:solidFill>
          <a:ln/>
        </p:spPr>
      </p:sp>
      <p:sp>
        <p:nvSpPr>
          <p:cNvPr id="11" name="step-hex-label"/>
          <p:cNvSpPr txBox="1"/>
          <p:nvPr/>
        </p:nvSpPr>
        <p:spPr>
          <a:xfrm>
            <a:off x="685800" y="238627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78343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Start with weather: say that it is the condition of the air at one place and one time, and that it changes from day to day.</a:t>
            </a:r>
            <a:endParaRPr lang="en-US" sz="1800" dirty="0"/>
          </a:p>
        </p:txBody>
      </p:sp>
      <p:sp>
        <p:nvSpPr>
          <p:cNvPr id="13" name="step-box"/>
          <p:cNvSpPr/>
          <p:nvPr/>
        </p:nvSpPr>
        <p:spPr>
          <a:xfrm>
            <a:off x="548640" y="3049118"/>
            <a:ext cx="11094415" cy="519278"/>
          </a:xfrm>
          <a:prstGeom prst="roundRect">
            <a:avLst>
              <a:gd name="adj" fmla="val 14087"/>
            </a:avLst>
          </a:prstGeom>
          <a:solidFill>
            <a:srgbClr val="FFFFFF"/>
          </a:solidFill>
          <a:ln w="15875">
            <a:solidFill>
              <a:srgbClr val="95AE9B"/>
            </a:solidFill>
            <a:prstDash val="solid"/>
          </a:ln>
        </p:spPr>
      </p:sp>
      <p:sp>
        <p:nvSpPr>
          <p:cNvPr id="14" name="step-hex"/>
          <p:cNvSpPr/>
          <p:nvPr/>
        </p:nvSpPr>
        <p:spPr>
          <a:xfrm>
            <a:off x="685800" y="3110789"/>
            <a:ext cx="457200" cy="395935"/>
          </a:xfrm>
          <a:prstGeom prst="hexagon">
            <a:avLst/>
          </a:prstGeom>
          <a:solidFill>
            <a:srgbClr val="3F6B4A"/>
          </a:solidFill>
          <a:ln/>
        </p:spPr>
      </p:sp>
      <p:sp>
        <p:nvSpPr>
          <p:cNvPr id="15" name="step-hex-label"/>
          <p:cNvSpPr txBox="1"/>
          <p:nvPr/>
        </p:nvSpPr>
        <p:spPr>
          <a:xfrm>
            <a:off x="685800" y="311078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49118"/>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Give a weather example that is tied to a time: it is raining in Birmingham this afternoon.</a:t>
            </a:r>
            <a:endParaRPr lang="en-US" sz="1800" dirty="0"/>
          </a:p>
        </p:txBody>
      </p:sp>
      <p:sp>
        <p:nvSpPr>
          <p:cNvPr id="17" name="step-box"/>
          <p:cNvSpPr/>
          <p:nvPr/>
        </p:nvSpPr>
        <p:spPr>
          <a:xfrm>
            <a:off x="548640" y="3641547"/>
            <a:ext cx="11094415" cy="519278"/>
          </a:xfrm>
          <a:prstGeom prst="roundRect">
            <a:avLst>
              <a:gd name="adj" fmla="val 14087"/>
            </a:avLst>
          </a:prstGeom>
          <a:solidFill>
            <a:srgbClr val="FFFFFF"/>
          </a:solidFill>
          <a:ln w="15875">
            <a:solidFill>
              <a:srgbClr val="95AE9B"/>
            </a:solidFill>
            <a:prstDash val="solid"/>
          </a:ln>
        </p:spPr>
      </p:sp>
      <p:sp>
        <p:nvSpPr>
          <p:cNvPr id="18" name="step-hex"/>
          <p:cNvSpPr/>
          <p:nvPr/>
        </p:nvSpPr>
        <p:spPr>
          <a:xfrm>
            <a:off x="685800" y="3703218"/>
            <a:ext cx="457200" cy="395935"/>
          </a:xfrm>
          <a:prstGeom prst="hexagon">
            <a:avLst/>
          </a:prstGeom>
          <a:solidFill>
            <a:srgbClr val="3F6B4A"/>
          </a:solidFill>
          <a:ln/>
        </p:spPr>
      </p:sp>
      <p:sp>
        <p:nvSpPr>
          <p:cNvPr id="19" name="step-hex-label"/>
          <p:cNvSpPr txBox="1"/>
          <p:nvPr/>
        </p:nvSpPr>
        <p:spPr>
          <a:xfrm>
            <a:off x="685800" y="370321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641547"/>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Now climate: say that it is the average weather of a place over many years.</a:t>
            </a:r>
            <a:endParaRPr lang="en-US" sz="1800" dirty="0"/>
          </a:p>
        </p:txBody>
      </p:sp>
      <p:sp>
        <p:nvSpPr>
          <p:cNvPr id="21" name="step-box"/>
          <p:cNvSpPr/>
          <p:nvPr/>
        </p:nvSpPr>
        <p:spPr>
          <a:xfrm>
            <a:off x="548640" y="4233977"/>
            <a:ext cx="11094415" cy="519278"/>
          </a:xfrm>
          <a:prstGeom prst="roundRect">
            <a:avLst>
              <a:gd name="adj" fmla="val 14087"/>
            </a:avLst>
          </a:prstGeom>
          <a:solidFill>
            <a:srgbClr val="FFFFFF"/>
          </a:solidFill>
          <a:ln w="15875">
            <a:solidFill>
              <a:srgbClr val="95AE9B"/>
            </a:solidFill>
            <a:prstDash val="solid"/>
          </a:ln>
        </p:spPr>
      </p:sp>
      <p:sp>
        <p:nvSpPr>
          <p:cNvPr id="22" name="step-hex"/>
          <p:cNvSpPr/>
          <p:nvPr/>
        </p:nvSpPr>
        <p:spPr>
          <a:xfrm>
            <a:off x="685800" y="4295648"/>
            <a:ext cx="457200" cy="395935"/>
          </a:xfrm>
          <a:prstGeom prst="hexagon">
            <a:avLst/>
          </a:prstGeom>
          <a:solidFill>
            <a:srgbClr val="3F6B4A"/>
          </a:solidFill>
          <a:ln/>
        </p:spPr>
      </p:sp>
      <p:sp>
        <p:nvSpPr>
          <p:cNvPr id="23" name="step-hex-label"/>
          <p:cNvSpPr txBox="1"/>
          <p:nvPr/>
        </p:nvSpPr>
        <p:spPr>
          <a:xfrm>
            <a:off x="685800" y="429564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233977"/>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Give a climate example that covers a long time: the UK has mild, wet winters.</a:t>
            </a:r>
            <a:endParaRPr lang="en-US" sz="1800" dirty="0"/>
          </a:p>
        </p:txBody>
      </p:sp>
      <p:sp>
        <p:nvSpPr>
          <p:cNvPr id="25" name="worked-answer"/>
          <p:cNvSpPr/>
          <p:nvPr/>
        </p:nvSpPr>
        <p:spPr>
          <a:xfrm>
            <a:off x="548640" y="4936134"/>
            <a:ext cx="11094415" cy="1109980"/>
          </a:xfrm>
          <a:prstGeom prst="roundRect">
            <a:avLst>
              <a:gd name="adj" fmla="val 12357"/>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Weather is what the air is like at one place and one time, such as rain in Birmingham this afternoon. Climate is the usual weather of a place over many years, such as the mild, wet winters of the UK.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Reading weather symbols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Winds are named after where they come FROM. A north-easterly wind blows out of the north east, towards the south west.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weather map is crowded, so forecasters use symbols instead of words.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Numbers on the map tell you how hot or cold it is.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Direction matters as much as speed. A wind from the north east has travelled across cold northern Europe, so it feels bitter; a wind from the west has crossed the Atlantic, so it is milder and damper.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Reading weather symbols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F5F2"/>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The map shows a 12 mph wind from the north east over Scotland and a 6 mph wind from the west over Wales. How much stronger is the wind over Scotland?</a:t>
            </a:r>
            <a:endParaRPr lang="en-US" sz="2200" dirty="0"/>
          </a:p>
        </p:txBody>
      </p:sp>
      <p:sp>
        <p:nvSpPr>
          <p:cNvPr id="9" name="step-box"/>
          <p:cNvSpPr/>
          <p:nvPr/>
        </p:nvSpPr>
        <p:spPr>
          <a:xfrm>
            <a:off x="548640" y="2655824"/>
            <a:ext cx="2464994" cy="2252980"/>
          </a:xfrm>
          <a:prstGeom prst="roundRect">
            <a:avLst>
              <a:gd name="adj" fmla="val 3247"/>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down both speeds with their units: 12 mph and 6 mph.</a:t>
            </a:r>
            <a:endParaRPr lang="en-US" sz="1800" dirty="0"/>
          </a:p>
        </p:txBody>
      </p:sp>
      <p:sp>
        <p:nvSpPr>
          <p:cNvPr id="13" name="arrow"/>
          <p:cNvSpPr/>
          <p:nvPr/>
        </p:nvSpPr>
        <p:spPr>
          <a:xfrm>
            <a:off x="3086786" y="3645154"/>
            <a:ext cx="274320" cy="274320"/>
          </a:xfrm>
          <a:prstGeom prst="rightArrow">
            <a:avLst/>
          </a:prstGeom>
          <a:solidFill>
            <a:srgbClr val="B8862B"/>
          </a:solidFill>
          <a:ln/>
        </p:spPr>
      </p:sp>
      <p:sp>
        <p:nvSpPr>
          <p:cNvPr id="14" name="step-box"/>
          <p:cNvSpPr/>
          <p:nvPr/>
        </p:nvSpPr>
        <p:spPr>
          <a:xfrm>
            <a:off x="3425114" y="2655824"/>
            <a:ext cx="2464994" cy="2252980"/>
          </a:xfrm>
          <a:prstGeom prst="roundRect">
            <a:avLst>
              <a:gd name="adj" fmla="val 3247"/>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question asks how much stronger, so subtract the smaller from the larger: 12 − 6 = 6.</a:t>
            </a:r>
            <a:endParaRPr lang="en-US" sz="1800" dirty="0"/>
          </a:p>
        </p:txBody>
      </p:sp>
      <p:sp>
        <p:nvSpPr>
          <p:cNvPr id="18" name="arrow"/>
          <p:cNvSpPr/>
          <p:nvPr/>
        </p:nvSpPr>
        <p:spPr>
          <a:xfrm>
            <a:off x="5963260" y="3645154"/>
            <a:ext cx="274320" cy="274320"/>
          </a:xfrm>
          <a:prstGeom prst="rightArrow">
            <a:avLst/>
          </a:prstGeom>
          <a:solidFill>
            <a:srgbClr val="B8862B"/>
          </a:solidFill>
          <a:ln/>
        </p:spPr>
      </p:sp>
      <p:sp>
        <p:nvSpPr>
          <p:cNvPr id="19" name="step-box"/>
          <p:cNvSpPr/>
          <p:nvPr/>
        </p:nvSpPr>
        <p:spPr>
          <a:xfrm>
            <a:off x="6301588" y="2655824"/>
            <a:ext cx="2464994" cy="2252980"/>
          </a:xfrm>
          <a:prstGeom prst="roundRect">
            <a:avLst>
              <a:gd name="adj" fmla="val 3247"/>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Keep the unit: the Scottish wind is 6 mph stronger.</a:t>
            </a:r>
            <a:endParaRPr lang="en-US" sz="1800" dirty="0"/>
          </a:p>
        </p:txBody>
      </p:sp>
      <p:sp>
        <p:nvSpPr>
          <p:cNvPr id="23" name="arrow"/>
          <p:cNvSpPr/>
          <p:nvPr/>
        </p:nvSpPr>
        <p:spPr>
          <a:xfrm>
            <a:off x="8839733" y="3645154"/>
            <a:ext cx="274320" cy="274320"/>
          </a:xfrm>
          <a:prstGeom prst="rightArrow">
            <a:avLst/>
          </a:prstGeom>
          <a:solidFill>
            <a:srgbClr val="B8862B"/>
          </a:solidFill>
          <a:ln/>
        </p:spPr>
      </p:sp>
      <p:sp>
        <p:nvSpPr>
          <p:cNvPr id="24" name="step-box"/>
          <p:cNvSpPr/>
          <p:nvPr/>
        </p:nvSpPr>
        <p:spPr>
          <a:xfrm>
            <a:off x="9178061" y="2655824"/>
            <a:ext cx="2464994" cy="2252980"/>
          </a:xfrm>
          <a:prstGeom prst="roundRect">
            <a:avLst>
              <a:gd name="adj" fmla="val 3247"/>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it makes sense: 6 mph is half of 12 mph, so the Welsh wind is half as strong.</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6 mph stronger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Writing your own forecast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In a forecast, give a region, a temperature, a condition and a wind. Four things for every part of the map.</a:t>
            </a:r>
            <a:endParaRPr lang="en-US" sz="1800" dirty="0"/>
          </a:p>
        </p:txBody>
      </p:sp>
      <p:sp>
        <p:nvSpPr>
          <p:cNvPr id="11" name="point-card"/>
          <p:cNvSpPr/>
          <p:nvPr/>
        </p:nvSpPr>
        <p:spPr>
          <a:xfrm>
            <a:off x="548640" y="1389888"/>
            <a:ext cx="5410048" cy="3686048"/>
          </a:xfrm>
          <a:prstGeom prst="roundRect">
            <a:avLst>
              <a:gd name="adj" fmla="val 1488"/>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class you created a weather forecast map and script for the UK.</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9F4EC"/>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forecast script should sound like a story that moves across the map.</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Which symbol is which?</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weather symbol to the weather it stands for.</a:t>
            </a:r>
            <a:endParaRPr lang="en-US" sz="2400" dirty="0"/>
          </a:p>
        </p:txBody>
      </p:sp>
      <p:sp>
        <p:nvSpPr>
          <p:cNvPr id="11" name="match-card"/>
          <p:cNvSpPr/>
          <p:nvPr/>
        </p:nvSpPr>
        <p:spPr>
          <a:xfrm>
            <a:off x="777240" y="2468331"/>
            <a:ext cx="5135728" cy="1060460"/>
          </a:xfrm>
          <a:prstGeom prst="roundRect">
            <a:avLst>
              <a:gd name="adj" fmla="val 6898"/>
            </a:avLst>
          </a:prstGeom>
          <a:solidFill>
            <a:srgbClr val="F5F8F6"/>
          </a:solidFill>
          <a:ln/>
        </p:spPr>
      </p:sp>
      <p:sp>
        <p:nvSpPr>
          <p:cNvPr id="12" name="match-hex"/>
          <p:cNvSpPr/>
          <p:nvPr/>
        </p:nvSpPr>
        <p:spPr>
          <a:xfrm>
            <a:off x="850392" y="2832269"/>
            <a:ext cx="384048" cy="332586"/>
          </a:xfrm>
          <a:prstGeom prst="hexagon">
            <a:avLst/>
          </a:prstGeom>
          <a:solidFill>
            <a:srgbClr val="3F6B4A"/>
          </a:solidFill>
          <a:ln/>
        </p:spPr>
      </p:sp>
      <p:sp>
        <p:nvSpPr>
          <p:cNvPr id="13" name="match-hex-label"/>
          <p:cNvSpPr txBox="1"/>
          <p:nvPr/>
        </p:nvSpPr>
        <p:spPr>
          <a:xfrm>
            <a:off x="850392" y="283226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10604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cloud with a few drops falling from it</a:t>
            </a:r>
            <a:endParaRPr lang="en-US" sz="2200" dirty="0"/>
          </a:p>
        </p:txBody>
      </p:sp>
      <p:sp>
        <p:nvSpPr>
          <p:cNvPr id="15" name="match-card"/>
          <p:cNvSpPr/>
          <p:nvPr/>
        </p:nvSpPr>
        <p:spPr>
          <a:xfrm>
            <a:off x="6278728" y="2468331"/>
            <a:ext cx="5135728" cy="1060460"/>
          </a:xfrm>
          <a:prstGeom prst="roundRect">
            <a:avLst>
              <a:gd name="adj" fmla="val 6898"/>
            </a:avLst>
          </a:prstGeom>
          <a:solidFill>
            <a:srgbClr val="F9F4EC"/>
          </a:solidFill>
          <a:ln/>
        </p:spPr>
      </p:sp>
      <p:sp>
        <p:nvSpPr>
          <p:cNvPr id="16" name="match-hex"/>
          <p:cNvSpPr/>
          <p:nvPr/>
        </p:nvSpPr>
        <p:spPr>
          <a:xfrm>
            <a:off x="6351880" y="2832269"/>
            <a:ext cx="384048" cy="332586"/>
          </a:xfrm>
          <a:prstGeom prst="hexagon">
            <a:avLst/>
          </a:prstGeom>
          <a:solidFill>
            <a:srgbClr val="B8862B"/>
          </a:solidFill>
          <a:ln/>
        </p:spPr>
      </p:sp>
      <p:sp>
        <p:nvSpPr>
          <p:cNvPr id="17" name="match-hex-label"/>
          <p:cNvSpPr txBox="1"/>
          <p:nvPr/>
        </p:nvSpPr>
        <p:spPr>
          <a:xfrm>
            <a:off x="6351880" y="283226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10604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Sunny intervals</a:t>
            </a:r>
            <a:endParaRPr lang="en-US" sz="2200" dirty="0"/>
          </a:p>
        </p:txBody>
      </p:sp>
      <p:sp>
        <p:nvSpPr>
          <p:cNvPr id="19" name="match-card"/>
          <p:cNvSpPr/>
          <p:nvPr/>
        </p:nvSpPr>
        <p:spPr>
          <a:xfrm>
            <a:off x="777240" y="3620232"/>
            <a:ext cx="5135728" cy="719592"/>
          </a:xfrm>
          <a:prstGeom prst="roundRect">
            <a:avLst>
              <a:gd name="adj" fmla="val 10166"/>
            </a:avLst>
          </a:prstGeom>
          <a:solidFill>
            <a:srgbClr val="F5F8F6"/>
          </a:solidFill>
          <a:ln/>
        </p:spPr>
      </p:sp>
      <p:sp>
        <p:nvSpPr>
          <p:cNvPr id="20" name="match-hex"/>
          <p:cNvSpPr/>
          <p:nvPr/>
        </p:nvSpPr>
        <p:spPr>
          <a:xfrm>
            <a:off x="850392" y="3813735"/>
            <a:ext cx="384048" cy="332586"/>
          </a:xfrm>
          <a:prstGeom prst="hexagon">
            <a:avLst/>
          </a:prstGeom>
          <a:solidFill>
            <a:srgbClr val="3F6B4A"/>
          </a:solidFill>
          <a:ln/>
        </p:spPr>
      </p:sp>
      <p:sp>
        <p:nvSpPr>
          <p:cNvPr id="21" name="match-hex-label"/>
          <p:cNvSpPr txBox="1"/>
          <p:nvPr/>
        </p:nvSpPr>
        <p:spPr>
          <a:xfrm>
            <a:off x="850392" y="38137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20232"/>
            <a:ext cx="4541368"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dark cloud with a lightning flash</a:t>
            </a:r>
            <a:endParaRPr lang="en-US" sz="2200" dirty="0"/>
          </a:p>
        </p:txBody>
      </p:sp>
      <p:sp>
        <p:nvSpPr>
          <p:cNvPr id="23" name="match-card"/>
          <p:cNvSpPr/>
          <p:nvPr/>
        </p:nvSpPr>
        <p:spPr>
          <a:xfrm>
            <a:off x="6278728" y="3620232"/>
            <a:ext cx="5135728" cy="719592"/>
          </a:xfrm>
          <a:prstGeom prst="roundRect">
            <a:avLst>
              <a:gd name="adj" fmla="val 10166"/>
            </a:avLst>
          </a:prstGeom>
          <a:solidFill>
            <a:srgbClr val="F9F4EC"/>
          </a:solidFill>
          <a:ln/>
        </p:spPr>
      </p:sp>
      <p:sp>
        <p:nvSpPr>
          <p:cNvPr id="24" name="match-hex"/>
          <p:cNvSpPr/>
          <p:nvPr/>
        </p:nvSpPr>
        <p:spPr>
          <a:xfrm>
            <a:off x="6351880" y="3813735"/>
            <a:ext cx="384048" cy="332586"/>
          </a:xfrm>
          <a:prstGeom prst="hexagon">
            <a:avLst/>
          </a:prstGeom>
          <a:solidFill>
            <a:srgbClr val="B8862B"/>
          </a:solidFill>
          <a:ln/>
        </p:spPr>
      </p:sp>
      <p:sp>
        <p:nvSpPr>
          <p:cNvPr id="25" name="match-hex-label"/>
          <p:cNvSpPr txBox="1"/>
          <p:nvPr/>
        </p:nvSpPr>
        <p:spPr>
          <a:xfrm>
            <a:off x="6351880" y="38137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620232"/>
            <a:ext cx="4541368"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Light snow</a:t>
            </a:r>
            <a:endParaRPr lang="en-US" sz="2200" dirty="0"/>
          </a:p>
        </p:txBody>
      </p:sp>
      <p:sp>
        <p:nvSpPr>
          <p:cNvPr id="27" name="match-card"/>
          <p:cNvSpPr/>
          <p:nvPr/>
        </p:nvSpPr>
        <p:spPr>
          <a:xfrm>
            <a:off x="777240" y="4431264"/>
            <a:ext cx="5135728" cy="719592"/>
          </a:xfrm>
          <a:prstGeom prst="roundRect">
            <a:avLst>
              <a:gd name="adj" fmla="val 10166"/>
            </a:avLst>
          </a:prstGeom>
          <a:solidFill>
            <a:srgbClr val="F5F8F6"/>
          </a:solidFill>
          <a:ln/>
        </p:spPr>
      </p:sp>
      <p:sp>
        <p:nvSpPr>
          <p:cNvPr id="28" name="match-hex"/>
          <p:cNvSpPr/>
          <p:nvPr/>
        </p:nvSpPr>
        <p:spPr>
          <a:xfrm>
            <a:off x="850392" y="4624767"/>
            <a:ext cx="384048" cy="332586"/>
          </a:xfrm>
          <a:prstGeom prst="hexagon">
            <a:avLst/>
          </a:prstGeom>
          <a:solidFill>
            <a:srgbClr val="3F6B4A"/>
          </a:solidFill>
          <a:ln/>
        </p:spPr>
      </p:sp>
      <p:sp>
        <p:nvSpPr>
          <p:cNvPr id="29" name="match-hex-label"/>
          <p:cNvSpPr txBox="1"/>
          <p:nvPr/>
        </p:nvSpPr>
        <p:spPr>
          <a:xfrm>
            <a:off x="850392" y="46247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431264"/>
            <a:ext cx="4541368"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cloud with snowflakes beneath it</a:t>
            </a:r>
            <a:endParaRPr lang="en-US" sz="2200" dirty="0"/>
          </a:p>
        </p:txBody>
      </p:sp>
      <p:sp>
        <p:nvSpPr>
          <p:cNvPr id="31" name="match-card"/>
          <p:cNvSpPr/>
          <p:nvPr/>
        </p:nvSpPr>
        <p:spPr>
          <a:xfrm>
            <a:off x="6278728" y="4431264"/>
            <a:ext cx="5135728" cy="719592"/>
          </a:xfrm>
          <a:prstGeom prst="roundRect">
            <a:avLst>
              <a:gd name="adj" fmla="val 10166"/>
            </a:avLst>
          </a:prstGeom>
          <a:solidFill>
            <a:srgbClr val="F9F4EC"/>
          </a:solidFill>
          <a:ln/>
        </p:spPr>
      </p:sp>
      <p:sp>
        <p:nvSpPr>
          <p:cNvPr id="32" name="match-hex"/>
          <p:cNvSpPr/>
          <p:nvPr/>
        </p:nvSpPr>
        <p:spPr>
          <a:xfrm>
            <a:off x="6351880" y="4624767"/>
            <a:ext cx="384048" cy="332586"/>
          </a:xfrm>
          <a:prstGeom prst="hexagon">
            <a:avLst/>
          </a:prstGeom>
          <a:solidFill>
            <a:srgbClr val="B8862B"/>
          </a:solidFill>
          <a:ln/>
        </p:spPr>
      </p:sp>
      <p:sp>
        <p:nvSpPr>
          <p:cNvPr id="33" name="match-hex-label"/>
          <p:cNvSpPr txBox="1"/>
          <p:nvPr/>
        </p:nvSpPr>
        <p:spPr>
          <a:xfrm>
            <a:off x="6351880" y="46247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431264"/>
            <a:ext cx="4541368"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Thunderstorms</a:t>
            </a:r>
            <a:endParaRPr lang="en-US" sz="2200" dirty="0"/>
          </a:p>
        </p:txBody>
      </p:sp>
      <p:sp>
        <p:nvSpPr>
          <p:cNvPr id="35" name="match-card"/>
          <p:cNvSpPr/>
          <p:nvPr/>
        </p:nvSpPr>
        <p:spPr>
          <a:xfrm>
            <a:off x="777240" y="5242296"/>
            <a:ext cx="5135728" cy="719592"/>
          </a:xfrm>
          <a:prstGeom prst="roundRect">
            <a:avLst>
              <a:gd name="adj" fmla="val 10166"/>
            </a:avLst>
          </a:prstGeom>
          <a:solidFill>
            <a:srgbClr val="F5F8F6"/>
          </a:solidFill>
          <a:ln/>
        </p:spPr>
      </p:sp>
      <p:sp>
        <p:nvSpPr>
          <p:cNvPr id="36" name="match-hex"/>
          <p:cNvSpPr/>
          <p:nvPr/>
        </p:nvSpPr>
        <p:spPr>
          <a:xfrm>
            <a:off x="850392" y="5435799"/>
            <a:ext cx="384048" cy="332586"/>
          </a:xfrm>
          <a:prstGeom prst="hexagon">
            <a:avLst/>
          </a:prstGeom>
          <a:solidFill>
            <a:srgbClr val="3F6B4A"/>
          </a:solidFill>
          <a:ln/>
        </p:spPr>
      </p:sp>
      <p:sp>
        <p:nvSpPr>
          <p:cNvPr id="37" name="match-hex-label"/>
          <p:cNvSpPr txBox="1"/>
          <p:nvPr/>
        </p:nvSpPr>
        <p:spPr>
          <a:xfrm>
            <a:off x="850392" y="54357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242296"/>
            <a:ext cx="4541368"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sun partly hidden behind a cloud</a:t>
            </a:r>
            <a:endParaRPr lang="en-US" sz="2200" dirty="0"/>
          </a:p>
        </p:txBody>
      </p:sp>
      <p:sp>
        <p:nvSpPr>
          <p:cNvPr id="39" name="match-card"/>
          <p:cNvSpPr/>
          <p:nvPr/>
        </p:nvSpPr>
        <p:spPr>
          <a:xfrm>
            <a:off x="6278728" y="5242296"/>
            <a:ext cx="5135728" cy="719592"/>
          </a:xfrm>
          <a:prstGeom prst="roundRect">
            <a:avLst>
              <a:gd name="adj" fmla="val 10166"/>
            </a:avLst>
          </a:prstGeom>
          <a:solidFill>
            <a:srgbClr val="F9F4EC"/>
          </a:solidFill>
          <a:ln/>
        </p:spPr>
      </p:sp>
      <p:sp>
        <p:nvSpPr>
          <p:cNvPr id="40" name="match-hex"/>
          <p:cNvSpPr/>
          <p:nvPr/>
        </p:nvSpPr>
        <p:spPr>
          <a:xfrm>
            <a:off x="6351880" y="5435799"/>
            <a:ext cx="384048" cy="332586"/>
          </a:xfrm>
          <a:prstGeom prst="hexagon">
            <a:avLst/>
          </a:prstGeom>
          <a:solidFill>
            <a:srgbClr val="B8862B"/>
          </a:solidFill>
          <a:ln/>
        </p:spPr>
      </p:sp>
      <p:sp>
        <p:nvSpPr>
          <p:cNvPr id="41" name="match-hex-label"/>
          <p:cNvSpPr txBox="1"/>
          <p:nvPr/>
        </p:nvSpPr>
        <p:spPr>
          <a:xfrm>
            <a:off x="6351880" y="54357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5242296"/>
            <a:ext cx="4541368"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Light rain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Which symbol is which?</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Which symbol is which?</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at what is falling from the cloud, if anything. Drops mean rain; flakes mean snow.</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lightning flash always means a thunderstorm.</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there is a sun in the picture, the word sunny must be in the answer.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Sunny intervals means sunny spells broken by cloud, so the sun is partly hidden.</a:t>
            </a:r>
            <a:endParaRPr lang="en-US" sz="1800" dirty="0"/>
          </a:p>
        </p:txBody>
      </p:sp>
      <p:sp>
        <p:nvSpPr>
          <p:cNvPr id="17" name="col-Core"/>
          <p:cNvSpPr/>
          <p:nvPr/>
        </p:nvSpPr>
        <p:spPr>
          <a:xfrm>
            <a:off x="5490762" y="2395728"/>
            <a:ext cx="2938987" cy="3749040"/>
          </a:xfrm>
          <a:prstGeom prst="roundRect">
            <a:avLst>
              <a:gd name="adj" fmla="val 1867"/>
            </a:avLst>
          </a:prstGeom>
          <a:solidFill>
            <a:srgbClr val="DBE3DD"/>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symbols show something falling from a cloud; one shows something flashing; one shows a sun.</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forecaster would use a different symbol for light cloud and low level cloud, and what difference the two make to a day out.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The task: Weather and climate in your own words</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the difference between weather and climate. Give one example of each. (4 marks)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4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Weather and climate in your own words</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Explain the difference between weather and climate. Give one example of each. (4 marks)</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2F5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Weather is ... at one place and one time. Add that it changes quickly.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2: give a weather example with a time in it, such as this morning or last Tuesday.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3: Climate is ... over many years.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4: give a climate example that uses the word usually or on average.</a:t>
            </a:r>
            <a:endParaRPr lang="en-US" sz="1800" dirty="0"/>
          </a:p>
        </p:txBody>
      </p:sp>
      <p:sp>
        <p:nvSpPr>
          <p:cNvPr id="17" name="col-Core"/>
          <p:cNvSpPr/>
          <p:nvPr/>
        </p:nvSpPr>
        <p:spPr>
          <a:xfrm>
            <a:off x="5490762" y="2593848"/>
            <a:ext cx="2938987" cy="3550920"/>
          </a:xfrm>
          <a:prstGeom prst="roundRect">
            <a:avLst>
              <a:gd name="adj" fmla="val 1867"/>
            </a:avLst>
          </a:prstGeom>
          <a:solidFill>
            <a:srgbClr val="DBE3DD"/>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Weather needs the words one time; climate needs the words many years. Then one example for each.</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Add a sentence explaining why one very hot day in the UK does not prove that the climate has changed.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forecaster says there is a 12 mph wind from the north east over Scotland. Which way is the air moving?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Out of the south west, towards the north east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Straight up from the ground in the north east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Round and round above the north east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Out of the north east, towards the south west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Which symbol is which?</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 cloud with a few drops falling from it  →  D  Light rain</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 dark cloud with a lightning flash  →  C  Thunderstorms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 cloud with snowflakes beneath it  →  B  Light snow</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 sun partly hidden behind a cloud  →  A  Sunny intervals</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Drops falling mean light rain, flakes falling mean light snow, a lightning flash means thunderstorms, and a sun half behind a cloud means sunny intervals.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Answers: Weather and climate in your own words</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5486400" cy="50292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5486400" cy="1181100"/>
          </a:xfrm>
          <a:prstGeom prst="roundRect">
            <a:avLst>
              <a:gd name="adj" fmla="val 7742"/>
            </a:avLst>
          </a:prstGeom>
          <a:solidFill>
            <a:srgbClr val="F5F8F6"/>
          </a:solidFill>
          <a:ln/>
        </p:spPr>
      </p:sp>
      <p:sp>
        <p:nvSpPr>
          <p:cNvPr id="9" name="tickbox"/>
          <p:cNvSpPr/>
          <p:nvPr/>
        </p:nvSpPr>
        <p:spPr>
          <a:xfrm>
            <a:off x="713232" y="2428494"/>
            <a:ext cx="292608" cy="292608"/>
          </a:xfrm>
          <a:prstGeom prst="rect">
            <a:avLst/>
          </a:prstGeom>
          <a:solidFill>
            <a:srgbClr val="FFFFFF"/>
          </a:solidFill>
          <a:ln w="19050">
            <a:solidFill>
              <a:srgbClr val="3F6B4A"/>
            </a:solidFill>
            <a:prstDash val="solid"/>
          </a:ln>
        </p:spPr>
      </p:sp>
      <p:sp>
        <p:nvSpPr>
          <p:cNvPr id="10" name="crit"/>
          <p:cNvSpPr txBox="1"/>
          <p:nvPr/>
        </p:nvSpPr>
        <p:spPr>
          <a:xfrm>
            <a:off x="1143000" y="1984248"/>
            <a:ext cx="4709160" cy="118110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Says that weather is the condition of the air at one place and one time, and changes quickly</a:t>
            </a:r>
            <a:endParaRPr lang="en-US" sz="2000" dirty="0"/>
          </a:p>
        </p:txBody>
      </p:sp>
      <p:sp>
        <p:nvSpPr>
          <p:cNvPr id="11" name="crit-box"/>
          <p:cNvSpPr/>
          <p:nvPr/>
        </p:nvSpPr>
        <p:spPr>
          <a:xfrm>
            <a:off x="548640" y="3256788"/>
            <a:ext cx="5486400" cy="871220"/>
          </a:xfrm>
          <a:prstGeom prst="roundRect">
            <a:avLst>
              <a:gd name="adj" fmla="val 10496"/>
            </a:avLst>
          </a:prstGeom>
          <a:solidFill>
            <a:srgbClr val="F5F8F6"/>
          </a:solidFill>
          <a:ln/>
        </p:spPr>
      </p:sp>
      <p:sp>
        <p:nvSpPr>
          <p:cNvPr id="12" name="tickbox"/>
          <p:cNvSpPr/>
          <p:nvPr/>
        </p:nvSpPr>
        <p:spPr>
          <a:xfrm>
            <a:off x="713232" y="3546094"/>
            <a:ext cx="292608" cy="292608"/>
          </a:xfrm>
          <a:prstGeom prst="rect">
            <a:avLst/>
          </a:prstGeom>
          <a:solidFill>
            <a:srgbClr val="FFFFFF"/>
          </a:solidFill>
          <a:ln w="19050">
            <a:solidFill>
              <a:srgbClr val="3F6B4A"/>
            </a:solidFill>
            <a:prstDash val="solid"/>
          </a:ln>
        </p:spPr>
      </p:sp>
      <p:sp>
        <p:nvSpPr>
          <p:cNvPr id="13" name="crit"/>
          <p:cNvSpPr txBox="1"/>
          <p:nvPr/>
        </p:nvSpPr>
        <p:spPr>
          <a:xfrm>
            <a:off x="1143000" y="3256788"/>
            <a:ext cx="4709160" cy="87122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Says that climate is the usual or average weather of a place over many years</a:t>
            </a:r>
            <a:endParaRPr lang="en-US" sz="2000" dirty="0"/>
          </a:p>
        </p:txBody>
      </p:sp>
      <p:sp>
        <p:nvSpPr>
          <p:cNvPr id="14" name="crit-box"/>
          <p:cNvSpPr/>
          <p:nvPr/>
        </p:nvSpPr>
        <p:spPr>
          <a:xfrm>
            <a:off x="548640" y="4219448"/>
            <a:ext cx="5486400" cy="871220"/>
          </a:xfrm>
          <a:prstGeom prst="roundRect">
            <a:avLst>
              <a:gd name="adj" fmla="val 10496"/>
            </a:avLst>
          </a:prstGeom>
          <a:solidFill>
            <a:srgbClr val="F5F8F6"/>
          </a:solidFill>
          <a:ln/>
        </p:spPr>
      </p:sp>
      <p:sp>
        <p:nvSpPr>
          <p:cNvPr id="15" name="tickbox"/>
          <p:cNvSpPr/>
          <p:nvPr/>
        </p:nvSpPr>
        <p:spPr>
          <a:xfrm>
            <a:off x="713232" y="4508754"/>
            <a:ext cx="292608" cy="292608"/>
          </a:xfrm>
          <a:prstGeom prst="rect">
            <a:avLst/>
          </a:prstGeom>
          <a:solidFill>
            <a:srgbClr val="FFFFFF"/>
          </a:solidFill>
          <a:ln w="19050">
            <a:solidFill>
              <a:srgbClr val="3F6B4A"/>
            </a:solidFill>
            <a:prstDash val="solid"/>
          </a:ln>
        </p:spPr>
      </p:sp>
      <p:sp>
        <p:nvSpPr>
          <p:cNvPr id="16" name="crit"/>
          <p:cNvSpPr txBox="1"/>
          <p:nvPr/>
        </p:nvSpPr>
        <p:spPr>
          <a:xfrm>
            <a:off x="1143000" y="4219448"/>
            <a:ext cx="4709160" cy="87122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Gives a weather example tied to a particular day or time</a:t>
            </a:r>
            <a:endParaRPr lang="en-US" sz="2000" dirty="0"/>
          </a:p>
        </p:txBody>
      </p:sp>
      <p:sp>
        <p:nvSpPr>
          <p:cNvPr id="17" name="crit-box"/>
          <p:cNvSpPr/>
          <p:nvPr/>
        </p:nvSpPr>
        <p:spPr>
          <a:xfrm>
            <a:off x="548640" y="5182108"/>
            <a:ext cx="5486400" cy="871220"/>
          </a:xfrm>
          <a:prstGeom prst="roundRect">
            <a:avLst>
              <a:gd name="adj" fmla="val 10496"/>
            </a:avLst>
          </a:prstGeom>
          <a:solidFill>
            <a:srgbClr val="F5F8F6"/>
          </a:solidFill>
          <a:ln/>
        </p:spPr>
      </p:sp>
      <p:sp>
        <p:nvSpPr>
          <p:cNvPr id="18" name="tickbox"/>
          <p:cNvSpPr/>
          <p:nvPr/>
        </p:nvSpPr>
        <p:spPr>
          <a:xfrm>
            <a:off x="713232" y="5471414"/>
            <a:ext cx="292608" cy="292608"/>
          </a:xfrm>
          <a:prstGeom prst="rect">
            <a:avLst/>
          </a:prstGeom>
          <a:solidFill>
            <a:srgbClr val="FFFFFF"/>
          </a:solidFill>
          <a:ln w="19050">
            <a:solidFill>
              <a:srgbClr val="3F6B4A"/>
            </a:solidFill>
            <a:prstDash val="solid"/>
          </a:ln>
        </p:spPr>
      </p:sp>
      <p:sp>
        <p:nvSpPr>
          <p:cNvPr id="19" name="crit"/>
          <p:cNvSpPr txBox="1"/>
          <p:nvPr/>
        </p:nvSpPr>
        <p:spPr>
          <a:xfrm>
            <a:off x="1143000" y="5182108"/>
            <a:ext cx="4709160" cy="87122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Gives a climate example that describes a place over a long period</a:t>
            </a:r>
            <a:endParaRPr lang="en-US" sz="2000" dirty="0"/>
          </a:p>
        </p:txBody>
      </p:sp>
      <p:sp>
        <p:nvSpPr>
          <p:cNvPr id="20" name="model-panel"/>
          <p:cNvSpPr/>
          <p:nvPr/>
        </p:nvSpPr>
        <p:spPr>
          <a:xfrm>
            <a:off x="6309360" y="1389888"/>
            <a:ext cx="5333695" cy="4754880"/>
          </a:xfrm>
          <a:prstGeom prst="roundRect">
            <a:avLst>
              <a:gd name="adj" fmla="val 962"/>
            </a:avLst>
          </a:prstGeom>
          <a:solidFill>
            <a:srgbClr val="F9F4EC"/>
          </a:solidFill>
          <a:ln w="19050">
            <a:solidFill>
              <a:srgbClr val="B8862B"/>
            </a:solidFill>
            <a:prstDash val="solid"/>
          </a:ln>
        </p:spPr>
      </p:sp>
      <p:sp>
        <p:nvSpPr>
          <p:cNvPr id="21" name="model-tab"/>
          <p:cNvSpPr/>
          <p:nvPr/>
        </p:nvSpPr>
        <p:spPr>
          <a:xfrm>
            <a:off x="649224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22" name="model"/>
          <p:cNvSpPr txBox="1"/>
          <p:nvPr/>
        </p:nvSpPr>
        <p:spPr>
          <a:xfrm>
            <a:off x="6537960" y="2167128"/>
            <a:ext cx="4876495" cy="384048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Weather is what the air is like at one place at one time, and it can change from hour to hour; for example, it was foggy in Leeds this morning. Climate is the usual weather a place has, worked out over many years; for example, the UK has a mild, wet climate with rain in every month. So the weather is what happens on a single day, and the climate is the pattern those days make over a long time.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forecaster says there is a 12 mph wind from the north east over Scotland. Which way is the air moving?</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Out of the north east, towards the south west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wind is named after the direction it comes from. A north-easterly wind begins in the north east and blows towards the south west, which is why it brings cold air from northern Europe to the UK.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 and Climate · Chapter 1: Weather, climate and the forecast</dc:title>
  <dc:subject>Geography · Year 7</dc:subject>
  <dc:creator>Dr Vitor Merissi de Carvalho</dc:creator>
  <cp:lastModifiedBy>Dr Vitor Merissi de Carvalho</cp:lastModifiedBy>
  <cp:revision>1</cp:revision>
  <dcterms:created xsi:type="dcterms:W3CDTF">2026-10-19T06:07:48Z</dcterms:created>
  <dcterms:modified xsi:type="dcterms:W3CDTF">2026-10-19T06:07:48Z</dcterms:modified>
</cp:coreProperties>
</file>