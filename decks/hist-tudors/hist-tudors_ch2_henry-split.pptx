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d321a69-087c-dcce-204a-7ab56ddf40d9}">
          <p14:sldIdLst>
            <p14:sldId id="256"/>
          </p14:sldIdLst>
        </p14:section>
        <p14:section name="Gate" id="{16ab5e62-a857-76e5-66c0-28b9f2933e4d}">
          <p14:sldIdLst>
            <p14:sldId id="257"/>
            <p14:sldId id="258"/>
          </p14:sldIdLst>
        </p14:section>
        <p14:section name="Pre-teach" id="{58969947-08ff-d08d-4492-2a17870b059c}">
          <p14:sldIdLst>
            <p14:sldId id="259"/>
            <p14:sldId id="260"/>
          </p14:sldIdLst>
        </p14:section>
        <p14:section name="Read-along" id="{cd39fd5b-25cf-e4f0-ed65-f38eb913e171}">
          <p14:sldIdLst>
            <p14:sldId id="261"/>
            <p14:sldId id="262"/>
          </p14:sldIdLst>
        </p14:section>
        <p14:section name="Teach" id="{aab1c3b8-b79e-784a-853a-e52ceb91a7c5}">
          <p14:sldIdLst>
            <p14:sldId id="263"/>
            <p14:sldId id="264"/>
            <p14:sldId id="265"/>
            <p14:sldId id="266"/>
          </p14:sldIdLst>
        </p14:section>
        <p14:section name="Routes" id="{8e6c340a-ae58-c5bd-572e-708afb5ccf1a}">
          <p14:sldIdLst>
            <p14:sldId id="267"/>
            <p14:sldId id="268"/>
            <p14:sldId id="269"/>
            <p14:sldId id="270"/>
            <p14:sldId id="271"/>
          </p14:sldIdLst>
        </p14:section>
        <p14:section name="Close" id="{a83a908d-65c1-71df-9a3a-2dcf05589be5}">
          <p14:sldIdLst>
            <p14:sldId id="272"/>
          </p14:sldIdLst>
        </p14:section>
        <p14:section name="Answers" id="{ea20aa3b-de6c-00db-405c-4237e3a94477}">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Henry VIII: why did he split from the Catholic Church?. The king who needed a son, the Pope who said no, and the three problems of marriage, money and power that Henry solved by making himself head of the Church.
This deck covers the department's lessons: 2 (Henry VIII and the split from the Church: Why did Henry VIII split from the Catholic Church, and what was the impact?); 3 (Edward VI: a Protestant England: How did Edward VI transform England into a Protestant country, and who really held the power?).
Read the big question aloud: "Which Tudor monarch made the biggest religious changes in England?"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was Henry VIII's first wife?  →  B   Catherine of Aragon
2. In which year did the Act of Supremacy make Henry VIII Supreme Head of the Church of England?  →  1534
3. Henry wanted a male ___ so that a son would rule after him and keep the Tudor line in power.  →  heir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Catherine of Aragon. Henry married Catherine of Aragon in 1509, the year he became king. She was the mother of Mary.
2. 1534. The Act of Supremacy was passed in 1534. The Treasons Act of the same year made it a crime to deny Henry's new title.
3. heir. An heir is the person who takes the throne next. Henry believed only a son could rule strongly enough to keep the Tudors in power.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heir: the person who will be the next king or queen. Example: "Henry wanted a son to be his heir."
• annulment: a ruling that a marriage was never valid, so it is cancelled. Example: "Henry asked the Pope for an annulment of his marriage to Catherine."
• Supreme Head: the leader of the Church of England. Example: "The Act of Supremacy made Henry Supreme Head of the Church of England."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Act of Supremacy: the law of 1534 that made Henry head of the Church. Example: "After the Act of Supremacy, the Pope had no power in England."
• Dissolution of the Monasteries: the closing of the monasteries and the taking of their wealth. Example: "The Dissolution of the Monasteries made Henry very rich."
• excommunication: being thrown out of the Catholic Church by the Pope. Example: "Henry's excommunication came in 1538."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Henry VIII became king in 1509, aged just 17.
2. He married Catherine of Aragon, his dead brother's wife.
3. Henry wanted a son to be his heir and keep the Tudors in power.
4. After many years, Catherine had given him only a daughter, Mary.
5. Henry fell in love with Anne Boleyn.
6. In 1527 he asked the Pope to annul his marriage, which means to cancel it.
7. The Pope said no.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So Henry took the Pope's power in England for himself.
9. In January 1533 he married Anne Boleyn.
10. In 1534 the Act of Supremacy made Henry Supreme Head of the Church of England.
11. Henry also closed the monasteries and took their land and money.
12. In 1538 the Pope excommunicated Henry, throwing him out of the Catholic Church.
13. Yet Henry still thought of himself as a Catholic.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king who needed a son. Say it in your own words, then check understanding with a quick question: ask a pupil from the pre-teach group first, since they met these words and ideas before the lesson. Pupils try to recall before you re-explain.
Henry VIII became king in 1509, aged just 17, after the death of his father Henry VII. He inherited a rich kingdom, but he was a lavish spender and he enjoyed going to war. He is famous for having six wives. In 1509 he married his first wife, Catherine of Aragon, who had been married to his older brother before his brother died.
Henry wanted a male heir. A son, he believed, would rule strongly after him and keep the Tudor line in power. After nearly twenty years of marriage Catherine had given him only one living child, a daughter called Mary, and she was now too old to have more children. Henry had also fallen in love with a young woman at court, Anne Boleyn.
Henry had choices. He could ask the Pope to end his marriage, or he could wait. In 1527 he asked the Pope to annul his marriage to Catherine: to rule that it had never been valid. Your lesson sometimes calls this a divorce. The Pope refused. Henry's answer was to take the Pope's power in England for himself and set up his own church, the Church of England.
Tip: Henry did not become a Protestant. He wanted the Pope's power, not Luther's ideas. Keep those two things apart in your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problems: marriage, money and power. Say it in your own words, then check understanding with a quick question: ask a pupil from the pre-teach group first, since they met these words and ideas before the lesson. Pupils try to recall before you re-explain.
Your lesson's worksheet sorts Henry's reasons into three problems, each with the law or action that solved it. Marriage: the Pope would not annul Henry's marriage. In January 1533 Henry married Anne Boleyn anyway, and the Act in Restraint of Appeals, 1533, meant that religious cases in England were no longer the Pope's to judge, so Henry's own bishops could end the marriage to Catherine.
Money: the Church was enormously rich. Your lesson says it owned about 25 per cent of the land in England, and Protestants criticised its wealth. Henry began closing the monasteries from 1536, taking their land and treasure for the Crown; this is the Dissolution of the Monasteries. In 1538 he destroyed the shrine of St Thomas Becket at Canterbury and took its gold and jewels.
Power: in 1534 the Act of Supremacy made Henry Supreme Head of the Church of England, so the Pope had no authority in England at all. The Treasons Act of the same year made it treason, punishable by death, to deny the king's new title. Some historians argue that power, not love or religion, was Henry's real reason for the split.
Worked example — model it step by step, thinking aloud: Explain how the problem of money helped cause Henry's split from the Catholic Church. (1) Point: One reason Henry split from the Catholic Church was money. (2) Evidence: The Church owned about 25 per cent of the land in England, and Henry, a lavish spender who loved war, was short of money. (3) Explain: Once Henry was head of the Church he could close the monasteries and take their land and treasure, which he began to do from 1536. (4) Link: Therefore money was a reason for the split, because breaking with the Pope let Henry take the Church's wealth for himself. Answer: Point, evidence, explain, link: the Church's wealth (about 25 per cent of the land) became Henry's once he was head of the Church, through the Dissolution of the Monasteries from 1536..
Tip: Learn the three problems with their solutions: Marriage → Act in Restraint of Appeals, 1533; Money → Dissolution of the Monasteries; Power → Act of Supremacy, 1534.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problems: marriage, money and power. Say it in your own words, then check understanding with a quick question: ask a pupil from the pre-teach group first, since they met these words and ideas before the lesson. Pupils try to recall before you re-explain.
Your lesson's worksheet sorts Henry's reasons into three problems, each with the law or action that solved it. Marriage: the Pope would not annul Henry's marriage. In January 1533 Henry married Anne Boleyn anyway, and the Act in Restraint of Appeals, 1533, meant that religious cases in England were no longer the Pope's to judge, so Henry's own bishops could end the marriage to Catherine.
Money: the Church was enormously rich. Your lesson says it owned about 25 per cent of the land in England, and Protestants criticised its wealth. Henry began closing the monasteries from 1536, taking their land and treasure for the Crown; this is the Dissolution of the Monasteries. In 1538 he destroyed the shrine of St Thomas Becket at Canterbury and took its gold and jewels.
Power: in 1534 the Act of Supremacy made Henry Supreme Head of the Church of England, so the Pope had no authority in England at all. The Treasons Act of the same year made it treason, punishable by death, to deny the king's new title. Some historians argue that power, not love or religion, was Henry's real reason for the split.
Worked example — model it step by step, thinking aloud: Explain how the problem of money helped cause Henry's split from the Catholic Church. (1) Point: One reason Henry split from the Catholic Church was money. (2) Evidence: The Church owned about 25 per cent of the land in England, and Henry, a lavish spender who loved war, was short of money. (3) Explain: Once Henry was head of the Church he could close the monasteries and take their land and treasure, which he began to do from 1536. (4) Link: Therefore money was a reason for the split, because breaking with the Pope let Henry take the Church's wealth for himself. Answer: Point, evidence, explain, link: the Church's wealth (about 25 per cent of the land) became Henry's once he was head of the Church, through the Dissolution of the Monasteries from 1536..
Tip: Learn the three problems with their solutions: Marriage → Act in Restraint of Appeals, 1533; Money → Dissolution of the Monasteries; Power → Act of Supremacy, 1534.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changed, and what did not. Say it in your own words, then check understanding with a quick question: ask a pupil from the pre-teach group first, since they met these words and ideas before the lesson. Pupils try to recall before you re-explain.
England was no longer under the Pope, but it did not become a Protestant country under Henry. Your lesson calls the result an Anglo-Catholic country: Catholic in its beliefs and services, but English-led rather than led from Rome. Henry did not force anyone to become Protestant. He did not change the way mass was held and he did not produce a prayer book in English.
Henry's family life kept changing too. In 1536 he used his new powers as Supreme Head to have his marriage to Anne Boleyn annulled, and she was executed for treason. He married his third wife, Jane Seymour, and in October 1537 she gave birth to a boy, Edward. Henry finally had his male heir.
The Pope finally excommunicated Henry in December 1538, throwing him out of the Catholic Church. England was officially no longer a Catholic country, yet Henry himself still saw himself as a Catholic and, your lesson says, died a committed one. Henry VIII died in January 1547, leaving one son and two daughters.
Tip: A good answer on impact says what changed (the Pope's power, the monasteries) AND what stayed the same (Catholic services, a Catholic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Henry split from Rome,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to show how Henry VIII split from the Catholic Church.
Support — work through the steps with the group: (1) Every event has a year in brackets. Read all seven years first and find the smallest. (2) Two events are in 1533. The marriage was in January, the law came later in the year, so the marriage goes first. (3) Check the story makes sense: the Pope says no BEFORE Henry acts; Henry becomes head of the Church BEFORE he closes the monasteries. (4) The last step is the Pope's reaction: excommunication.
Parallel worked example for Support (model it, do not give the task answer): Put in order: the Domesday Book (1086); the Battle of Hastings (1066); William is crowned (December 1066); the Harrying of the North (1069). Two events are in 1066: the battle was in October, the coronation in December, so the battle goes first.; Then 1069, then 1086.. Answer: Hastings; William crowned; Harrying of the North; Domesday Book.
Core — reveal the hint only on request: Smallest year first. In 1533 the January marriage comes before the Act. Excommunication is the Pope's final answer, so it goes last.
Stretch — no help; when finished: Your homework asks which event was the final nail in the coffin between Henry and the Pope. Choose one, and explain why the Pope might have waited until 1538 to excommunicate Henry.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Henry split from Rome,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to show how Henry VIII split from the Catholic Church.
Support — work through the steps with the group: (1) Every event has a year in brackets. Read all seven years first and find the smallest. (2) Two events are in 1533. The marriage was in January, the law came later in the year, so the marriage goes first. (3) Check the story makes sense: the Pope says no BEFORE Henry acts; Henry becomes head of the Church BEFORE he closes the monasteries. (4) The last step is the Pope's reaction: excommunication.
Parallel worked example for Support (model it, do not give the task answer): Put in order: the Domesday Book (1086); the Battle of Hastings (1066); William is crowned (December 1066); the Harrying of the North (1069). Two events are in 1066: the battle was in October, the coronation in December, so the battle goes first.; Then 1069, then 1086.. Answer: Hastings; William crowned; Harrying of the North; Domesday Book.
Core — reveal the hint only on request: Smallest year first. In 1533 the January marriage comes before the Act. Excommunication is the Pope's final answer, so it goes last.
Stretch — no help; when finished: Your homework asks which event was the final nail in the coffin between Henry and the Pope. Choose one, and explain why the Pope might have waited until 1538 to excommunicate Henry.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Henry split from Rome,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to show how Henry VIII split from the Catholic Church.
Support — work through the steps with the group: (1) Every event has a year in brackets. Read all seven years first and find the smallest. (2) Two events are in 1533. The marriage was in January, the law came later in the year, so the marriage goes first. (3) Check the story makes sense: the Pope says no BEFORE Henry acts; Henry becomes head of the Church BEFORE he closes the monasteries. (4) The last step is the Pope's reaction: excommunication.
Parallel worked example for Support (model it, do not give the task answer): Put in order: the Domesday Book (1086); the Battle of Hastings (1066); William is crowned (December 1066); the Harrying of the North (1069). Two events are in 1066: the battle was in October, the coronation in December, so the battle goes first.; Then 1069, then 1086.. Answer: Hastings; William crowned; Harrying of the North; Domesday Book.
Core — reveal the hint only on request: Smallest year first. In 1533 the January marriage comes before the Act. Excommunication is the Pope's final answer, so it goes last.
Stretch — no help; when finished: Your homework asks which event was the final nail in the coffin between Henry and the Pope. Choose one, and explain why the Pope might have waited until 1538 to excommunicate Henry.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Three problems, three solutions.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Henry's problems to the law or action that solved it.
Support — work through the steps with the group: (1) Read each problem and ask what Henry needed: a way to end a marriage, a way to get money, or a way to be in charge. (2) A law about appeals (asking a higher court) is about who decides the marriage case. (3) Closing monasteries and taking their land is about money. (4) A law that gives Henry a new title, Supreme Head, is about power.
Parallel worked example for Support (model it, do not give the task answer): Match the problem to the solution: a school has too few books; a school's roof leaks. Choices: a repair fund; a library grant. Too few books is solved by the library grant.; A leaking roof is solved by the repair fund.. Answer: Books → library grant; roof → repair fund..
Core — reveal the hint only on request: Appeals are about who judges the marriage; monasteries are about wealth; supremacy means being on top.
Stretch — no help; when finished: Rank the three problems from most to least important as a cause of the split, and explain your number one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Three problems, three solutions.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Henry's problems to the law or action that solved it.
Support — work through the steps with the group: (1) Read each problem and ask what Henry needed: a way to end a marriage, a way to get money, or a way to be in charge. (2) A law about appeals (asking a higher court) is about who decides the marriage case. (3) Closing monasteries and taking their land is about money. (4) A law that gives Henry a new title, Supreme Head, is about power.
Parallel worked example for Support (model it, do not give the task answer): Match the problem to the solution: a school has too few books; a school's roof leaks. Choices: a repair fund; a library grant. Too few books is solved by the library grant.; A leaking roof is solved by the repair fund.. Answer: Books → library grant; roof → repair fund..
Core — reveal the hint only on request: Appeals are about who judges the marriage; monasteries are about wealth; supremacy means being on top.
Stretch — no help; when finished: Rank the three problems from most to least important as a cause of the split, and explain your number one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was Henry VIII's first wife?
Answer: A   Catherine of Aragon. Henry married Catherine of Aragon in 1509, the year he became king. She was the mother of Mary.
Source of this question: gate item 1 re-asked (options rotated) — this chapter has no third quick-check module.
The ebook also holds task 3, "Explain one reason for the split",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Henry split from Rome, step by step. Reveal the answer; pupils mark their own work in a different colour, then read the "why" together. Same destination for every lane, so one answer serves the whole class.
Answer: Henry becomes king and marries Catherine of Aragon (1509)  (B); Henry asks the Pope to annul his marriage to Catherine, and the Pope refuses (1527)  (G); Henry marries Anne Boleyn (January 1533)  (C); The Act in Restraint of Appeals takes the Pope's power over religious matters in England (1533)  (A); The Act of Supremacy makes Henry Supreme Head of the Church of England (1534)  (D); Henry begins the Dissolution of the Monasteries (1536)  (F); The Pope excommunicates Henry (December 1538)  (E)
Why: 1509 marriage to Catherine; 1527 the Pope refuses an annulment; January 1533 Henry marries Anne; 1533 the Act in Restraint of Appeals; 1534 the Act of Supremacy; 1536 the monasteries begin to close; December 1538 the Pope excommunicates Henry.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Three problems, three solutions. Reveal the answer; pupils mark their own work in a different colour, then read the "why" together. Same destination for every lane, so one answer serves the whole class.
Answer: Marriage: the Pope would not annul Henry's marriage to Catherine  →  C  The Act in Restraint of Appeals, 1533, so Henry's own bishops could end the marriage; Money: the Church was rich and Henry was short of money  →  A  The Dissolution of the Monasteries, taking their land and treasure for the Crown; Power: the Pope, not the king, had the final say on religion in England  →  B  The Act of Supremacy, 1534, making Henry Supreme Head of the Church of England
Why: Marriage was solved by the Act in Restraint of Appeals (1533), money by the Dissolution of the Monasteries (from 1536) and power by the Act of Supremacy (1534).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Catherine of Aragon
Why: Henry married Catherine of Aragon in 1509, the year he became king. She was the mother of Mary.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Tudors · AQA KS3 → 8145</a:t>
            </a:r>
            <a:endParaRPr lang="en-US" sz="1800" dirty="0"/>
          </a:p>
        </p:txBody>
      </p:sp>
      <p:sp>
        <p:nvSpPr>
          <p:cNvPr id="10" name="deck-title"/>
          <p:cNvSpPr txBox="1"/>
          <p:nvPr/>
        </p:nvSpPr>
        <p:spPr>
          <a:xfrm>
            <a:off x="548640" y="241731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Henry VIII: why did he split from the Catholic Church?</a:t>
            </a:r>
            <a:endParaRPr lang="en-US" sz="2800" dirty="0"/>
          </a:p>
        </p:txBody>
      </p:sp>
      <p:sp>
        <p:nvSpPr>
          <p:cNvPr id="11" name="lessons-card"/>
          <p:cNvSpPr/>
          <p:nvPr/>
        </p:nvSpPr>
        <p:spPr>
          <a:xfrm>
            <a:off x="548640" y="3697478"/>
            <a:ext cx="5287975" cy="1328420"/>
          </a:xfrm>
          <a:prstGeom prst="roundRect">
            <a:avLst>
              <a:gd name="adj" fmla="val 5507"/>
            </a:avLst>
          </a:prstGeom>
          <a:solidFill>
            <a:srgbClr val="F6F2EF"/>
          </a:solidFill>
          <a:ln/>
        </p:spPr>
      </p:sp>
      <p:sp>
        <p:nvSpPr>
          <p:cNvPr id="12" name="lessons"/>
          <p:cNvSpPr txBox="1"/>
          <p:nvPr/>
        </p:nvSpPr>
        <p:spPr>
          <a:xfrm>
            <a:off x="685800" y="378891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Henry VIII and the split from the Church</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Edward VI: a Protestant England</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Which Tudor monarch made the biggest religious changes in England?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Who was Henry VIII's first wife?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Anne Boleyn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Catherine of Aragon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Jane Seymour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Lady Jane Grey</a:t>
            </a:r>
            <a:endParaRPr lang="en-US" sz="24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the Act of Supremacy make Henry VIII Supreme Head of the Church of England?</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Henry wanted a male ___ so that a son would rule after him and keep the Tudor line in power.</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heir  ·  regent  ·  Pope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Catherine of Aragon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Who was Henry VIII's first wife?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Henry married Catherine of Aragon in 1509, the year he became king. She was the mother of Mary.</a:t>
            </a:r>
            <a:endParaRPr lang="en-US" sz="22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1534</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did the Act of Supremacy make Henry VIII Supreme Head of the Church of England?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Act of Supremacy was passed in 1534. The Treasons Act of the same year made it a crime to deny Henry's new title.</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heir</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Henry wanted a male ___ so that a son would rule after him and keep the Tudor line in power.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An heir is the person who takes the throne next. Henry believed only a son could rule strongly enough to keep the Tudors in power.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heir</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person who will be the next king or queen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Henry wanted a son to be his heir.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annulment</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ruling that a marriage was never valid, so it is cancelled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Henry asked the Pope for an annulment of his marriage to Catherine.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Supreme Head</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leader of the Church of England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Act of Supremacy made Henry Supreme Head of the Church of England.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Act of Supremacy</a:t>
            </a:r>
            <a:endParaRPr lang="en-US" sz="2600" dirty="0"/>
          </a:p>
        </p:txBody>
      </p:sp>
      <p:sp>
        <p:nvSpPr>
          <p:cNvPr id="11" name="word-rule"/>
          <p:cNvSpPr/>
          <p:nvPr/>
        </p:nvSpPr>
        <p:spPr>
          <a:xfrm>
            <a:off x="731520" y="2558288"/>
            <a:ext cx="3149498" cy="0"/>
          </a:xfrm>
          <a:prstGeom prst="line">
            <a:avLst/>
          </a:prstGeom>
          <a:ln w="12700">
            <a:solidFill>
              <a:srgbClr val="CEBCAC"/>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law of 1534 that made Henry head of the Church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After the Act of Supremacy, the Pope had no power in England.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Dissolution of the Monasteries</a:t>
            </a:r>
            <a:endParaRPr lang="en-US" sz="2600" dirty="0"/>
          </a:p>
        </p:txBody>
      </p:sp>
      <p:sp>
        <p:nvSpPr>
          <p:cNvPr id="17" name="word-rule"/>
          <p:cNvSpPr/>
          <p:nvPr/>
        </p:nvSpPr>
        <p:spPr>
          <a:xfrm>
            <a:off x="4521098" y="2558288"/>
            <a:ext cx="3149498" cy="0"/>
          </a:xfrm>
          <a:prstGeom prst="line">
            <a:avLst/>
          </a:prstGeom>
          <a:ln w="12700">
            <a:solidFill>
              <a:srgbClr val="CEBCAC"/>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closing of the monasteries and the taking of their wealth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Dissolution of the Monasteries made Henry very rich.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excommunication</a:t>
            </a:r>
            <a:endParaRPr lang="en-US" sz="2600" dirty="0"/>
          </a:p>
        </p:txBody>
      </p:sp>
      <p:sp>
        <p:nvSpPr>
          <p:cNvPr id="23" name="word-rule"/>
          <p:cNvSpPr/>
          <p:nvPr/>
        </p:nvSpPr>
        <p:spPr>
          <a:xfrm>
            <a:off x="8310677" y="2558288"/>
            <a:ext cx="3149498" cy="0"/>
          </a:xfrm>
          <a:prstGeom prst="line">
            <a:avLst/>
          </a:prstGeom>
          <a:ln w="12700">
            <a:solidFill>
              <a:srgbClr val="CEBCAC"/>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being thrown out of the Catholic Church by the Pope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Henry's excommunication came in 1538.</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Henry VIII became king in 1509, aged just 17.</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married Catherine of Aragon, his dead brother's wife.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Henry wanted a son to be his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heir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keep the Tudors in power.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After many years, Catherine had given him only a daughter, Mary.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Henry fell in love with Anne Boleyn.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1527 he asked the Pope to annul his marriage, which means to cancel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Pope said no.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Henry took the Pope's power in England for himself.</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January 1533 he married Anne Boleyn.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1534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Act of Supremacy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made Henry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Supreme Head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the Church of England.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Henry also closed the monasteries and took their land and money.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1538 the Pope excommunicated Henry, throwing him out of the Catholic Church.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Yet Henry still thought of himself as a Catholic.</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king who needed a son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Henry did not become a Protestant. He wanted the Pope's power, not Luther's ideas. Keep those two things apart in your writing.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VIII became king in 1509, aged just 17, after the death of his father Henry VII.</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wanted a male heir. A son, he believed, would rule strongly after him and keep the Tudor line in power.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had choices. He could ask the Pope to end his marriage, or he could wait.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Three problems: marriage, money and power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three problems with their solutions: Marriage → Act in Restraint of Appeals, 1533; Money → Dissolution of the Monasteries; Power → Act of Supremacy, 1534.</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lesson's worksheet sorts Henry's reasons into three problems, each with the law or action that solved it.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Money: the Church was enormously rich. Your lesson says it owned about 25 per cent of the land in England, and Protestants criticised its wealth.</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Power: in 1534 the Act of Supremacy made Henry Supreme Head of the Church of England, so the Pope had no authority in England at all.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Three problems: marriage, money and power</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6F2EF"/>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the problem of money helped cause Henry's split from the Catholic Church.</a:t>
            </a:r>
            <a:endParaRPr lang="en-US" sz="2000" dirty="0"/>
          </a:p>
        </p:txBody>
      </p:sp>
      <p:sp>
        <p:nvSpPr>
          <p:cNvPr id="9" name="step-box"/>
          <p:cNvSpPr/>
          <p:nvPr/>
        </p:nvSpPr>
        <p:spPr>
          <a:xfrm>
            <a:off x="548640" y="2192528"/>
            <a:ext cx="11094415" cy="469392"/>
          </a:xfrm>
          <a:prstGeom prst="roundRect">
            <a:avLst>
              <a:gd name="adj" fmla="val 15584"/>
            </a:avLst>
          </a:prstGeom>
          <a:solidFill>
            <a:srgbClr val="FFFFFF"/>
          </a:solidFill>
          <a:ln w="15875">
            <a:solidFill>
              <a:srgbClr val="B69B83"/>
            </a:solidFill>
            <a:prstDash val="solid"/>
          </a:ln>
        </p:spPr>
      </p:sp>
      <p:sp>
        <p:nvSpPr>
          <p:cNvPr id="10" name="step-hex"/>
          <p:cNvSpPr/>
          <p:nvPr/>
        </p:nvSpPr>
        <p:spPr>
          <a:xfrm>
            <a:off x="685800" y="2229256"/>
            <a:ext cx="457200" cy="395935"/>
          </a:xfrm>
          <a:prstGeom prst="hexagon">
            <a:avLst/>
          </a:prstGeom>
          <a:solidFill>
            <a:srgbClr val="7A4A1E"/>
          </a:solidFill>
          <a:ln/>
        </p:spPr>
      </p:sp>
      <p:sp>
        <p:nvSpPr>
          <p:cNvPr id="11" name="step-hex-label"/>
          <p:cNvSpPr txBox="1"/>
          <p:nvPr/>
        </p:nvSpPr>
        <p:spPr>
          <a:xfrm>
            <a:off x="685800" y="222925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One reason Henry split from the Catholic Church was money.</a:t>
            </a:r>
            <a:endParaRPr lang="en-US" sz="1800" dirty="0"/>
          </a:p>
        </p:txBody>
      </p:sp>
      <p:sp>
        <p:nvSpPr>
          <p:cNvPr id="13" name="step-box"/>
          <p:cNvSpPr/>
          <p:nvPr/>
        </p:nvSpPr>
        <p:spPr>
          <a:xfrm>
            <a:off x="548640" y="2735072"/>
            <a:ext cx="11094415" cy="733552"/>
          </a:xfrm>
          <a:prstGeom prst="roundRect">
            <a:avLst>
              <a:gd name="adj" fmla="val 9972"/>
            </a:avLst>
          </a:prstGeom>
          <a:solidFill>
            <a:srgbClr val="FFFFFF"/>
          </a:solidFill>
          <a:ln w="15875">
            <a:solidFill>
              <a:srgbClr val="B69B83"/>
            </a:solidFill>
            <a:prstDash val="solid"/>
          </a:ln>
        </p:spPr>
      </p:sp>
      <p:sp>
        <p:nvSpPr>
          <p:cNvPr id="14" name="step-hex"/>
          <p:cNvSpPr/>
          <p:nvPr/>
        </p:nvSpPr>
        <p:spPr>
          <a:xfrm>
            <a:off x="685800" y="2903880"/>
            <a:ext cx="457200" cy="395935"/>
          </a:xfrm>
          <a:prstGeom prst="hexagon">
            <a:avLst/>
          </a:prstGeom>
          <a:solidFill>
            <a:srgbClr val="7A4A1E"/>
          </a:solidFill>
          <a:ln/>
        </p:spPr>
      </p:sp>
      <p:sp>
        <p:nvSpPr>
          <p:cNvPr id="15" name="step-hex-label"/>
          <p:cNvSpPr txBox="1"/>
          <p:nvPr/>
        </p:nvSpPr>
        <p:spPr>
          <a:xfrm>
            <a:off x="685800" y="2903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35072"/>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Evidence: The Church owned about 25 per cent of the land in England, and Henry, a lavish spender who loved war, was short of money.</a:t>
            </a:r>
            <a:endParaRPr lang="en-US" sz="1800" dirty="0"/>
          </a:p>
        </p:txBody>
      </p:sp>
      <p:sp>
        <p:nvSpPr>
          <p:cNvPr id="17" name="step-box"/>
          <p:cNvSpPr/>
          <p:nvPr/>
        </p:nvSpPr>
        <p:spPr>
          <a:xfrm>
            <a:off x="548640" y="354177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710584"/>
            <a:ext cx="457200" cy="395935"/>
          </a:xfrm>
          <a:prstGeom prst="hexagon">
            <a:avLst/>
          </a:prstGeom>
          <a:solidFill>
            <a:srgbClr val="7A4A1E"/>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4177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Once Henry was head of the Church he could close the monasteries and take their land and treasure, which he began to do from 1536.</a:t>
            </a:r>
            <a:endParaRPr lang="en-US" sz="1800" dirty="0"/>
          </a:p>
        </p:txBody>
      </p:sp>
      <p:sp>
        <p:nvSpPr>
          <p:cNvPr id="21" name="step-box"/>
          <p:cNvSpPr/>
          <p:nvPr/>
        </p:nvSpPr>
        <p:spPr>
          <a:xfrm>
            <a:off x="548640" y="4348480"/>
            <a:ext cx="11094415" cy="733552"/>
          </a:xfrm>
          <a:prstGeom prst="roundRect">
            <a:avLst>
              <a:gd name="adj" fmla="val 9972"/>
            </a:avLst>
          </a:prstGeom>
          <a:solidFill>
            <a:srgbClr val="FFFFFF"/>
          </a:solidFill>
          <a:ln w="15875">
            <a:solidFill>
              <a:srgbClr val="B69B83"/>
            </a:solidFill>
            <a:prstDash val="solid"/>
          </a:ln>
        </p:spPr>
      </p:sp>
      <p:sp>
        <p:nvSpPr>
          <p:cNvPr id="22" name="step-hex"/>
          <p:cNvSpPr/>
          <p:nvPr/>
        </p:nvSpPr>
        <p:spPr>
          <a:xfrm>
            <a:off x="685800" y="4517288"/>
            <a:ext cx="457200" cy="395935"/>
          </a:xfrm>
          <a:prstGeom prst="hexagon">
            <a:avLst/>
          </a:prstGeom>
          <a:solidFill>
            <a:srgbClr val="7A4A1E"/>
          </a:solidFill>
          <a:ln/>
        </p:spPr>
      </p:sp>
      <p:sp>
        <p:nvSpPr>
          <p:cNvPr id="23" name="step-hex-label"/>
          <p:cNvSpPr txBox="1"/>
          <p:nvPr/>
        </p:nvSpPr>
        <p:spPr>
          <a:xfrm>
            <a:off x="685800" y="45172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48480"/>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Therefore money was a reason for the split, because breaking with the Pope let Henry take the Church's wealth for himself.</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Point, evidence, explain, link: the Church's wealth (about 25 per cent of the land) became Henry's once he was head of the Church, through the Dissolution of the Monasteries from 1536.</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changed, and what did not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good answer on impact says what changed (the Pope's power, the monasteries) AND what stayed the same (Catholic services, a Catholic king).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England was no longer under the Pope, but it did not become a Protestant country under Henry.</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Henry's family life kept changing too. In 1536 he used his new powers as Supreme Head to have his marriage to Anne Boleyn annulled, and she was executed for treason.</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Pope finally excommunicated Henry in December 1538, throwing him out of the Catholic Church.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How Henry split from Rome, step by step</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200" b="1" dirty="0">
                <a:solidFill>
                  <a:srgbClr val="1E2229"/>
                </a:solidFill>
                <a:latin typeface="Calibri" pitchFamily="34" charset="0"/>
                <a:ea typeface="Calibri" pitchFamily="34" charset="-122"/>
                <a:cs typeface="Calibri" pitchFamily="34" charset="-120"/>
              </a:rPr>
              <a:t>Put these events in chronological order to show how Henry VIII split from the Catholic Church.</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The Act in Restraint of Appeals takes the Pope's power over religious matters in England (1533)</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Henry becomes king and marries Catherine of Aragon (1509)</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Henry marries Anne Boleyn (January 1533)</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The Act of Supremacy makes Henry Supreme Head of the Church of England (1534)</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The Pope excommunicates Henry (December 1538)</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Henry begins the Dissolution of the Monasteries (1536)</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G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Henry asks the Pope to annul his marriage to Catherine, and the Pope refuses (1527)</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How Henry split from Rome, step by step</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events in chronological order to show how Henry VIII split from the Catholic Church.</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F6F2EF"/>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Every event has a year in brackets. Read all seven years first and find the smallest.</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Two events are in 1533. The marriage was in January, the law came later in the year, so the marriage goes first.</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Check the story makes sense: the Pope says no BEFORE Henry acts; Henry becomes head of the Church BEFORE he closes the monasteries.</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last step is the Pope's reaction: excommunication.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How Henry split from Rome, step by step</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events in chronological order to show how Henry VIII split from the Catholic Church.</a:t>
            </a:r>
            <a:endParaRPr lang="en-US" sz="2000" dirty="0"/>
          </a:p>
        </p:txBody>
      </p:sp>
      <p:sp>
        <p:nvSpPr>
          <p:cNvPr id="12" name="col-Core"/>
          <p:cNvSpPr/>
          <p:nvPr/>
        </p:nvSpPr>
        <p:spPr>
          <a:xfrm>
            <a:off x="548640" y="2593848"/>
            <a:ext cx="5410048" cy="3550920"/>
          </a:xfrm>
          <a:prstGeom prst="roundRect">
            <a:avLst>
              <a:gd name="adj" fmla="val 1545"/>
            </a:avLst>
          </a:prstGeom>
          <a:solidFill>
            <a:srgbClr val="E6DDD4"/>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Smallest year first. In 1533 the January marriage comes before the Act. Excommunication is the Pope's final answer, so it goes last.</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7A4A1E"/>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Your homework asks which event was the final nail in the coffin between Henry and the Pope. Choose one, and explain why the Pope might have waited until 1538 to excommunicate Henry.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Three problems, three solutions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of Henry's problems to the law or action that solved it.</a:t>
            </a:r>
            <a:endParaRPr lang="en-US" sz="2200" dirty="0"/>
          </a:p>
        </p:txBody>
      </p:sp>
      <p:sp>
        <p:nvSpPr>
          <p:cNvPr id="11" name="match-card"/>
          <p:cNvSpPr/>
          <p:nvPr/>
        </p:nvSpPr>
        <p:spPr>
          <a:xfrm>
            <a:off x="777240" y="2468331"/>
            <a:ext cx="4745292" cy="1103376"/>
          </a:xfrm>
          <a:prstGeom prst="roundRect">
            <a:avLst>
              <a:gd name="adj" fmla="val 6630"/>
            </a:avLst>
          </a:prstGeom>
          <a:solidFill>
            <a:srgbClr val="F8F6F4"/>
          </a:solidFill>
          <a:ln/>
        </p:spPr>
      </p:sp>
      <p:sp>
        <p:nvSpPr>
          <p:cNvPr id="12" name="match-hex"/>
          <p:cNvSpPr/>
          <p:nvPr/>
        </p:nvSpPr>
        <p:spPr>
          <a:xfrm>
            <a:off x="850392" y="2853727"/>
            <a:ext cx="384048" cy="332586"/>
          </a:xfrm>
          <a:prstGeom prst="hexagon">
            <a:avLst/>
          </a:prstGeom>
          <a:solidFill>
            <a:srgbClr val="7A4A1E"/>
          </a:solidFill>
          <a:ln/>
        </p:spPr>
      </p:sp>
      <p:sp>
        <p:nvSpPr>
          <p:cNvPr id="13" name="match-hex-label"/>
          <p:cNvSpPr txBox="1"/>
          <p:nvPr/>
        </p:nvSpPr>
        <p:spPr>
          <a:xfrm>
            <a:off x="850392" y="285372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150932" cy="11033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Marriage: the Pope would not annul Henry's marriage to Catherine</a:t>
            </a:r>
            <a:endParaRPr lang="en-US" sz="2000" dirty="0"/>
          </a:p>
        </p:txBody>
      </p:sp>
      <p:sp>
        <p:nvSpPr>
          <p:cNvPr id="15" name="match-card"/>
          <p:cNvSpPr/>
          <p:nvPr/>
        </p:nvSpPr>
        <p:spPr>
          <a:xfrm>
            <a:off x="5888292" y="2468331"/>
            <a:ext cx="5526163" cy="1103376"/>
          </a:xfrm>
          <a:prstGeom prst="roundRect">
            <a:avLst>
              <a:gd name="adj" fmla="val 6630"/>
            </a:avLst>
          </a:prstGeom>
          <a:solidFill>
            <a:srgbClr val="F9F4EC"/>
          </a:solidFill>
          <a:ln/>
        </p:spPr>
      </p:sp>
      <p:sp>
        <p:nvSpPr>
          <p:cNvPr id="16" name="match-hex"/>
          <p:cNvSpPr/>
          <p:nvPr/>
        </p:nvSpPr>
        <p:spPr>
          <a:xfrm>
            <a:off x="5961444" y="2853727"/>
            <a:ext cx="384048" cy="332586"/>
          </a:xfrm>
          <a:prstGeom prst="hexagon">
            <a:avLst/>
          </a:prstGeom>
          <a:solidFill>
            <a:srgbClr val="B8862B"/>
          </a:solidFill>
          <a:ln/>
        </p:spPr>
      </p:sp>
      <p:sp>
        <p:nvSpPr>
          <p:cNvPr id="17" name="match-hex-label"/>
          <p:cNvSpPr txBox="1"/>
          <p:nvPr/>
        </p:nvSpPr>
        <p:spPr>
          <a:xfrm>
            <a:off x="5961444" y="285372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409500" y="2468331"/>
            <a:ext cx="4931803" cy="11033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Dissolution of the Monasteries, taking their land and treasure for the Crown</a:t>
            </a:r>
            <a:endParaRPr lang="en-US" sz="2000" dirty="0"/>
          </a:p>
        </p:txBody>
      </p:sp>
      <p:sp>
        <p:nvSpPr>
          <p:cNvPr id="19" name="match-card"/>
          <p:cNvSpPr/>
          <p:nvPr/>
        </p:nvSpPr>
        <p:spPr>
          <a:xfrm>
            <a:off x="777240" y="3663147"/>
            <a:ext cx="4745292" cy="1103376"/>
          </a:xfrm>
          <a:prstGeom prst="roundRect">
            <a:avLst>
              <a:gd name="adj" fmla="val 6630"/>
            </a:avLst>
          </a:prstGeom>
          <a:solidFill>
            <a:srgbClr val="F8F6F4"/>
          </a:solidFill>
          <a:ln/>
        </p:spPr>
      </p:sp>
      <p:sp>
        <p:nvSpPr>
          <p:cNvPr id="20" name="match-hex"/>
          <p:cNvSpPr/>
          <p:nvPr/>
        </p:nvSpPr>
        <p:spPr>
          <a:xfrm>
            <a:off x="850392" y="4048543"/>
            <a:ext cx="384048" cy="332586"/>
          </a:xfrm>
          <a:prstGeom prst="hexagon">
            <a:avLst/>
          </a:prstGeom>
          <a:solidFill>
            <a:srgbClr val="7A4A1E"/>
          </a:solidFill>
          <a:ln/>
        </p:spPr>
      </p:sp>
      <p:sp>
        <p:nvSpPr>
          <p:cNvPr id="21" name="match-hex-label"/>
          <p:cNvSpPr txBox="1"/>
          <p:nvPr/>
        </p:nvSpPr>
        <p:spPr>
          <a:xfrm>
            <a:off x="850392" y="40485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147"/>
            <a:ext cx="4150932" cy="11033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Money: the Church was rich and Henry was short of money</a:t>
            </a:r>
            <a:endParaRPr lang="en-US" sz="2000" dirty="0"/>
          </a:p>
        </p:txBody>
      </p:sp>
      <p:sp>
        <p:nvSpPr>
          <p:cNvPr id="23" name="match-card"/>
          <p:cNvSpPr/>
          <p:nvPr/>
        </p:nvSpPr>
        <p:spPr>
          <a:xfrm>
            <a:off x="5888292" y="3663147"/>
            <a:ext cx="5526163" cy="1103376"/>
          </a:xfrm>
          <a:prstGeom prst="roundRect">
            <a:avLst>
              <a:gd name="adj" fmla="val 6630"/>
            </a:avLst>
          </a:prstGeom>
          <a:solidFill>
            <a:srgbClr val="F9F4EC"/>
          </a:solidFill>
          <a:ln/>
        </p:spPr>
      </p:sp>
      <p:sp>
        <p:nvSpPr>
          <p:cNvPr id="24" name="match-hex"/>
          <p:cNvSpPr/>
          <p:nvPr/>
        </p:nvSpPr>
        <p:spPr>
          <a:xfrm>
            <a:off x="5961444" y="4048543"/>
            <a:ext cx="384048" cy="332586"/>
          </a:xfrm>
          <a:prstGeom prst="hexagon">
            <a:avLst/>
          </a:prstGeom>
          <a:solidFill>
            <a:srgbClr val="B8862B"/>
          </a:solidFill>
          <a:ln/>
        </p:spPr>
      </p:sp>
      <p:sp>
        <p:nvSpPr>
          <p:cNvPr id="25" name="match-hex-label"/>
          <p:cNvSpPr txBox="1"/>
          <p:nvPr/>
        </p:nvSpPr>
        <p:spPr>
          <a:xfrm>
            <a:off x="5961444" y="40485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409500" y="3663147"/>
            <a:ext cx="4931803" cy="11033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Act of Supremacy, 1534, making Henry Supreme Head of the Church of England</a:t>
            </a:r>
            <a:endParaRPr lang="en-US" sz="2000" dirty="0"/>
          </a:p>
        </p:txBody>
      </p:sp>
      <p:sp>
        <p:nvSpPr>
          <p:cNvPr id="27" name="match-card"/>
          <p:cNvSpPr/>
          <p:nvPr/>
        </p:nvSpPr>
        <p:spPr>
          <a:xfrm>
            <a:off x="777240" y="4857963"/>
            <a:ext cx="4745292" cy="1103376"/>
          </a:xfrm>
          <a:prstGeom prst="roundRect">
            <a:avLst>
              <a:gd name="adj" fmla="val 6630"/>
            </a:avLst>
          </a:prstGeom>
          <a:solidFill>
            <a:srgbClr val="F8F6F4"/>
          </a:solidFill>
          <a:ln/>
        </p:spPr>
      </p:sp>
      <p:sp>
        <p:nvSpPr>
          <p:cNvPr id="28" name="match-hex"/>
          <p:cNvSpPr/>
          <p:nvPr/>
        </p:nvSpPr>
        <p:spPr>
          <a:xfrm>
            <a:off x="850392" y="5243359"/>
            <a:ext cx="384048" cy="332586"/>
          </a:xfrm>
          <a:prstGeom prst="hexagon">
            <a:avLst/>
          </a:prstGeom>
          <a:solidFill>
            <a:srgbClr val="7A4A1E"/>
          </a:solidFill>
          <a:ln/>
        </p:spPr>
      </p:sp>
      <p:sp>
        <p:nvSpPr>
          <p:cNvPr id="29" name="match-hex-label"/>
          <p:cNvSpPr txBox="1"/>
          <p:nvPr/>
        </p:nvSpPr>
        <p:spPr>
          <a:xfrm>
            <a:off x="850392" y="52433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7963"/>
            <a:ext cx="4150932" cy="11033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Power: the Pope, not the king, had the final say on religion in England</a:t>
            </a:r>
            <a:endParaRPr lang="en-US" sz="2000" dirty="0"/>
          </a:p>
        </p:txBody>
      </p:sp>
      <p:sp>
        <p:nvSpPr>
          <p:cNvPr id="31" name="match-card"/>
          <p:cNvSpPr/>
          <p:nvPr/>
        </p:nvSpPr>
        <p:spPr>
          <a:xfrm>
            <a:off x="5888292" y="4857963"/>
            <a:ext cx="5526163" cy="1103376"/>
          </a:xfrm>
          <a:prstGeom prst="roundRect">
            <a:avLst>
              <a:gd name="adj" fmla="val 6630"/>
            </a:avLst>
          </a:prstGeom>
          <a:solidFill>
            <a:srgbClr val="F9F4EC"/>
          </a:solidFill>
          <a:ln/>
        </p:spPr>
      </p:sp>
      <p:sp>
        <p:nvSpPr>
          <p:cNvPr id="32" name="match-hex"/>
          <p:cNvSpPr/>
          <p:nvPr/>
        </p:nvSpPr>
        <p:spPr>
          <a:xfrm>
            <a:off x="5961444" y="5243359"/>
            <a:ext cx="384048" cy="332586"/>
          </a:xfrm>
          <a:prstGeom prst="hexagon">
            <a:avLst/>
          </a:prstGeom>
          <a:solidFill>
            <a:srgbClr val="B8862B"/>
          </a:solidFill>
          <a:ln/>
        </p:spPr>
      </p:sp>
      <p:sp>
        <p:nvSpPr>
          <p:cNvPr id="33" name="match-hex-label"/>
          <p:cNvSpPr txBox="1"/>
          <p:nvPr/>
        </p:nvSpPr>
        <p:spPr>
          <a:xfrm>
            <a:off x="5961444" y="52433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409500" y="4857963"/>
            <a:ext cx="4931803" cy="11033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Act in Restraint of Appeals, 1533, so Henry's own bishops could end the marriage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Three problems, three solutions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Three problems, three solutions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problem and ask what Henry needed: a way to end a marriage, a way to get money, or a way to be in charge.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law about appeals (asking a higher court) is about who decides the marriage case.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Closing monasteries and taking their land is about money.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law that gives Henry a new title, Supreme Head, is about power.</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Appeals are about who judges the marriage; monasteries are about wealth; supremacy means being on top.</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Rank the three problems from most to least important as a cause of the split, and explain your number one in two sentences.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was Henry VIII's first wife?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Catherine of Aragon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Jane Seymour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Lady Jane Grey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Anne Boleyn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How Henry split from Rome, step by step</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Henry becomes king and marries Catherine of Aragon (1509)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Henry asks the Pope to annul his marriage to Catherine, and the Pope refuses (1527)  (G)</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Henry marries Anne Boleyn (January 1533)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Act in Restraint of Appeals takes the Pope's power over religious matters in England (1533)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Act of Supremacy makes Henry Supreme Head of the Church of England (1534)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Henry begins the Dissolution of the Monasteries (1536)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7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Pope excommunicates Henry (December 1538)  (E)</a:t>
            </a:r>
            <a:endParaRPr lang="en-US" sz="1800" dirty="0"/>
          </a:p>
        </p:txBody>
      </p:sp>
      <p:sp>
        <p:nvSpPr>
          <p:cNvPr id="10" name="why-panel"/>
          <p:cNvSpPr/>
          <p:nvPr/>
        </p:nvSpPr>
        <p:spPr>
          <a:xfrm>
            <a:off x="7955280" y="1389888"/>
            <a:ext cx="3687775" cy="4754880"/>
          </a:xfrm>
          <a:prstGeom prst="roundRect">
            <a:avLst>
              <a:gd name="adj" fmla="val 1240"/>
            </a:avLst>
          </a:prstGeom>
          <a:solidFill>
            <a:srgbClr val="F6F2EF"/>
          </a:solidFill>
          <a:ln/>
        </p:spPr>
      </p:sp>
      <p:sp>
        <p:nvSpPr>
          <p:cNvPr id="11" name="why-hex"/>
          <p:cNvSpPr/>
          <p:nvPr/>
        </p:nvSpPr>
        <p:spPr>
          <a:xfrm>
            <a:off x="8138160" y="1572768"/>
            <a:ext cx="685800" cy="593903"/>
          </a:xfrm>
          <a:prstGeom prst="hexagon">
            <a:avLst/>
          </a:prstGeom>
          <a:solidFill>
            <a:srgbClr val="7A4A1E"/>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1509 marriage to Catherine; 1527 the Pope refuses an annulment; January 1533 Henry marries Anne; 1533 the Act in Restraint of Appeals; 1534 the Act of Supremacy; 1536 the monasteries begin to close; December 1538 the Pope excommunicates Henry.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Three problems, three solutions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Marriage: the Pope would not annul Henry's marriage to Catherine  →  C  The Act in Restraint of Appeals, 1533, so Henry's own bishops could end the marriage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Money: the Church was rich and Henry was short of money  →  A  The Dissolution of the Monasteries, taking their land and treasure for the Crown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Power: the Pope, not the king, had the final say on religion in England  →  B  The Act of Supremacy, 1534, making Henry Supreme Head of the Church of England</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Marriage was solved by the Act in Restraint of Appeals (1533), money by the Dissolution of the Monasteries (from 1536) and power by the Act of Supremacy (1534).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was Henry VIII's first wife?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Catherine of Aragon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married Catherine of Aragon in 1509, the year he became king. She was the mother of Mary.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Tudors · Chapter 2: Henry VIII: why did he split from the Catholic Church?</dc:title>
  <dc:subject>History · Year 7</dc:subject>
  <dc:creator>Dr Vitor Merissi de Carvalho</dc:creator>
  <cp:lastModifiedBy>Dr Vitor Merissi de Carvalho</cp:lastModifiedBy>
  <cp:revision>1</cp:revision>
  <dcterms:created xsi:type="dcterms:W3CDTF">2026-10-19T16:23:15Z</dcterms:created>
  <dcterms:modified xsi:type="dcterms:W3CDTF">2026-10-19T16:23:15Z</dcterms:modified>
</cp:coreProperties>
</file>