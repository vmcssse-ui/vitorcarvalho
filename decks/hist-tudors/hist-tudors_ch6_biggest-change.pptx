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72acb55-d8aa-2650-b0c1-5a02875adc24}">
          <p14:sldIdLst>
            <p14:sldId id="256"/>
          </p14:sldIdLst>
        </p14:section>
        <p14:section name="Gate" id="{8facdbc8-814c-47b9-53c7-e0eadd5161a1}">
          <p14:sldIdLst>
            <p14:sldId id="257"/>
            <p14:sldId id="258"/>
          </p14:sldIdLst>
        </p14:section>
        <p14:section name="Pre-teach" id="{71b9ecbd-ec2e-6657-f806-768d0058ff98}">
          <p14:sldIdLst>
            <p14:sldId id="259"/>
          </p14:sldIdLst>
        </p14:section>
        <p14:section name="Read-along" id="{2faf06b3-eed2-39a7-a3fe-53ae6b9808cc}">
          <p14:sldIdLst>
            <p14:sldId id="260"/>
            <p14:sldId id="261"/>
          </p14:sldIdLst>
        </p14:section>
        <p14:section name="Teach" id="{ac209047-9f3d-28b2-693f-77df795d8c65}">
          <p14:sldIdLst>
            <p14:sldId id="262"/>
            <p14:sldId id="263"/>
            <p14:sldId id="264"/>
            <p14:sldId id="265"/>
          </p14:sldIdLst>
        </p14:section>
        <p14:section name="Routes" id="{4d5b986c-18bb-0203-90c5-c85d3fb43472}">
          <p14:sldIdLst>
            <p14:sldId id="266"/>
            <p14:sldId id="267"/>
            <p14:sldId id="268"/>
            <p14:sldId id="269"/>
          </p14:sldIdLst>
        </p14:section>
        <p14:section name="Close" id="{8c4f4077-ced4-cd6c-be13-0f3e5177cd40}">
          <p14:sldIdLst>
            <p14:sldId id="270"/>
          </p14:sldIdLst>
        </p14:section>
        <p14:section name="Answers" id="{c537b197-4236-dd47-bb7e-97221d189147}">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Which Tudor monarch made the biggest religious changes?. The four monarchs and their policies side by side, the three tests historians use to measure change, and how to build the assessment answer.
This deck covers the department's lesson: 6 (The Tudors: review lesson: Which Tudor monarch made the biggest religious changes in England?).
Read the big question aloud: "Which Tudor monarch made the biggest religious changes in England?"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Tudor monarch ordered the Dissolution of the Monasteries?  →  A   Henry VIII
2. Elizabeth I's Religious Settlement of 1559 became known as the ___ Way.  →  Middle
3. Under which monarch was a new prayer book in English first introduced?  →  C   Edward VI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Henry VIII. Henry VIII began closing the monasteries from 1536 and took their land and treasure for the Crown.
2. Middle. The Middle Way was Elizabeth's attempt at a compromise that both Catholics and Protestants could live with.
3. C   Edward VI. Edward VI's England produced the first English prayer book. Henry had refused to; Mary brought Latin back; Elizabeth's 1559 book was a revised English version.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policy: a plan of action chosen by a ruler or government. Example: "Each Tudor monarch had a different religious policy."
• impact: the effect something has on people. Example: "Historians judge a change by its impact."
• long-lasting: still felt a long time afterwards. Example: "Elizabeth's settlement was long-lasting because it outlived her."
• judgement: your decision after weighing the evidence. Example: "Your conclusion must give a clear judgement."
• evidence: facts that support a point. Example: "The more specific your evidence, the stronger your paragraph."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You have now met four Tudor monarchs who changed religion in England.
2. Henry VIII broke from the Pope and made himself Supreme Head of the Church.
3. He closed the monasteries, but kept Catholic services.
4. Edward VI made England Protestant, with plain churches and an English prayer book.
5. Mary I brought back the Catholic faith and burned about 300 Protestants.
6. Elizabeth I chose the Middle Way to end the fighting.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Your assessment asks which monarch made the biggest religious changes.
8. Historians judge a change by its impact.
9. They ask how many people it affected.
10. They ask how long it lasted.
11. They ask whether it was something brand new.
12. Use these three tests to make your own judgement.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monarchs, four policies. Say it in your own words, then check understanding with a quick question: ask a pupil from the pre-teach group first, since they met these words and ideas before the lesson. Pupils try to recall before you re-explain.
Henry VIII (code H in your bell work): the Act of Supremacy of 1534 made him Supreme Head of the Church of England; he began the Dissolution of the Monasteries from 1536; he destroyed Becket's shrine; the Pope excommunicated him in 1538. Yet services stayed Catholic and Henry died a Catholic. Edward VI (E): the first Protestant king; plain churches with paintings and decorations destroyed; a new prayer book in English.
Mary I (M): heresy laws; Latin prayer books and decorated churches brought back; about 300 Protestants burned at the stake; marriage to Philip II of Spain. Elizabeth I (EL): the Middle Way; the Act of Supremacy of 1559 making her Supreme Governor; the Act of Uniformity; the Common Prayer Book in English.
Your review sheet lists nine changes for a Diamond of 9: Act of Supremacy, Dissolution of the Monasteries, English Prayer Book, Burning Protestants, Middle Way, Act of Uniformity, Excommunication, Heresy Laws, Supreme Governor. Before you rank them, make sure you can say which monarch each belongs to.
Tip: Bingo words to recognise: Excommunication (Henry), English (Edward's prayer book), Burnt at the Stake (Mary), Supreme Governor and the Middle Way (Elizabeth), Lady Jane Grey (1553), Jane Seymour (Edward's mother).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do historians measure change?. Say it in your own words, then check understanding with a quick question: ask a pupil from the pre-teach group first, since they met these words and ideas before the lesson. Pupils try to recall before you re-explain.
Your lesson gives three prompts for judging how big a change was. Impact: how many people did it affect, and how deeply? A change that altered what every villager saw in church each Sunday had a bigger impact than a change to a title. How long-lasting: did it survive the monarch who made it, or was it undone by the next one? Brand new: was it the first time anything like this had happened, or did it copy or reverse an earlier change?
Apply the tests and the answer is not obvious. Henry's break with Rome was brand new and it lasted, but its impact on ordinary worship was small. Edward's changes had a huge impact on worship but lasted only six years before Mary reversed them. Mary's burnings had a terrible impact on about 300 people and their families, but her changes lasted only five years. Elizabeth's settlement was partly a copy of earlier laws, yet it lasted longest of all.
This is why the assessment question is a how far question. Any of the four monarchs can be argued for, as long as you use the tests and give specific evidence.
Worked example — model it step by step, thinking aloud: Use the three tests to judge how big a change Henry VIII's Act of Supremacy was. (1) Impact: it removed the Pope's authority over every church in England, so it affected the whole country, but ordinary services did not change. (2) Long-lasting: apart from Mary's five years, the monarch has led the Church of England ever since, so it lasted. (3) Brand new: no English king had ever been head of the Church before, so it was completely new. (4) Judgement: a very big change in who held power, a smaller change in how people worshipped. Answer: Big on long-lasting and brand new; smaller on day-to-day impact. A strong candidate for the biggest change, but not the only one..
Tip: Impact, lasting, new. Run every change through all three before you rank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do historians measure change?. Say it in your own words, then check understanding with a quick question: ask a pupil from the pre-teach group first, since they met these words and ideas before the lesson. Pupils try to recall before you re-explain.
Your lesson gives three prompts for judging how big a change was. Impact: how many people did it affect, and how deeply? A change that altered what every villager saw in church each Sunday had a bigger impact than a change to a title. How long-lasting: did it survive the monarch who made it, or was it undone by the next one? Brand new: was it the first time anything like this had happened, or did it copy or reverse an earlier change?
Apply the tests and the answer is not obvious. Henry's break with Rome was brand new and it lasted, but its impact on ordinary worship was small. Edward's changes had a huge impact on worship but lasted only six years before Mary reversed them. Mary's burnings had a terrible impact on about 300 people and their families, but her changes lasted only five years. Elizabeth's settlement was partly a copy of earlier laws, yet it lasted longest of all.
This is why the assessment question is a how far question. Any of the four monarchs can be argued for, as long as you use the tests and give specific evidence.
Worked example — model it step by step, thinking aloud: Use the three tests to judge how big a change Henry VIII's Act of Supremacy was. (1) Impact: it removed the Pope's authority over every church in England, so it affected the whole country, but ordinary services did not change. (2) Long-lasting: apart from Mary's five years, the monarch has led the Church of England ever since, so it lasted. (3) Brand new: no English king had ever been head of the Church before, so it was completely new. (4) Judgement: a very big change in who held power, a smaller change in how people worshipped. Answer: Big on long-lasting and brand new; smaller on day-to-day impact. A strong candidate for the biggest change, but not the only one..
Tip: Impact, lasting, new. Run every change through all three before you rank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Building the assessment answer. Say it in your own words, then check understanding with a quick question: ask a pupil from the pre-teach group first, since they met these words and ideas before the lesson. Pupils try to recall before you re-explain.
The practice question is: Henry VIII introduced the biggest religious changes in Tudor England. How far do you agree? Your lesson sets a three-paragraph structure. Paragraph 1 agrees with the statement, using Henry's changes. Paragraph 2 disagrees, arguing that a different monarch made bigger changes. Paragraph 3 is a conclusion that makes a judgement about which Tudor made the biggest religious change. So you write about two of the four monarchs.
Each paragraph follows the success criteria. SC1: state clearly whether you agree or disagree. SC2: give a reason, your point. SC3: give evidence, and the more specific the knowledge the better: a law, a year, a number. SC4: explain how your evidence answers the question about who made the biggest changes. SC5: link back to the question.
Your lesson's sentence starters help: I agree that… / I disagree that… instead it was…; For example…; This shows big religious change because…; Therefore… The conclusion begins Overall, I agree or disagree… and names whose changes were bigger and why.
Tip: Specific knowledge wins marks: not Henry changed the Church but the Act of Supremacy of 1534 made Henry Supreme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Whose policy was it?.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religious policy to the Tudor monarch who introduced it.
Support — work through the steps with the group: (1) Think about what each monarch wanted. Henry wanted the Pope's power and the Church's money. (2) Edward wanted England Protestant: plain churches and English services. (3) Mary wanted England Catholic again and punished Protestants as heretics. (4) Elizabeth wanted peace between the sides and chose a softer title.
Parallel worked example for Support (model it, do not give the task answer): Match the leader to the change: Luther; William the Conqueror. Choices: built castles across England; wrote the 95 Theses. Luther was a monk who protested against the Church: the 95 Theses.; William was a conqueror who needed control: castles.. Answer: Luther → 95 Theses; William → castles..
Core — reveal the hint only on request: Money and monasteries: Henry. Plain and English: Edward. Heresy and burning: Mary. Governor and Middle: Elizabeth.
Stretch — no help; when finished: Rank the four policies from biggest to smallest religious change using the three tests (impact, lasting, new), and justify your top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Whose policy was it?.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religious policy to the Tudor monarch who introduced it.
Support — work through the steps with the group: (1) Think about what each monarch wanted. Henry wanted the Pope's power and the Church's money. (2) Edward wanted England Protestant: plain churches and English services. (3) Mary wanted England Catholic again and punished Protestants as heretics. (4) Elizabeth wanted peace between the sides and chose a softer title.
Parallel worked example for Support (model it, do not give the task answer): Match the leader to the change: Luther; William the Conqueror. Choices: built castles across England; wrote the 95 Theses. Luther was a monk who protested against the Church: the 95 Theses.; William was a conqueror who needed control: castles.. Answer: Luther → 95 Theses; William → castles..
Core — reveal the hint only on request: Money and monasteries: Henry. Plain and English: Edward. Heresy and burning: Mary. Governor and Middle: Elizabeth.
Stretch — no help; when finished: Rank the four policies from biggest to smallest religious change using the three tests (impact, lasting, new), and justify your top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monarch made this change?.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monarch closes the monasteries and takes their land and treasure for the Crown. Which Tudor monarch made this change?
Support — work through the steps with the group: (1) Ask what the change is about: money and land, how services look, punishing heretics, or compromise. (2) Money, land, the Pope's power and new titles for the king all point to Henry VIII. (3) Plain churches and English services point to Edward; Latin and burnings to Mary; Governor and compromise to Elizabeth. (4) Monasteries are land and treasure, so this is Henry.
Parallel worked example for Support (model it, do not give the task answer): A monarch brings back Latin prayer books and decorated churches. Which Tudor monarch made this change? Latin and decoration are Catholic ways.; The Tudor who restored Catholic ways was Mary I.. Answer: Mary I..
Core — reveal the hint only on request: Who gained from this change? If the king gained money or power, think Henry.
Stretch — no help; when finished: Explain why Henry could only close the monasteries after the Act of Supremacy, and what that tells you about the order of his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monarch made this change?.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monarch closes the monasteries and takes their land and treasure for the Crown. Which Tudor monarch made this change?
Support — work through the steps with the group: (1) Ask what the change is about: money and land, how services look, punishing heretics, or compromise. (2) Money, land, the Pope's power and new titles for the king all point to Henry VIII. (3) Plain churches and English services point to Edward; Latin and burnings to Mary; Governor and compromise to Elizabeth. (4) Monasteries are land and treasure, so this is Henry.
Parallel worked example for Support (model it, do not give the task answer): A monarch brings back Latin prayer books and decorated churches. Which Tudor monarch made this change? Latin and decoration are Catholic ways.; The Tudor who restored Catholic ways was Mary I.. Answer: Mary I..
Core — reveal the hint only on request: Who gained from this change? If the king gained money or power, think Henry.
Stretch — no help; when finished: Explain why Henry could only close the monasteries after the Act of Supremacy, and what that tells you about the order of his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Tudor monarch ordered the Dissolution of the Monasteries?
Answer: D   Henry VIII. Henry VIII began closing the monasteries from 1536 and took their land and treasure for the Crown.
Source of this question: gate item 1 re-asked (options rotated) — this chapter has no third quick-check module.
The ebook also holds task 3, "Assessment practice: the disagree paragraph",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Whose policy was it?. Reveal the answer; pupils mark their own work in a different colour, then read the "why" together. Same destination for every lane, so one answer serves the whole class.
Answer: Dissolution of the Monasteries  →  B  Henry VIII; English Prayer Book, plain churches  →  D  Edward VI; Heresy laws and the burning of Protestants  →  A  Mary I; Supreme Governor and the Middle Way  →  C  Elizabeth I
Why: Henry closed the monasteries; Edward brought the English prayer book and plain churches; Mary brought heresy laws and burnings; Elizabeth became Supreme Governor and chose the Middle Way.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monarch made this change?. Reveal the answer; pupils mark their own work in a different colour, then read the "why" together. Same destination for every lane, so one answer serves the whole class.
Answer: A   Henry VIII
Why: Henry's changes were about power and money: the Pope's authority, the title Supreme Head, the monasteries, Becket's shrine. Edward's were about how people worshipped.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Henry VIII
Why: Henry VIII began closing the monasteries from 1536 and took their land and treasure for the Crown.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Tudors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Tudors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Tudors · AQA KS3 → 8145</a:t>
            </a:r>
            <a:endParaRPr lang="en-US" sz="1800" dirty="0"/>
          </a:p>
        </p:txBody>
      </p:sp>
      <p:sp>
        <p:nvSpPr>
          <p:cNvPr id="10" name="deck-title"/>
          <p:cNvSpPr txBox="1"/>
          <p:nvPr/>
        </p:nvSpPr>
        <p:spPr>
          <a:xfrm>
            <a:off x="548640" y="259130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Which Tudor monarch made the biggest religious changes?</a:t>
            </a:r>
            <a:endParaRPr lang="en-US" sz="2800" dirty="0"/>
          </a:p>
        </p:txBody>
      </p:sp>
      <p:sp>
        <p:nvSpPr>
          <p:cNvPr id="11" name="lessons-card"/>
          <p:cNvSpPr/>
          <p:nvPr/>
        </p:nvSpPr>
        <p:spPr>
          <a:xfrm>
            <a:off x="548640" y="3871468"/>
            <a:ext cx="5287975" cy="980440"/>
          </a:xfrm>
          <a:prstGeom prst="roundRect">
            <a:avLst>
              <a:gd name="adj" fmla="val 7461"/>
            </a:avLst>
          </a:prstGeom>
          <a:solidFill>
            <a:srgbClr val="F6F2EF"/>
          </a:solidFill>
          <a:ln/>
        </p:spPr>
      </p:sp>
      <p:sp>
        <p:nvSpPr>
          <p:cNvPr id="12" name="lessons"/>
          <p:cNvSpPr txBox="1"/>
          <p:nvPr/>
        </p:nvSpPr>
        <p:spPr>
          <a:xfrm>
            <a:off x="685800" y="396290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Tudors: review lesson</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Which Tudor monarch made the biggest religious changes in England?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Tudor monarch ordered the Dissolution of the Monasteries?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Henry VIII</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Edward VI</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Elizabeth I</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Mary I</a:t>
            </a:r>
            <a:endParaRPr lang="en-US" sz="2400" dirty="0"/>
          </a:p>
        </p:txBody>
      </p:sp>
      <p:sp>
        <p:nvSpPr>
          <p:cNvPr id="12"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Elizabeth I's Religious Settlement of 1559 became known as the ___ Way.</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Middle  ·  Catholic  ·  Protestant</a:t>
            </a:r>
            <a:endParaRPr lang="en-US" sz="2400" dirty="0"/>
          </a:p>
        </p:txBody>
      </p:sp>
      <p:sp>
        <p:nvSpPr>
          <p:cNvPr id="17"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Under which monarch was a new prayer book in English first introduced?</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Elizabeth I</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Henry VIII</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Edward VI</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Mary I</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Henry VIII</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Tudor monarch ordered the Dissolution of the Monasteries?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Henry VIII began closing the monasteries from 1536 and took their land and treasure for the Crown.</a:t>
            </a:r>
            <a:endParaRPr lang="en-US" sz="2000" dirty="0"/>
          </a:p>
        </p:txBody>
      </p:sp>
      <p:sp>
        <p:nvSpPr>
          <p:cNvPr id="14"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Middle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Elizabeth I's Religious Settlement of 1559 became known as the ___ Way.</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Middle Way was Elizabeth's attempt at a compromise that both Catholics and Protestants could live with.</a:t>
            </a:r>
            <a:endParaRPr lang="en-US" sz="2000" dirty="0"/>
          </a:p>
        </p:txBody>
      </p:sp>
      <p:sp>
        <p:nvSpPr>
          <p:cNvPr id="21"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Edward VI</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Under which monarch was a new prayer book in English first introduced?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Edward VI's England produced the first English prayer book. Henry had refused to; Mary brought Latin back; Elizabeth's 1559 book was a revised English version.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7A4A1E"/>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8F6F4"/>
          </a:solidFill>
          <a:ln/>
        </p:spPr>
      </p:sp>
      <p:sp>
        <p:nvSpPr>
          <p:cNvPr id="12" name="kw-hex"/>
          <p:cNvSpPr/>
          <p:nvPr/>
        </p:nvSpPr>
        <p:spPr>
          <a:xfrm>
            <a:off x="658368" y="2135261"/>
            <a:ext cx="411480" cy="356342"/>
          </a:xfrm>
          <a:prstGeom prst="hexagon">
            <a:avLst/>
          </a:prstGeom>
          <a:solidFill>
            <a:srgbClr val="7A4A1E"/>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policy</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plan of action chosen by a ruler or government</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Each Tudor monarch had a different religious policy.</a:t>
            </a:r>
            <a:endParaRPr lang="en-US" sz="1800" dirty="0"/>
          </a:p>
        </p:txBody>
      </p:sp>
      <p:sp>
        <p:nvSpPr>
          <p:cNvPr id="16" name="kw-row"/>
          <p:cNvSpPr/>
          <p:nvPr/>
        </p:nvSpPr>
        <p:spPr>
          <a:xfrm>
            <a:off x="548640" y="2779776"/>
            <a:ext cx="11094415" cy="786384"/>
          </a:xfrm>
          <a:prstGeom prst="roundRect">
            <a:avLst>
              <a:gd name="adj" fmla="val 6977"/>
            </a:avLst>
          </a:prstGeom>
          <a:solidFill>
            <a:srgbClr val="F9F4EC"/>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impact</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effect something has on people</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Historians judge a change by its impact.</a:t>
            </a:r>
            <a:endParaRPr lang="en-US" sz="1800" dirty="0"/>
          </a:p>
        </p:txBody>
      </p:sp>
      <p:sp>
        <p:nvSpPr>
          <p:cNvPr id="21" name="kw-row"/>
          <p:cNvSpPr/>
          <p:nvPr/>
        </p:nvSpPr>
        <p:spPr>
          <a:xfrm>
            <a:off x="548640" y="3639312"/>
            <a:ext cx="11094415" cy="786384"/>
          </a:xfrm>
          <a:prstGeom prst="roundRect">
            <a:avLst>
              <a:gd name="adj" fmla="val 6977"/>
            </a:avLst>
          </a:prstGeom>
          <a:solidFill>
            <a:srgbClr val="F8F6F4"/>
          </a:solidFill>
          <a:ln/>
        </p:spPr>
      </p:sp>
      <p:sp>
        <p:nvSpPr>
          <p:cNvPr id="22" name="kw-hex"/>
          <p:cNvSpPr/>
          <p:nvPr/>
        </p:nvSpPr>
        <p:spPr>
          <a:xfrm>
            <a:off x="658368" y="3854333"/>
            <a:ext cx="411480" cy="356342"/>
          </a:xfrm>
          <a:prstGeom prst="hexagon">
            <a:avLst/>
          </a:prstGeom>
          <a:solidFill>
            <a:srgbClr val="7A4A1E"/>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long-lasting</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still felt a long time afterwards</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Elizabeth's settlement was long-lasting because it outlived her.</a:t>
            </a:r>
            <a:endParaRPr lang="en-US" sz="1800" dirty="0"/>
          </a:p>
        </p:txBody>
      </p:sp>
      <p:sp>
        <p:nvSpPr>
          <p:cNvPr id="26" name="kw-row"/>
          <p:cNvSpPr/>
          <p:nvPr/>
        </p:nvSpPr>
        <p:spPr>
          <a:xfrm>
            <a:off x="548640" y="4498848"/>
            <a:ext cx="11094415" cy="786384"/>
          </a:xfrm>
          <a:prstGeom prst="roundRect">
            <a:avLst>
              <a:gd name="adj" fmla="val 6977"/>
            </a:avLst>
          </a:prstGeom>
          <a:solidFill>
            <a:srgbClr val="F9F4EC"/>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judgement</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decision after weighing the evidence</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Your conclusion must give a clear judgement.</a:t>
            </a:r>
            <a:endParaRPr lang="en-US" sz="1800" dirty="0"/>
          </a:p>
        </p:txBody>
      </p:sp>
      <p:sp>
        <p:nvSpPr>
          <p:cNvPr id="31" name="kw-row"/>
          <p:cNvSpPr/>
          <p:nvPr/>
        </p:nvSpPr>
        <p:spPr>
          <a:xfrm>
            <a:off x="548640" y="5358384"/>
            <a:ext cx="11094415" cy="786384"/>
          </a:xfrm>
          <a:prstGeom prst="roundRect">
            <a:avLst>
              <a:gd name="adj" fmla="val 6977"/>
            </a:avLst>
          </a:prstGeom>
          <a:solidFill>
            <a:srgbClr val="F8F6F4"/>
          </a:solidFill>
          <a:ln/>
        </p:spPr>
      </p:sp>
      <p:sp>
        <p:nvSpPr>
          <p:cNvPr id="32" name="kw-hex"/>
          <p:cNvSpPr/>
          <p:nvPr/>
        </p:nvSpPr>
        <p:spPr>
          <a:xfrm>
            <a:off x="658368" y="5573405"/>
            <a:ext cx="411480" cy="356342"/>
          </a:xfrm>
          <a:prstGeom prst="hexagon">
            <a:avLst/>
          </a:prstGeom>
          <a:solidFill>
            <a:srgbClr val="7A4A1E"/>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evidence</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facts that support a point</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more specific your evidence, the stronger your paragraph.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You have now met four Tudor monarchs who changed religion in England.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Henry VIII broke from the Pope and made himself Supreme Head of the Church.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closed the monasteries, but kept Catholic services.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Edward VI made England Protestant, with plain churches and an English prayer book.</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Mary I brought back the Catholic faith and burned about 300 Protestants.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Elizabeth I chose the Middle Way to end the fighting.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Your assessment asks which monarch made the biggest religious changes.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Historians judge a change by its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impact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ask how many people it affected.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ask how long it lasted.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ask whether it was something brand new.</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Use these three tests to make your own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judgement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Four monarchs, four policies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11094415"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10225735"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Bingo words to recognise: Excommunication (Henry), English (Edward's prayer book), Burnt at the Stake (Mary), Supreme Governor and the Middle Way (Elizabeth), Lady Jane Grey (1553), Jane Seymour (Edward's mother).</a:t>
            </a:r>
            <a:endParaRPr lang="en-US" sz="1800" dirty="0"/>
          </a:p>
        </p:txBody>
      </p:sp>
      <p:sp>
        <p:nvSpPr>
          <p:cNvPr id="11" name="bullet-card"/>
          <p:cNvSpPr/>
          <p:nvPr/>
        </p:nvSpPr>
        <p:spPr>
          <a:xfrm>
            <a:off x="548640" y="1389888"/>
            <a:ext cx="11094415" cy="1151805"/>
          </a:xfrm>
          <a:prstGeom prst="roundRect">
            <a:avLst>
              <a:gd name="adj" fmla="val 6351"/>
            </a:avLst>
          </a:prstGeom>
          <a:solidFill>
            <a:srgbClr val="F8F6F4"/>
          </a:solidFill>
          <a:ln/>
        </p:spPr>
      </p:sp>
      <p:sp>
        <p:nvSpPr>
          <p:cNvPr id="12" name="bullet-hex"/>
          <p:cNvSpPr/>
          <p:nvPr/>
        </p:nvSpPr>
        <p:spPr>
          <a:xfrm>
            <a:off x="676656" y="1799498"/>
            <a:ext cx="384048" cy="332586"/>
          </a:xfrm>
          <a:prstGeom prst="hexagon">
            <a:avLst/>
          </a:prstGeom>
          <a:solidFill>
            <a:srgbClr val="7A4A1E"/>
          </a:solidFill>
          <a:ln/>
        </p:spPr>
      </p:sp>
      <p:sp>
        <p:nvSpPr>
          <p:cNvPr id="13" name="bullet"/>
          <p:cNvSpPr txBox="1"/>
          <p:nvPr/>
        </p:nvSpPr>
        <p:spPr>
          <a:xfrm>
            <a:off x="1143000" y="1389888"/>
            <a:ext cx="10408615" cy="115180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Henry VIII (code H in your bell work): the Act of Supremacy of 1534 made him Supreme Head of the Church of England; he began the Dissolution of the Monasteries from 1536; he destroyed Becket's shrine; the Pope excommunicated him in 1538.</a:t>
            </a:r>
            <a:endParaRPr lang="en-US" sz="2200" dirty="0"/>
          </a:p>
        </p:txBody>
      </p:sp>
      <p:sp>
        <p:nvSpPr>
          <p:cNvPr id="14" name="bullet-card"/>
          <p:cNvSpPr/>
          <p:nvPr/>
        </p:nvSpPr>
        <p:spPr>
          <a:xfrm>
            <a:off x="548640" y="2687997"/>
            <a:ext cx="11094415" cy="810937"/>
          </a:xfrm>
          <a:prstGeom prst="roundRect">
            <a:avLst>
              <a:gd name="adj" fmla="val 9021"/>
            </a:avLst>
          </a:prstGeom>
          <a:solidFill>
            <a:srgbClr val="F8F6F4"/>
          </a:solidFill>
          <a:ln/>
        </p:spPr>
      </p:sp>
      <p:sp>
        <p:nvSpPr>
          <p:cNvPr id="15" name="bullet-hex"/>
          <p:cNvSpPr/>
          <p:nvPr/>
        </p:nvSpPr>
        <p:spPr>
          <a:xfrm>
            <a:off x="676656" y="2927173"/>
            <a:ext cx="384048" cy="332586"/>
          </a:xfrm>
          <a:prstGeom prst="hexagon">
            <a:avLst/>
          </a:prstGeom>
          <a:solidFill>
            <a:srgbClr val="B8862B"/>
          </a:solidFill>
          <a:ln/>
        </p:spPr>
      </p:sp>
      <p:sp>
        <p:nvSpPr>
          <p:cNvPr id="16" name="bullet"/>
          <p:cNvSpPr txBox="1"/>
          <p:nvPr/>
        </p:nvSpPr>
        <p:spPr>
          <a:xfrm>
            <a:off x="1143000" y="2687997"/>
            <a:ext cx="10408615" cy="8109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Mary I (M): heresy laws; Latin prayer books and decorated churches brought back; about 300 Protestants burned at the stake; marriage to Philip II of Spain.</a:t>
            </a:r>
            <a:endParaRPr lang="en-US" sz="2200" dirty="0"/>
          </a:p>
        </p:txBody>
      </p:sp>
      <p:sp>
        <p:nvSpPr>
          <p:cNvPr id="17" name="bullet-card"/>
          <p:cNvSpPr/>
          <p:nvPr/>
        </p:nvSpPr>
        <p:spPr>
          <a:xfrm>
            <a:off x="548640" y="3645239"/>
            <a:ext cx="11094415" cy="1151805"/>
          </a:xfrm>
          <a:prstGeom prst="roundRect">
            <a:avLst>
              <a:gd name="adj" fmla="val 6351"/>
            </a:avLst>
          </a:prstGeom>
          <a:solidFill>
            <a:srgbClr val="F8F6F4"/>
          </a:solidFill>
          <a:ln/>
        </p:spPr>
      </p:sp>
      <p:sp>
        <p:nvSpPr>
          <p:cNvPr id="18" name="bullet-hex"/>
          <p:cNvSpPr/>
          <p:nvPr/>
        </p:nvSpPr>
        <p:spPr>
          <a:xfrm>
            <a:off x="676656" y="4054849"/>
            <a:ext cx="384048" cy="332586"/>
          </a:xfrm>
          <a:prstGeom prst="hexagon">
            <a:avLst/>
          </a:prstGeom>
          <a:solidFill>
            <a:srgbClr val="7A4A1E"/>
          </a:solidFill>
          <a:ln/>
        </p:spPr>
      </p:sp>
      <p:sp>
        <p:nvSpPr>
          <p:cNvPr id="19" name="bullet"/>
          <p:cNvSpPr txBox="1"/>
          <p:nvPr/>
        </p:nvSpPr>
        <p:spPr>
          <a:xfrm>
            <a:off x="1143000" y="3645239"/>
            <a:ext cx="10408615" cy="115180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review sheet lists nine changes for a Diamond of 9: Act of Supremacy, Dissolution of the Monasteries, English Prayer Book, Burning Protestants, Middle Way, Act of Uniformity, Excommunication, Heresy Laws, Supreme Governor.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How do historians measure change?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Impact, lasting, new. Run every change through all three before you rank it.</a:t>
            </a:r>
            <a:endParaRPr lang="en-US" sz="1800" dirty="0"/>
          </a:p>
        </p:txBody>
      </p:sp>
      <p:sp>
        <p:nvSpPr>
          <p:cNvPr id="11" name="point-card"/>
          <p:cNvSpPr/>
          <p:nvPr/>
        </p:nvSpPr>
        <p:spPr>
          <a:xfrm>
            <a:off x="548640" y="1389888"/>
            <a:ext cx="3515258" cy="3964940"/>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gives three prompts for judging how big a change was.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Apply the tests and the answer is not obvious. Henry's break with Rome was brand new and it lasted, but its impact on ordinary worship was small.</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is why the assessment question is a how far question.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Worked example: How do historians measure change?</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6F2EF"/>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Use the three tests to judge how big a change Henry VIII's Act of Supremacy was.</a:t>
            </a:r>
            <a:endParaRPr lang="en-US" sz="2000" dirty="0"/>
          </a:p>
        </p:txBody>
      </p:sp>
      <p:sp>
        <p:nvSpPr>
          <p:cNvPr id="9" name="step-box"/>
          <p:cNvSpPr/>
          <p:nvPr/>
        </p:nvSpPr>
        <p:spPr>
          <a:xfrm>
            <a:off x="548640" y="2192528"/>
            <a:ext cx="11094415" cy="786384"/>
          </a:xfrm>
          <a:prstGeom prst="roundRect">
            <a:avLst>
              <a:gd name="adj" fmla="val 9302"/>
            </a:avLst>
          </a:prstGeom>
          <a:solidFill>
            <a:srgbClr val="FFFFFF"/>
          </a:solidFill>
          <a:ln w="15875">
            <a:solidFill>
              <a:srgbClr val="B69B83"/>
            </a:solidFill>
            <a:prstDash val="solid"/>
          </a:ln>
        </p:spPr>
      </p:sp>
      <p:sp>
        <p:nvSpPr>
          <p:cNvPr id="10" name="step-hex"/>
          <p:cNvSpPr/>
          <p:nvPr/>
        </p:nvSpPr>
        <p:spPr>
          <a:xfrm>
            <a:off x="685800" y="2387752"/>
            <a:ext cx="457200" cy="395935"/>
          </a:xfrm>
          <a:prstGeom prst="hexagon">
            <a:avLst/>
          </a:prstGeom>
          <a:solidFill>
            <a:srgbClr val="7A4A1E"/>
          </a:solidFill>
          <a:ln/>
        </p:spPr>
      </p:sp>
      <p:sp>
        <p:nvSpPr>
          <p:cNvPr id="11" name="step-hex-label"/>
          <p:cNvSpPr txBox="1"/>
          <p:nvPr/>
        </p:nvSpPr>
        <p:spPr>
          <a:xfrm>
            <a:off x="685800" y="238775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Impact: it removed the Pope's authority over every church in England, so it affected the whole country, but ordinary services did not change.</a:t>
            </a:r>
            <a:endParaRPr lang="en-US" sz="1800" dirty="0"/>
          </a:p>
        </p:txBody>
      </p:sp>
      <p:sp>
        <p:nvSpPr>
          <p:cNvPr id="13" name="step-box"/>
          <p:cNvSpPr/>
          <p:nvPr/>
        </p:nvSpPr>
        <p:spPr>
          <a:xfrm>
            <a:off x="548640" y="3052064"/>
            <a:ext cx="11094415" cy="786384"/>
          </a:xfrm>
          <a:prstGeom prst="roundRect">
            <a:avLst>
              <a:gd name="adj" fmla="val 9302"/>
            </a:avLst>
          </a:prstGeom>
          <a:solidFill>
            <a:srgbClr val="FFFFFF"/>
          </a:solidFill>
          <a:ln w="15875">
            <a:solidFill>
              <a:srgbClr val="B69B83"/>
            </a:solidFill>
            <a:prstDash val="solid"/>
          </a:ln>
        </p:spPr>
      </p:sp>
      <p:sp>
        <p:nvSpPr>
          <p:cNvPr id="14" name="step-hex"/>
          <p:cNvSpPr/>
          <p:nvPr/>
        </p:nvSpPr>
        <p:spPr>
          <a:xfrm>
            <a:off x="685800" y="3247288"/>
            <a:ext cx="457200" cy="395935"/>
          </a:xfrm>
          <a:prstGeom prst="hexagon">
            <a:avLst/>
          </a:prstGeom>
          <a:solidFill>
            <a:srgbClr val="7A4A1E"/>
          </a:solidFill>
          <a:ln/>
        </p:spPr>
      </p:sp>
      <p:sp>
        <p:nvSpPr>
          <p:cNvPr id="15" name="step-hex-label"/>
          <p:cNvSpPr txBox="1"/>
          <p:nvPr/>
        </p:nvSpPr>
        <p:spPr>
          <a:xfrm>
            <a:off x="685800" y="324728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52064"/>
            <a:ext cx="10180015"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Long-lasting: apart from Mary's five years, the monarch has led the Church of England ever since, so it lasted.</a:t>
            </a:r>
            <a:endParaRPr lang="en-US" sz="1800" dirty="0"/>
          </a:p>
        </p:txBody>
      </p:sp>
      <p:sp>
        <p:nvSpPr>
          <p:cNvPr id="17" name="step-box"/>
          <p:cNvSpPr/>
          <p:nvPr/>
        </p:nvSpPr>
        <p:spPr>
          <a:xfrm>
            <a:off x="548640" y="3911600"/>
            <a:ext cx="11094415" cy="522224"/>
          </a:xfrm>
          <a:prstGeom prst="roundRect">
            <a:avLst>
              <a:gd name="adj" fmla="val 14008"/>
            </a:avLst>
          </a:prstGeom>
          <a:solidFill>
            <a:srgbClr val="FFFFFF"/>
          </a:solidFill>
          <a:ln w="15875">
            <a:solidFill>
              <a:srgbClr val="B69B83"/>
            </a:solidFill>
            <a:prstDash val="solid"/>
          </a:ln>
        </p:spPr>
      </p:sp>
      <p:sp>
        <p:nvSpPr>
          <p:cNvPr id="18" name="step-hex"/>
          <p:cNvSpPr/>
          <p:nvPr/>
        </p:nvSpPr>
        <p:spPr>
          <a:xfrm>
            <a:off x="685800" y="3974744"/>
            <a:ext cx="457200" cy="395935"/>
          </a:xfrm>
          <a:prstGeom prst="hexagon">
            <a:avLst/>
          </a:prstGeom>
          <a:solidFill>
            <a:srgbClr val="7A4A1E"/>
          </a:solidFill>
          <a:ln/>
        </p:spPr>
      </p:sp>
      <p:sp>
        <p:nvSpPr>
          <p:cNvPr id="19" name="step-hex-label"/>
          <p:cNvSpPr txBox="1"/>
          <p:nvPr/>
        </p:nvSpPr>
        <p:spPr>
          <a:xfrm>
            <a:off x="685800" y="397474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911600"/>
            <a:ext cx="10180015" cy="5222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Brand new: no English king had ever been head of the Church before, so it was completely new.</a:t>
            </a:r>
            <a:endParaRPr lang="en-US" sz="1800" dirty="0"/>
          </a:p>
        </p:txBody>
      </p:sp>
      <p:sp>
        <p:nvSpPr>
          <p:cNvPr id="21" name="step-box"/>
          <p:cNvSpPr/>
          <p:nvPr/>
        </p:nvSpPr>
        <p:spPr>
          <a:xfrm>
            <a:off x="548640" y="4506976"/>
            <a:ext cx="11094415" cy="522224"/>
          </a:xfrm>
          <a:prstGeom prst="roundRect">
            <a:avLst>
              <a:gd name="adj" fmla="val 14008"/>
            </a:avLst>
          </a:prstGeom>
          <a:solidFill>
            <a:srgbClr val="FFFFFF"/>
          </a:solidFill>
          <a:ln w="15875">
            <a:solidFill>
              <a:srgbClr val="B69B83"/>
            </a:solidFill>
            <a:prstDash val="solid"/>
          </a:ln>
        </p:spPr>
      </p:sp>
      <p:sp>
        <p:nvSpPr>
          <p:cNvPr id="22" name="step-hex"/>
          <p:cNvSpPr/>
          <p:nvPr/>
        </p:nvSpPr>
        <p:spPr>
          <a:xfrm>
            <a:off x="685800" y="4570120"/>
            <a:ext cx="457200" cy="395935"/>
          </a:xfrm>
          <a:prstGeom prst="hexagon">
            <a:avLst/>
          </a:prstGeom>
          <a:solidFill>
            <a:srgbClr val="7A4A1E"/>
          </a:solidFill>
          <a:ln/>
        </p:spPr>
      </p:sp>
      <p:sp>
        <p:nvSpPr>
          <p:cNvPr id="23" name="step-hex-label"/>
          <p:cNvSpPr txBox="1"/>
          <p:nvPr/>
        </p:nvSpPr>
        <p:spPr>
          <a:xfrm>
            <a:off x="685800" y="457012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506976"/>
            <a:ext cx="10180015" cy="5222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Judgement: a very big change in who held power, a smaller change in how people worshipped.</a:t>
            </a:r>
            <a:endParaRPr lang="en-US" sz="1800" dirty="0"/>
          </a:p>
        </p:txBody>
      </p:sp>
      <p:sp>
        <p:nvSpPr>
          <p:cNvPr id="25" name="worked-answer"/>
          <p:cNvSpPr/>
          <p:nvPr/>
        </p:nvSpPr>
        <p:spPr>
          <a:xfrm>
            <a:off x="548640" y="5212080"/>
            <a:ext cx="11094415" cy="831088"/>
          </a:xfrm>
          <a:prstGeom prst="roundRect">
            <a:avLst>
              <a:gd name="adj" fmla="val 16504"/>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Big on long-lasting and brand new; smaller on day-to-day impact. A strong candidate for the biggest change, but not the only one.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Building the assessment answer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Specific knowledge wins marks: not Henry changed the Church but the Act of Supremacy of 1534 made Henry Supreme Head.</a:t>
            </a:r>
            <a:endParaRPr lang="en-US" sz="1800" dirty="0"/>
          </a:p>
        </p:txBody>
      </p:sp>
      <p:sp>
        <p:nvSpPr>
          <p:cNvPr id="11" name="bullet-card"/>
          <p:cNvSpPr/>
          <p:nvPr/>
        </p:nvSpPr>
        <p:spPr>
          <a:xfrm>
            <a:off x="548640" y="1389888"/>
            <a:ext cx="11094415" cy="1017524"/>
          </a:xfrm>
          <a:prstGeom prst="roundRect">
            <a:avLst>
              <a:gd name="adj" fmla="val 7189"/>
            </a:avLst>
          </a:prstGeom>
          <a:solidFill>
            <a:srgbClr val="F8F6F4"/>
          </a:solidFill>
          <a:ln/>
        </p:spPr>
      </p:sp>
      <p:sp>
        <p:nvSpPr>
          <p:cNvPr id="12" name="bullet-hex"/>
          <p:cNvSpPr/>
          <p:nvPr/>
        </p:nvSpPr>
        <p:spPr>
          <a:xfrm>
            <a:off x="676656" y="1732357"/>
            <a:ext cx="384048" cy="332586"/>
          </a:xfrm>
          <a:prstGeom prst="hexagon">
            <a:avLst/>
          </a:prstGeom>
          <a:solidFill>
            <a:srgbClr val="7A4A1E"/>
          </a:solidFill>
          <a:ln/>
        </p:spPr>
      </p:sp>
      <p:sp>
        <p:nvSpPr>
          <p:cNvPr id="13" name="bullet"/>
          <p:cNvSpPr txBox="1"/>
          <p:nvPr/>
        </p:nvSpPr>
        <p:spPr>
          <a:xfrm>
            <a:off x="1143000" y="1389888"/>
            <a:ext cx="10408615"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practice question is: Henry VIII introduced the biggest religious changes in Tudor England.</a:t>
            </a:r>
            <a:endParaRPr lang="en-US" sz="2200" dirty="0"/>
          </a:p>
        </p:txBody>
      </p:sp>
      <p:sp>
        <p:nvSpPr>
          <p:cNvPr id="14" name="bullet-card"/>
          <p:cNvSpPr/>
          <p:nvPr/>
        </p:nvSpPr>
        <p:spPr>
          <a:xfrm>
            <a:off x="548640" y="2553716"/>
            <a:ext cx="11094415" cy="1017524"/>
          </a:xfrm>
          <a:prstGeom prst="roundRect">
            <a:avLst>
              <a:gd name="adj" fmla="val 7189"/>
            </a:avLst>
          </a:prstGeom>
          <a:solidFill>
            <a:srgbClr val="F8F6F4"/>
          </a:solidFill>
          <a:ln/>
        </p:spPr>
      </p:sp>
      <p:sp>
        <p:nvSpPr>
          <p:cNvPr id="15" name="bullet-hex"/>
          <p:cNvSpPr/>
          <p:nvPr/>
        </p:nvSpPr>
        <p:spPr>
          <a:xfrm>
            <a:off x="676656" y="2896185"/>
            <a:ext cx="384048" cy="332586"/>
          </a:xfrm>
          <a:prstGeom prst="hexagon">
            <a:avLst/>
          </a:prstGeom>
          <a:solidFill>
            <a:srgbClr val="B8862B"/>
          </a:solidFill>
          <a:ln/>
        </p:spPr>
      </p:sp>
      <p:sp>
        <p:nvSpPr>
          <p:cNvPr id="16" name="bullet"/>
          <p:cNvSpPr txBox="1"/>
          <p:nvPr/>
        </p:nvSpPr>
        <p:spPr>
          <a:xfrm>
            <a:off x="1143000" y="2553716"/>
            <a:ext cx="10408615"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Each paragraph follows the success criteria. SC1: state clearly whether you agree or disagree.</a:t>
            </a:r>
            <a:endParaRPr lang="en-US" sz="2200" dirty="0"/>
          </a:p>
        </p:txBody>
      </p:sp>
      <p:sp>
        <p:nvSpPr>
          <p:cNvPr id="17" name="bullet-card"/>
          <p:cNvSpPr/>
          <p:nvPr/>
        </p:nvSpPr>
        <p:spPr>
          <a:xfrm>
            <a:off x="548640" y="3717544"/>
            <a:ext cx="11094415" cy="1358392"/>
          </a:xfrm>
          <a:prstGeom prst="roundRect">
            <a:avLst>
              <a:gd name="adj" fmla="val 5385"/>
            </a:avLst>
          </a:prstGeom>
          <a:solidFill>
            <a:srgbClr val="F8F6F4"/>
          </a:solidFill>
          <a:ln/>
        </p:spPr>
      </p:sp>
      <p:sp>
        <p:nvSpPr>
          <p:cNvPr id="18" name="bullet-hex"/>
          <p:cNvSpPr/>
          <p:nvPr/>
        </p:nvSpPr>
        <p:spPr>
          <a:xfrm>
            <a:off x="676656" y="4230447"/>
            <a:ext cx="384048" cy="332586"/>
          </a:xfrm>
          <a:prstGeom prst="hexagon">
            <a:avLst/>
          </a:prstGeom>
          <a:solidFill>
            <a:srgbClr val="7A4A1E"/>
          </a:solidFill>
          <a:ln/>
        </p:spPr>
      </p:sp>
      <p:sp>
        <p:nvSpPr>
          <p:cNvPr id="19" name="bullet"/>
          <p:cNvSpPr txBox="1"/>
          <p:nvPr/>
        </p:nvSpPr>
        <p:spPr>
          <a:xfrm>
            <a:off x="1143000" y="3717544"/>
            <a:ext cx="10408615" cy="13583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lesson's sentence starters help: I agree that… / I disagree that… instead it was…; For example…; This shows big religious change because…; Therefore… The conclusion begins Overall, I agree or disagree… and names whose changes were bigger and why.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Whose policy was it?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religious policy to the Tudor monarch who introduced it.</a:t>
            </a:r>
            <a:endParaRPr lang="en-US" sz="2200" dirty="0"/>
          </a:p>
        </p:txBody>
      </p:sp>
      <p:sp>
        <p:nvSpPr>
          <p:cNvPr id="11" name="match-card"/>
          <p:cNvSpPr/>
          <p:nvPr/>
        </p:nvSpPr>
        <p:spPr>
          <a:xfrm>
            <a:off x="777240" y="2468331"/>
            <a:ext cx="5135728" cy="634375"/>
          </a:xfrm>
          <a:prstGeom prst="roundRect">
            <a:avLst>
              <a:gd name="adj" fmla="val 11531"/>
            </a:avLst>
          </a:prstGeom>
          <a:solidFill>
            <a:srgbClr val="F8F6F4"/>
          </a:solidFill>
          <a:ln/>
        </p:spPr>
      </p:sp>
      <p:sp>
        <p:nvSpPr>
          <p:cNvPr id="12" name="match-hex"/>
          <p:cNvSpPr/>
          <p:nvPr/>
        </p:nvSpPr>
        <p:spPr>
          <a:xfrm>
            <a:off x="850392" y="2619226"/>
            <a:ext cx="384048" cy="332586"/>
          </a:xfrm>
          <a:prstGeom prst="hexagon">
            <a:avLst/>
          </a:prstGeom>
          <a:solidFill>
            <a:srgbClr val="7A4A1E"/>
          </a:solidFill>
          <a:ln/>
        </p:spPr>
      </p:sp>
      <p:sp>
        <p:nvSpPr>
          <p:cNvPr id="13" name="match-hex-label"/>
          <p:cNvSpPr txBox="1"/>
          <p:nvPr/>
        </p:nvSpPr>
        <p:spPr>
          <a:xfrm>
            <a:off x="850392"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Dissolution of the Monasteries</a:t>
            </a:r>
            <a:endParaRPr lang="en-US" sz="2200" dirty="0"/>
          </a:p>
        </p:txBody>
      </p:sp>
      <p:sp>
        <p:nvSpPr>
          <p:cNvPr id="15" name="match-card"/>
          <p:cNvSpPr/>
          <p:nvPr/>
        </p:nvSpPr>
        <p:spPr>
          <a:xfrm>
            <a:off x="6278728" y="2468331"/>
            <a:ext cx="5135728" cy="634375"/>
          </a:xfrm>
          <a:prstGeom prst="roundRect">
            <a:avLst>
              <a:gd name="adj" fmla="val 11531"/>
            </a:avLst>
          </a:prstGeom>
          <a:solidFill>
            <a:srgbClr val="F9F4EC"/>
          </a:solidFill>
          <a:ln/>
        </p:spPr>
      </p:sp>
      <p:sp>
        <p:nvSpPr>
          <p:cNvPr id="16" name="match-hex"/>
          <p:cNvSpPr/>
          <p:nvPr/>
        </p:nvSpPr>
        <p:spPr>
          <a:xfrm>
            <a:off x="6351880" y="2619226"/>
            <a:ext cx="384048" cy="332586"/>
          </a:xfrm>
          <a:prstGeom prst="hexagon">
            <a:avLst/>
          </a:prstGeom>
          <a:solidFill>
            <a:srgbClr val="B8862B"/>
          </a:solidFill>
          <a:ln/>
        </p:spPr>
      </p:sp>
      <p:sp>
        <p:nvSpPr>
          <p:cNvPr id="17" name="match-hex-label"/>
          <p:cNvSpPr txBox="1"/>
          <p:nvPr/>
        </p:nvSpPr>
        <p:spPr>
          <a:xfrm>
            <a:off x="6351880"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Mary I</a:t>
            </a:r>
            <a:endParaRPr lang="en-US" sz="2200" dirty="0"/>
          </a:p>
        </p:txBody>
      </p:sp>
      <p:sp>
        <p:nvSpPr>
          <p:cNvPr id="19" name="match-card"/>
          <p:cNvSpPr/>
          <p:nvPr/>
        </p:nvSpPr>
        <p:spPr>
          <a:xfrm>
            <a:off x="777240" y="3194147"/>
            <a:ext cx="5135728" cy="634375"/>
          </a:xfrm>
          <a:prstGeom prst="roundRect">
            <a:avLst>
              <a:gd name="adj" fmla="val 11531"/>
            </a:avLst>
          </a:prstGeom>
          <a:solidFill>
            <a:srgbClr val="F8F6F4"/>
          </a:solidFill>
          <a:ln/>
        </p:spPr>
      </p:sp>
      <p:sp>
        <p:nvSpPr>
          <p:cNvPr id="20" name="match-hex"/>
          <p:cNvSpPr/>
          <p:nvPr/>
        </p:nvSpPr>
        <p:spPr>
          <a:xfrm>
            <a:off x="850392" y="3345041"/>
            <a:ext cx="384048" cy="332586"/>
          </a:xfrm>
          <a:prstGeom prst="hexagon">
            <a:avLst/>
          </a:prstGeom>
          <a:solidFill>
            <a:srgbClr val="7A4A1E"/>
          </a:solidFill>
          <a:ln/>
        </p:spPr>
      </p:sp>
      <p:sp>
        <p:nvSpPr>
          <p:cNvPr id="21" name="match-hex-label"/>
          <p:cNvSpPr txBox="1"/>
          <p:nvPr/>
        </p:nvSpPr>
        <p:spPr>
          <a:xfrm>
            <a:off x="850392" y="33450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94147"/>
            <a:ext cx="4541368"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English Prayer Book, plain churches</a:t>
            </a:r>
            <a:endParaRPr lang="en-US" sz="2200" dirty="0"/>
          </a:p>
        </p:txBody>
      </p:sp>
      <p:sp>
        <p:nvSpPr>
          <p:cNvPr id="23" name="match-card"/>
          <p:cNvSpPr/>
          <p:nvPr/>
        </p:nvSpPr>
        <p:spPr>
          <a:xfrm>
            <a:off x="6278728" y="3194147"/>
            <a:ext cx="5135728" cy="634375"/>
          </a:xfrm>
          <a:prstGeom prst="roundRect">
            <a:avLst>
              <a:gd name="adj" fmla="val 11531"/>
            </a:avLst>
          </a:prstGeom>
          <a:solidFill>
            <a:srgbClr val="F9F4EC"/>
          </a:solidFill>
          <a:ln/>
        </p:spPr>
      </p:sp>
      <p:sp>
        <p:nvSpPr>
          <p:cNvPr id="24" name="match-hex"/>
          <p:cNvSpPr/>
          <p:nvPr/>
        </p:nvSpPr>
        <p:spPr>
          <a:xfrm>
            <a:off x="6351880" y="3345041"/>
            <a:ext cx="384048" cy="332586"/>
          </a:xfrm>
          <a:prstGeom prst="hexagon">
            <a:avLst/>
          </a:prstGeom>
          <a:solidFill>
            <a:srgbClr val="B8862B"/>
          </a:solidFill>
          <a:ln/>
        </p:spPr>
      </p:sp>
      <p:sp>
        <p:nvSpPr>
          <p:cNvPr id="25" name="match-hex-label"/>
          <p:cNvSpPr txBox="1"/>
          <p:nvPr/>
        </p:nvSpPr>
        <p:spPr>
          <a:xfrm>
            <a:off x="6351880" y="33450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194147"/>
            <a:ext cx="4541368"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Henry VIII</a:t>
            </a:r>
            <a:endParaRPr lang="en-US" sz="2200" dirty="0"/>
          </a:p>
        </p:txBody>
      </p:sp>
      <p:sp>
        <p:nvSpPr>
          <p:cNvPr id="27" name="match-card"/>
          <p:cNvSpPr/>
          <p:nvPr/>
        </p:nvSpPr>
        <p:spPr>
          <a:xfrm>
            <a:off x="777240" y="3919962"/>
            <a:ext cx="5135728" cy="975243"/>
          </a:xfrm>
          <a:prstGeom prst="roundRect">
            <a:avLst>
              <a:gd name="adj" fmla="val 7501"/>
            </a:avLst>
          </a:prstGeom>
          <a:solidFill>
            <a:srgbClr val="F8F6F4"/>
          </a:solidFill>
          <a:ln/>
        </p:spPr>
      </p:sp>
      <p:sp>
        <p:nvSpPr>
          <p:cNvPr id="28" name="match-hex"/>
          <p:cNvSpPr/>
          <p:nvPr/>
        </p:nvSpPr>
        <p:spPr>
          <a:xfrm>
            <a:off x="850392" y="4241290"/>
            <a:ext cx="384048" cy="332586"/>
          </a:xfrm>
          <a:prstGeom prst="hexagon">
            <a:avLst/>
          </a:prstGeom>
          <a:solidFill>
            <a:srgbClr val="7A4A1E"/>
          </a:solidFill>
          <a:ln/>
        </p:spPr>
      </p:sp>
      <p:sp>
        <p:nvSpPr>
          <p:cNvPr id="29" name="match-hex-label"/>
          <p:cNvSpPr txBox="1"/>
          <p:nvPr/>
        </p:nvSpPr>
        <p:spPr>
          <a:xfrm>
            <a:off x="850392" y="424129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19962"/>
            <a:ext cx="4541368"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Heresy laws and the burning of Protestants</a:t>
            </a:r>
            <a:endParaRPr lang="en-US" sz="2200" dirty="0"/>
          </a:p>
        </p:txBody>
      </p:sp>
      <p:sp>
        <p:nvSpPr>
          <p:cNvPr id="31" name="match-card"/>
          <p:cNvSpPr/>
          <p:nvPr/>
        </p:nvSpPr>
        <p:spPr>
          <a:xfrm>
            <a:off x="6278728" y="3919962"/>
            <a:ext cx="5135728" cy="975243"/>
          </a:xfrm>
          <a:prstGeom prst="roundRect">
            <a:avLst>
              <a:gd name="adj" fmla="val 7501"/>
            </a:avLst>
          </a:prstGeom>
          <a:solidFill>
            <a:srgbClr val="F9F4EC"/>
          </a:solidFill>
          <a:ln/>
        </p:spPr>
      </p:sp>
      <p:sp>
        <p:nvSpPr>
          <p:cNvPr id="32" name="match-hex"/>
          <p:cNvSpPr/>
          <p:nvPr/>
        </p:nvSpPr>
        <p:spPr>
          <a:xfrm>
            <a:off x="6351880" y="4241290"/>
            <a:ext cx="384048" cy="332586"/>
          </a:xfrm>
          <a:prstGeom prst="hexagon">
            <a:avLst/>
          </a:prstGeom>
          <a:solidFill>
            <a:srgbClr val="B8862B"/>
          </a:solidFill>
          <a:ln/>
        </p:spPr>
      </p:sp>
      <p:sp>
        <p:nvSpPr>
          <p:cNvPr id="33" name="match-hex-label"/>
          <p:cNvSpPr txBox="1"/>
          <p:nvPr/>
        </p:nvSpPr>
        <p:spPr>
          <a:xfrm>
            <a:off x="6351880" y="424129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3919962"/>
            <a:ext cx="4541368"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Elizabeth I</a:t>
            </a:r>
            <a:endParaRPr lang="en-US" sz="2200" dirty="0"/>
          </a:p>
        </p:txBody>
      </p:sp>
      <p:sp>
        <p:nvSpPr>
          <p:cNvPr id="35" name="match-card"/>
          <p:cNvSpPr/>
          <p:nvPr/>
        </p:nvSpPr>
        <p:spPr>
          <a:xfrm>
            <a:off x="777240" y="4986645"/>
            <a:ext cx="5135728" cy="975243"/>
          </a:xfrm>
          <a:prstGeom prst="roundRect">
            <a:avLst>
              <a:gd name="adj" fmla="val 7501"/>
            </a:avLst>
          </a:prstGeom>
          <a:solidFill>
            <a:srgbClr val="F8F6F4"/>
          </a:solidFill>
          <a:ln/>
        </p:spPr>
      </p:sp>
      <p:sp>
        <p:nvSpPr>
          <p:cNvPr id="36" name="match-hex"/>
          <p:cNvSpPr/>
          <p:nvPr/>
        </p:nvSpPr>
        <p:spPr>
          <a:xfrm>
            <a:off x="850392" y="5307974"/>
            <a:ext cx="384048" cy="332586"/>
          </a:xfrm>
          <a:prstGeom prst="hexagon">
            <a:avLst/>
          </a:prstGeom>
          <a:solidFill>
            <a:srgbClr val="7A4A1E"/>
          </a:solidFill>
          <a:ln/>
        </p:spPr>
      </p:sp>
      <p:sp>
        <p:nvSpPr>
          <p:cNvPr id="37" name="match-hex-label"/>
          <p:cNvSpPr txBox="1"/>
          <p:nvPr/>
        </p:nvSpPr>
        <p:spPr>
          <a:xfrm>
            <a:off x="850392"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986645"/>
            <a:ext cx="4541368"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Supreme Governor and the Middle Way</a:t>
            </a:r>
            <a:endParaRPr lang="en-US" sz="2200" dirty="0"/>
          </a:p>
        </p:txBody>
      </p:sp>
      <p:sp>
        <p:nvSpPr>
          <p:cNvPr id="39" name="match-card"/>
          <p:cNvSpPr/>
          <p:nvPr/>
        </p:nvSpPr>
        <p:spPr>
          <a:xfrm>
            <a:off x="6278728" y="4986645"/>
            <a:ext cx="5135728" cy="975243"/>
          </a:xfrm>
          <a:prstGeom prst="roundRect">
            <a:avLst>
              <a:gd name="adj" fmla="val 7501"/>
            </a:avLst>
          </a:prstGeom>
          <a:solidFill>
            <a:srgbClr val="F9F4EC"/>
          </a:solidFill>
          <a:ln/>
        </p:spPr>
      </p:sp>
      <p:sp>
        <p:nvSpPr>
          <p:cNvPr id="40" name="match-hex"/>
          <p:cNvSpPr/>
          <p:nvPr/>
        </p:nvSpPr>
        <p:spPr>
          <a:xfrm>
            <a:off x="6351880" y="5307974"/>
            <a:ext cx="384048" cy="332586"/>
          </a:xfrm>
          <a:prstGeom prst="hexagon">
            <a:avLst/>
          </a:prstGeom>
          <a:solidFill>
            <a:srgbClr val="B8862B"/>
          </a:solidFill>
          <a:ln/>
        </p:spPr>
      </p:sp>
      <p:sp>
        <p:nvSpPr>
          <p:cNvPr id="41" name="match-hex-label"/>
          <p:cNvSpPr txBox="1"/>
          <p:nvPr/>
        </p:nvSpPr>
        <p:spPr>
          <a:xfrm>
            <a:off x="6351880"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4986645"/>
            <a:ext cx="4541368"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Edward VI</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Whose policy was it?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Whose policy was it?</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Think about what each monarch wanted. Henry wanted the Pope's power and the Church's money.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Edward wanted England Protestant: plain churches and English services.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Mary wanted England Catholic again and punished Protestants as heretics.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Elizabeth wanted peace between the sides and chose a softer title.</a:t>
            </a:r>
            <a:endParaRPr lang="en-US" sz="1800" dirty="0"/>
          </a:p>
        </p:txBody>
      </p:sp>
      <p:sp>
        <p:nvSpPr>
          <p:cNvPr id="17" name="col-Core"/>
          <p:cNvSpPr/>
          <p:nvPr/>
        </p:nvSpPr>
        <p:spPr>
          <a:xfrm>
            <a:off x="5490762" y="2395728"/>
            <a:ext cx="2938987" cy="3749040"/>
          </a:xfrm>
          <a:prstGeom prst="roundRect">
            <a:avLst>
              <a:gd name="adj" fmla="val 1867"/>
            </a:avLst>
          </a:prstGeom>
          <a:solidFill>
            <a:srgbClr val="E6DDD4"/>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Money and monasteries: Henry. Plain and English: Edward. Heresy and burning: Mary. Governor and Middle: Elizabeth.</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Rank the four policies from biggest to smallest religious change using the three tests (impact, lasting, new), and justify your top choice.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Which monarch made this change?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monarch closes the monasteries and takes their land and treasure for the Crown. Which Tudor monarch made this change?</a:t>
            </a:r>
            <a:endParaRPr lang="en-US" sz="2600" dirty="0"/>
          </a:p>
          <a:p>
            <a:pPr algn="ctr" indent="0" marL="0">
              <a:buNone/>
            </a:pPr>
            <a:r>
              <a:rPr lang="en-US" sz="2400" b="1" dirty="0">
                <a:solidFill>
                  <a:srgbClr val="B8862B"/>
                </a:solidFill>
                <a:latin typeface="Calibri" pitchFamily="34" charset="0"/>
                <a:ea typeface="Calibri" pitchFamily="34" charset="-122"/>
                <a:cs typeface="Calibri" pitchFamily="34" charset="-120"/>
              </a:rPr>
              <a:t>A  </a:t>
            </a:r>
            <a:pPr algn="ctr" indent="0" marL="0">
              <a:buNone/>
            </a:pPr>
            <a:r>
              <a:rPr lang="en-US" sz="2400" dirty="0">
                <a:solidFill>
                  <a:srgbClr val="1E2229"/>
                </a:solidFill>
                <a:latin typeface="Calibri" pitchFamily="34" charset="0"/>
                <a:ea typeface="Calibri" pitchFamily="34" charset="-122"/>
                <a:cs typeface="Calibri" pitchFamily="34" charset="-120"/>
              </a:rPr>
              <a:t>Henry VIII      </a:t>
            </a:r>
            <a:pPr algn="ctr" indent="0" marL="0">
              <a:buNone/>
            </a:pPr>
            <a:r>
              <a:rPr lang="en-US" sz="2400" b="1" dirty="0">
                <a:solidFill>
                  <a:srgbClr val="B8862B"/>
                </a:solidFill>
                <a:latin typeface="Calibri" pitchFamily="34" charset="0"/>
                <a:ea typeface="Calibri" pitchFamily="34" charset="-122"/>
                <a:cs typeface="Calibri" pitchFamily="34" charset="-120"/>
              </a:rPr>
              <a:t>B  </a:t>
            </a:r>
            <a:pPr algn="ctr" indent="0" marL="0">
              <a:buNone/>
            </a:pPr>
            <a:r>
              <a:rPr lang="en-US" sz="2400" dirty="0">
                <a:solidFill>
                  <a:srgbClr val="1E2229"/>
                </a:solidFill>
                <a:latin typeface="Calibri" pitchFamily="34" charset="0"/>
                <a:ea typeface="Calibri" pitchFamily="34" charset="-122"/>
                <a:cs typeface="Calibri" pitchFamily="34" charset="-120"/>
              </a:rPr>
              <a:t>Elizabeth I      </a:t>
            </a:r>
            <a:pPr algn="ctr" indent="0" marL="0">
              <a:buNone/>
            </a:pPr>
            <a:r>
              <a:rPr lang="en-US" sz="2400" b="1" dirty="0">
                <a:solidFill>
                  <a:srgbClr val="B8862B"/>
                </a:solidFill>
                <a:latin typeface="Calibri" pitchFamily="34" charset="0"/>
                <a:ea typeface="Calibri" pitchFamily="34" charset="-122"/>
                <a:cs typeface="Calibri" pitchFamily="34" charset="-120"/>
              </a:rPr>
              <a:t>C  </a:t>
            </a:r>
            <a:pPr algn="ctr" indent="0" marL="0">
              <a:buNone/>
            </a:pPr>
            <a:r>
              <a:rPr lang="en-US" sz="2400" dirty="0">
                <a:solidFill>
                  <a:srgbClr val="1E2229"/>
                </a:solidFill>
                <a:latin typeface="Calibri" pitchFamily="34" charset="0"/>
                <a:ea typeface="Calibri" pitchFamily="34" charset="-122"/>
                <a:cs typeface="Calibri" pitchFamily="34" charset="-120"/>
              </a:rPr>
              <a:t>Mary I      </a:t>
            </a:r>
            <a:pPr algn="ctr" indent="0" marL="0">
              <a:buNone/>
            </a:pPr>
            <a:r>
              <a:rPr lang="en-US" sz="2400" b="1" dirty="0">
                <a:solidFill>
                  <a:srgbClr val="B8862B"/>
                </a:solidFill>
                <a:latin typeface="Calibri" pitchFamily="34" charset="0"/>
                <a:ea typeface="Calibri" pitchFamily="34" charset="-122"/>
                <a:cs typeface="Calibri" pitchFamily="34" charset="-120"/>
              </a:rPr>
              <a:t>D  </a:t>
            </a:r>
            <a:pPr algn="ctr" indent="0" marL="0">
              <a:buNone/>
            </a:pPr>
            <a:r>
              <a:rPr lang="en-US" sz="2400" dirty="0">
                <a:solidFill>
                  <a:srgbClr val="1E2229"/>
                </a:solidFill>
                <a:latin typeface="Calibri" pitchFamily="34" charset="0"/>
                <a:ea typeface="Calibri" pitchFamily="34" charset="-122"/>
                <a:cs typeface="Calibri" pitchFamily="34" charset="-120"/>
              </a:rPr>
              <a:t>Edward VI</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Which monarch made this change?</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Which monarch made this change?</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the change is about: money and land, how services look, punishing heretics, or compromise.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Money, land, the Pope's power and new titles for the king all point to Henry VIII.</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Plain churches and English services point to Edward; Latin and burnings to Mary; Governor and compromise to Elizabeth.</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Monasteries are land and treasure, so this is Henry.</a:t>
            </a:r>
            <a:endParaRPr lang="en-US" sz="1800" dirty="0"/>
          </a:p>
        </p:txBody>
      </p:sp>
      <p:sp>
        <p:nvSpPr>
          <p:cNvPr id="17" name="col-Core"/>
          <p:cNvSpPr/>
          <p:nvPr/>
        </p:nvSpPr>
        <p:spPr>
          <a:xfrm>
            <a:off x="6425403" y="2395728"/>
            <a:ext cx="2471666" cy="3749040"/>
          </a:xfrm>
          <a:prstGeom prst="roundRect">
            <a:avLst>
              <a:gd name="adj" fmla="val 2220"/>
            </a:avLst>
          </a:prstGeom>
          <a:solidFill>
            <a:srgbClr val="E6DDD4"/>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Who gained from this change? If the king gained money or power, think Henry.</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Henry could only close the monasteries after the Act of Supremacy, and what that tells you about the order of his changes.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Tudor monarch ordered the Dissolution of the Monasteries?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Edward VI</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Elizabeth I</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Mary I</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Henry VIII</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Whose policy was it?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Dissolution of the Monasteries  →  B  Henry VIII</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English Prayer Book, plain churches  →  D  Edward VI</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Heresy laws and the burning of Protestants  →  A  Mary I</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Supreme Governor and the Middle Way  →  C  Elizabeth I</a:t>
            </a:r>
            <a:endParaRPr lang="en-US" sz="24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Henry closed the monasteries; Edward brought the English prayer book and plain churches; Mary brought heresy laws and burnings; Elizabeth became Supreme Governor and chose the Middle Way.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Which monarch made this change?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monarch closes the monasteries and takes their land and treasure for the Crown. Which Tudor monarch made this change?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Henry VIII</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Henry's changes were about power and money: the Pope's authority, the title Supreme Head, the monasteries, Becket's shrine. Edward's were about how people worshipped.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Tudor monarch ordered the Dissolution of the Monasteries?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Henry VIII</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Henry VIII began closing the monasteries from 1536 and took their land and treasure for the Crown.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Tudors · Chapter 6: Which Tudor monarch made the biggest religious changes?</dc:title>
  <dc:subject>History · Year 7</dc:subject>
  <dc:creator>Dr Vitor Merissi de Carvalho</dc:creator>
  <cp:lastModifiedBy>Dr Vitor Merissi de Carvalho</cp:lastModifiedBy>
  <cp:revision>1</cp:revision>
  <dcterms:created xsi:type="dcterms:W3CDTF">2026-10-19T06:08:04Z</dcterms:created>
  <dcterms:modified xsi:type="dcterms:W3CDTF">2026-10-19T06:08:04Z</dcterms:modified>
</cp:coreProperties>
</file>