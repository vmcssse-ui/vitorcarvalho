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744a40a-a822-d254-49b5-9e904b388799}">
          <p14:sldIdLst>
            <p14:sldId id="256"/>
          </p14:sldIdLst>
        </p14:section>
        <p14:section name="Gate" id="{0f23b0db-3c98-0760-0140-cef924f7c377}">
          <p14:sldIdLst>
            <p14:sldId id="257"/>
            <p14:sldId id="258"/>
          </p14:sldIdLst>
        </p14:section>
        <p14:section name="Pre-teach" id="{6d58851e-b308-c76d-9193-6126e278b2fd}">
          <p14:sldIdLst>
            <p14:sldId id="259"/>
            <p14:sldId id="260"/>
          </p14:sldIdLst>
        </p14:section>
        <p14:section name="Read-along" id="{29e79cfd-1bed-a210-887f-28b8b349740f}">
          <p14:sldIdLst>
            <p14:sldId id="261"/>
            <p14:sldId id="262"/>
          </p14:sldIdLst>
        </p14:section>
        <p14:section name="Teach" id="{6ae43e79-a3df-1960-eb5f-4152c29254db}">
          <p14:sldIdLst>
            <p14:sldId id="263"/>
            <p14:sldId id="264"/>
            <p14:sldId id="265"/>
            <p14:sldId id="266"/>
            <p14:sldId id="267"/>
            <p14:sldId id="268"/>
          </p14:sldIdLst>
        </p14:section>
        <p14:section name="Routes" id="{5f423fea-683a-5ea4-b17c-ef4b7ee7adcc}">
          <p14:sldIdLst>
            <p14:sldId id="269"/>
            <p14:sldId id="270"/>
            <p14:sldId id="271"/>
            <p14:sldId id="272"/>
            <p14:sldId id="273"/>
            <p14:sldId id="274"/>
            <p14:sldId id="275"/>
          </p14:sldIdLst>
        </p14:section>
        <p14:section name="Close" id="{3bd805f2-8bd5-b728-4983-ce5f628ee8d5}">
          <p14:sldIdLst>
            <p14:sldId id="276"/>
          </p14:sldIdLst>
        </p14:section>
        <p14:section name="Answers" id="{d4155eb0-08a3-beb2-9038-7b5b34307226}">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Martin Luther and the Reformation. Who the Tudors were, why the Catholic Church was so powerful, what Luther said that was different, and why his ideas spread like wildfire.
This deck covers the department's lesson: 1 (Martin Luther and the Reformation: Why did Luther write the 95 Theses, how were his ideas different, and why did they spread like wildfire?).
Read the big question aloud: "Which Tudor monarch made the biggest religious changes in England?"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was heresy?  →  B   Going against the teachings of the Church
2. Before the Reformation, the Bible was written in ___, so most people could not read it for themselves.  →  Latin
3. Which of these was a Protestant idea?  →  C   The Bible should be written in the language people speak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Going against the teachings of the Church. Heresy meant believing or teaching something that went against the Church. In the Middle Ages it was a crime that could be punished by death.
2. Latin. The Bible was in Latin, a language only priests and scholars could read, which is one reason the Church was so powerful.
3. C   The Bible should be written in the language people speak. Protestants wanted the Bible in the people's own language so that everyone could read it. The other three are traditional Catholic ways from your lesson's table.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monarch: a king or queen. Example: "Every Tudor monarch decided what religion England would follow."
• Pope: the head of the Catholic Church, in Rome. Example: "For hundreds of years the Pope was the head of the Church in England."
• heresy: going against the teachings of the Church. Example: "In the Middle Ages, heresy was a crime that could be punished by death."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indulgence: a payment to the Church that was meant to reduce punishment for sins. Example: "Luther said that selling an indulgence was wrong."
• Reformation: the great change that split the Christian Church in the 1500s. Example: "The Reformation began with Luther's protest in 1517."
• Protestant: a Christian who followed Luther's new ideas. Example: "A Protestant believed the Bible mattered more than the Pope."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The Tudors ruled England from 1485 to 1603.
2. Before the Tudors, almost everyone in England was Catholic.
3. The Pope in Rome was the head of the Catholic Church.
4. Most people could not read, and the Bible was written in Latin.
5. So people trusted the Church to tell them about God, heaven and hell.
6. Going against the teachings of the Church was a crime called heresy.
7. In October 1517, a German monk called Martin Luther wrote the 95 Theses.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He said the Church was wrong to sell indulgences, which were payments to forgive sins.
9. Luther believed Christians should follow only what the Bible says.
10. He wanted the Bible printed in languages people could understand.
11. His ideas spread like wildfire across Europe.
12. People who followed his ideas were called Protestants.
13. This great change is called the Reformation.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Who were the Tudors?. Say it in your own words, then check understanding with a quick question: ask a pupil from the pre-teach group first, since they met these words and ideas before the lesson. Pupils try to recall before you re-explain.
The Tudors were a royal family who ruled England from 1485 to 1603. The first Tudor king was Henry VII, who won the crown at the end of the Wars of the Roses. After him came his son Henry VIII, and then Henry's three children: Edward VI, Mary I and Elizabeth I. Your lesson's homework reading on Henry VII tells you how the family came to power.
You will need a few words to talk about kings and queens. A monarch is a king or queen. The monarch's heir is the person who will succeed them, that is, take the throne next. A reign is the time a monarch rules. Nobles were rich landowners with titles such as Lord or Duke. The Pope was the head of the Catholic Church in Rome.
The big question of this unit is: which Tudor monarch made the biggest religious changes in England? Earlier this year you saw how William the Conqueror took control of England, and how Mughal emperors used religion to rule. Now you will see four Tudor monarchs do the same, each in a different way.
Tip: Learn the five Tudor monarchs in order: Henry VII, Henry VIII, Edward VI, Mary I, Elizabeth I. The last four are the ones your assessment is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was the Catholic Church so powerful?. Say it in your own words, then check understanding with a quick question: ask a pupil from the pre-teach group first, since they met these words and ideas before the lesson. Pupils try to recall before you re-explain.
In the Middle Ages the Catholic Church was the most powerful organisation in Europe, and your lesson gives five reasons. First, most people could not read, so those who could were trusted completely. Second, the Bible was written in Latin, which even most readers could not understand, so only the Church could say what it meant.
Third, there were no schools for ordinary people, so the Church gave people all the information about the world they had. Fourth, people were taught about heaven and hell and believed it. To question the Church felt like questioning God. Fifth, going against the ideas of the Church was a crime called heresy, and heretics could be put to death.
Put these together and you can see why nobody argued with the Church. It controlled what people knew, what they believed, and what happened to them if they disagreed.
Worked example — model it step by step, thinking aloud: Explain one reason why the Catholic Church was so powerful in the Middle Ages. (1) Point: make your reason clear in one sentence. One reason the Church was so powerful was that the Bible was written in Latin. (2) Evidence: give a fact from the lesson. Most people could not read at all, and those who could read usually could not read Latin. (3) Explain: say why this gave the Church power. Only priests could say what the Bible meant, so people had to trust the Church's word. (4) Link: finish by answering the question. This made the Church powerful because it controlled what people knew about God. Answer: Point, evidence, explain, link: the Latin Bible meant only the Church could read God's word, so people depended on priests to tell them what to believe..
Tip: In this unit every explanation paragraph follows the same shape: Point, Evidence, Explain, Link. Your teacher calls it PEE or PEEL.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was the Catholic Church so powerful?. Say it in your own words, then check understanding with a quick question: ask a pupil from the pre-teach group first, since they met these words and ideas before the lesson. Pupils try to recall before you re-explain.
In the Middle Ages the Catholic Church was the most powerful organisation in Europe, and your lesson gives five reasons. First, most people could not read, so those who could were trusted completely. Second, the Bible was written in Latin, which even most readers could not understand, so only the Church could say what it meant.
Third, there were no schools for ordinary people, so the Church gave people all the information about the world they had. Fourth, people were taught about heaven and hell and believed it. To question the Church felt like questioning God. Fifth, going against the ideas of the Church was a crime called heresy, and heretics could be put to death.
Put these together and you can see why nobody argued with the Church. It controlled what people knew, what they believed, and what happened to them if they disagreed.
Worked example — model it step by step, thinking aloud: Explain one reason why the Catholic Church was so powerful in the Middle Ages. (1) Point: make your reason clear in one sentence. One reason the Church was so powerful was that the Bible was written in Latin. (2) Evidence: give a fact from the lesson. Most people could not read at all, and those who could read usually could not read Latin. (3) Explain: say why this gave the Church power. Only priests could say what the Bible meant, so people had to trust the Church's word. (4) Link: finish by answering the question. This made the Church powerful because it controlled what people knew about God. Answer: Point, evidence, explain, link: the Latin Bible meant only the Church could read God's word, so people depended on priests to tell them what to believe..
Tip: In this unit every explanation paragraph follows the same shape: Point, Evidence, Explain, Link. Your teacher calls it PEE or PEEL.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was the Catholic Church so powerful?. Say it in your own words, then check understanding with a quick question: ask a pupil from the pre-teach group first, since they met these words and ideas before the lesson. Pupils try to recall before you re-explain.
In the Middle Ages the Catholic Church was the most powerful organisation in Europe, and your lesson gives five reasons. First, most people could not read, so those who could were trusted completely. Second, the Bible was written in Latin, which even most readers could not understand, so only the Church could say what it meant.
Third, there were no schools for ordinary people, so the Church gave people all the information about the world they had. Fourth, people were taught about heaven and hell and believed it. To question the Church felt like questioning God. Fifth, going against the ideas of the Church was a crime called heresy, and heretics could be put to death.
Put these together and you can see why nobody argued with the Church. It controlled what people knew, what they believed, and what happened to them if they disagreed.
Worked example — model it step by step, thinking aloud: Explain one reason why the Catholic Church was so powerful in the Middle Ages. (1) Point: make your reason clear in one sentence. One reason the Church was so powerful was that the Bible was written in Latin. (2) Evidence: give a fact from the lesson. Most people could not read at all, and those who could read usually could not read Latin. (3) Explain: say why this gave the Church power. Only priests could say what the Bible meant, so people had to trust the Church's word. (4) Link: finish by answering the question. This made the Church powerful because it controlled what people knew about God. Answer: Point, evidence, explain, link: the Latin Bible meant only the Church could read God's word, so people depended on priests to tell them what to believe..
Tip: In this unit every explanation paragraph follows the same shape: Point, Evidence, Explain, Link. Your teacher calls it PEE or PEEL.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did Luther believe?. Say it in your own words, then check understanding with a quick question: ask a pupil from the pre-teach group first, since they met these words and ideas before the lesson. Pupils try to recall before you re-explain.
Martin Luther was a German monk. In October 1517 he wrote the 95 Theses, a list of complaints against the Church. His biggest complaint was about indulgences: payments to the Church that were supposed to reduce the punishment for a person's sins. Luther said nobody could buy forgiveness.
Luther believed that Christianity should be about what was written in the Bible. If something was not in the Bible, it had no place in Christianity. This was a direct challenge to the Pope, because many of the Pope's powers were not set out in the Bible. Luther also said that faith was personal: each person could read the Bible and understand it for themselves, so the Church did not need to tell them what to think.
To make this possible, Luther wanted the Bible printed in languages ordinary people spoke. Until then it was printed only in Latin. Luther translated it into German; your lesson dates his German Bible to 1525. When he was called to a hearing he refused to take back his words, and while hiding in a friend's castle he kept writing and translating.
Tip: Three Luther ideas to remember: the Bible comes first; faith is personal; no paying for forgiveness.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did his ideas spread like wildfire?. Say it in your own words, then check understanding with a quick question: ask a pupil from the pre-teach group first, since they met these words and ideas before the lesson. Pupils try to recall before you re-explain.
Your lesson sorts the reasons into four factors. The weaknesses of the Church: it was rich, it sold indulgences, and many people already felt it had lost its way. The role of Luther himself: he was a brave and clever debater who argued with leading Catholics in public and won people over.
European monarchs: some rulers backed Luther because they wanted to be free of the Pope's power and to keep Church money for themselves. New technologies: the printing press meant Luther's pamphlets and his German Bible could be copied by the thousand and carried across Europe in weeks.
Catholics and Protestants came to disagree on many things. Catholics said the Pope should lead the Church, the Bible should stay in Latin, churches should be richly decorated, priests should wear magnificent robes, and people could pay indulgences. Protestants said the monarch should lead the Church in their country, the Bible should be in the people's language, churches should be plain, priests should wear simple robes, and nobody should pay for forgiveness.
Tip: When you rank the four factors, ask which one the others depended on. Could Luther's ideas have travelled so fast without printing?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Catholic ways and Protestant ways.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traditional Catholic way to the new Protestant way that replaced it.
Support — work through the steps with the group: (1) Each Catholic way has an opposite on the Protestant side. Look for the pair that talks about the same thing: who leads, which language, how churches look, what priests wear, paying for sins. (2) Who leads: the Catholic answer is the Pope; the Protestant answer is the monarch. (3) Language: Catholic Latin; Protestant the language people speak. (4) The two about appearance (churches, robes) both go from rich to plain. The one about indulgences goes from yes to no.
Parallel worked example for Support (model it, do not give the task answer): Match the old way to the new way: letters carried by horse; news printed in a newspaper; news passed by word of mouth; letters sent by email. Find the two about letters: horse (old) goes with email (new).; Find the two about news: word of mouth (old) goes with newspaper (new).. Answer: Letters by horse → letters by email; news by word of mouth → news in a newspaper..
Core — reveal the hint only on request: Pair the items that are about the same topic. On every topic the Protestant side is simpler, plainer or more local than the Catholic side.
Stretch — no help; when finished: Explain which of these five differences would have mattered most to an ordinary villager who could not read,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Catholic ways and Protestant ways.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traditional Catholic way to the new Protestant way that replaced it.
Support — work through the steps with the group: (1) Each Catholic way has an opposite on the Protestant side. Look for the pair that talks about the same thing: who leads, which language, how churches look, what priests wear, paying for sins. (2) Who leads: the Catholic answer is the Pope; the Protestant answer is the monarch. (3) Language: Catholic Latin; Protestant the language people speak. (4) The two about appearance (churches, robes) both go from rich to plain. The one about indulgences goes from yes to no.
Parallel worked example for Support (model it, do not give the task answer): Match the old way to the new way: letters carried by horse; news printed in a newspaper; news passed by word of mouth; letters sent by email. Find the two about letters: horse (old) goes with email (new).; Find the two about news: word of mouth (old) goes with newspaper (new).. Answer: Letters by horse → letters by email; news by word of mouth → news in a newspaper..
Core — reveal the hint only on request: Pair the items that are about the same topic. On every topic the Protestant side is simpler, plainer or more local than the Catholic side.
Stretch — no help; when finished: Explain which of these five differences would have mattered most to an ordinary villager who could not read,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Catholic ways and Protestant ways.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traditional Catholic way to the new Protestant way that replaced it.
Support — work through the steps with the group: (1) Each Catholic way has an opposite on the Protestant side. Look for the pair that talks about the same thing: who leads, which language, how churches look, what priests wear, paying for sins. (2) Who leads: the Catholic answer is the Pope; the Protestant answer is the monarch. (3) Language: Catholic Latin; Protestant the language people speak. (4) The two about appearance (churches, robes) both go from rich to plain. The one about indulgences goes from yes to no.
Parallel worked example for Support (model it, do not give the task answer): Match the old way to the new way: letters carried by horse; news printed in a newspaper; news passed by word of mouth; letters sent by email. Find the two about letters: horse (old) goes with email (new).; Find the two about news: word of mouth (old) goes with newspaper (new).. Answer: Letters by horse → letters by email; news by word of mouth → news in a newspaper..
Core — reveal the hint only on request: Pair the items that are about the same topic. On every topic the Protestant side is simpler, plainer or more local than the Catholic side.
Stretch — no help; when finished: Explain which of these five differences would have mattered most to an ordinary villager who could not read,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Catholic ways and Protestant ways.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traditional Catholic way to the new Protestant way that replaced it.
Support — work through the steps with the group: (1) Each Catholic way has an opposite on the Protestant side. Look for the pair that talks about the same thing: who leads, which language, how churches look, what priests wear, paying for sins. (2) Who leads: the Catholic answer is the Pope; the Protestant answer is the monarch. (3) Language: Catholic Latin; Protestant the language people speak. (4) The two about appearance (churches, robes) both go from rich to plain. The one about indulgences goes from yes to no.
Parallel worked example for Support (model it, do not give the task answer): Match the old way to the new way: letters carried by horse; news printed in a newspaper; news passed by word of mouth; letters sent by email. Find the two about letters: horse (old) goes with email (new).; Find the two about news: word of mouth (old) goes with newspaper (new).. Answer: Letters by horse → letters by email; news by word of mouth → news in a newspaper..
Core — reveal the hint only on request: Pair the items that are about the same topic. On every topic the Protestant side is simpler, plainer or more local than the Catholic side.
Stretch — no help; when finished: Explain which of these five differences would have mattered most to an ordinary villager who could not read,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Catholic ways and Protestant ways.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traditional Catholic way to the new Protestant way that replaced it.
Support — work through the steps with the group: (1) Each Catholic way has an opposite on the Protestant side. Look for the pair that talks about the same thing: who leads, which language, how churches look, what priests wear, paying for sins. (2) Who leads: the Catholic answer is the Pope; the Protestant answer is the monarch. (3) Language: Catholic Latin; Protestant the language people speak. (4) The two about appearance (churches, robes) both go from rich to plain. The one about indulgences goes from yes to no.
Parallel worked example for Support (model it, do not give the task answer): Match the old way to the new way: letters carried by horse; news printed in a newspaper; news passed by word of mouth; letters sent by email. Find the two about letters: horse (old) goes with email (new).; Find the two about news: word of mouth (old) goes with newspaper (new).. Answer: Letters by horse → letters by email; news by word of mouth → news in a newspaper..
Core — reveal the hint only on request: Pair the items that are about the same topic. On every topic the Protestant side is simpler, plainer or more local than the Catholic side.
Stretch — no help; when finished: Explain which of these five differences would have mattered most to an ordinary villager who could not read,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factor is this?.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printer in Germany makes thousands of copies of Luther's pamphlets in a few weeks, and they are carried to towns all over Europe. Which factor helped Luther's ideas spread here?
Support — work through the steps with the group: (1) Read the story and underline the words that tell you HOW the ideas moved: copies, printed, carried, sold. (2) Ask: is this about a machine or a method (technology), about Luther's own actions, about a king or prince, or about something wrong with the Church? (3) Thousands of copies in weeks is only possible with the printing press. (4) So the factor is new technologies.
Parallel worked example for Support (model it, do not give the task answer): A prince in Germany protects Luther in his castle so the Pope cannot arrest him. Which factor is this? Who is acting? A prince, a ruler.; Rulers who helped Luther count as the European monarchs factor.. Answer: European monarchs..
Core — reveal the hint only on request: Ask who or what is doing the work in the story: a machine, Luther, a ruler, or the Church's own faults.
Stretch — no help; when finished: Argue which of the four factors was the most important, and explain how it depended on at least one of the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factor is this?.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printer in Germany makes thousands of copies of Luther's pamphlets in a few weeks, and they are carried to towns all over Europe. Which factor helped Luther's ideas spread here?
Support — work through the steps with the group: (1) Read the story and underline the words that tell you HOW the ideas moved: copies, printed, carried, sold. (2) Ask: is this about a machine or a method (technology), about Luther's own actions, about a king or prince, or about something wrong with the Church? (3) Thousands of copies in weeks is only possible with the printing press. (4) So the factor is new technologies.
Parallel worked example for Support (model it, do not give the task answer): A prince in Germany protects Luther in his castle so the Pope cannot arrest him. Which factor is this? Who is acting? A prince, a ruler.; Rulers who helped Luther count as the European monarchs factor.. Answer: European monarchs..
Core — reveal the hint only on request: Ask who or what is doing the work in the story: a machine, Luther, a ruler, or the Church's own faults.
Stretch — no help; when finished: Argue which of the four factors was the most important, and explain how it depended on at least one of the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was heresy?
Answer: A   Going against the teachings of the Church. Heresy meant believing or teaching something that went against the Church. In the Middle Ages it was a crime that could be punished by death.
Source of this question: gate item 1 re-asked (options rotated) — this chapter has no third quick-check module.
The ebook also holds task 3, "Why did Luther's ideas spread?",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Catholic ways and Protestant ways. Reveal the answer; pupils mark their own work in a different colour, then read the "why" together. Same destination for every lane, so one answer serves the whole class.
Answer: The Pope in Rome should be the Head of the Church  →  E  The monarch of a country should be the Head of the Church; The Bible should be written in Latin  →  D  The Bible should be written in the people's own language, such as English; Churches should be highly decorated and inspiring  →  B  Churches should be plain and simply decorated; Priests should wear magnificent robes to show their status  →  A  Priests should wear simple robes; People can pay indulgences for their sins  →  C  People should not have to pay indulgences for their sins
Why: Protestants wanted the monarch, not the Pope, to lead the Church; the Bible in the people's language; plain churches; simple robes; and no indulgences. On every point the Protestant way took power away from the Church and gave it to ordinary readers of the Bible.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Which factor is this?. Reveal the answer; pupils mark their own work in a different colour, then read the "why" together. Same destination for every lane, so one answer serves the whole class.
Answer: B   New technologies
Why: Printing let a single text become thousands of copies in days. Without it, Luther's ideas would have moved only as fast as a traveller on foot or horseback.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Going against the teachings of the Church
Why: Heresy meant believing or teaching something that went against the Church. In the Middle Ages it was a crime that could be punished by death.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Tudors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Tudors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8E0D9"/>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Tudors · AQA KS3 → 8145</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Martin Luther and the Reformation</a:t>
            </a:r>
            <a:endParaRPr lang="en-US" sz="4000" dirty="0"/>
          </a:p>
        </p:txBody>
      </p:sp>
      <p:sp>
        <p:nvSpPr>
          <p:cNvPr id="11" name="lessons-card"/>
          <p:cNvSpPr/>
          <p:nvPr/>
        </p:nvSpPr>
        <p:spPr>
          <a:xfrm>
            <a:off x="548640" y="4069588"/>
            <a:ext cx="5287975" cy="980440"/>
          </a:xfrm>
          <a:prstGeom prst="roundRect">
            <a:avLst>
              <a:gd name="adj" fmla="val 7461"/>
            </a:avLst>
          </a:prstGeom>
          <a:solidFill>
            <a:srgbClr val="F6F2EF"/>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Martin Luther and the Reformation</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6F2EF"/>
          </a:solidFill>
          <a:ln w="12700">
            <a:solidFill>
              <a:srgbClr val="CEBCA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Which Tudor monarch made the biggest religious changes in England?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What was heresy?</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Refusing to pay taxes to the monarch</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Going against the teachings of the Church</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Paying the Church money to forgive your sins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Translating the Bible into German</a:t>
            </a:r>
            <a:endParaRPr lang="en-US" sz="2000" dirty="0"/>
          </a:p>
        </p:txBody>
      </p:sp>
      <p:sp>
        <p:nvSpPr>
          <p:cNvPr id="12" name="card"/>
          <p:cNvSpPr/>
          <p:nvPr/>
        </p:nvSpPr>
        <p:spPr>
          <a:xfrm>
            <a:off x="4338218" y="1389888"/>
            <a:ext cx="3515258" cy="4754880"/>
          </a:xfrm>
          <a:prstGeom prst="roundRect">
            <a:avLst>
              <a:gd name="adj" fmla="val 1561"/>
            </a:avLst>
          </a:prstGeom>
          <a:solidFill>
            <a:srgbClr val="FAF8F6"/>
          </a:solidFill>
          <a:ln w="12700">
            <a:solidFill>
              <a:srgbClr val="D4C5B7"/>
            </a:solidFill>
            <a:prstDash val="solid"/>
          </a:ln>
        </p:spPr>
      </p:sp>
      <p:sp>
        <p:nvSpPr>
          <p:cNvPr id="13" name="card-hex"/>
          <p:cNvSpPr/>
          <p:nvPr/>
        </p:nvSpPr>
        <p:spPr>
          <a:xfrm>
            <a:off x="4521098" y="1572768"/>
            <a:ext cx="640080" cy="554309"/>
          </a:xfrm>
          <a:prstGeom prst="hexagon">
            <a:avLst/>
          </a:prstGeom>
          <a:solidFill>
            <a:srgbClr val="7A4A1E"/>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Before the Reformation, the Bible was written in ___, so most people could not read it for themselves.</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Latin  ·  English  ·  German</a:t>
            </a:r>
            <a:endParaRPr lang="en-US" sz="2400" dirty="0"/>
          </a:p>
        </p:txBody>
      </p:sp>
      <p:sp>
        <p:nvSpPr>
          <p:cNvPr id="17" name="card"/>
          <p:cNvSpPr/>
          <p:nvPr/>
        </p:nvSpPr>
        <p:spPr>
          <a:xfrm>
            <a:off x="8127797" y="1389888"/>
            <a:ext cx="3515258" cy="4754880"/>
          </a:xfrm>
          <a:prstGeom prst="roundRect">
            <a:avLst>
              <a:gd name="adj" fmla="val 1561"/>
            </a:avLst>
          </a:prstGeom>
          <a:solidFill>
            <a:srgbClr val="FAF8F6"/>
          </a:solidFill>
          <a:ln w="12700">
            <a:solidFill>
              <a:srgbClr val="D4C5B7"/>
            </a:solidFill>
            <a:prstDash val="solid"/>
          </a:ln>
        </p:spPr>
      </p:sp>
      <p:sp>
        <p:nvSpPr>
          <p:cNvPr id="18" name="card-hex"/>
          <p:cNvSpPr/>
          <p:nvPr/>
        </p:nvSpPr>
        <p:spPr>
          <a:xfrm>
            <a:off x="8310677" y="1572768"/>
            <a:ext cx="640080" cy="554309"/>
          </a:xfrm>
          <a:prstGeom prst="hexagon">
            <a:avLst/>
          </a:prstGeom>
          <a:solidFill>
            <a:srgbClr val="7A4A1E"/>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of these was a Protestant idea?</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Pope in Rome should be the Head of the Church</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Churches should be highly decorated</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Bible should be written in the language people speak</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People can pay indulgences for their sins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295908"/>
          </a:xfrm>
          <a:prstGeom prst="roundRect">
            <a:avLst>
              <a:gd name="adj" fmla="val 8467"/>
            </a:avLst>
          </a:prstGeom>
          <a:solidFill>
            <a:srgbClr val="EFE4D0"/>
          </a:solidFill>
          <a:ln w="19050">
            <a:solidFill>
              <a:srgbClr val="B8862B"/>
            </a:solidFill>
            <a:prstDash val="solid"/>
          </a:ln>
        </p:spPr>
      </p:sp>
      <p:sp>
        <p:nvSpPr>
          <p:cNvPr id="12" name="answer"/>
          <p:cNvSpPr txBox="1"/>
          <p:nvPr/>
        </p:nvSpPr>
        <p:spPr>
          <a:xfrm>
            <a:off x="822960"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Going against the teachings of the Church</a:t>
            </a:r>
            <a:endParaRPr lang="en-US" sz="2200" dirty="0"/>
          </a:p>
        </p:txBody>
      </p:sp>
      <p:sp>
        <p:nvSpPr>
          <p:cNvPr id="13" name="card-body"/>
          <p:cNvSpPr txBox="1"/>
          <p:nvPr/>
        </p:nvSpPr>
        <p:spPr>
          <a:xfrm>
            <a:off x="731520" y="3834465"/>
            <a:ext cx="314949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Heresy meant believing or teaching something that went against the Church. In the Middle Ages it was a crime that could be punished by death.</a:t>
            </a:r>
            <a:endParaRPr lang="en-US" sz="1800" dirty="0"/>
          </a:p>
        </p:txBody>
      </p:sp>
      <p:sp>
        <p:nvSpPr>
          <p:cNvPr id="14" name="card"/>
          <p:cNvSpPr/>
          <p:nvPr/>
        </p:nvSpPr>
        <p:spPr>
          <a:xfrm>
            <a:off x="4338218" y="1389888"/>
            <a:ext cx="3515258" cy="4754880"/>
          </a:xfrm>
          <a:prstGeom prst="roundRect">
            <a:avLst>
              <a:gd name="adj" fmla="val 1561"/>
            </a:avLst>
          </a:prstGeom>
          <a:solidFill>
            <a:srgbClr val="FAF8F6"/>
          </a:solidFill>
          <a:ln w="12700">
            <a:solidFill>
              <a:srgbClr val="D4C5B7"/>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Latin</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Before the Reformation, the Bible was written in ___, so most people could not read it for themselves.</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Bible was in Latin, a language only priests and scholars could read, which is one reason the Church was so powerful.</a:t>
            </a:r>
            <a:endParaRPr lang="en-US" sz="1800" dirty="0"/>
          </a:p>
        </p:txBody>
      </p:sp>
      <p:sp>
        <p:nvSpPr>
          <p:cNvPr id="21" name="card"/>
          <p:cNvSpPr/>
          <p:nvPr/>
        </p:nvSpPr>
        <p:spPr>
          <a:xfrm>
            <a:off x="8127797" y="1389888"/>
            <a:ext cx="3515258" cy="4754880"/>
          </a:xfrm>
          <a:prstGeom prst="roundRect">
            <a:avLst>
              <a:gd name="adj" fmla="val 1561"/>
            </a:avLst>
          </a:prstGeom>
          <a:solidFill>
            <a:srgbClr val="FAF8F6"/>
          </a:solidFill>
          <a:ln w="12700">
            <a:solidFill>
              <a:srgbClr val="D4C5B7"/>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295908"/>
          </a:xfrm>
          <a:prstGeom prst="roundRect">
            <a:avLst>
              <a:gd name="adj" fmla="val 8467"/>
            </a:avLst>
          </a:prstGeom>
          <a:solidFill>
            <a:srgbClr val="EFE4D0"/>
          </a:solidFill>
          <a:ln w="19050">
            <a:solidFill>
              <a:srgbClr val="B8862B"/>
            </a:solidFill>
            <a:prstDash val="solid"/>
          </a:ln>
        </p:spPr>
      </p:sp>
      <p:sp>
        <p:nvSpPr>
          <p:cNvPr id="26" name="answer"/>
          <p:cNvSpPr txBox="1"/>
          <p:nvPr/>
        </p:nvSpPr>
        <p:spPr>
          <a:xfrm>
            <a:off x="8402117"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The Bible should be written in the language people speak</a:t>
            </a:r>
            <a:endParaRPr lang="en-US" sz="2200" dirty="0"/>
          </a:p>
        </p:txBody>
      </p:sp>
      <p:sp>
        <p:nvSpPr>
          <p:cNvPr id="27" name="card-body"/>
          <p:cNvSpPr txBox="1"/>
          <p:nvPr/>
        </p:nvSpPr>
        <p:spPr>
          <a:xfrm>
            <a:off x="8310677" y="3834465"/>
            <a:ext cx="314949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Protestants wanted the Bible in the people's own language so that everyone could read it. The other three are traditional Catholic ways from your lesson's table.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8F6F4"/>
          </a:solidFill>
          <a:ln w="12700">
            <a:solidFill>
              <a:srgbClr val="CEBCA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monarch</a:t>
            </a:r>
            <a:endParaRPr lang="en-US" sz="2600" dirty="0"/>
          </a:p>
        </p:txBody>
      </p:sp>
      <p:sp>
        <p:nvSpPr>
          <p:cNvPr id="11" name="word-rule"/>
          <p:cNvSpPr/>
          <p:nvPr/>
        </p:nvSpPr>
        <p:spPr>
          <a:xfrm>
            <a:off x="731520" y="2129028"/>
            <a:ext cx="3149498" cy="0"/>
          </a:xfrm>
          <a:prstGeom prst="line">
            <a:avLst/>
          </a:prstGeom>
          <a:ln w="12700">
            <a:solidFill>
              <a:srgbClr val="CEBCA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king or queen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Every Tudor monarch decided what religion England would follow.</a:t>
            </a:r>
            <a:endParaRPr lang="en-US" sz="2200" dirty="0"/>
          </a:p>
        </p:txBody>
      </p:sp>
      <p:sp>
        <p:nvSpPr>
          <p:cNvPr id="13" name="word-card"/>
          <p:cNvSpPr/>
          <p:nvPr/>
        </p:nvSpPr>
        <p:spPr>
          <a:xfrm>
            <a:off x="4338218" y="1389888"/>
            <a:ext cx="3515258" cy="4754880"/>
          </a:xfrm>
          <a:prstGeom prst="roundRect">
            <a:avLst>
              <a:gd name="adj" fmla="val 1561"/>
            </a:avLst>
          </a:prstGeom>
          <a:solidFill>
            <a:srgbClr val="F8F6F4"/>
          </a:solidFill>
          <a:ln w="12700">
            <a:solidFill>
              <a:srgbClr val="CEBCA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Pope</a:t>
            </a:r>
            <a:endParaRPr lang="en-US" sz="2600" dirty="0"/>
          </a:p>
        </p:txBody>
      </p:sp>
      <p:sp>
        <p:nvSpPr>
          <p:cNvPr id="17" name="word-rule"/>
          <p:cNvSpPr/>
          <p:nvPr/>
        </p:nvSpPr>
        <p:spPr>
          <a:xfrm>
            <a:off x="4521098" y="2129028"/>
            <a:ext cx="3149498" cy="0"/>
          </a:xfrm>
          <a:prstGeom prst="line">
            <a:avLst/>
          </a:prstGeom>
          <a:ln w="12700">
            <a:solidFill>
              <a:srgbClr val="CEBCA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head of the Catholic Church, in Rome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For hundreds of years the Pope was the head of the Church in England.</a:t>
            </a:r>
            <a:endParaRPr lang="en-US" sz="2200" dirty="0"/>
          </a:p>
        </p:txBody>
      </p:sp>
      <p:sp>
        <p:nvSpPr>
          <p:cNvPr id="19" name="word-card"/>
          <p:cNvSpPr/>
          <p:nvPr/>
        </p:nvSpPr>
        <p:spPr>
          <a:xfrm>
            <a:off x="8127797" y="1389888"/>
            <a:ext cx="3515258" cy="4754880"/>
          </a:xfrm>
          <a:prstGeom prst="roundRect">
            <a:avLst>
              <a:gd name="adj" fmla="val 1561"/>
            </a:avLst>
          </a:prstGeom>
          <a:solidFill>
            <a:srgbClr val="F8F6F4"/>
          </a:solidFill>
          <a:ln w="12700">
            <a:solidFill>
              <a:srgbClr val="CEBCA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heresy</a:t>
            </a:r>
            <a:endParaRPr lang="en-US" sz="2600" dirty="0"/>
          </a:p>
        </p:txBody>
      </p:sp>
      <p:sp>
        <p:nvSpPr>
          <p:cNvPr id="23" name="word-rule"/>
          <p:cNvSpPr/>
          <p:nvPr/>
        </p:nvSpPr>
        <p:spPr>
          <a:xfrm>
            <a:off x="8310677" y="2129028"/>
            <a:ext cx="3149498" cy="0"/>
          </a:xfrm>
          <a:prstGeom prst="line">
            <a:avLst/>
          </a:prstGeom>
          <a:ln w="12700">
            <a:solidFill>
              <a:srgbClr val="CEBCA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going against the teachings of the Church</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In the Middle Ages, heresy was a crime that could be punished by death.</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8F6F4"/>
          </a:solidFill>
          <a:ln w="12700">
            <a:solidFill>
              <a:srgbClr val="CEBCA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indulgence</a:t>
            </a:r>
            <a:endParaRPr lang="en-US" sz="2600" dirty="0"/>
          </a:p>
        </p:txBody>
      </p:sp>
      <p:sp>
        <p:nvSpPr>
          <p:cNvPr id="11" name="word-rule"/>
          <p:cNvSpPr/>
          <p:nvPr/>
        </p:nvSpPr>
        <p:spPr>
          <a:xfrm>
            <a:off x="731520" y="2129028"/>
            <a:ext cx="3149498" cy="0"/>
          </a:xfrm>
          <a:prstGeom prst="line">
            <a:avLst/>
          </a:prstGeom>
          <a:ln w="12700">
            <a:solidFill>
              <a:srgbClr val="CEBCA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payment to the Church that was meant to reduce punishment for sins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Luther said that selling an indulgence was wrong.</a:t>
            </a:r>
            <a:endParaRPr lang="en-US" sz="2200" dirty="0"/>
          </a:p>
        </p:txBody>
      </p:sp>
      <p:sp>
        <p:nvSpPr>
          <p:cNvPr id="13" name="word-card"/>
          <p:cNvSpPr/>
          <p:nvPr/>
        </p:nvSpPr>
        <p:spPr>
          <a:xfrm>
            <a:off x="4338218" y="1389888"/>
            <a:ext cx="3515258" cy="4754880"/>
          </a:xfrm>
          <a:prstGeom prst="roundRect">
            <a:avLst>
              <a:gd name="adj" fmla="val 1561"/>
            </a:avLst>
          </a:prstGeom>
          <a:solidFill>
            <a:srgbClr val="F8F6F4"/>
          </a:solidFill>
          <a:ln w="12700">
            <a:solidFill>
              <a:srgbClr val="CEBCA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Reformation</a:t>
            </a:r>
            <a:endParaRPr lang="en-US" sz="2600" dirty="0"/>
          </a:p>
        </p:txBody>
      </p:sp>
      <p:sp>
        <p:nvSpPr>
          <p:cNvPr id="17" name="word-rule"/>
          <p:cNvSpPr/>
          <p:nvPr/>
        </p:nvSpPr>
        <p:spPr>
          <a:xfrm>
            <a:off x="4521098" y="2129028"/>
            <a:ext cx="3149498" cy="0"/>
          </a:xfrm>
          <a:prstGeom prst="line">
            <a:avLst/>
          </a:prstGeom>
          <a:ln w="12700">
            <a:solidFill>
              <a:srgbClr val="CEBCA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great change that split the Christian Church in the 1500s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Reformation began with Luther's protest in 1517.</a:t>
            </a:r>
            <a:endParaRPr lang="en-US" sz="2200" dirty="0"/>
          </a:p>
        </p:txBody>
      </p:sp>
      <p:sp>
        <p:nvSpPr>
          <p:cNvPr id="19" name="word-card"/>
          <p:cNvSpPr/>
          <p:nvPr/>
        </p:nvSpPr>
        <p:spPr>
          <a:xfrm>
            <a:off x="8127797" y="1389888"/>
            <a:ext cx="3515258" cy="4754880"/>
          </a:xfrm>
          <a:prstGeom prst="roundRect">
            <a:avLst>
              <a:gd name="adj" fmla="val 1561"/>
            </a:avLst>
          </a:prstGeom>
          <a:solidFill>
            <a:srgbClr val="F8F6F4"/>
          </a:solidFill>
          <a:ln w="12700">
            <a:solidFill>
              <a:srgbClr val="CEBCA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Protestant</a:t>
            </a:r>
            <a:endParaRPr lang="en-US" sz="2600" dirty="0"/>
          </a:p>
        </p:txBody>
      </p:sp>
      <p:sp>
        <p:nvSpPr>
          <p:cNvPr id="23" name="word-rule"/>
          <p:cNvSpPr/>
          <p:nvPr/>
        </p:nvSpPr>
        <p:spPr>
          <a:xfrm>
            <a:off x="8310677" y="2129028"/>
            <a:ext cx="3149498" cy="0"/>
          </a:xfrm>
          <a:prstGeom prst="line">
            <a:avLst/>
          </a:prstGeom>
          <a:ln w="12700">
            <a:solidFill>
              <a:srgbClr val="CEBCA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Christian who followed Luther's new ideas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Protestant believed the Bible mattered more than the Pope.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Tudors ruled England from 1485 to 1603.</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Before the Tudors, almost everyone in England was Catholic.</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Pope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in Rome was the head of the Catholic Church.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Most people could not read, and the Bible was written in Latin.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 people trusted the Church to tell them about God, heaven and hell.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Going against the teachings of the Church was a crime called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heresy</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October 1517, a German monk called Martin Luther wrote the 95 Theses.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said the Church was wrong to sell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indulgences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which were payments to forgive sins.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Luther believed Christians should follow only what the Bible says.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wanted the Bible printed in languages people could understand.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His ideas spread like wildfire across Europe.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People who followed his ideas were called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Protestants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This great change is called 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Reformation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Who were the Tudors?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the five Tudor monarchs in order: Henry VII, Henry VIII, Edward VI, Mary I, Elizabeth I. The last four are the ones your assessment is about.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Tudors were a royal family who ruled England from 1485 to 1603.</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 will need a few words to talk about kings and queens.</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big question of this unit is: which Tudor monarch made the biggest religious changes in England?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Why was the Catholic Church so powerful?</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In this unit every explanation paragraph follows the same shape: Point, Evidence, Explain, Link. Your teacher calls it PEE or PEEL.</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the Middle Ages the Catholic Church was the most powerful organisation in Europe, and your lesson gives five reasons.</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Third, there were no schools for ordinary people, so the Church gave people all the information about the world they had.</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Put these together and you can see why nobody argued with the Church.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(1 of 2): Why was the Catholic Church so powerful?</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F6F2EF"/>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one reason why the Catholic Church was so powerful in the Middle Ages.</a:t>
            </a:r>
            <a:endParaRPr lang="en-US" sz="2200" dirty="0"/>
          </a:p>
        </p:txBody>
      </p:sp>
      <p:sp>
        <p:nvSpPr>
          <p:cNvPr id="9" name="step-box"/>
          <p:cNvSpPr/>
          <p:nvPr/>
        </p:nvSpPr>
        <p:spPr>
          <a:xfrm>
            <a:off x="548640" y="2314956"/>
            <a:ext cx="5341468" cy="1695196"/>
          </a:xfrm>
          <a:prstGeom prst="roundRect">
            <a:avLst>
              <a:gd name="adj" fmla="val 4315"/>
            </a:avLst>
          </a:prstGeom>
          <a:solidFill>
            <a:srgbClr val="FFFFFF"/>
          </a:solidFill>
          <a:ln w="15875">
            <a:solidFill>
              <a:srgbClr val="B69B83"/>
            </a:solidFill>
            <a:prstDash val="solid"/>
          </a:ln>
        </p:spPr>
      </p:sp>
      <p:sp>
        <p:nvSpPr>
          <p:cNvPr id="10" name="step-hex"/>
          <p:cNvSpPr/>
          <p:nvPr/>
        </p:nvSpPr>
        <p:spPr>
          <a:xfrm>
            <a:off x="685800" y="2424684"/>
            <a:ext cx="530352" cy="459285"/>
          </a:xfrm>
          <a:prstGeom prst="hexagon">
            <a:avLst/>
          </a:prstGeom>
          <a:solidFill>
            <a:srgbClr val="7A4A1E"/>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Point: make your reason clear in one sentence. One reason the Church was so powerful was that the Bible was written in Latin.</a:t>
            </a:r>
            <a:endParaRPr lang="en-US" sz="1800" dirty="0"/>
          </a:p>
        </p:txBody>
      </p:sp>
      <p:sp>
        <p:nvSpPr>
          <p:cNvPr id="13" name="arrow"/>
          <p:cNvSpPr/>
          <p:nvPr/>
        </p:nvSpPr>
        <p:spPr>
          <a:xfrm>
            <a:off x="5963260" y="3025394"/>
            <a:ext cx="274320" cy="274320"/>
          </a:xfrm>
          <a:prstGeom prst="rightArrow">
            <a:avLst/>
          </a:prstGeom>
          <a:solidFill>
            <a:srgbClr val="B8862B"/>
          </a:solidFill>
          <a:ln/>
        </p:spPr>
      </p:sp>
      <p:sp>
        <p:nvSpPr>
          <p:cNvPr id="14" name="step-box"/>
          <p:cNvSpPr/>
          <p:nvPr/>
        </p:nvSpPr>
        <p:spPr>
          <a:xfrm>
            <a:off x="6301588" y="2314956"/>
            <a:ext cx="5341468" cy="1695196"/>
          </a:xfrm>
          <a:prstGeom prst="roundRect">
            <a:avLst>
              <a:gd name="adj" fmla="val 4315"/>
            </a:avLst>
          </a:prstGeom>
          <a:solidFill>
            <a:srgbClr val="FFFFFF"/>
          </a:solidFill>
          <a:ln w="15875">
            <a:solidFill>
              <a:srgbClr val="B69B83"/>
            </a:solidFill>
            <a:prstDash val="solid"/>
          </a:ln>
        </p:spPr>
      </p:sp>
      <p:sp>
        <p:nvSpPr>
          <p:cNvPr id="15" name="step-hex"/>
          <p:cNvSpPr/>
          <p:nvPr/>
        </p:nvSpPr>
        <p:spPr>
          <a:xfrm>
            <a:off x="6438748" y="2424684"/>
            <a:ext cx="530352" cy="459285"/>
          </a:xfrm>
          <a:prstGeom prst="hexagon">
            <a:avLst/>
          </a:prstGeom>
          <a:solidFill>
            <a:srgbClr val="7A4A1E"/>
          </a:solidFill>
          <a:ln/>
        </p:spPr>
      </p:sp>
      <p:sp>
        <p:nvSpPr>
          <p:cNvPr id="16" name="step-hex-label"/>
          <p:cNvSpPr txBox="1"/>
          <p:nvPr/>
        </p:nvSpPr>
        <p:spPr>
          <a:xfrm>
            <a:off x="643874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2909316"/>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Evidence: give a fact from the lesson. Most people could not read at all, and those who could read usually could not read Latin.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(2 of 2): Why was the Catholic Church so powerful?</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F6F2EF"/>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one reason why the Catholic Church was so powerful in the Middle Ages.</a:t>
            </a:r>
            <a:endParaRPr lang="en-US" sz="2200" dirty="0"/>
          </a:p>
        </p:txBody>
      </p:sp>
      <p:sp>
        <p:nvSpPr>
          <p:cNvPr id="9" name="step-box"/>
          <p:cNvSpPr/>
          <p:nvPr/>
        </p:nvSpPr>
        <p:spPr>
          <a:xfrm>
            <a:off x="548640" y="2314956"/>
            <a:ext cx="5341468" cy="1695196"/>
          </a:xfrm>
          <a:prstGeom prst="roundRect">
            <a:avLst>
              <a:gd name="adj" fmla="val 4315"/>
            </a:avLst>
          </a:prstGeom>
          <a:solidFill>
            <a:srgbClr val="FFFFFF"/>
          </a:solidFill>
          <a:ln w="15875">
            <a:solidFill>
              <a:srgbClr val="B69B83"/>
            </a:solidFill>
            <a:prstDash val="solid"/>
          </a:ln>
        </p:spPr>
      </p:sp>
      <p:sp>
        <p:nvSpPr>
          <p:cNvPr id="10" name="step-hex"/>
          <p:cNvSpPr/>
          <p:nvPr/>
        </p:nvSpPr>
        <p:spPr>
          <a:xfrm>
            <a:off x="685800" y="2424684"/>
            <a:ext cx="530352" cy="459285"/>
          </a:xfrm>
          <a:prstGeom prst="hexagon">
            <a:avLst/>
          </a:prstGeom>
          <a:solidFill>
            <a:srgbClr val="7A4A1E"/>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2909316"/>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Explain: say why this gave the Church power. Only priests could say what the Bible meant, so people had to trust the Church's word.</a:t>
            </a:r>
            <a:endParaRPr lang="en-US" sz="1800" dirty="0"/>
          </a:p>
        </p:txBody>
      </p:sp>
      <p:sp>
        <p:nvSpPr>
          <p:cNvPr id="13" name="arrow"/>
          <p:cNvSpPr/>
          <p:nvPr/>
        </p:nvSpPr>
        <p:spPr>
          <a:xfrm>
            <a:off x="5963260" y="3025394"/>
            <a:ext cx="274320" cy="274320"/>
          </a:xfrm>
          <a:prstGeom prst="rightArrow">
            <a:avLst/>
          </a:prstGeom>
          <a:solidFill>
            <a:srgbClr val="B8862B"/>
          </a:solidFill>
          <a:ln/>
        </p:spPr>
      </p:sp>
      <p:sp>
        <p:nvSpPr>
          <p:cNvPr id="14" name="step-box"/>
          <p:cNvSpPr/>
          <p:nvPr/>
        </p:nvSpPr>
        <p:spPr>
          <a:xfrm>
            <a:off x="6301588" y="2314956"/>
            <a:ext cx="5341468" cy="1695196"/>
          </a:xfrm>
          <a:prstGeom prst="roundRect">
            <a:avLst>
              <a:gd name="adj" fmla="val 4315"/>
            </a:avLst>
          </a:prstGeom>
          <a:solidFill>
            <a:srgbClr val="FFFFFF"/>
          </a:solidFill>
          <a:ln w="15875">
            <a:solidFill>
              <a:srgbClr val="B69B83"/>
            </a:solidFill>
            <a:prstDash val="solid"/>
          </a:ln>
        </p:spPr>
      </p:sp>
      <p:sp>
        <p:nvSpPr>
          <p:cNvPr id="15" name="step-hex"/>
          <p:cNvSpPr/>
          <p:nvPr/>
        </p:nvSpPr>
        <p:spPr>
          <a:xfrm>
            <a:off x="6438748" y="2424684"/>
            <a:ext cx="530352" cy="459285"/>
          </a:xfrm>
          <a:prstGeom prst="hexagon">
            <a:avLst/>
          </a:prstGeom>
          <a:solidFill>
            <a:srgbClr val="7A4A1E"/>
          </a:solidFill>
          <a:ln/>
        </p:spPr>
      </p:sp>
      <p:sp>
        <p:nvSpPr>
          <p:cNvPr id="16" name="step-hex-label"/>
          <p:cNvSpPr txBox="1"/>
          <p:nvPr/>
        </p:nvSpPr>
        <p:spPr>
          <a:xfrm>
            <a:off x="643874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tep"/>
          <p:cNvSpPr txBox="1"/>
          <p:nvPr/>
        </p:nvSpPr>
        <p:spPr>
          <a:xfrm>
            <a:off x="6438748" y="2909316"/>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Link: finish by answering the question. This made the Church powerful because it controlled what people knew about God.</a:t>
            </a:r>
            <a:endParaRPr lang="en-US" sz="1800" dirty="0"/>
          </a:p>
        </p:txBody>
      </p:sp>
      <p:sp>
        <p:nvSpPr>
          <p:cNvPr id="18" name="worked-answer"/>
          <p:cNvSpPr/>
          <p:nvPr/>
        </p:nvSpPr>
        <p:spPr>
          <a:xfrm>
            <a:off x="1463040" y="5313680"/>
            <a:ext cx="9265615" cy="831088"/>
          </a:xfrm>
          <a:prstGeom prst="roundRect">
            <a:avLst>
              <a:gd name="adj" fmla="val 22005"/>
            </a:avLst>
          </a:prstGeom>
          <a:solidFill>
            <a:srgbClr val="EFE4D0"/>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Point, evidence, explain, link: the Latin Bible meant only the Church could read God's word, so people depended on priests to tell them what to believe.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What did Luther believe?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Three Luther ideas to remember: the Bible comes first; faith is personal; no paying for forgiveness.</a:t>
            </a:r>
            <a:endParaRPr lang="en-US" sz="1800" dirty="0"/>
          </a:p>
        </p:txBody>
      </p:sp>
      <p:sp>
        <p:nvSpPr>
          <p:cNvPr id="11" name="point-card"/>
          <p:cNvSpPr/>
          <p:nvPr/>
        </p:nvSpPr>
        <p:spPr>
          <a:xfrm>
            <a:off x="548640" y="1389888"/>
            <a:ext cx="3515258" cy="3964940"/>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Martin Luther was a German monk. In October 1517 he wrote the 95 Theses, a list of complaints against the Church.</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Luther believed that Christianity should be about what was written in the Bible.</a:t>
            </a:r>
            <a:endParaRPr lang="en-US" sz="2400" dirty="0"/>
          </a:p>
        </p:txBody>
      </p:sp>
      <p:sp>
        <p:nvSpPr>
          <p:cNvPr id="19" name="point-card"/>
          <p:cNvSpPr/>
          <p:nvPr/>
        </p:nvSpPr>
        <p:spPr>
          <a:xfrm>
            <a:off x="8127797" y="1389888"/>
            <a:ext cx="3515258" cy="3964940"/>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To make this possible, Luther wanted the Bible printed in languages ordinary people spoke.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Why did his ideas spread like wildfire?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you rank the four factors, ask which one the others depended on. Could Luther's ideas have travelled so fast without printing?</a:t>
            </a:r>
            <a:endParaRPr lang="en-US" sz="1800" dirty="0"/>
          </a:p>
        </p:txBody>
      </p:sp>
      <p:sp>
        <p:nvSpPr>
          <p:cNvPr id="11" name="bullet-card"/>
          <p:cNvSpPr/>
          <p:nvPr/>
        </p:nvSpPr>
        <p:spPr>
          <a:xfrm>
            <a:off x="548640" y="1389888"/>
            <a:ext cx="11094415" cy="1017524"/>
          </a:xfrm>
          <a:prstGeom prst="roundRect">
            <a:avLst>
              <a:gd name="adj" fmla="val 7189"/>
            </a:avLst>
          </a:prstGeom>
          <a:solidFill>
            <a:srgbClr val="F8F6F4"/>
          </a:solidFill>
          <a:ln/>
        </p:spPr>
      </p:sp>
      <p:sp>
        <p:nvSpPr>
          <p:cNvPr id="12" name="bullet-hex"/>
          <p:cNvSpPr/>
          <p:nvPr/>
        </p:nvSpPr>
        <p:spPr>
          <a:xfrm>
            <a:off x="676656" y="1732357"/>
            <a:ext cx="384048" cy="332586"/>
          </a:xfrm>
          <a:prstGeom prst="hexagon">
            <a:avLst/>
          </a:prstGeom>
          <a:solidFill>
            <a:srgbClr val="7A4A1E"/>
          </a:solidFill>
          <a:ln/>
        </p:spPr>
      </p:sp>
      <p:sp>
        <p:nvSpPr>
          <p:cNvPr id="13" name="bullet"/>
          <p:cNvSpPr txBox="1"/>
          <p:nvPr/>
        </p:nvSpPr>
        <p:spPr>
          <a:xfrm>
            <a:off x="1143000" y="1389888"/>
            <a:ext cx="10408615"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Your lesson sorts the reasons into four factors. The weaknesses of the Church: it was rich, it sold indulgences, and many people already felt it had lost its way.</a:t>
            </a:r>
            <a:endParaRPr lang="en-US" sz="2200" dirty="0"/>
          </a:p>
        </p:txBody>
      </p:sp>
      <p:sp>
        <p:nvSpPr>
          <p:cNvPr id="14" name="bullet-card"/>
          <p:cNvSpPr/>
          <p:nvPr/>
        </p:nvSpPr>
        <p:spPr>
          <a:xfrm>
            <a:off x="548640" y="2553716"/>
            <a:ext cx="11094415" cy="1017524"/>
          </a:xfrm>
          <a:prstGeom prst="roundRect">
            <a:avLst>
              <a:gd name="adj" fmla="val 7189"/>
            </a:avLst>
          </a:prstGeom>
          <a:solidFill>
            <a:srgbClr val="F8F6F4"/>
          </a:solidFill>
          <a:ln/>
        </p:spPr>
      </p:sp>
      <p:sp>
        <p:nvSpPr>
          <p:cNvPr id="15" name="bullet-hex"/>
          <p:cNvSpPr/>
          <p:nvPr/>
        </p:nvSpPr>
        <p:spPr>
          <a:xfrm>
            <a:off x="676656" y="2896185"/>
            <a:ext cx="384048" cy="332586"/>
          </a:xfrm>
          <a:prstGeom prst="hexagon">
            <a:avLst/>
          </a:prstGeom>
          <a:solidFill>
            <a:srgbClr val="B8862B"/>
          </a:solidFill>
          <a:ln/>
        </p:spPr>
      </p:sp>
      <p:sp>
        <p:nvSpPr>
          <p:cNvPr id="16" name="bullet"/>
          <p:cNvSpPr txBox="1"/>
          <p:nvPr/>
        </p:nvSpPr>
        <p:spPr>
          <a:xfrm>
            <a:off x="1143000" y="2553716"/>
            <a:ext cx="10408615"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European monarchs: some rulers backed Luther because they wanted to be free of the Pope's power and to keep Church money for themselves.</a:t>
            </a:r>
            <a:endParaRPr lang="en-US" sz="2200" dirty="0"/>
          </a:p>
        </p:txBody>
      </p:sp>
      <p:sp>
        <p:nvSpPr>
          <p:cNvPr id="17" name="bullet-card"/>
          <p:cNvSpPr/>
          <p:nvPr/>
        </p:nvSpPr>
        <p:spPr>
          <a:xfrm>
            <a:off x="548640" y="3717544"/>
            <a:ext cx="11094415" cy="1358392"/>
          </a:xfrm>
          <a:prstGeom prst="roundRect">
            <a:avLst>
              <a:gd name="adj" fmla="val 5385"/>
            </a:avLst>
          </a:prstGeom>
          <a:solidFill>
            <a:srgbClr val="F8F6F4"/>
          </a:solidFill>
          <a:ln/>
        </p:spPr>
      </p:sp>
      <p:sp>
        <p:nvSpPr>
          <p:cNvPr id="18" name="bullet-hex"/>
          <p:cNvSpPr/>
          <p:nvPr/>
        </p:nvSpPr>
        <p:spPr>
          <a:xfrm>
            <a:off x="676656" y="4230447"/>
            <a:ext cx="384048" cy="332586"/>
          </a:xfrm>
          <a:prstGeom prst="hexagon">
            <a:avLst/>
          </a:prstGeom>
          <a:solidFill>
            <a:srgbClr val="7A4A1E"/>
          </a:solidFill>
          <a:ln/>
        </p:spPr>
      </p:sp>
      <p:sp>
        <p:nvSpPr>
          <p:cNvPr id="19" name="bullet"/>
          <p:cNvSpPr txBox="1"/>
          <p:nvPr/>
        </p:nvSpPr>
        <p:spPr>
          <a:xfrm>
            <a:off x="1143000" y="3717544"/>
            <a:ext cx="10408615" cy="13583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Catholics and Protestants came to disagree on many things. Catholics said the Pope should lead the Church, the Bible should stay in Latin, churches should be richly decorated, priests should wear magnificent robes, and people could pay indulgences.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Catholic ways and Protestant ways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traditional Catholic way to the new Protestant way that replaced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The task (1 of 2): Catholic ways and Protestant ways</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traditional Catholic way to the new Protestant way that replaced it.</a:t>
            </a:r>
            <a:endParaRPr lang="en-US" sz="2400" dirty="0"/>
          </a:p>
        </p:txBody>
      </p:sp>
      <p:sp>
        <p:nvSpPr>
          <p:cNvPr id="11" name="match-card"/>
          <p:cNvSpPr/>
          <p:nvPr/>
        </p:nvSpPr>
        <p:spPr>
          <a:xfrm>
            <a:off x="777240" y="2672080"/>
            <a:ext cx="4242558" cy="1035643"/>
          </a:xfrm>
          <a:prstGeom prst="roundRect">
            <a:avLst>
              <a:gd name="adj" fmla="val 7063"/>
            </a:avLst>
          </a:prstGeom>
          <a:solidFill>
            <a:srgbClr val="F8F6F4"/>
          </a:solidFill>
          <a:ln/>
        </p:spPr>
      </p:sp>
      <p:sp>
        <p:nvSpPr>
          <p:cNvPr id="12" name="match-hex"/>
          <p:cNvSpPr/>
          <p:nvPr/>
        </p:nvSpPr>
        <p:spPr>
          <a:xfrm>
            <a:off x="850392" y="3023609"/>
            <a:ext cx="384048" cy="332586"/>
          </a:xfrm>
          <a:prstGeom prst="hexagon">
            <a:avLst/>
          </a:prstGeom>
          <a:solidFill>
            <a:srgbClr val="7A4A1E"/>
          </a:solidFill>
          <a:ln/>
        </p:spPr>
      </p:sp>
      <p:sp>
        <p:nvSpPr>
          <p:cNvPr id="13" name="match-hex-label"/>
          <p:cNvSpPr txBox="1"/>
          <p:nvPr/>
        </p:nvSpPr>
        <p:spPr>
          <a:xfrm>
            <a:off x="850392" y="302360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3648198" cy="10356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Pope in Rome should be the Head of the Church</a:t>
            </a:r>
            <a:endParaRPr lang="en-US" sz="2200" dirty="0"/>
          </a:p>
        </p:txBody>
      </p:sp>
      <p:sp>
        <p:nvSpPr>
          <p:cNvPr id="15" name="match-card"/>
          <p:cNvSpPr/>
          <p:nvPr/>
        </p:nvSpPr>
        <p:spPr>
          <a:xfrm>
            <a:off x="5385558" y="2672080"/>
            <a:ext cx="6028898" cy="1035643"/>
          </a:xfrm>
          <a:prstGeom prst="roundRect">
            <a:avLst>
              <a:gd name="adj" fmla="val 7063"/>
            </a:avLst>
          </a:prstGeom>
          <a:solidFill>
            <a:srgbClr val="F9F4EC"/>
          </a:solidFill>
          <a:ln/>
        </p:spPr>
      </p:sp>
      <p:sp>
        <p:nvSpPr>
          <p:cNvPr id="16" name="match-hex"/>
          <p:cNvSpPr/>
          <p:nvPr/>
        </p:nvSpPr>
        <p:spPr>
          <a:xfrm>
            <a:off x="5458710" y="3023609"/>
            <a:ext cx="384048" cy="332586"/>
          </a:xfrm>
          <a:prstGeom prst="hexagon">
            <a:avLst/>
          </a:prstGeom>
          <a:solidFill>
            <a:srgbClr val="B8862B"/>
          </a:solidFill>
          <a:ln/>
        </p:spPr>
      </p:sp>
      <p:sp>
        <p:nvSpPr>
          <p:cNvPr id="17" name="match-hex-label"/>
          <p:cNvSpPr txBox="1"/>
          <p:nvPr/>
        </p:nvSpPr>
        <p:spPr>
          <a:xfrm>
            <a:off x="5458710" y="302360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5906766" y="2672080"/>
            <a:ext cx="5434538" cy="10356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Churches should be plain and simply decorated</a:t>
            </a:r>
            <a:endParaRPr lang="en-US" sz="2200" dirty="0"/>
          </a:p>
        </p:txBody>
      </p:sp>
      <p:sp>
        <p:nvSpPr>
          <p:cNvPr id="19" name="match-card"/>
          <p:cNvSpPr/>
          <p:nvPr/>
        </p:nvSpPr>
        <p:spPr>
          <a:xfrm>
            <a:off x="777240" y="3799163"/>
            <a:ext cx="4242558" cy="1035643"/>
          </a:xfrm>
          <a:prstGeom prst="roundRect">
            <a:avLst>
              <a:gd name="adj" fmla="val 7063"/>
            </a:avLst>
          </a:prstGeom>
          <a:solidFill>
            <a:srgbClr val="F8F6F4"/>
          </a:solidFill>
          <a:ln/>
        </p:spPr>
      </p:sp>
      <p:sp>
        <p:nvSpPr>
          <p:cNvPr id="20" name="match-hex"/>
          <p:cNvSpPr/>
          <p:nvPr/>
        </p:nvSpPr>
        <p:spPr>
          <a:xfrm>
            <a:off x="850392" y="4150691"/>
            <a:ext cx="384048" cy="332586"/>
          </a:xfrm>
          <a:prstGeom prst="hexagon">
            <a:avLst/>
          </a:prstGeom>
          <a:solidFill>
            <a:srgbClr val="7A4A1E"/>
          </a:solidFill>
          <a:ln/>
        </p:spPr>
      </p:sp>
      <p:sp>
        <p:nvSpPr>
          <p:cNvPr id="21" name="match-hex-label"/>
          <p:cNvSpPr txBox="1"/>
          <p:nvPr/>
        </p:nvSpPr>
        <p:spPr>
          <a:xfrm>
            <a:off x="850392" y="41506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799163"/>
            <a:ext cx="3648198" cy="10356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Bible should be written in Latin</a:t>
            </a:r>
            <a:endParaRPr lang="en-US" sz="2200" dirty="0"/>
          </a:p>
        </p:txBody>
      </p:sp>
      <p:sp>
        <p:nvSpPr>
          <p:cNvPr id="23" name="match-card"/>
          <p:cNvSpPr/>
          <p:nvPr/>
        </p:nvSpPr>
        <p:spPr>
          <a:xfrm>
            <a:off x="5385558" y="3799163"/>
            <a:ext cx="6028898" cy="1035643"/>
          </a:xfrm>
          <a:prstGeom prst="roundRect">
            <a:avLst>
              <a:gd name="adj" fmla="val 7063"/>
            </a:avLst>
          </a:prstGeom>
          <a:solidFill>
            <a:srgbClr val="F9F4EC"/>
          </a:solidFill>
          <a:ln/>
        </p:spPr>
      </p:sp>
      <p:sp>
        <p:nvSpPr>
          <p:cNvPr id="24" name="match-hex"/>
          <p:cNvSpPr/>
          <p:nvPr/>
        </p:nvSpPr>
        <p:spPr>
          <a:xfrm>
            <a:off x="5458710" y="4150691"/>
            <a:ext cx="384048" cy="332586"/>
          </a:xfrm>
          <a:prstGeom prst="hexagon">
            <a:avLst/>
          </a:prstGeom>
          <a:solidFill>
            <a:srgbClr val="B8862B"/>
          </a:solidFill>
          <a:ln/>
        </p:spPr>
      </p:sp>
      <p:sp>
        <p:nvSpPr>
          <p:cNvPr id="25" name="match-hex-label"/>
          <p:cNvSpPr txBox="1"/>
          <p:nvPr/>
        </p:nvSpPr>
        <p:spPr>
          <a:xfrm>
            <a:off x="5458710" y="41506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5906766" y="3799163"/>
            <a:ext cx="5434538" cy="10356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monarch of a country should be the Head of the Church</a:t>
            </a:r>
            <a:endParaRPr lang="en-US" sz="2200" dirty="0"/>
          </a:p>
        </p:txBody>
      </p:sp>
      <p:sp>
        <p:nvSpPr>
          <p:cNvPr id="27" name="match-card"/>
          <p:cNvSpPr/>
          <p:nvPr/>
        </p:nvSpPr>
        <p:spPr>
          <a:xfrm>
            <a:off x="777240" y="4926245"/>
            <a:ext cx="4242558" cy="1035643"/>
          </a:xfrm>
          <a:prstGeom prst="roundRect">
            <a:avLst>
              <a:gd name="adj" fmla="val 7063"/>
            </a:avLst>
          </a:prstGeom>
          <a:solidFill>
            <a:srgbClr val="F8F6F4"/>
          </a:solidFill>
          <a:ln/>
        </p:spPr>
      </p:sp>
      <p:sp>
        <p:nvSpPr>
          <p:cNvPr id="28" name="match-hex"/>
          <p:cNvSpPr/>
          <p:nvPr/>
        </p:nvSpPr>
        <p:spPr>
          <a:xfrm>
            <a:off x="850392" y="5277774"/>
            <a:ext cx="384048" cy="332586"/>
          </a:xfrm>
          <a:prstGeom prst="hexagon">
            <a:avLst/>
          </a:prstGeom>
          <a:solidFill>
            <a:srgbClr val="7A4A1E"/>
          </a:solidFill>
          <a:ln/>
        </p:spPr>
      </p:sp>
      <p:sp>
        <p:nvSpPr>
          <p:cNvPr id="29" name="match-hex-label"/>
          <p:cNvSpPr txBox="1"/>
          <p:nvPr/>
        </p:nvSpPr>
        <p:spPr>
          <a:xfrm>
            <a:off x="850392" y="52777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926245"/>
            <a:ext cx="3648198" cy="10356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Churches should be highly decorated and inspiring</a:t>
            </a:r>
            <a:endParaRPr lang="en-US" sz="2200" dirty="0"/>
          </a:p>
        </p:txBody>
      </p:sp>
      <p:sp>
        <p:nvSpPr>
          <p:cNvPr id="31" name="match-card"/>
          <p:cNvSpPr/>
          <p:nvPr/>
        </p:nvSpPr>
        <p:spPr>
          <a:xfrm>
            <a:off x="5385558" y="4926245"/>
            <a:ext cx="6028898" cy="1035643"/>
          </a:xfrm>
          <a:prstGeom prst="roundRect">
            <a:avLst>
              <a:gd name="adj" fmla="val 7063"/>
            </a:avLst>
          </a:prstGeom>
          <a:solidFill>
            <a:srgbClr val="F9F4EC"/>
          </a:solidFill>
          <a:ln/>
        </p:spPr>
      </p:sp>
      <p:sp>
        <p:nvSpPr>
          <p:cNvPr id="32" name="match-hex"/>
          <p:cNvSpPr/>
          <p:nvPr/>
        </p:nvSpPr>
        <p:spPr>
          <a:xfrm>
            <a:off x="5458710" y="5277774"/>
            <a:ext cx="384048" cy="332586"/>
          </a:xfrm>
          <a:prstGeom prst="hexagon">
            <a:avLst/>
          </a:prstGeom>
          <a:solidFill>
            <a:srgbClr val="B8862B"/>
          </a:solidFill>
          <a:ln/>
        </p:spPr>
      </p:sp>
      <p:sp>
        <p:nvSpPr>
          <p:cNvPr id="33" name="match-hex-label"/>
          <p:cNvSpPr txBox="1"/>
          <p:nvPr/>
        </p:nvSpPr>
        <p:spPr>
          <a:xfrm>
            <a:off x="5458710" y="52777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5906766" y="4926245"/>
            <a:ext cx="5434538" cy="10356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Bible should be written in the people's own language, such as English</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The task (2 of 2): Catholic ways and Protestant ways</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traditional Catholic way to the new Protestant way that replaced it.</a:t>
            </a:r>
            <a:endParaRPr lang="en-US" sz="2400" dirty="0"/>
          </a:p>
        </p:txBody>
      </p:sp>
      <p:sp>
        <p:nvSpPr>
          <p:cNvPr id="11" name="match-card"/>
          <p:cNvSpPr/>
          <p:nvPr/>
        </p:nvSpPr>
        <p:spPr>
          <a:xfrm>
            <a:off x="777240" y="2672080"/>
            <a:ext cx="5135728" cy="1165352"/>
          </a:xfrm>
          <a:prstGeom prst="roundRect">
            <a:avLst>
              <a:gd name="adj" fmla="val 6277"/>
            </a:avLst>
          </a:prstGeom>
          <a:solidFill>
            <a:srgbClr val="F8F6F4"/>
          </a:solidFill>
          <a:ln/>
        </p:spPr>
      </p:sp>
      <p:sp>
        <p:nvSpPr>
          <p:cNvPr id="12" name="match-hex"/>
          <p:cNvSpPr/>
          <p:nvPr/>
        </p:nvSpPr>
        <p:spPr>
          <a:xfrm>
            <a:off x="850392" y="3088463"/>
            <a:ext cx="384048" cy="332586"/>
          </a:xfrm>
          <a:prstGeom prst="hexagon">
            <a:avLst/>
          </a:prstGeom>
          <a:solidFill>
            <a:srgbClr val="7A4A1E"/>
          </a:solidFill>
          <a:ln/>
        </p:spPr>
      </p:sp>
      <p:sp>
        <p:nvSpPr>
          <p:cNvPr id="13" name="match-hex-label"/>
          <p:cNvSpPr txBox="1"/>
          <p:nvPr/>
        </p:nvSpPr>
        <p:spPr>
          <a:xfrm>
            <a:off x="850392" y="308846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4541368"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Priests should wear magnificent robes to show their status</a:t>
            </a:r>
            <a:endParaRPr lang="en-US" sz="2200" dirty="0"/>
          </a:p>
        </p:txBody>
      </p:sp>
      <p:sp>
        <p:nvSpPr>
          <p:cNvPr id="15" name="match-card"/>
          <p:cNvSpPr/>
          <p:nvPr/>
        </p:nvSpPr>
        <p:spPr>
          <a:xfrm>
            <a:off x="6278728" y="2672080"/>
            <a:ext cx="5135728" cy="1165352"/>
          </a:xfrm>
          <a:prstGeom prst="roundRect">
            <a:avLst>
              <a:gd name="adj" fmla="val 6277"/>
            </a:avLst>
          </a:prstGeom>
          <a:solidFill>
            <a:srgbClr val="F9F4EC"/>
          </a:solidFill>
          <a:ln/>
        </p:spPr>
      </p:sp>
      <p:sp>
        <p:nvSpPr>
          <p:cNvPr id="16" name="match-hex"/>
          <p:cNvSpPr/>
          <p:nvPr/>
        </p:nvSpPr>
        <p:spPr>
          <a:xfrm>
            <a:off x="6351880" y="3088463"/>
            <a:ext cx="384048" cy="332586"/>
          </a:xfrm>
          <a:prstGeom prst="hexagon">
            <a:avLst/>
          </a:prstGeom>
          <a:solidFill>
            <a:srgbClr val="B8862B"/>
          </a:solidFill>
          <a:ln/>
        </p:spPr>
      </p:sp>
      <p:sp>
        <p:nvSpPr>
          <p:cNvPr id="17" name="match-hex-label"/>
          <p:cNvSpPr txBox="1"/>
          <p:nvPr/>
        </p:nvSpPr>
        <p:spPr>
          <a:xfrm>
            <a:off x="6351880" y="308846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672080"/>
            <a:ext cx="4541368"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People should not have to pay indulgences for their sins</a:t>
            </a:r>
            <a:endParaRPr lang="en-US" sz="2200" dirty="0"/>
          </a:p>
        </p:txBody>
      </p:sp>
      <p:sp>
        <p:nvSpPr>
          <p:cNvPr id="19" name="match-card"/>
          <p:cNvSpPr/>
          <p:nvPr/>
        </p:nvSpPr>
        <p:spPr>
          <a:xfrm>
            <a:off x="777240" y="3928872"/>
            <a:ext cx="5135728" cy="1165352"/>
          </a:xfrm>
          <a:prstGeom prst="roundRect">
            <a:avLst>
              <a:gd name="adj" fmla="val 6277"/>
            </a:avLst>
          </a:prstGeom>
          <a:solidFill>
            <a:srgbClr val="F8F6F4"/>
          </a:solidFill>
          <a:ln/>
        </p:spPr>
      </p:sp>
      <p:sp>
        <p:nvSpPr>
          <p:cNvPr id="20" name="match-hex"/>
          <p:cNvSpPr/>
          <p:nvPr/>
        </p:nvSpPr>
        <p:spPr>
          <a:xfrm>
            <a:off x="850392" y="4345255"/>
            <a:ext cx="384048" cy="332586"/>
          </a:xfrm>
          <a:prstGeom prst="hexagon">
            <a:avLst/>
          </a:prstGeom>
          <a:solidFill>
            <a:srgbClr val="7A4A1E"/>
          </a:solidFill>
          <a:ln/>
        </p:spPr>
      </p:sp>
      <p:sp>
        <p:nvSpPr>
          <p:cNvPr id="21" name="match-hex-label"/>
          <p:cNvSpPr txBox="1"/>
          <p:nvPr/>
        </p:nvSpPr>
        <p:spPr>
          <a:xfrm>
            <a:off x="850392" y="434525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928872"/>
            <a:ext cx="4541368"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People can pay indulgences for their sins</a:t>
            </a:r>
            <a:endParaRPr lang="en-US" sz="2200" dirty="0"/>
          </a:p>
        </p:txBody>
      </p:sp>
      <p:sp>
        <p:nvSpPr>
          <p:cNvPr id="23" name="match-card"/>
          <p:cNvSpPr/>
          <p:nvPr/>
        </p:nvSpPr>
        <p:spPr>
          <a:xfrm>
            <a:off x="6278728" y="3928872"/>
            <a:ext cx="5135728" cy="1165352"/>
          </a:xfrm>
          <a:prstGeom prst="roundRect">
            <a:avLst>
              <a:gd name="adj" fmla="val 6277"/>
            </a:avLst>
          </a:prstGeom>
          <a:solidFill>
            <a:srgbClr val="F9F4EC"/>
          </a:solidFill>
          <a:ln/>
        </p:spPr>
      </p:sp>
      <p:sp>
        <p:nvSpPr>
          <p:cNvPr id="24" name="match-hex"/>
          <p:cNvSpPr/>
          <p:nvPr/>
        </p:nvSpPr>
        <p:spPr>
          <a:xfrm>
            <a:off x="6351880" y="4345255"/>
            <a:ext cx="384048" cy="332586"/>
          </a:xfrm>
          <a:prstGeom prst="hexagon">
            <a:avLst/>
          </a:prstGeom>
          <a:solidFill>
            <a:srgbClr val="B8862B"/>
          </a:solidFill>
          <a:ln/>
        </p:spPr>
      </p:sp>
      <p:sp>
        <p:nvSpPr>
          <p:cNvPr id="25" name="match-hex-label"/>
          <p:cNvSpPr txBox="1"/>
          <p:nvPr/>
        </p:nvSpPr>
        <p:spPr>
          <a:xfrm>
            <a:off x="6351880" y="434525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928872"/>
            <a:ext cx="4541368"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Priests should wear simple robes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(1 of 2): Catholic ways and Protestant ways</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traditional Catholic way to the new Protestant way that replaced it.</a:t>
            </a:r>
            <a:endParaRPr lang="en-US" sz="2000" dirty="0"/>
          </a:p>
        </p:txBody>
      </p:sp>
      <p:sp>
        <p:nvSpPr>
          <p:cNvPr id="12" name="col-Support"/>
          <p:cNvSpPr/>
          <p:nvPr/>
        </p:nvSpPr>
        <p:spPr>
          <a:xfrm>
            <a:off x="548640" y="2593848"/>
            <a:ext cx="11094415" cy="3550920"/>
          </a:xfrm>
          <a:prstGeom prst="roundRect">
            <a:avLst>
              <a:gd name="adj" fmla="val 1545"/>
            </a:avLst>
          </a:prstGeom>
          <a:solidFill>
            <a:srgbClr val="F6F2EF"/>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10362895"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10820095" cy="2801112"/>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Each Catholic way has an opposite on the Protestant side. Look for the pair that talks about the same thing: who leads, which language, how churches look, what priests wear, paying for sins.</a:t>
            </a:r>
            <a:endParaRPr lang="en-US" sz="2200" dirty="0"/>
          </a:p>
          <a:p>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Who leads: the Catholic answer is the Pope; the Protestant answer is the monarch.</a:t>
            </a:r>
            <a:endParaRPr lang="en-US" sz="2200" dirty="0"/>
          </a:p>
          <a:p>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Language: Catholic Latin; Protestant the language people speak.</a:t>
            </a:r>
            <a:endParaRPr lang="en-US" sz="2200" dirty="0"/>
          </a:p>
          <a:p>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two about appearance (churches, robes) both go from rich to plain. The one about indulgences goes from yes to no.</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(2 of 2): Catholic ways and Protestant ways</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traditional Catholic way to the new Protestant way that replaced it.</a:t>
            </a:r>
            <a:endParaRPr lang="en-US" sz="2000" dirty="0"/>
          </a:p>
        </p:txBody>
      </p:sp>
      <p:sp>
        <p:nvSpPr>
          <p:cNvPr id="12" name="col-Core"/>
          <p:cNvSpPr/>
          <p:nvPr/>
        </p:nvSpPr>
        <p:spPr>
          <a:xfrm>
            <a:off x="548640" y="2593848"/>
            <a:ext cx="5410048" cy="3550920"/>
          </a:xfrm>
          <a:prstGeom prst="roundRect">
            <a:avLst>
              <a:gd name="adj" fmla="val 1545"/>
            </a:avLst>
          </a:prstGeom>
          <a:solidFill>
            <a:srgbClr val="E6DDD4"/>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col-head"/>
          <p:cNvSpPr txBox="1"/>
          <p:nvPr/>
        </p:nvSpPr>
        <p:spPr>
          <a:xfrm>
            <a:off x="1188720" y="2630424"/>
            <a:ext cx="467852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16" name="col-body"/>
          <p:cNvSpPr txBox="1"/>
          <p:nvPr/>
        </p:nvSpPr>
        <p:spPr>
          <a:xfrm>
            <a:off x="685800" y="3233928"/>
            <a:ext cx="5135728" cy="2801112"/>
          </a:xfrm>
          <a:prstGeom prst="rect">
            <a:avLst/>
          </a:prstGeom>
          <a:noFill/>
          <a:ln/>
        </p:spPr>
        <p:txBody>
          <a:bodyPr wrap="square" lIns="63500" tIns="63500" rIns="63500" bIns="63500" rtlCol="0" anchor="t"/>
          <a:lstStyle/>
          <a:p>
            <a:pPr algn="l" indent="0" marL="0">
              <a:buNone/>
            </a:pPr>
            <a:r>
              <a:rPr lang="en-US" sz="2200" b="1" dirty="0">
                <a:solidFill>
                  <a:srgbClr val="623B18"/>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Pair the items that are about the same topic. On every topic the Protestant side is simpler, plainer or more local than the Catholic side.</a:t>
            </a:r>
            <a:endParaRPr lang="en-US" sz="2200" dirty="0"/>
          </a:p>
        </p:txBody>
      </p:sp>
      <p:sp>
        <p:nvSpPr>
          <p:cNvPr id="17" name="col-Stretch"/>
          <p:cNvSpPr/>
          <p:nvPr/>
        </p:nvSpPr>
        <p:spPr>
          <a:xfrm>
            <a:off x="6233008" y="2593848"/>
            <a:ext cx="5410048" cy="3550920"/>
          </a:xfrm>
          <a:prstGeom prst="roundRect">
            <a:avLst>
              <a:gd name="adj" fmla="val 1545"/>
            </a:avLst>
          </a:prstGeom>
          <a:solidFill>
            <a:srgbClr val="7A4A1E"/>
          </a:solidFill>
          <a:ln/>
        </p:spPr>
      </p:sp>
      <p:sp>
        <p:nvSpPr>
          <p:cNvPr id="18" name="col-hex"/>
          <p:cNvSpPr/>
          <p:nvPr/>
        </p:nvSpPr>
        <p:spPr>
          <a:xfrm>
            <a:off x="634273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34273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col-head"/>
          <p:cNvSpPr txBox="1"/>
          <p:nvPr/>
        </p:nvSpPr>
        <p:spPr>
          <a:xfrm>
            <a:off x="6873088" y="2630424"/>
            <a:ext cx="467852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1" name="col-body"/>
          <p:cNvSpPr txBox="1"/>
          <p:nvPr/>
        </p:nvSpPr>
        <p:spPr>
          <a:xfrm>
            <a:off x="6370168" y="3233928"/>
            <a:ext cx="5135728" cy="2801112"/>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Explain which of these five differences would have mattered most to an ordinary villager who could not read, and why.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Which factor is this?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printer in Germany makes thousands of copies of Luther's pamphlets in a few weeks, and they are carried to towns all over Europe. Which factor helped Luther's ideas spread here?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weaknesses of the Church</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New technologies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European monarchs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role of Luther himself</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Which factor is this?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Which factor is this?</a:t>
            </a:r>
            <a:endParaRPr lang="en-US" sz="2000" dirty="0"/>
          </a:p>
        </p:txBody>
      </p:sp>
      <p:sp>
        <p:nvSpPr>
          <p:cNvPr id="12" name="col-Support"/>
          <p:cNvSpPr/>
          <p:nvPr/>
        </p:nvSpPr>
        <p:spPr>
          <a:xfrm>
            <a:off x="548640" y="2395728"/>
            <a:ext cx="6327465" cy="3749040"/>
          </a:xfrm>
          <a:prstGeom prst="roundRect">
            <a:avLst>
              <a:gd name="adj" fmla="val 1463"/>
            </a:avLst>
          </a:prstGeom>
          <a:solidFill>
            <a:srgbClr val="F6F2EF"/>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5595945"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6053145" cy="299923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Read the story and underline the words that tell you HOW the ideas moved: copies, printed, carried, sold.</a:t>
            </a:r>
            <a:endParaRPr lang="en-US" sz="2000" dirty="0"/>
          </a:p>
          <a:p>
            <a:pPr algn="l" indent="0" marL="0">
              <a:spcAft>
                <a:spcPts val="600"/>
              </a:spcAft>
              <a:buNone/>
            </a:pPr>
            <a:r>
              <a:rPr lang="en-US" sz="20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Ask: is this about a machine or a method (technology), about Luther's own actions, about a king or prince, or about something wrong with the Church?</a:t>
            </a:r>
            <a:endParaRPr lang="en-US" sz="2000" dirty="0"/>
          </a:p>
          <a:p>
            <a:pPr algn="l" indent="0" marL="0">
              <a:spcAft>
                <a:spcPts val="600"/>
              </a:spcAft>
              <a:buNone/>
            </a:pPr>
            <a:r>
              <a:rPr lang="en-US" sz="20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Thousands of copies in weeks is only possible with the printing press.</a:t>
            </a:r>
            <a:endParaRPr lang="en-US" sz="2000" dirty="0"/>
          </a:p>
          <a:p>
            <a:pPr algn="l" indent="0" marL="0">
              <a:spcAft>
                <a:spcPts val="600"/>
              </a:spcAft>
              <a:buNone/>
            </a:pPr>
            <a:r>
              <a:rPr lang="en-US" sz="20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So the factor is new technologies.</a:t>
            </a:r>
            <a:endParaRPr lang="en-US" sz="2000" dirty="0"/>
          </a:p>
        </p:txBody>
      </p:sp>
      <p:sp>
        <p:nvSpPr>
          <p:cNvPr id="17" name="col-Core"/>
          <p:cNvSpPr/>
          <p:nvPr/>
        </p:nvSpPr>
        <p:spPr>
          <a:xfrm>
            <a:off x="7150425" y="2395728"/>
            <a:ext cx="2109155" cy="3749040"/>
          </a:xfrm>
          <a:prstGeom prst="roundRect">
            <a:avLst>
              <a:gd name="adj" fmla="val 2601"/>
            </a:avLst>
          </a:prstGeom>
          <a:solidFill>
            <a:srgbClr val="E6DDD4"/>
          </a:solidFill>
          <a:ln/>
        </p:spPr>
      </p:sp>
      <p:sp>
        <p:nvSpPr>
          <p:cNvPr id="18" name="col-hex"/>
          <p:cNvSpPr/>
          <p:nvPr/>
        </p:nvSpPr>
        <p:spPr>
          <a:xfrm>
            <a:off x="7260153"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7260153"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790505" y="2432304"/>
            <a:ext cx="1377635"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7287585" y="3035808"/>
            <a:ext cx="1834835" cy="2999232"/>
          </a:xfrm>
          <a:prstGeom prst="rect">
            <a:avLst/>
          </a:prstGeom>
          <a:noFill/>
          <a:ln/>
        </p:spPr>
        <p:txBody>
          <a:bodyPr wrap="square" lIns="63500" tIns="63500" rIns="63500" bIns="63500" rtlCol="0" anchor="t"/>
          <a:lstStyle/>
          <a:p>
            <a:pPr algn="l" indent="0" marL="0">
              <a:buNone/>
            </a:pPr>
            <a:r>
              <a:rPr lang="en-US" sz="2000" b="1" dirty="0">
                <a:solidFill>
                  <a:srgbClr val="623B18"/>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Ask who or what is doing the work in the story: a machine, Luther, a ruler, or the Church's own faults.</a:t>
            </a:r>
            <a:endParaRPr lang="en-US" sz="2000" dirty="0"/>
          </a:p>
        </p:txBody>
      </p:sp>
      <p:sp>
        <p:nvSpPr>
          <p:cNvPr id="22" name="col-Stretch"/>
          <p:cNvSpPr/>
          <p:nvPr/>
        </p:nvSpPr>
        <p:spPr>
          <a:xfrm>
            <a:off x="9533900" y="2395728"/>
            <a:ext cx="2109155" cy="3749040"/>
          </a:xfrm>
          <a:prstGeom prst="roundRect">
            <a:avLst>
              <a:gd name="adj" fmla="val 2601"/>
            </a:avLst>
          </a:prstGeom>
          <a:solidFill>
            <a:srgbClr val="7A4A1E"/>
          </a:solidFill>
          <a:ln/>
        </p:spPr>
      </p:sp>
      <p:sp>
        <p:nvSpPr>
          <p:cNvPr id="23" name="col-hex"/>
          <p:cNvSpPr/>
          <p:nvPr/>
        </p:nvSpPr>
        <p:spPr>
          <a:xfrm>
            <a:off x="9643628"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64362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10173980" y="2432304"/>
            <a:ext cx="1377635"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671060" y="3035808"/>
            <a:ext cx="1834835" cy="299923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Argue which of the four factors was the most important, and explain how it depended on at least one of the others.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was heresy?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Going against the teachings of the Church</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Paying the Church money to forgive your sins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Translating the Bible into German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Refusing to pay taxes to the monarch</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AF8F6"/>
          </a:solidFill>
          <a:ln w="12700">
            <a:solidFill>
              <a:srgbClr val="C0AA95"/>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Catholic ways and Protestant ways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Pope in Rome should be the Head of the Church  →  E  The monarch of a country should be the Head of the Church</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Bible should be written in Latin  →  D  The Bible should be written in the people's own language, such as English</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Churches should be highly decorated and inspiring  →  B  Churches should be plain and simply decorated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Priests should wear magnificent robes to show their status  →  A  Priests should wear simple robes</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People can pay indulgences for their sins  →  C  People should not have to pay indulgences for their sins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Protestants wanted the monarch, not the Pope, to lead the Church; the Bible in the people's language; plain churches; simple robes; and no indulgences. On every point the Protestant way took power away from the Church and gave it to ordinary readers of the Bible.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Which factor is this?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printer in Germany makes thousands of copies of Luther's pamphlets in a few weeks, and they are carried to towns all over Europe. Which factor helped Luther's ideas spread here?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New technologies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Printing let a single text become thousands of copies in days. Without it, Luther's ideas would have moved only as fast as a traveller on foot or horseback.</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was heresy?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Going against the teachings of the Church</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Heresy meant believing or teaching something that went against the Church. In the Middle Ages it was a crime that could be punished by death.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6F2EF"/>
      </a:lt2>
      <a:accent1>
        <a:srgbClr val="7A4A1E"/>
      </a:accent1>
      <a:accent2>
        <a:srgbClr val="B8862B"/>
      </a:accent2>
      <a:accent3>
        <a:srgbClr val="AF9278"/>
      </a:accent3>
      <a:accent4>
        <a:srgbClr val="815E1E"/>
      </a:accent4>
      <a:accent5>
        <a:srgbClr val="4A505C"/>
      </a:accent5>
      <a:accent6>
        <a:srgbClr val="DEC69B"/>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Tudors · Chapter 1: Martin Luther and the Reformation</dc:title>
  <dc:subject>History · Year 7</dc:subject>
  <dc:creator>Dr Vitor Merissi de Carvalho</dc:creator>
  <cp:lastModifiedBy>Dr Vitor Merissi de Carvalho</cp:lastModifiedBy>
  <cp:revision>1</cp:revision>
  <dcterms:created xsi:type="dcterms:W3CDTF">2026-10-19T06:08:04Z</dcterms:created>
  <dcterms:modified xsi:type="dcterms:W3CDTF">2026-10-19T06:08:04Z</dcterms:modified>
</cp:coreProperties>
</file>