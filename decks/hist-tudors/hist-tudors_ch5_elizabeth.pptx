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5fda548-2988-e6de-dc68-807a4b46e41c}">
          <p14:sldIdLst>
            <p14:sldId id="256"/>
          </p14:sldIdLst>
        </p14:section>
        <p14:section name="Gate" id="{2bda159d-7dd1-e852-7e43-3f9401fd8d3a}">
          <p14:sldIdLst>
            <p14:sldId id="257"/>
            <p14:sldId id="258"/>
          </p14:sldIdLst>
        </p14:section>
        <p14:section name="Pre-teach" id="{027af71d-a24b-a886-4376-2971c1d1dfd0}">
          <p14:sldIdLst>
            <p14:sldId id="259"/>
            <p14:sldId id="260"/>
          </p14:sldIdLst>
        </p14:section>
        <p14:section name="Read-along" id="{45ba5d9c-3ce3-b484-631a-192bef24768c}">
          <p14:sldIdLst>
            <p14:sldId id="261"/>
            <p14:sldId id="262"/>
          </p14:sldIdLst>
        </p14:section>
        <p14:section name="Teach" id="{aed16864-7938-a764-5473-ec9dfa2f8261}">
          <p14:sldIdLst>
            <p14:sldId id="263"/>
            <p14:sldId id="264"/>
            <p14:sldId id="265"/>
            <p14:sldId id="266"/>
            <p14:sldId id="267"/>
          </p14:sldIdLst>
        </p14:section>
        <p14:section name="Routes" id="{b54709c4-2947-e974-9f86-944c3ba1b186}">
          <p14:sldIdLst>
            <p14:sldId id="268"/>
            <p14:sldId id="269"/>
            <p14:sldId id="270"/>
            <p14:sldId id="271"/>
          </p14:sldIdLst>
        </p14:section>
        <p14:section name="Close" id="{91f0efd4-fbe0-dff5-dd63-9f9c3bc55c0f}">
          <p14:sldIdLst>
            <p14:sldId id="272"/>
          </p14:sldIdLst>
        </p14:section>
        <p14:section name="Answers" id="{72048c0b-6c3d-6754-f8b2-72f21ec74f3e}">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Elizabeth I: was the Middle Way a success?. How Elizabeth came to the throne after years of upheaval, the Religious Settlement of 1559 and whether it was Catholic, Protestant or a compromise, and the Golden Age that followed.
This deck covers the department's lesson: 5 (Elizabeth I: was the Middle Way a success?: What were the key features of Elizabeth's reign, and was her Middle Way a success?).
Read the big question aloud: "Which Tudor monarch made the biggest religious changes in England?"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Elizabeth took the title Supreme ___ of the Church of England, a softer title than her father's.  →  Governor
2. In which year did England defeat the Spanish Armada?  →  1588
3. Who was Elizabeth I's mother?  →  C   Anne Boleyn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Governor. Henry had been Supreme Head. Elizabeth chose Supreme Governor to keep some Catholics happy while still removing the Pope.
2. 1588. Philip II of Spain sent the Armada to invade England in 1588, and it was defeated. The victory made Elizabeth appear stronger than ever.
3. C   Anne Boleyn. Elizabeth was the daughter of Henry VIII and his second wife, Anne Boleyn. That is one reason she was raised a Protestant.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Supreme Governor: Elizabeth's title as leader of the Church of England, softer than Supreme Head. Example: "Elizabeth chose to be Supreme Governor, not Supreme Head, of the Church."
• Middle Way: Elizabeth's religious compromise between Catholics and Protestants. Example: "The Middle Way tried to give both sides something they could accept."
• settlement: an agreement that settles an argument. Example: "Elizabeth's Religious Settlement was passed by Parliament in 1559."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uniformity: everyone doing the same thing. Example: "The Act of Uniformity meant everyone had to go to the same church services."
• compromise: a deal in which each side gives up something. Example: "The English prayer book was worded as a compromise."
• Armada: a large fleet of warships. Example: "Spain sent an Armada to invade England in 1588."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Mary died on 17 November 1558 without an heir.
2. Her half-sister Elizabeth became queen the same day, aged 25.
3. Elizabeth was the daughter of Henry VIII and Anne Boleyn.
4. She had been raised a Protestant, but she had learned to keep a low profile.
5. England had suffered years of religious upheaval.
6. Elizabeth wanted a new way that both sides could accept.
7. In 1559 Parliament passed her Religious Settlement.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It became known as the Middle Way.
9. Elizabeth was Supreme Governor of the Church, not Supreme Head.
10. Everyone had to go to church, and the prayer book was in English.
11. Under Elizabeth, England grew strong and explored the world.
12. In 1588 England defeated the Spanish Armada.
13. Historians call her reign a Golden Age.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new queen after years of upheaval. Say it in your own words, then check understanding with a quick question: ask a pupil from the pre-teach group first, since they met these words and ideas before the lesson. Pupils try to recall before you re-explain.
Mary died on 17 November 1558 without leaving an heir. Her marriage to Philip of Spain had not been a success; he spent little time with her in England. By the end, Mary had accepted that her half-sister Elizabeth would be the next queen. Elizabeth had survived Mary's reign by staying quiet and avoiding the violence towards Protestants.
Elizabeth became queen on the day Mary died, aged 25. She was the daughter of Henry VIII and his second wife, Anne Boleyn. She had been raised a Protestant, but she had watched her father, her brother and her sister each make swift religious changes, and she had learned to keep a low profile.
England had been Catholic without the Pope under Henry, Protestant under Edward, and Catholic again under Mary, all within 25 years. Elizabeth wanted to stop the swinging. Her answer, the Religious Settlement, became known as the Middle Way.
Tip: Elizabeth's problem in one line: how do you choose a religion for a country that has just changed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Religious Settlement of 1559. Say it in your own words, then check understanding with a quick question: ask a pupil from the pre-teach group first, since they met these words and ideas before the lesson. Pupils try to recall before you re-explain.
Elizabeth acted quickly. In 1559 a new Parliament met and passed her Religious Settlement, which had four parts. Elizabeth's Act of Supremacy (1559) removed the Pope as head of the Church in England once more, but Elizabeth took the title Supreme Governor rather than Supreme Head, a softer word chosen to keep some Catholics happy. Your lesson calls this mostly a Protestant solution with a nod to Catholics.
The Act of Uniformity (1559) said that everyone must attend church, and both Catholics and Protestants were fined if they stayed away. Your lesson calls this mostly a compromise: the aim was one shared church that both sides would come to, rather than a victory for either. The Common Prayer Book (1559) was rewritten and worded vaguely so that both sides could use it; your lesson calls it a compromise too, but notes that it favoured Protestants because it was in English.
So was the Middle Way really in the middle? On your lesson's dial, it sits a little to the Protestant side: no Pope, an English prayer book, a Protestant queen. But it left room for Catholics in a way that Edward's and Mary's changes never did.
Worked example — model it step by step, thinking aloud: Was Elizabeth's Act of Supremacy (1559) a Catholic solution, a Protestant solution or a compromise? (1) Ask what the law did: it removed the Pope as head of the Church in England. That is what Protestants wanted. (2) Ask what it kept or softened: Elizabeth took the title Supreme Governor, not Supreme Head, to reassure Catholics. (3) Weigh the two: the main change is Protestant; the softening is small. (4) Judgement: mostly a Protestant solution, with a small compromise in the title. Answer: Mostly Protestant: it removed the Pope, but the title Supreme Governor was a small compromise for Catholics..
Tip: For each change ask two questions: what did it do, and who would have been happier? Then judge: Catholic, Protestant or compromise.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Religious Settlement of 1559. Say it in your own words, then check understanding with a quick question: ask a pupil from the pre-teach group first, since they met these words and ideas before the lesson. Pupils try to recall before you re-explain.
Elizabeth acted quickly. In 1559 a new Parliament met and passed her Religious Settlement, which had four parts. Elizabeth's Act of Supremacy (1559) removed the Pope as head of the Church in England once more, but Elizabeth took the title Supreme Governor rather than Supreme Head, a softer word chosen to keep some Catholics happy. Your lesson calls this mostly a Protestant solution with a nod to Catholics.
The Act of Uniformity (1559) said that everyone must attend church, and both Catholics and Protestants were fined if they stayed away. Your lesson calls this mostly a compromise: the aim was one shared church that both sides would come to, rather than a victory for either. The Common Prayer Book (1559) was rewritten and worded vaguely so that both sides could use it; your lesson calls it a compromise too, but notes that it favoured Protestants because it was in English.
So was the Middle Way really in the middle? On your lesson's dial, it sits a little to the Protestant side: no Pope, an English prayer book, a Protestant queen. But it left room for Catholics in a way that Edward's and Mary's changes never did.
Worked example — model it step by step, thinking aloud: Was Elizabeth's Act of Supremacy (1559) a Catholic solution, a Protestant solution or a compromise? (1) Ask what the law did: it removed the Pope as head of the Church in England. That is what Protestants wanted. (2) Ask what it kept or softened: Elizabeth took the title Supreme Governor, not Supreme Head, to reassure Catholics. (3) Weigh the two: the main change is Protestant; the softening is small. (4) Judgement: mostly a Protestant solution, with a small compromise in the title. Answer: Mostly Protestant: it removed the Pope, but the title Supreme Governor was a small compromise for Catholics..
Tip: For each change ask two questions: what did it do, and who would have been happier? Then judge: Catholic, Protestant or compromise.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Golden Age and the Spanish Armada. Say it in your own words, then check understanding with a quick question: ask a pupil from the pre-teach group first, since they met these words and ideas before the lesson. Pupils try to recall before you re-explain.
Under Elizabeth, historians say, England entered a Golden Age and became a major power in the world. In 1580 Sir Francis Drake became the first Englishman to sail all the way round the globe. In 1585 Sir Walter Raleigh set up a colony in the newly discovered land of North America. Trade and exploration made England richer and raised its status.
Elizabeth's success, and her return of England to the Protestant side, did not please Catholic Europe. In 1587 Mary Queen of Scots, a Catholic with a claim to the English throne, was executed. Philip II of Spain, Mary I's widower, launched an Armada, a great fleet of warships, to invade England in 1588 and make it Catholic again. England defeated the Spanish Armada in 1588, and the victory made Elizabeth look stronger than ever.
Your lesson shows you a painting of Elizabeth made after the victory. Her hand rests on a globe, her dress is covered in pearls and jewels, and ships fill the background. Each detail is a message: England rules the seas, the queen is rich and powerful, and God has given her the victory.
Tip: Elizabeth's reign leads straight into your next topics: the growth of the Empire began under her, and in the early 1600s she granted the East India Company its charter to trade with India.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Was the Middle Way a success?. Say it in your own words, then check understanding with a quick question: ask a pupil from the pre-teach group first, since they met these words and ideas before the lesson. Pupils try to recall before you re-explain.
There is a case for yes. The swinging between Catholic and Protestant stopped. Catholics were fined rather than burned for staying away from church. England did not have the religious wars that tore apart other European countries at this time. Elizabeth reigned for many years, and her settlement outlived her.
There is also a case for no, or not entirely. The settlement was closer to Protestant than to the middle: the Pope was gone, the prayer book was English, and committed Catholics could not worship as they wished in public. Catholic Europe did not accept it, which is one reason Spain sent the Armada.
Your lesson asks you to draw a dial from Catholic to Protestant and mark where Elizabeth's changes sit, then to say whether Middle Way is an accurate name. A good answer uses the three changes of 1559 as evidence and gives a reason for where the needle stops.
Tip: Success for whom? A settlement can be a success for the queen and the country while still disappointing both Catholics and strict Protestants.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four parts of the Settlement.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Elizabeth's Religious Settlement to what it did.
Support — work through the steps with the group: (1) Start with the easy one: Parliament makes laws, so Parliament goes with passing the laws. (2) Supremacy means being on top: who is on top of the Church? That one is about the Pope and Elizabeth's title. (3) Uniformity means everyone the same: everyone must attend church. (4) The Prayer Book is a book, so it goes with the words of the service.
Parallel worked example for Support (model it, do not give the task answer): Match Henry's laws to what they did: the Act of Supremacy, 1534; the Treasons Act, 1534. Choices: made it a crime to deny the king's new title; made the king Supreme Head of the Church. Supremacy is about being head of the Church.; Treason is a crime against the king, so the Treasons Act is about denying his title.. Answer: Act of Supremacy → Supreme Head; Treasons Act → crime to deny the title..
Core — reveal the hint only on request: Use the names: Parliament passes; Supremacy is about who is on top; Uniformity means everyone the same; a prayer book holds the words of the service.
Stretch — no help; when finished: For each of the three laws, say whether it was a Catholic solution, a Protestant solution or a compromise, and give one reason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four parts of the Settlement.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Elizabeth's Religious Settlement to what it did.
Support — work through the steps with the group: (1) Start with the easy one: Parliament makes laws, so Parliament goes with passing the laws. (2) Supremacy means being on top: who is on top of the Church? That one is about the Pope and Elizabeth's title. (3) Uniformity means everyone the same: everyone must attend church. (4) The Prayer Book is a book, so it goes with the words of the service.
Parallel worked example for Support (model it, do not give the task answer): Match Henry's laws to what they did: the Act of Supremacy, 1534; the Treasons Act, 1534. Choices: made it a crime to deny the king's new title; made the king Supreme Head of the Church. Supremacy is about being head of the Church.; Treason is a crime against the king, so the Treasons Act is about denying his title.. Answer: Act of Supremacy → Supreme Head; Treasons Act → crime to deny the title..
Core — reveal the hint only on request: Use the names: Parliament passes; Supremacy is about who is on top; Uniformity means everyone the same; a prayer book holds the words of the service.
Stretch — no help; when finished: For each of the three laws, say whether it was a Catholic solution, a Protestant solution or a compromise, and give one reason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Elizabeth's reign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from Elizabeth's reign in chronological order.
Support — work through the steps with the group: (1) Every event has a year. Start with the smallest. (2) Elizabeth has to become queen before she can pass any laws, so 1558 comes before 1559. (3) The exploration events come in the middle of the reign: 1580 then 1585. (4) The two dangers come last: Mary Queen of Scots in 1587, then the Armada in 1588.
Parallel worked example for Support (model it, do not give the task answer): Put in order: Edward dies (1553); Henry VIII dies (January 1547); Edward is born (October 1537). Smallest year first: 1537.; Then 1547, then 1553.. Answer: Edward born; Henry dies; Edward dies.
Core — reveal the hint only on request: Queen first, then the law, then the two explorers, then the two dangers. The Armada is last.
Stretch — no help; when finished: Explain how the execution of Mary Queen of Scots in 1587 and the defeat of the Armada in 1588 are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Elizabeth's reign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from Elizabeth's reign in chronological order.
Support — work through the steps with the group: (1) Every event has a year. Start with the smallest. (2) Elizabeth has to become queen before she can pass any laws, so 1558 comes before 1559. (3) The exploration events come in the middle of the reign: 1580 then 1585. (4) The two dangers come last: Mary Queen of Scots in 1587, then the Armada in 1588.
Parallel worked example for Support (model it, do not give the task answer): Put in order: Edward dies (1553); Henry VIII dies (January 1547); Edward is born (October 1537). Smallest year first: 1537.; Then 1547, then 1553.. Answer: Edward born; Henry dies; Edward dies.
Core — reveal the hint only on request: Queen first, then the law, then the two explorers, then the two dangers. The Armada is last.
Stretch — no help; when finished: Explain how the execution of Mary Queen of Scots in 1587 and the defeat of the Armada in 1588 are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Elizabeth took the title Supreme ___ of the Church of England, a softer title than her father's.
Answer: Elizabeth took the title Supreme Governor of the Church of England, a softer title than her father's.. Henry had been Supreme Head. Elizabeth chose Supreme Governor to keep some Catholics happy while still removing the Pope.
Source of this question: gate item 1 re-asked (options rotated) — this chapter has no third quick-check module.
The ebook also holds task 3, "Was the Middle Way really in the middle?",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four parts of the Settlement. Reveal the answer; pupils mark their own work in a different colour, then read the "why" together. Same destination for every lane, so one answer serves the whole class.
Answer: A new Parliament, 1559  →  B  Met to pass the laws of the Religious Settlement; The Act of Supremacy, 1559  →  C  Removed the Pope and made Elizabeth Supreme Governor, not Supreme Head, of the Church; The Act of Uniformity, 1559  →  A  Said everyone must attend church, with fines for Catholics and Protestants who stayed away; The Common Prayer Book, 1559  →  D  Rewrote the service in English, worded vaguely so that both sides could use it
Why: Parliament passed the laws; the Act of Supremacy removed the Pope and made Elizabeth Supreme Governor; the Act of Uniformity made church attendance compulsory with fines for both sides; the Common Prayer Book put a vaguely worded service into English.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Elizabeth's reign in order. Reveal the answer; pupils mark their own work in a different colour, then read the "why" together. Same destination for every lane, so one answer serves the whole class.
Answer: Mary dies and Elizabeth becomes queen, aged 25 (17 November 1558)  (E); Parliament passes the Religious Settlement, the Middle Way (1559)  (B); Sir Francis Drake becomes the first Englishman to sail round the globe (1580)  (C); Sir Walter Raleigh sets up a colony in North America (1585)  (D); Mary Queen of Scots is executed (1587)  (F); England defeats the Spanish Armada (1588)  (A)
Why: 17 November 1558 Elizabeth becomes queen; 1559 the Settlement; 1580 Drake; 1585 Raleigh's colony; 1587 Mary Queen of Scots executed; 1588 the Armada defeated.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Elizabeth took the title Supreme Governor of the Church of England, a softer title than her father's.
Why: Henry had been Supreme Head. Elizabeth chose Supreme Governor to keep some Catholics happy while still removing the Pope.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Tudors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Tudors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Tudors · AQA KS3 → 8145</a:t>
            </a:r>
            <a:endParaRPr lang="en-US" sz="1800" dirty="0"/>
          </a:p>
        </p:txBody>
      </p:sp>
      <p:sp>
        <p:nvSpPr>
          <p:cNvPr id="10" name="deck-title"/>
          <p:cNvSpPr txBox="1"/>
          <p:nvPr/>
        </p:nvSpPr>
        <p:spPr>
          <a:xfrm>
            <a:off x="548640" y="245922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Elizabeth I: was the Middle Way a success?</a:t>
            </a:r>
            <a:endParaRPr lang="en-US" sz="3600" dirty="0"/>
          </a:p>
        </p:txBody>
      </p:sp>
      <p:sp>
        <p:nvSpPr>
          <p:cNvPr id="11" name="lessons-card"/>
          <p:cNvSpPr/>
          <p:nvPr/>
        </p:nvSpPr>
        <p:spPr>
          <a:xfrm>
            <a:off x="548640" y="4003548"/>
            <a:ext cx="5287975" cy="980440"/>
          </a:xfrm>
          <a:prstGeom prst="roundRect">
            <a:avLst>
              <a:gd name="adj" fmla="val 7461"/>
            </a:avLst>
          </a:prstGeom>
          <a:solidFill>
            <a:srgbClr val="F6F2EF"/>
          </a:solidFill>
          <a:ln/>
        </p:spPr>
      </p:sp>
      <p:sp>
        <p:nvSpPr>
          <p:cNvPr id="12" name="lessons"/>
          <p:cNvSpPr txBox="1"/>
          <p:nvPr/>
        </p:nvSpPr>
        <p:spPr>
          <a:xfrm>
            <a:off x="685800" y="409498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Elizabeth I: was the Middle Way a success?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Which Tudor monarch made the biggest religious changes in England?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Elizabeth took the title Supreme ___ of the Church of England, a softer title than her father's.</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Governor  ·  Head  ·  Pope</a:t>
            </a:r>
            <a:endParaRPr lang="en-US" sz="2400" dirty="0"/>
          </a:p>
        </p:txBody>
      </p:sp>
      <p:sp>
        <p:nvSpPr>
          <p:cNvPr id="12"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did England defeat the Spanish Armada?</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7"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Who was Elizabeth I's mother?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Jane Seymour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Lady Jane Grey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Anne Boleyn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Catherine of Aragon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Governor</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Elizabeth took the title Supreme ___ of the Church of England, a softer title than her father's.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Henry had been Supreme Head. Elizabeth chose Supreme Governor to keep some Catholics happy while still removing the Pope.</a:t>
            </a:r>
            <a:endParaRPr lang="en-US" sz="18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1588</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which year did England defeat the Spanish Armada?</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Philip II of Spain sent the Armada to invade England in 1588, and it was defeated. The victory made Elizabeth appear stronger than ever.</a:t>
            </a:r>
            <a:endParaRPr lang="en-US" sz="18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Anne Boleyn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Who was Elizabeth I's mother?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Elizabeth was the daughter of Henry VIII and his second wife, Anne Boleyn. That is one reason she was raised a Protestant.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Supreme Governor</a:t>
            </a:r>
            <a:endParaRPr lang="en-US" sz="2600" dirty="0"/>
          </a:p>
        </p:txBody>
      </p:sp>
      <p:sp>
        <p:nvSpPr>
          <p:cNvPr id="11" name="word-rule"/>
          <p:cNvSpPr/>
          <p:nvPr/>
        </p:nvSpPr>
        <p:spPr>
          <a:xfrm>
            <a:off x="731520" y="2558288"/>
            <a:ext cx="3149498" cy="0"/>
          </a:xfrm>
          <a:prstGeom prst="line">
            <a:avLst/>
          </a:prstGeom>
          <a:ln w="12700">
            <a:solidFill>
              <a:srgbClr val="CEBCAC"/>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Elizabeth's title as leader of the Church of England, softer than Supreme Head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Elizabeth chose to be Supreme Governor, not Supreme Head, of the Church.</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Middle Way</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Elizabeth's religious compromise between Catholics and Protestants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Middle Way tried to give both sides something they could accept.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settlement</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agreement that settles an argument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Elizabeth's Religious Settlement was passed by Parliament in 1559.</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uniformity</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everyone doing the same thing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Act of Uniformity meant everyone had to go to the same church services.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compromise</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deal in which each side gives up something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English prayer book was worded as a compromise.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Armada</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large fleet of warships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Spain sent an Armada to invade England in 1588.</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Mary died on 17 November 1558 without an heir.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Her half-sister Elizabeth became queen the same day, aged 25.</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Elizabeth was the daughter of Henry VIII and Anne Boleyn.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She had been raised a Protestant, but she had learned to keep a low profile.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England had suffered years of religious upheaval.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Elizabeth wanted a new way that both sides could accept.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1559 Parliament passed her Religious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Settlement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became known as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Middle Way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Elizabeth was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Supreme Governor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of the Church, not Supreme Head.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Everyone had to go to church, and the prayer book was in English.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Under Elizabeth, England grew strong and explored the world.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1588 England defeated the Spanish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Armada</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Historians call her reign a Golden Age.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 new queen after years of upheaval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Elizabeth's problem in one line: how do you choose a religion for a country that has just changed it three times?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Mary died on 17 November 1558 without leaving an heir.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Elizabeth became queen on the day Mary died, aged 25.</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England had been Catholic without the Pope under Henry, Protestant under Edward, and Catholic again under Mary, all within 25 years.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Religious Settlement of 1559</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each change ask two questions: what did it do, and who would have been happier? Then judge: Catholic, Protestant or compromise.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Elizabeth acted quickly. In 1559 a new Parliament met and passed her Religious Settlement, which had four parts.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Act of Uniformity (1559) said that everyone must attend church, and both Catholics and Protestants were fined if they stayed away.</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 was the Middle Way really in the middle? On your lesson's dial, it sits a little to the Protestant side: no Pope, an English prayer book, a Protestant queen.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Worked example: The Religious Settlement of 1559</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6F2EF"/>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Was Elizabeth's Act of Supremacy (1559) a Catholic solution, a Protestant solution or a compromise?</a:t>
            </a:r>
            <a:endParaRPr lang="en-US" sz="2000" dirty="0"/>
          </a:p>
        </p:txBody>
      </p:sp>
      <p:sp>
        <p:nvSpPr>
          <p:cNvPr id="9" name="step-box"/>
          <p:cNvSpPr/>
          <p:nvPr/>
        </p:nvSpPr>
        <p:spPr>
          <a:xfrm>
            <a:off x="548640" y="2502408"/>
            <a:ext cx="11094415" cy="724408"/>
          </a:xfrm>
          <a:prstGeom prst="roundRect">
            <a:avLst>
              <a:gd name="adj" fmla="val 10098"/>
            </a:avLst>
          </a:prstGeom>
          <a:solidFill>
            <a:srgbClr val="FFFFFF"/>
          </a:solidFill>
          <a:ln w="15875">
            <a:solidFill>
              <a:srgbClr val="B69B83"/>
            </a:solidFill>
            <a:prstDash val="solid"/>
          </a:ln>
        </p:spPr>
      </p:sp>
      <p:sp>
        <p:nvSpPr>
          <p:cNvPr id="10" name="step-hex"/>
          <p:cNvSpPr/>
          <p:nvPr/>
        </p:nvSpPr>
        <p:spPr>
          <a:xfrm>
            <a:off x="685800" y="2666644"/>
            <a:ext cx="457200" cy="395935"/>
          </a:xfrm>
          <a:prstGeom prst="hexagon">
            <a:avLst/>
          </a:prstGeom>
          <a:solidFill>
            <a:srgbClr val="7A4A1E"/>
          </a:solidFill>
          <a:ln/>
        </p:spPr>
      </p:sp>
      <p:sp>
        <p:nvSpPr>
          <p:cNvPr id="11" name="step-hex-label"/>
          <p:cNvSpPr txBox="1"/>
          <p:nvPr/>
        </p:nvSpPr>
        <p:spPr>
          <a:xfrm>
            <a:off x="685800" y="266664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72440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Ask what the law did: it removed the Pope as head of the Church in England. That is what Protestants wanted.</a:t>
            </a:r>
            <a:endParaRPr lang="en-US" sz="1800" dirty="0"/>
          </a:p>
        </p:txBody>
      </p:sp>
      <p:sp>
        <p:nvSpPr>
          <p:cNvPr id="13" name="step-box"/>
          <p:cNvSpPr/>
          <p:nvPr/>
        </p:nvSpPr>
        <p:spPr>
          <a:xfrm>
            <a:off x="548640" y="3299968"/>
            <a:ext cx="11094415" cy="724408"/>
          </a:xfrm>
          <a:prstGeom prst="roundRect">
            <a:avLst>
              <a:gd name="adj" fmla="val 10098"/>
            </a:avLst>
          </a:prstGeom>
          <a:solidFill>
            <a:srgbClr val="FFFFFF"/>
          </a:solidFill>
          <a:ln w="15875">
            <a:solidFill>
              <a:srgbClr val="B69B83"/>
            </a:solidFill>
            <a:prstDash val="solid"/>
          </a:ln>
        </p:spPr>
      </p:sp>
      <p:sp>
        <p:nvSpPr>
          <p:cNvPr id="14" name="step-hex"/>
          <p:cNvSpPr/>
          <p:nvPr/>
        </p:nvSpPr>
        <p:spPr>
          <a:xfrm>
            <a:off x="685800" y="3464204"/>
            <a:ext cx="457200" cy="395935"/>
          </a:xfrm>
          <a:prstGeom prst="hexagon">
            <a:avLst/>
          </a:prstGeom>
          <a:solidFill>
            <a:srgbClr val="7A4A1E"/>
          </a:solidFill>
          <a:ln/>
        </p:spPr>
      </p:sp>
      <p:sp>
        <p:nvSpPr>
          <p:cNvPr id="15" name="step-hex-label"/>
          <p:cNvSpPr txBox="1"/>
          <p:nvPr/>
        </p:nvSpPr>
        <p:spPr>
          <a:xfrm>
            <a:off x="685800" y="346420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299968"/>
            <a:ext cx="10180015" cy="72440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Ask what it kept or softened: Elizabeth took the title Supreme Governor, not Supreme Head, to reassure Catholics.</a:t>
            </a:r>
            <a:endParaRPr lang="en-US" sz="1800" dirty="0"/>
          </a:p>
        </p:txBody>
      </p:sp>
      <p:sp>
        <p:nvSpPr>
          <p:cNvPr id="17" name="step-box"/>
          <p:cNvSpPr/>
          <p:nvPr/>
        </p:nvSpPr>
        <p:spPr>
          <a:xfrm>
            <a:off x="548640" y="4097528"/>
            <a:ext cx="11094415" cy="460248"/>
          </a:xfrm>
          <a:prstGeom prst="roundRect">
            <a:avLst>
              <a:gd name="adj" fmla="val 15894"/>
            </a:avLst>
          </a:prstGeom>
          <a:solidFill>
            <a:srgbClr val="FFFFFF"/>
          </a:solidFill>
          <a:ln w="15875">
            <a:solidFill>
              <a:srgbClr val="B69B83"/>
            </a:solidFill>
            <a:prstDash val="solid"/>
          </a:ln>
        </p:spPr>
      </p:sp>
      <p:sp>
        <p:nvSpPr>
          <p:cNvPr id="18" name="step-hex"/>
          <p:cNvSpPr/>
          <p:nvPr/>
        </p:nvSpPr>
        <p:spPr>
          <a:xfrm>
            <a:off x="685800" y="4129684"/>
            <a:ext cx="457200" cy="395935"/>
          </a:xfrm>
          <a:prstGeom prst="hexagon">
            <a:avLst/>
          </a:prstGeom>
          <a:solidFill>
            <a:srgbClr val="7A4A1E"/>
          </a:solidFill>
          <a:ln/>
        </p:spPr>
      </p:sp>
      <p:sp>
        <p:nvSpPr>
          <p:cNvPr id="19" name="step-hex-label"/>
          <p:cNvSpPr txBox="1"/>
          <p:nvPr/>
        </p:nvSpPr>
        <p:spPr>
          <a:xfrm>
            <a:off x="685800" y="41296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4097528"/>
            <a:ext cx="10180015" cy="4602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Weigh the two: the main change is Protestant; the softening is small.</a:t>
            </a:r>
            <a:endParaRPr lang="en-US" sz="1800" dirty="0"/>
          </a:p>
        </p:txBody>
      </p:sp>
      <p:sp>
        <p:nvSpPr>
          <p:cNvPr id="21" name="step-box"/>
          <p:cNvSpPr/>
          <p:nvPr/>
        </p:nvSpPr>
        <p:spPr>
          <a:xfrm>
            <a:off x="548640" y="4630928"/>
            <a:ext cx="11094415" cy="460248"/>
          </a:xfrm>
          <a:prstGeom prst="roundRect">
            <a:avLst>
              <a:gd name="adj" fmla="val 15894"/>
            </a:avLst>
          </a:prstGeom>
          <a:solidFill>
            <a:srgbClr val="FFFFFF"/>
          </a:solidFill>
          <a:ln w="15875">
            <a:solidFill>
              <a:srgbClr val="B69B83"/>
            </a:solidFill>
            <a:prstDash val="solid"/>
          </a:ln>
        </p:spPr>
      </p:sp>
      <p:sp>
        <p:nvSpPr>
          <p:cNvPr id="22" name="step-hex"/>
          <p:cNvSpPr/>
          <p:nvPr/>
        </p:nvSpPr>
        <p:spPr>
          <a:xfrm>
            <a:off x="685800" y="4663084"/>
            <a:ext cx="457200" cy="395935"/>
          </a:xfrm>
          <a:prstGeom prst="hexagon">
            <a:avLst/>
          </a:prstGeom>
          <a:solidFill>
            <a:srgbClr val="7A4A1E"/>
          </a:solidFill>
          <a:ln/>
        </p:spPr>
      </p:sp>
      <p:sp>
        <p:nvSpPr>
          <p:cNvPr id="23" name="step-hex-label"/>
          <p:cNvSpPr txBox="1"/>
          <p:nvPr/>
        </p:nvSpPr>
        <p:spPr>
          <a:xfrm>
            <a:off x="685800" y="46630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630928"/>
            <a:ext cx="10180015" cy="4602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Judgement: mostly a Protestant solution, with a small compromise in the title.</a:t>
            </a:r>
            <a:endParaRPr lang="en-US" sz="1800" dirty="0"/>
          </a:p>
        </p:txBody>
      </p:sp>
      <p:sp>
        <p:nvSpPr>
          <p:cNvPr id="25" name="worked-answer"/>
          <p:cNvSpPr/>
          <p:nvPr/>
        </p:nvSpPr>
        <p:spPr>
          <a:xfrm>
            <a:off x="548640" y="5274056"/>
            <a:ext cx="11094415" cy="831088"/>
          </a:xfrm>
          <a:prstGeom prst="roundRect">
            <a:avLst>
              <a:gd name="adj" fmla="val 16504"/>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Mostly Protestant: it removed the Pope, but the title Supreme Governor was a small compromise for Catholics.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 Golden Age and the Spanish Armada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Elizabeth's reign leads straight into your next topics: the growth of the Empire began under her, and in the early 1600s she granted the East India Company its charter to trade with India.</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Under Elizabeth, historians say, England entered a Golden Age and became a major power in the world.</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Elizabeth's success, and her return of England to the Protestant side, did not please Catholic Europe.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shows you a painting of Elizabeth made after the victory.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Was the Middle Way a success?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Success for whom? A settlement can be a success for the queen and the country while still disappointing both Catholics and strict Protestants.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There is a case for yes. The swinging between Catholic and Protestant stopped.</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There is also a case for no, or not entirely.</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asks you to draw a dial from Catholic to Protestant and mark where Elizabeth's changes sit, then to say whether Middle Way is an accurate name.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four parts of the Settlement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part of Elizabeth's Religious Settlement to what it did.</a:t>
            </a:r>
            <a:endParaRPr lang="en-US" sz="2200" dirty="0"/>
          </a:p>
        </p:txBody>
      </p:sp>
      <p:sp>
        <p:nvSpPr>
          <p:cNvPr id="11" name="match-card"/>
          <p:cNvSpPr/>
          <p:nvPr/>
        </p:nvSpPr>
        <p:spPr>
          <a:xfrm>
            <a:off x="777240" y="2468331"/>
            <a:ext cx="3081437" cy="804809"/>
          </a:xfrm>
          <a:prstGeom prst="roundRect">
            <a:avLst>
              <a:gd name="adj" fmla="val 9089"/>
            </a:avLst>
          </a:prstGeom>
          <a:solidFill>
            <a:srgbClr val="F8F6F4"/>
          </a:solidFill>
          <a:ln/>
        </p:spPr>
      </p:sp>
      <p:sp>
        <p:nvSpPr>
          <p:cNvPr id="12" name="match-hex"/>
          <p:cNvSpPr/>
          <p:nvPr/>
        </p:nvSpPr>
        <p:spPr>
          <a:xfrm>
            <a:off x="850392" y="2704443"/>
            <a:ext cx="384048" cy="332586"/>
          </a:xfrm>
          <a:prstGeom prst="hexagon">
            <a:avLst/>
          </a:prstGeom>
          <a:solidFill>
            <a:srgbClr val="7A4A1E"/>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new Parliament, 1559</a:t>
            </a:r>
            <a:endParaRPr lang="en-US" sz="2000" dirty="0"/>
          </a:p>
        </p:txBody>
      </p:sp>
      <p:sp>
        <p:nvSpPr>
          <p:cNvPr id="15" name="match-card"/>
          <p:cNvSpPr/>
          <p:nvPr/>
        </p:nvSpPr>
        <p:spPr>
          <a:xfrm>
            <a:off x="4224437" y="2468331"/>
            <a:ext cx="7190019" cy="804809"/>
          </a:xfrm>
          <a:prstGeom prst="roundRect">
            <a:avLst>
              <a:gd name="adj" fmla="val 9089"/>
            </a:avLst>
          </a:prstGeom>
          <a:solidFill>
            <a:srgbClr val="F9F4EC"/>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Said everyone must attend church, with fines for Catholics and Protestants who stayed away</a:t>
            </a:r>
            <a:endParaRPr lang="en-US" sz="2000" dirty="0"/>
          </a:p>
        </p:txBody>
      </p:sp>
      <p:sp>
        <p:nvSpPr>
          <p:cNvPr id="19" name="match-card"/>
          <p:cNvSpPr/>
          <p:nvPr/>
        </p:nvSpPr>
        <p:spPr>
          <a:xfrm>
            <a:off x="777240" y="3364581"/>
            <a:ext cx="3081437" cy="804809"/>
          </a:xfrm>
          <a:prstGeom prst="roundRect">
            <a:avLst>
              <a:gd name="adj" fmla="val 9089"/>
            </a:avLst>
          </a:prstGeom>
          <a:solidFill>
            <a:srgbClr val="F8F6F4"/>
          </a:solidFill>
          <a:ln/>
        </p:spPr>
      </p:sp>
      <p:sp>
        <p:nvSpPr>
          <p:cNvPr id="20" name="match-hex"/>
          <p:cNvSpPr/>
          <p:nvPr/>
        </p:nvSpPr>
        <p:spPr>
          <a:xfrm>
            <a:off x="850392" y="3600692"/>
            <a:ext cx="384048" cy="332586"/>
          </a:xfrm>
          <a:prstGeom prst="hexagon">
            <a:avLst/>
          </a:prstGeom>
          <a:solidFill>
            <a:srgbClr val="7A4A1E"/>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Act of Supremacy, 1559</a:t>
            </a:r>
            <a:endParaRPr lang="en-US" sz="2000" dirty="0"/>
          </a:p>
        </p:txBody>
      </p:sp>
      <p:sp>
        <p:nvSpPr>
          <p:cNvPr id="23" name="match-card"/>
          <p:cNvSpPr/>
          <p:nvPr/>
        </p:nvSpPr>
        <p:spPr>
          <a:xfrm>
            <a:off x="4224437" y="3364581"/>
            <a:ext cx="7190019" cy="804809"/>
          </a:xfrm>
          <a:prstGeom prst="roundRect">
            <a:avLst>
              <a:gd name="adj" fmla="val 9089"/>
            </a:avLst>
          </a:prstGeom>
          <a:solidFill>
            <a:srgbClr val="F9F4EC"/>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Met to pass the laws of the Religious Settlement</a:t>
            </a:r>
            <a:endParaRPr lang="en-US" sz="2000" dirty="0"/>
          </a:p>
        </p:txBody>
      </p:sp>
      <p:sp>
        <p:nvSpPr>
          <p:cNvPr id="27" name="match-card"/>
          <p:cNvSpPr/>
          <p:nvPr/>
        </p:nvSpPr>
        <p:spPr>
          <a:xfrm>
            <a:off x="777240" y="4260830"/>
            <a:ext cx="3081437" cy="804809"/>
          </a:xfrm>
          <a:prstGeom prst="roundRect">
            <a:avLst>
              <a:gd name="adj" fmla="val 9089"/>
            </a:avLst>
          </a:prstGeom>
          <a:solidFill>
            <a:srgbClr val="F8F6F4"/>
          </a:solidFill>
          <a:ln/>
        </p:spPr>
      </p:sp>
      <p:sp>
        <p:nvSpPr>
          <p:cNvPr id="28" name="match-hex"/>
          <p:cNvSpPr/>
          <p:nvPr/>
        </p:nvSpPr>
        <p:spPr>
          <a:xfrm>
            <a:off x="850392" y="4496941"/>
            <a:ext cx="384048" cy="332586"/>
          </a:xfrm>
          <a:prstGeom prst="hexagon">
            <a:avLst/>
          </a:prstGeom>
          <a:solidFill>
            <a:srgbClr val="7A4A1E"/>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Act of Uniformity, 1559</a:t>
            </a:r>
            <a:endParaRPr lang="en-US" sz="2000" dirty="0"/>
          </a:p>
        </p:txBody>
      </p:sp>
      <p:sp>
        <p:nvSpPr>
          <p:cNvPr id="31" name="match-card"/>
          <p:cNvSpPr/>
          <p:nvPr/>
        </p:nvSpPr>
        <p:spPr>
          <a:xfrm>
            <a:off x="4224437" y="4260830"/>
            <a:ext cx="7190019" cy="804809"/>
          </a:xfrm>
          <a:prstGeom prst="roundRect">
            <a:avLst>
              <a:gd name="adj" fmla="val 9089"/>
            </a:avLst>
          </a:prstGeom>
          <a:solidFill>
            <a:srgbClr val="F9F4EC"/>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Removed the Pope and made Elizabeth Supreme Governor, not Supreme Head, of the Church</a:t>
            </a:r>
            <a:endParaRPr lang="en-US" sz="2000" dirty="0"/>
          </a:p>
        </p:txBody>
      </p:sp>
      <p:sp>
        <p:nvSpPr>
          <p:cNvPr id="35" name="match-card"/>
          <p:cNvSpPr/>
          <p:nvPr/>
        </p:nvSpPr>
        <p:spPr>
          <a:xfrm>
            <a:off x="777240" y="5157079"/>
            <a:ext cx="3081437" cy="804809"/>
          </a:xfrm>
          <a:prstGeom prst="roundRect">
            <a:avLst>
              <a:gd name="adj" fmla="val 9089"/>
            </a:avLst>
          </a:prstGeom>
          <a:solidFill>
            <a:srgbClr val="F8F6F4"/>
          </a:solidFill>
          <a:ln/>
        </p:spPr>
      </p:sp>
      <p:sp>
        <p:nvSpPr>
          <p:cNvPr id="36" name="match-hex"/>
          <p:cNvSpPr/>
          <p:nvPr/>
        </p:nvSpPr>
        <p:spPr>
          <a:xfrm>
            <a:off x="850392" y="5393191"/>
            <a:ext cx="384048" cy="332586"/>
          </a:xfrm>
          <a:prstGeom prst="hexagon">
            <a:avLst/>
          </a:prstGeom>
          <a:solidFill>
            <a:srgbClr val="7A4A1E"/>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Common Prayer Book, 1559</a:t>
            </a:r>
            <a:endParaRPr lang="en-US" sz="2000" dirty="0"/>
          </a:p>
        </p:txBody>
      </p:sp>
      <p:sp>
        <p:nvSpPr>
          <p:cNvPr id="39" name="match-card"/>
          <p:cNvSpPr/>
          <p:nvPr/>
        </p:nvSpPr>
        <p:spPr>
          <a:xfrm>
            <a:off x="4224437" y="5157079"/>
            <a:ext cx="7190019" cy="804809"/>
          </a:xfrm>
          <a:prstGeom prst="roundRect">
            <a:avLst>
              <a:gd name="adj" fmla="val 9089"/>
            </a:avLst>
          </a:prstGeom>
          <a:solidFill>
            <a:srgbClr val="F9F4EC"/>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Rewrote the service in English, worded vaguely so that both sides could use it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The four parts of the Settlement</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four parts of the Settlement</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easy one: Parliament makes laws, so Parliament goes with passing the laws.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Supremacy means being on top: who is on top of the Church? That one is about the Pope and Elizabeth's title.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Uniformity means everyone the same: everyone must attend church.</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Prayer Book is a book, so it goes with the words of the service.</a:t>
            </a:r>
            <a:endParaRPr lang="en-US" sz="1800" dirty="0"/>
          </a:p>
        </p:txBody>
      </p:sp>
      <p:sp>
        <p:nvSpPr>
          <p:cNvPr id="17" name="col-Core"/>
          <p:cNvSpPr/>
          <p:nvPr/>
        </p:nvSpPr>
        <p:spPr>
          <a:xfrm>
            <a:off x="6425403" y="2395728"/>
            <a:ext cx="2471666" cy="3749040"/>
          </a:xfrm>
          <a:prstGeom prst="roundRect">
            <a:avLst>
              <a:gd name="adj" fmla="val 2220"/>
            </a:avLst>
          </a:prstGeom>
          <a:solidFill>
            <a:srgbClr val="E6DDD4"/>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Use the names: Parliament passes; Supremacy is about who is on top; Uniformity means everyone the same; a prayer book holds the words of the service.</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For each of the three laws, say whether it was a Catholic solution, a Protestant solution or a compromise, and give one reason each.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Elizabeth's reign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these events from Elizabeth's reign in chronological order.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England defeats the Spanish Armada (1588)</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Parliament passes the Religious Settlement, the Middle Way (1559)</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Sir Francis Drake becomes the first Englishman to sail round the globe (1580)</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Sir Walter Raleigh sets up a colony in North America (1585)</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Mary dies and Elizabeth becomes queen, aged 25 (17 November 1558)</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Mary Queen of Scots is executed (1587)</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Elizabeth's reign in order</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Elizabeth's reign in order</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Every event has a year. Start with the smallest.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Elizabeth has to become queen before she can pass any laws, so 1558 comes before 1559.</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exploration events come in the middle of the reign: 1580 then 1585.</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two dangers come last: Mary Queen of Scots in 1587, then the Armada in 1588.</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Queen first, then the law, then the two explorers, then the two dangers. The Armada is last.</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execution of Mary Queen of Scots in 1587 and the defeat of the Armada in 1588 are connected.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36398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Elizabeth took the title Supreme ___ of the Church of England, a softer title than her father's.</a:t>
            </a:r>
            <a:endParaRPr lang="en-US" sz="24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Governor   ·   Head   ·   Pope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four parts of the Settlement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 new Parliament, 1559  →  B  Met to pass the laws of the Religious Settlement</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Act of Supremacy, 1559  →  C  Removed the Pope and made Elizabeth Supreme Governor, not Supreme Head, of the Church</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Act of Uniformity, 1559  →  A  Said everyone must attend church, with fines for Catholics and Protestants who stayed away</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Common Prayer Book, 1559  →  D  Rewrote the service in English, worded vaguely so that both sides could use it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Parliament passed the laws; the Act of Supremacy removed the Pope and made Elizabeth Supreme Governor; the Act of Uniformity made church attendance compulsory with fines for both sides; the Common Prayer Book put a vaguely worded service into English.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Elizabeth's reign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Mary dies and Elizabeth becomes queen, aged 25 (17 November 1558)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Parliament passes the Religious Settlement, the Middle Way (1559)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Sir Francis Drake becomes the first Englishman to sail round the globe (1580)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Sir Walter Raleigh sets up a colony in North America (1585)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Mary Queen of Scots is executed (1587)  (F)</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England defeats the Spanish Armada (1588)  (A)</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17 November 1558 Elizabeth becomes queen; 1559 the Settlement; 1580 Drake; 1585 Raleigh's colony; 1587 Mary Queen of Scots executed; 1588 the Armada defeated.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Elizabeth took the title Supreme ___ of the Church of England, a softer title than her father's.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Elizabeth took the title Supreme Governor of the Church of England, a softer title than her father's.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Henry had been Supreme Head. Elizabeth chose Supreme Governor to keep some Catholics happy while still removing the Pope.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Tudors · Chapter 5: Elizabeth I: was the Middle Way a success?</dc:title>
  <dc:subject>History · Year 7</dc:subject>
  <dc:creator>Dr Vitor Merissi de Carvalho</dc:creator>
  <cp:lastModifiedBy>Dr Vitor Merissi de Carvalho</cp:lastModifiedBy>
  <cp:revision>1</cp:revision>
  <dcterms:created xsi:type="dcterms:W3CDTF">2026-10-19T06:08:04Z</dcterms:created>
  <dcterms:modified xsi:type="dcterms:W3CDTF">2026-10-19T06:08:04Z</dcterms:modified>
</cp:coreProperties>
</file>