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fa0b36b-bf90-27f6-e560-fab0e42f7172}">
          <p14:sldIdLst>
            <p14:sldId id="256"/>
          </p14:sldIdLst>
        </p14:section>
        <p14:section name="Gate" id="{efa15791-4699-654e-1798-3820c3680337}">
          <p14:sldIdLst>
            <p14:sldId id="257"/>
            <p14:sldId id="258"/>
          </p14:sldIdLst>
        </p14:section>
        <p14:section name="Pre-teach" id="{90bef339-0541-3699-592c-89cc22c3ab5c}">
          <p14:sldIdLst>
            <p14:sldId id="259"/>
          </p14:sldIdLst>
        </p14:section>
        <p14:section name="Read-along" id="{6118ffe4-6c01-cbf7-87b8-6b0d3d281bb7}">
          <p14:sldIdLst>
            <p14:sldId id="260"/>
            <p14:sldId id="261"/>
          </p14:sldIdLst>
        </p14:section>
        <p14:section name="Teach" id="{c31895b4-d440-111f-8dfa-e7546c9272d7}">
          <p14:sldIdLst>
            <p14:sldId id="262"/>
            <p14:sldId id="263"/>
            <p14:sldId id="264"/>
            <p14:sldId id="265"/>
          </p14:sldIdLst>
        </p14:section>
        <p14:section name="Routes" id="{7acd0913-bf15-30f4-7f76-dfe3a3142af3}">
          <p14:sldIdLst>
            <p14:sldId id="266"/>
            <p14:sldId id="267"/>
            <p14:sldId id="268"/>
          </p14:sldIdLst>
        </p14:section>
        <p14:section name="Close" id="{151d4fc0-23e1-af92-b00c-9d7e9c0449f2}">
          <p14:sldIdLst>
            <p14:sldId id="269"/>
          </p14:sldIdLst>
        </p14:section>
        <p14:section name="Answers" id="{6535a8fe-55c3-0c77-c755-ebd2c6156329}">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Edward VI: how did a boy king make England Protestant?. How Edward came to the throne at nine, the regents who ruled for him, the changes that made churches plain and services English, and who really held the power.
This deck covers the department's lesson: 3 (Edward VI: a Protestant England: How did Edward VI transform England into a Protestant country, and who really held the power?).
Read the big question aloud: "Which Tudor monarch made the biggest religious changes in England?"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How old was Edward VI when he became king in 1547?  →  9 years
2. Why did regents rule for Edward VI?  →  D   He was too young to rule alone
3. Under Edward VI, a new prayer book was published in ___ so that ordinary people could understand the service.  →  English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9 years. Edward was nine when his father died in January 1547. That is why regents ruled for him.
2. D   He was too young to rule alone. Edward was nine when he became king. A regent is a person appointed to act on the monarch's behalf, and regents governed until he was old enough.
3. English. The English prayer book is one of Edward's two headline changes. Latin services had kept worship in the hands of priests.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regent: a person appointed to rule on behalf of the monarch. Example: "Because Edward was a child, a regent ruled for him."
• Protestant: a Christian who followed the new ideas of the Reformation. Example: "Edward was the first Protestant king of England."
• Catholic: a Christian who followed the traditional Church led by the Pope. Example: "Many Catholic villagers were unhappy with the changes."
• prayer book: the book that sets out the words of church services. Example: "Under Edward, the prayer book was written in English."
• convert: to change from one religion or belief to another. Example: "Catholics were expected to convert to the new Protestant ways."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Henry VIII died in January 1547.
2. His son Edward became King Edward VI at the age of nine.
3. A child could not rule alone, so regents ruled for him.
4. A regent is a person chosen to act on the monarch's behalf.
5. Unlike his father, Edward was a committed Protestant.
6. He was the first Protestant king of England.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Under Edward, England became a Protestant country.
8. Churches were made plain and simple.
9. Paintings and decorations were taken down or destroyed.
10. A new prayer book was written in English, not Latin.
11. Many Catholics were unhappy with these changes.
12. Edward died in 1553, aged only 15.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boy on the throne. Say it in your own words, then check understanding with a quick question: ask a pupil from the pre-teach group first, since they met these words and ideas before the lesson. Pupils try to recall before you re-explain.
Edward was the son Henry VIII had waited for. He was born in October 1537 to Henry's third wife, Jane Seymour. Henry had split from the Pope with the Act of Supremacy in 1534, so Edward was raised in the new Church of England, and his tutors brought him up as a Protestant.
Henry VIII died in January 1547, and Edward became King Edward VI at the age of nine. Imagine being asked to run a country when you are in Year 5. Because he was so young, regents ruled for him. A regent is a person appointed to act on the monarch's behalf. Edward's regents were powerful nobles, and they made the big decisions in his name.
Unlike his father, Edward was a committed Protestant. He was the first Protestant king of England, and under him the country's religion changed far more than it had under Henry.
Worked example — model it step by step, thinking aloud: Edward became king in 1547 and died in 1553. How many years did he reign? (1) Write the later year first: 1553. (2) Subtract the earlier year: 1553 − 1547. (3) The 15 hundreds cancel, so work out 53 − 47 = 6. (4) Check it makes sense: he was nine when he became king and 15 when he died, and 15 − 9 = 6. Answer: 6 years.
Tip: Two ways to check a reign length: subtract the years, and subtract the ages. They should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boy on the throne. Say it in your own words, then check understanding with a quick question: ask a pupil from the pre-teach group first, since they met these words and ideas before the lesson. Pupils try to recall before you re-explain.
Edward was the son Henry VIII had waited for. He was born in October 1537 to Henry's third wife, Jane Seymour. Henry had split from the Pope with the Act of Supremacy in 1534, so Edward was raised in the new Church of England, and his tutors brought him up as a Protestant.
Henry VIII died in January 1547, and Edward became King Edward VI at the age of nine. Imagine being asked to run a country when you are in Year 5. Because he was so young, regents ruled for him. A regent is a person appointed to act on the monarch's behalf. Edward's regents were powerful nobles, and they made the big decisions in his name.
Unlike his father, Edward was a committed Protestant. He was the first Protestant king of England, and under him the country's religion changed far more than it had under Henry.
Worked example — model it step by step, thinking aloud: Edward became king in 1547 and died in 1553. How many years did he reign? (1) Write the later year first: 1553. (2) Subtract the earlier year: 1553 − 1547. (3) The 15 hundreds cancel, so work out 53 − 47 = 6. (4) Check it makes sense: he was nine when he became king and 15 when he died, and 15 − 9 = 6. Answer: 6 years.
Tip: Two ways to check a reign length: subtract the years, and subtract the ages. They should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Edward's England changed the churches. Say it in your own words, then check understanding with a quick question: ask a pupil from the pre-teach group first, since they met these words and ideas before the lesson. Pupils try to recall before you re-explain.
Your lesson gives you pictures of a Catholic church and a Protestant church to compare. The Catholic church is richly decorated: paintings, statues, coloured glass, gold on the altar, a priest in magnificent robes. The Protestant church is plain: whitewashed walls, no statues, a simple table, a priest in a plain robe. Under Edward, churches across England were changed from the first kind into the second.
Paintings and decorations were taken down or destroyed. Services were no longer in Latin. A new prayer book was published in English, so that people could follow and understand what was being said. These were the changes Henry had refused to make. For the first time, England was a Protestant country in practice, not only in name.
Not everyone welcomed this. Catholics had worshipped in the same way for hundreds of years. Being told to convert, and watching the images they loved being destroyed, made many of them angry. Your lesson asks you to think about how Catholic worshippers would respond to being forced to change.
Tip: Edward's two headline changes: plain churches and an English prayer book. If a question asks what Edward changed, start with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Who really held the power?. Say it in your own words, then check understanding with a quick question: ask a pupil from the pre-teach group first, since they met these words and ideas before the lesson. Pupils try to recall before you re-explain.
Edward was a child, so the real decisions were taken by his regents and advisers. The Duke of Northumberland, whom you will meet again in the story of Mary, was one of the most powerful men in Edward's England. Historians ask whether the Protestant changes were really Edward's, or whether they belonged to the men who ruled in his name.
There are two sides. Edward was a committed Protestant who agreed with the changes and, as he grew older, pushed for them. On the other hand, the laws were written and enforced by adults, and a nine-year-old could not have governed England alone.
Your lesson ends with a statement to test: Edward VI transformed England into a Protestant country. To say how far you agree, weigh the size of the changes against the question of who made them.
Tip: How far do you agree means give both sides, then decide. Agree with evidence, disagree with evidence, then your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From Henry's heir to Protestant king.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in chronological order.
Support — work through the steps with the group: (1) Find the years in brackets and start with the smallest. (2) Edward has to be born before he can become king, and he has to become king before he can die as king. (3) The excommunication belongs to Henry's story and sits between Edward's birth and Henry's death. (4) Check the gaps: just over nine years from Edward's birth to his crowning, six years of reign.
Parallel worked example for Support (model it, do not give the task answer): Put in order: William is crowned (1066); William dies (1087); the Domesday Book is made (1086); William lands in England (September 1066). Two events are in 1066: the landing in September comes before the crowning in December.; Then 1086, then 1087.. Answer: William lands; William is crowned; Domesday Book; William dies.
Core — reveal the hint only on request: Smallest year first. Birth before crowning, crowning before death.
Stretch — no help; when finished: Explain why Henry's excommunication in 1538 made it more likely that his son would be raised as a Protestant.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From Henry's heir to Protestant king.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in chronological order.
Support — work through the steps with the group: (1) Find the years in brackets and start with the smallest. (2) Edward has to be born before he can become king, and he has to become king before he can die as king. (3) The excommunication belongs to Henry's story and sits between Edward's birth and Henry's death. (4) Check the gaps: just over nine years from Edward's birth to his crowning, six years of reign.
Parallel worked example for Support (model it, do not give the task answer): Put in order: William is crowned (1066); William dies (1087); the Domesday Book is made (1086); William lands in England (September 1066). Two events are in 1066: the landing in September comes before the crowning in December.; Then 1086, then 1087.. Answer: William lands; William is crowned; Domesday Book; William dies.
Core — reveal the hint only on request: Smallest year first. Birth before crowning, crowning before death.
Stretch — no help; when finished: Explain why Henry's excommunication in 1538 made it more likely that his son would be raised as a Protestant.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long did Edward reign?.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Edward VI became king in 1547 and died in 1553. How many years did he reign?
Support — work through the steps with the group: (1) Write the later year first: 1553. (2) Subtract the earlier year: 1553 − 1547. (3) The hundreds cancel, so work out 53 − 47 = 6. (4) Check with ages: Edward was 9 at the start and 15 at the end, and 15 − 9 = 6.
Parallel worked example for Support (model it, do not give the task answer): Henry VIII became king in 1509 and died in 1547. How many years did he reign? Later year first: 1547.; 1547 − 1509: the hundreds cancel, 47 − 9 = 38.. Answer: 38 years.
Core — reveal the hint only on request: Later year minus earlier year. Do not add one for the end year.
Stretch — no help; when finished: Edward's six-year reign is often called short. Compare it with Henry VIII's, and explain why length of reign might affect how big a monarch's religious changes could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How old was Edward VI when he became king in 1547?
Answer: 9 years. Edward was nine when his father died in January 1547. That is why regents ruled for him.
Source of this question: gate item 1 re-asked (options rotated) — this chapter has no third quick-check module.
The ebook also holds task 3, "Edward on trial",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From Henry's heir to Protestant king. Reveal the answer; pupils mark their own work in a different colour, then read the "why" together. Same destination for every lane, so one answer serves the whole class.
Answer: Anne Boleyn is executed and Henry marries Jane Seymour (1536)  (E); Jane Seymour gives birth to Edward, Henry's male heir (October 1537)  (D); The Pope excommunicates Henry VIII (December 1538)  (C); Henry VIII dies and Edward becomes King Edward VI, aged nine (January 1547)  (B); Edward VI dies after a short illness, aged 15 (1553)  (A)
Why: 1536 Anne executed and Jane Seymour married; October 1537 Edward born; December 1538 Henry excommunicated; January 1547 Henry dies and Edward is king; 1553 Edward dies.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long did Edward reign?. Reveal the answer; pupils mark their own work in a different colour, then read the "why" together. Same destination for every lane, so one answer serves the whole class.
Answer: 6 years
Why: Reign length is the later year minus the earlier year: 1553 − 1547 = 6. The age check agrees: 15 − 9 = 6.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9 years
Why: Edward was nine when his father died in January 1547. That is why regents ruled for him.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Tudors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Tudors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Tudors · AQA KS3 → 8145</a:t>
            </a:r>
            <a:endParaRPr lang="en-US" sz="1800" dirty="0"/>
          </a:p>
        </p:txBody>
      </p:sp>
      <p:sp>
        <p:nvSpPr>
          <p:cNvPr id="10" name="deck-title"/>
          <p:cNvSpPr txBox="1"/>
          <p:nvPr/>
        </p:nvSpPr>
        <p:spPr>
          <a:xfrm>
            <a:off x="548640" y="259130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Edward VI: how did a boy king make England Protestant?</a:t>
            </a:r>
            <a:endParaRPr lang="en-US" sz="2800" dirty="0"/>
          </a:p>
        </p:txBody>
      </p:sp>
      <p:sp>
        <p:nvSpPr>
          <p:cNvPr id="11" name="lessons-card"/>
          <p:cNvSpPr/>
          <p:nvPr/>
        </p:nvSpPr>
        <p:spPr>
          <a:xfrm>
            <a:off x="548640" y="3871468"/>
            <a:ext cx="5287975" cy="980440"/>
          </a:xfrm>
          <a:prstGeom prst="roundRect">
            <a:avLst>
              <a:gd name="adj" fmla="val 7461"/>
            </a:avLst>
          </a:prstGeom>
          <a:solidFill>
            <a:srgbClr val="F6F2EF"/>
          </a:solidFill>
          <a:ln/>
        </p:spPr>
      </p:sp>
      <p:sp>
        <p:nvSpPr>
          <p:cNvPr id="12" name="lessons"/>
          <p:cNvSpPr txBox="1"/>
          <p:nvPr/>
        </p:nvSpPr>
        <p:spPr>
          <a:xfrm>
            <a:off x="685800" y="396290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Edward VI: a Protestant England</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Which Tudor monarch made the biggest religious changes in England?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How old was Edward VI when he became king in 1547?</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years</a:t>
            </a:r>
            <a:endParaRPr lang="en-US" sz="2400" dirty="0"/>
          </a:p>
        </p:txBody>
      </p:sp>
      <p:sp>
        <p:nvSpPr>
          <p:cNvPr id="12"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Why did regents rule for Edward VI?</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 was a Catholic and refused to rule a Protestant country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 was away fighting a war</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Pope had excommunicated him</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 was too young to rule alone</a:t>
            </a:r>
            <a:endParaRPr lang="en-US" sz="1800" dirty="0"/>
          </a:p>
        </p:txBody>
      </p:sp>
      <p:sp>
        <p:nvSpPr>
          <p:cNvPr id="17"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Under Edward VI, a new prayer book was published in ___ so that ordinary people could understand the service.</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English  ·  Latin  ·  German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9 years</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How old was Edward VI when he became king in 1547?</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Edward was nine when his father died in January 1547. That is why regents ruled for him.</a:t>
            </a:r>
            <a:endParaRPr lang="en-US" sz="2200" dirty="0"/>
          </a:p>
        </p:txBody>
      </p:sp>
      <p:sp>
        <p:nvSpPr>
          <p:cNvPr id="14"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955040"/>
          </a:xfrm>
          <a:prstGeom prst="roundRect">
            <a:avLst>
              <a:gd name="adj" fmla="val 11489"/>
            </a:avLst>
          </a:prstGeom>
          <a:solidFill>
            <a:srgbClr val="EFE4D0"/>
          </a:solidFill>
          <a:ln w="19050">
            <a:solidFill>
              <a:srgbClr val="B8862B"/>
            </a:solidFill>
            <a:prstDash val="solid"/>
          </a:ln>
        </p:spPr>
      </p:sp>
      <p:sp>
        <p:nvSpPr>
          <p:cNvPr id="19" name="answer"/>
          <p:cNvSpPr txBox="1"/>
          <p:nvPr/>
        </p:nvSpPr>
        <p:spPr>
          <a:xfrm>
            <a:off x="4612538"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He was too young to rule alone</a:t>
            </a:r>
            <a:endParaRPr lang="en-US" sz="2200" dirty="0"/>
          </a:p>
        </p:txBody>
      </p:sp>
      <p:sp>
        <p:nvSpPr>
          <p:cNvPr id="20" name="card-body"/>
          <p:cNvSpPr txBox="1"/>
          <p:nvPr/>
        </p:nvSpPr>
        <p:spPr>
          <a:xfrm>
            <a:off x="4521098"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Why did regents rule for Edward VI?</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Edward was nine when he became king. A regent is a person appointed to act on the monarch's behalf, and regents governed until he was old enough.</a:t>
            </a:r>
            <a:endParaRPr lang="en-US" sz="1800" dirty="0"/>
          </a:p>
        </p:txBody>
      </p:sp>
      <p:sp>
        <p:nvSpPr>
          <p:cNvPr id="21"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English</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Under Edward VI, a new prayer book was published in ___ so that ordinary people could understand the service.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English prayer book is one of Edward's two headline changes. Latin services had kept worship in the hands of priests.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7A4A1E"/>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8F6F4"/>
          </a:solidFill>
          <a:ln/>
        </p:spPr>
      </p:sp>
      <p:sp>
        <p:nvSpPr>
          <p:cNvPr id="12" name="kw-hex"/>
          <p:cNvSpPr/>
          <p:nvPr/>
        </p:nvSpPr>
        <p:spPr>
          <a:xfrm>
            <a:off x="658368" y="2135261"/>
            <a:ext cx="411480" cy="356342"/>
          </a:xfrm>
          <a:prstGeom prst="hexagon">
            <a:avLst/>
          </a:prstGeom>
          <a:solidFill>
            <a:srgbClr val="7A4A1E"/>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regent</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person appointed to rule on behalf of the monarch</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Because Edward was a child, a regent ruled for him.</a:t>
            </a:r>
            <a:endParaRPr lang="en-US" sz="1800" dirty="0"/>
          </a:p>
        </p:txBody>
      </p:sp>
      <p:sp>
        <p:nvSpPr>
          <p:cNvPr id="16" name="kw-row"/>
          <p:cNvSpPr/>
          <p:nvPr/>
        </p:nvSpPr>
        <p:spPr>
          <a:xfrm>
            <a:off x="548640" y="2779776"/>
            <a:ext cx="11094415" cy="786384"/>
          </a:xfrm>
          <a:prstGeom prst="roundRect">
            <a:avLst>
              <a:gd name="adj" fmla="val 6977"/>
            </a:avLst>
          </a:prstGeom>
          <a:solidFill>
            <a:srgbClr val="F9F4EC"/>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Protestant</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Christian who followed the new ideas of the Reformation</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Edward was the first Protestant king of England.</a:t>
            </a:r>
            <a:endParaRPr lang="en-US" sz="1800" dirty="0"/>
          </a:p>
        </p:txBody>
      </p:sp>
      <p:sp>
        <p:nvSpPr>
          <p:cNvPr id="21" name="kw-row"/>
          <p:cNvSpPr/>
          <p:nvPr/>
        </p:nvSpPr>
        <p:spPr>
          <a:xfrm>
            <a:off x="548640" y="3639312"/>
            <a:ext cx="11094415" cy="786384"/>
          </a:xfrm>
          <a:prstGeom prst="roundRect">
            <a:avLst>
              <a:gd name="adj" fmla="val 6977"/>
            </a:avLst>
          </a:prstGeom>
          <a:solidFill>
            <a:srgbClr val="F8F6F4"/>
          </a:solidFill>
          <a:ln/>
        </p:spPr>
      </p:sp>
      <p:sp>
        <p:nvSpPr>
          <p:cNvPr id="22" name="kw-hex"/>
          <p:cNvSpPr/>
          <p:nvPr/>
        </p:nvSpPr>
        <p:spPr>
          <a:xfrm>
            <a:off x="658368" y="3854333"/>
            <a:ext cx="411480" cy="356342"/>
          </a:xfrm>
          <a:prstGeom prst="hexagon">
            <a:avLst/>
          </a:prstGeom>
          <a:solidFill>
            <a:srgbClr val="7A4A1E"/>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Catholic</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Christian who followed the traditional Church led by the Pope</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Many Catholic villagers were unhappy with the changes.</a:t>
            </a:r>
            <a:endParaRPr lang="en-US" sz="1800" dirty="0"/>
          </a:p>
        </p:txBody>
      </p:sp>
      <p:sp>
        <p:nvSpPr>
          <p:cNvPr id="26" name="kw-row"/>
          <p:cNvSpPr/>
          <p:nvPr/>
        </p:nvSpPr>
        <p:spPr>
          <a:xfrm>
            <a:off x="548640" y="4498848"/>
            <a:ext cx="11094415" cy="786384"/>
          </a:xfrm>
          <a:prstGeom prst="roundRect">
            <a:avLst>
              <a:gd name="adj" fmla="val 6977"/>
            </a:avLst>
          </a:prstGeom>
          <a:solidFill>
            <a:srgbClr val="F9F4EC"/>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prayer book</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book that sets out the words of church services</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Under Edward, the prayer book was written in English.</a:t>
            </a:r>
            <a:endParaRPr lang="en-US" sz="1800" dirty="0"/>
          </a:p>
        </p:txBody>
      </p:sp>
      <p:sp>
        <p:nvSpPr>
          <p:cNvPr id="31" name="kw-row"/>
          <p:cNvSpPr/>
          <p:nvPr/>
        </p:nvSpPr>
        <p:spPr>
          <a:xfrm>
            <a:off x="548640" y="5358384"/>
            <a:ext cx="11094415" cy="786384"/>
          </a:xfrm>
          <a:prstGeom prst="roundRect">
            <a:avLst>
              <a:gd name="adj" fmla="val 6977"/>
            </a:avLst>
          </a:prstGeom>
          <a:solidFill>
            <a:srgbClr val="F8F6F4"/>
          </a:solidFill>
          <a:ln/>
        </p:spPr>
      </p:sp>
      <p:sp>
        <p:nvSpPr>
          <p:cNvPr id="32" name="kw-hex"/>
          <p:cNvSpPr/>
          <p:nvPr/>
        </p:nvSpPr>
        <p:spPr>
          <a:xfrm>
            <a:off x="658368" y="5573405"/>
            <a:ext cx="411480" cy="356342"/>
          </a:xfrm>
          <a:prstGeom prst="hexagon">
            <a:avLst/>
          </a:prstGeom>
          <a:solidFill>
            <a:srgbClr val="7A4A1E"/>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convert</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 change from one religion or belief to another</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Catholics were expected to convert to the new Protestant ways.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Henry VIII died in January 1547.</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His son Edward became King Edward VI at the age of nine.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child could not rule alone, so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regents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ruled for him.</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regent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a person chosen to act on the monarch's behalf.</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Unlike his father, Edward was a committed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Protestant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He was the first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Protestant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king of England.</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Under Edward, England became a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Protestant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country.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Churches were made plain and simple.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Paintings and decorations were taken down or destroyed.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new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prayer book</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was written in English, not Latin.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Many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Catholics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were unhappy with these changes.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Edward died in 1553, aged only 15.</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 boy on the throne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Two ways to check a reign length: subtract the years, and subtract the ages. They should agree.</a:t>
            </a:r>
            <a:endParaRPr lang="en-US" sz="1800" dirty="0"/>
          </a:p>
        </p:txBody>
      </p:sp>
      <p:sp>
        <p:nvSpPr>
          <p:cNvPr id="11" name="point-card"/>
          <p:cNvSpPr/>
          <p:nvPr/>
        </p:nvSpPr>
        <p:spPr>
          <a:xfrm>
            <a:off x="548640" y="1389888"/>
            <a:ext cx="3515258" cy="3964940"/>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Edward was the son Henry VIII had waited for. He was born in October 1537 to Henry's third wife, Jane Seymour.</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Henry VIII died in January 1547, and Edward became King Edward VI at the age of nine.</a:t>
            </a:r>
            <a:endParaRPr lang="en-US" sz="2200" dirty="0"/>
          </a:p>
        </p:txBody>
      </p:sp>
      <p:sp>
        <p:nvSpPr>
          <p:cNvPr id="19" name="point-card"/>
          <p:cNvSpPr/>
          <p:nvPr/>
        </p:nvSpPr>
        <p:spPr>
          <a:xfrm>
            <a:off x="8127797" y="1389888"/>
            <a:ext cx="3515258" cy="3964940"/>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Unlike his father, Edward was a committed Protestant. He was the first Protestant king of England, and under him the country's religion changed far more than it had under Henry.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Worked example: A boy on the throne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6F2EF"/>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Edward became king in 1547 and died in 1553. How many years did he reign?</a:t>
            </a:r>
            <a:endParaRPr lang="en-US" sz="2200" dirty="0"/>
          </a:p>
        </p:txBody>
      </p:sp>
      <p:sp>
        <p:nvSpPr>
          <p:cNvPr id="9" name="step-box"/>
          <p:cNvSpPr/>
          <p:nvPr/>
        </p:nvSpPr>
        <p:spPr>
          <a:xfrm>
            <a:off x="548640" y="2314956"/>
            <a:ext cx="2464994" cy="2252980"/>
          </a:xfrm>
          <a:prstGeom prst="roundRect">
            <a:avLst>
              <a:gd name="adj" fmla="val 3247"/>
            </a:avLst>
          </a:prstGeom>
          <a:solidFill>
            <a:srgbClr val="FFFFFF"/>
          </a:solidFill>
          <a:ln w="15875">
            <a:solidFill>
              <a:srgbClr val="B69B83"/>
            </a:solidFill>
            <a:prstDash val="solid"/>
          </a:ln>
        </p:spPr>
      </p:sp>
      <p:sp>
        <p:nvSpPr>
          <p:cNvPr id="10" name="step-hex"/>
          <p:cNvSpPr/>
          <p:nvPr/>
        </p:nvSpPr>
        <p:spPr>
          <a:xfrm>
            <a:off x="685800" y="2424684"/>
            <a:ext cx="530352" cy="459285"/>
          </a:xfrm>
          <a:prstGeom prst="hexagon">
            <a:avLst/>
          </a:prstGeom>
          <a:solidFill>
            <a:srgbClr val="7A4A1E"/>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Write the later year first: 1553.</a:t>
            </a:r>
            <a:endParaRPr lang="en-US" sz="1800" dirty="0"/>
          </a:p>
        </p:txBody>
      </p:sp>
      <p:sp>
        <p:nvSpPr>
          <p:cNvPr id="13" name="arrow"/>
          <p:cNvSpPr/>
          <p:nvPr/>
        </p:nvSpPr>
        <p:spPr>
          <a:xfrm>
            <a:off x="3086786" y="3304286"/>
            <a:ext cx="274320" cy="274320"/>
          </a:xfrm>
          <a:prstGeom prst="rightArrow">
            <a:avLst/>
          </a:prstGeom>
          <a:solidFill>
            <a:srgbClr val="B8862B"/>
          </a:solidFill>
          <a:ln/>
        </p:spPr>
      </p:sp>
      <p:sp>
        <p:nvSpPr>
          <p:cNvPr id="14" name="step-box"/>
          <p:cNvSpPr/>
          <p:nvPr/>
        </p:nvSpPr>
        <p:spPr>
          <a:xfrm>
            <a:off x="3425114" y="2314956"/>
            <a:ext cx="2464994" cy="2252980"/>
          </a:xfrm>
          <a:prstGeom prst="roundRect">
            <a:avLst>
              <a:gd name="adj" fmla="val 3247"/>
            </a:avLst>
          </a:prstGeom>
          <a:solidFill>
            <a:srgbClr val="FFFFFF"/>
          </a:solidFill>
          <a:ln w="15875">
            <a:solidFill>
              <a:srgbClr val="B69B83"/>
            </a:solidFill>
            <a:prstDash val="solid"/>
          </a:ln>
        </p:spPr>
      </p:sp>
      <p:sp>
        <p:nvSpPr>
          <p:cNvPr id="15" name="step-hex"/>
          <p:cNvSpPr/>
          <p:nvPr/>
        </p:nvSpPr>
        <p:spPr>
          <a:xfrm>
            <a:off x="3562274" y="2424684"/>
            <a:ext cx="530352" cy="459285"/>
          </a:xfrm>
          <a:prstGeom prst="hexagon">
            <a:avLst/>
          </a:prstGeom>
          <a:solidFill>
            <a:srgbClr val="7A4A1E"/>
          </a:solidFill>
          <a:ln/>
        </p:spPr>
      </p:sp>
      <p:sp>
        <p:nvSpPr>
          <p:cNvPr id="16" name="step-hex-label"/>
          <p:cNvSpPr txBox="1"/>
          <p:nvPr/>
        </p:nvSpPr>
        <p:spPr>
          <a:xfrm>
            <a:off x="3562274"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Subtract the earlier year: 1553 − 1547.</a:t>
            </a:r>
            <a:endParaRPr lang="en-US" sz="1800" dirty="0"/>
          </a:p>
        </p:txBody>
      </p:sp>
      <p:sp>
        <p:nvSpPr>
          <p:cNvPr id="18" name="arrow"/>
          <p:cNvSpPr/>
          <p:nvPr/>
        </p:nvSpPr>
        <p:spPr>
          <a:xfrm>
            <a:off x="5963260" y="3304286"/>
            <a:ext cx="274320" cy="274320"/>
          </a:xfrm>
          <a:prstGeom prst="rightArrow">
            <a:avLst/>
          </a:prstGeom>
          <a:solidFill>
            <a:srgbClr val="B8862B"/>
          </a:solidFill>
          <a:ln/>
        </p:spPr>
      </p:sp>
      <p:sp>
        <p:nvSpPr>
          <p:cNvPr id="19" name="step-box"/>
          <p:cNvSpPr/>
          <p:nvPr/>
        </p:nvSpPr>
        <p:spPr>
          <a:xfrm>
            <a:off x="6301588" y="2314956"/>
            <a:ext cx="2464994" cy="2252980"/>
          </a:xfrm>
          <a:prstGeom prst="roundRect">
            <a:avLst>
              <a:gd name="adj" fmla="val 3247"/>
            </a:avLst>
          </a:prstGeom>
          <a:solidFill>
            <a:srgbClr val="FFFFFF"/>
          </a:solidFill>
          <a:ln w="15875">
            <a:solidFill>
              <a:srgbClr val="B69B83"/>
            </a:solidFill>
            <a:prstDash val="solid"/>
          </a:ln>
        </p:spPr>
      </p:sp>
      <p:sp>
        <p:nvSpPr>
          <p:cNvPr id="20" name="step-hex"/>
          <p:cNvSpPr/>
          <p:nvPr/>
        </p:nvSpPr>
        <p:spPr>
          <a:xfrm>
            <a:off x="6438748" y="2424684"/>
            <a:ext cx="530352" cy="459285"/>
          </a:xfrm>
          <a:prstGeom prst="hexagon">
            <a:avLst/>
          </a:prstGeom>
          <a:solidFill>
            <a:srgbClr val="7A4A1E"/>
          </a:solidFill>
          <a:ln/>
        </p:spPr>
      </p:sp>
      <p:sp>
        <p:nvSpPr>
          <p:cNvPr id="21"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15 hundreds cancel, so work out 53 − 47 = 6.</a:t>
            </a:r>
            <a:endParaRPr lang="en-US" sz="1800" dirty="0"/>
          </a:p>
        </p:txBody>
      </p:sp>
      <p:sp>
        <p:nvSpPr>
          <p:cNvPr id="23" name="arrow"/>
          <p:cNvSpPr/>
          <p:nvPr/>
        </p:nvSpPr>
        <p:spPr>
          <a:xfrm>
            <a:off x="8839733" y="3304286"/>
            <a:ext cx="274320" cy="274320"/>
          </a:xfrm>
          <a:prstGeom prst="rightArrow">
            <a:avLst/>
          </a:prstGeom>
          <a:solidFill>
            <a:srgbClr val="B8862B"/>
          </a:solidFill>
          <a:ln/>
        </p:spPr>
      </p:sp>
      <p:sp>
        <p:nvSpPr>
          <p:cNvPr id="24" name="step-box"/>
          <p:cNvSpPr/>
          <p:nvPr/>
        </p:nvSpPr>
        <p:spPr>
          <a:xfrm>
            <a:off x="9178061" y="2314956"/>
            <a:ext cx="2464994" cy="2252980"/>
          </a:xfrm>
          <a:prstGeom prst="roundRect">
            <a:avLst>
              <a:gd name="adj" fmla="val 3247"/>
            </a:avLst>
          </a:prstGeom>
          <a:solidFill>
            <a:srgbClr val="FFFFFF"/>
          </a:solidFill>
          <a:ln w="15875">
            <a:solidFill>
              <a:srgbClr val="B69B83"/>
            </a:solidFill>
            <a:prstDash val="solid"/>
          </a:ln>
        </p:spPr>
      </p:sp>
      <p:sp>
        <p:nvSpPr>
          <p:cNvPr id="25" name="step-hex"/>
          <p:cNvSpPr/>
          <p:nvPr/>
        </p:nvSpPr>
        <p:spPr>
          <a:xfrm>
            <a:off x="9315221" y="2424684"/>
            <a:ext cx="530352" cy="459285"/>
          </a:xfrm>
          <a:prstGeom prst="hexagon">
            <a:avLst/>
          </a:prstGeom>
          <a:solidFill>
            <a:srgbClr val="7A4A1E"/>
          </a:solidFill>
          <a:ln/>
        </p:spPr>
      </p:sp>
      <p:sp>
        <p:nvSpPr>
          <p:cNvPr id="26" name="step-hex-label"/>
          <p:cNvSpPr txBox="1"/>
          <p:nvPr/>
        </p:nvSpPr>
        <p:spPr>
          <a:xfrm>
            <a:off x="9315221"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Check it makes sense: he was nine when he became king and 15 when he died, and 15 − 9 = 6.</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6 years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How Edward's England changed the churches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Edward's two headline changes: plain churches and an English prayer book. If a question asks what Edward changed, start with those.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gives you pictures of a Catholic church and a Protestant church to compare.</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Paintings and decorations were taken down or destroyed. Services were no longer in Latin.</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Not everyone welcomed this. Catholics had worshipped in the same way for hundreds of years.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Who really held the power?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How far do you agree means give both sides, then decide. Agree with evidence, disagree with evidence, then your judgement.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Edward was a child, so the real decisions were taken by his regents and advisers.</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There are two sides. Edward was a committed Protestant who agreed with the changes and, as he grew older, pushed for them.</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lesson ends with a statement to test: Edward VI transformed England into a Protestant country.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From Henry's heir to Protestant king</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events in chronological order.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Edward VI dies after a short illness, aged 15 (1553)</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Henry VIII dies and Edward becomes King Edward VI, aged nine (January 1547)</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Pope excommunicates Henry VIII (December 1538)</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Jane Seymour gives birth to Edward, Henry's male heir (October 1537)</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Anne Boleyn is executed and Henry marries Jane Seymour (1536)</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From Henry's heir to Protestant king</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From Henry's heir to Protestant king</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years in brackets and start with the smallest.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Edward has to be born before he can become king, and he has to become king before he can die as king.</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excommunication belongs to Henry's story and sits between Edward's birth and Henry's death.</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the gaps: just over nine years from Edward's birth to his crowning, six years of reign.</a:t>
            </a:r>
            <a:endParaRPr lang="en-US" sz="1800" dirty="0"/>
          </a:p>
        </p:txBody>
      </p:sp>
      <p:sp>
        <p:nvSpPr>
          <p:cNvPr id="17" name="col-Core"/>
          <p:cNvSpPr/>
          <p:nvPr/>
        </p:nvSpPr>
        <p:spPr>
          <a:xfrm>
            <a:off x="6425403" y="2395728"/>
            <a:ext cx="2471666" cy="3749040"/>
          </a:xfrm>
          <a:prstGeom prst="roundRect">
            <a:avLst>
              <a:gd name="adj" fmla="val 2220"/>
            </a:avLst>
          </a:prstGeom>
          <a:solidFill>
            <a:srgbClr val="E6DDD4"/>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Smallest year first. Birth before crowning, crowning before death.</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Henry's excommunication in 1538 made it more likely that his son would be raised as a Protestant.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How long did Edward reign?</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Edward VI became king in 1547 and died in 1553. How many years did he reign?</a:t>
            </a:r>
            <a:endParaRPr lang="en-US" sz="2000" dirty="0"/>
          </a:p>
          <a:p>
            <a:pPr algn="ctr" indent="0" marL="0">
              <a:buNone/>
            </a:pPr>
            <a:r>
              <a:rPr lang="en-US" sz="1800" b="1" dirty="0">
                <a:solidFill>
                  <a:srgbClr val="7A4A1E"/>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years</a:t>
            </a:r>
            <a:endParaRPr lang="en-US" sz="2000" dirty="0"/>
          </a:p>
        </p:txBody>
      </p:sp>
      <p:sp>
        <p:nvSpPr>
          <p:cNvPr id="12" name="col-Support"/>
          <p:cNvSpPr/>
          <p:nvPr/>
        </p:nvSpPr>
        <p:spPr>
          <a:xfrm>
            <a:off x="548640" y="2948940"/>
            <a:ext cx="4667802" cy="3195828"/>
          </a:xfrm>
          <a:prstGeom prst="roundRect">
            <a:avLst>
              <a:gd name="adj" fmla="val 1717"/>
            </a:avLst>
          </a:prstGeom>
          <a:solidFill>
            <a:srgbClr val="F6F2EF"/>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later year first: 1553.</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Subtract the earlier year: 1553 − 1547.</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hundreds cancel, so work out 53 − 47 = 6.</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with ages: Edward was 9 at the start and 15 at the end, and 15 − 9 = 6.</a:t>
            </a:r>
            <a:endParaRPr lang="en-US" sz="1800" dirty="0"/>
          </a:p>
        </p:txBody>
      </p:sp>
      <p:sp>
        <p:nvSpPr>
          <p:cNvPr id="17" name="col-Core"/>
          <p:cNvSpPr/>
          <p:nvPr/>
        </p:nvSpPr>
        <p:spPr>
          <a:xfrm>
            <a:off x="5490762" y="2948940"/>
            <a:ext cx="2938987" cy="3195828"/>
          </a:xfrm>
          <a:prstGeom prst="roundRect">
            <a:avLst>
              <a:gd name="adj" fmla="val 1867"/>
            </a:avLst>
          </a:prstGeom>
          <a:solidFill>
            <a:srgbClr val="E6DDD4"/>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Later year minus earlier year. Do not add one for the end year.</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7A4A1E"/>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Edward's six-year reign is often called short. Compare it with Henry VIII's, and explain why length of reign might affect how big a monarch's religious changes could be.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49885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How old was Edward VI when he became king in 1547?</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AF8F6"/>
          </a:solidFill>
          <a:ln w="12700">
            <a:solidFill>
              <a:srgbClr val="C0AA9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 (years):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From Henry's heir to Protestant king</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Anne Boleyn is executed and Henry marries Jane Seymour (1536)  (E)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Jane Seymour gives birth to Edward, Henry's male heir (October 1537)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Pope excommunicates Henry VIII (December 1538)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Henry VIII dies and Edward becomes King Edward VI, aged nine (January 1547)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Edward VI dies after a short illness, aged 15 (1553)  (A)</a:t>
            </a:r>
            <a:endParaRPr lang="en-US" sz="20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1536 Anne executed and Jane Seymour married; October 1537 Edward born; December 1538 Henry excommunicated; January 1547 Henry dies and Edward is king; 1553 Edward dies.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How long did Edward reign?</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Edward VI became king in 1547 and died in 1553. How many years did he reign?</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6 years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Reign length is the later year minus the earlier year: 1553 − 1547 = 6. The age check agrees: 15 − 9 = 6.</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How old was Edward VI when he became king in 1547?</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9 years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Edward was nine when his father died in January 1547. That is why regents ruled for him.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Tudors · Chapter 3: Edward VI: how did a boy king make England Protestant?</dc:title>
  <dc:subject>History · Year 7</dc:subject>
  <dc:creator>Dr Vitor Merissi de Carvalho</dc:creator>
  <cp:lastModifiedBy>Dr Vitor Merissi de Carvalho</cp:lastModifiedBy>
  <cp:revision>1</cp:revision>
  <dcterms:created xsi:type="dcterms:W3CDTF">2026-10-19T06:08:04Z</dcterms:created>
  <dcterms:modified xsi:type="dcterms:W3CDTF">2026-10-19T06:08:04Z</dcterms:modified>
</cp:coreProperties>
</file>