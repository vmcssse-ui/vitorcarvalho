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8545ca0-3cd7-1e4b-0910-b037187b6a68}">
          <p14:sldIdLst>
            <p14:sldId id="256"/>
          </p14:sldIdLst>
        </p14:section>
        <p14:section name="Gate" id="{5feb8dde-d55f-af34-1f4c-51c28227eb27}">
          <p14:sldIdLst>
            <p14:sldId id="257"/>
            <p14:sldId id="258"/>
          </p14:sldIdLst>
        </p14:section>
        <p14:section name="Pre-teach" id="{3db41044-0932-5de2-e0c1-1bc2016fe056}">
          <p14:sldIdLst>
            <p14:sldId id="259"/>
            <p14:sldId id="260"/>
          </p14:sldIdLst>
        </p14:section>
        <p14:section name="Read-along" id="{7407110a-86e0-b710-8eef-856e8667d95a}">
          <p14:sldIdLst>
            <p14:sldId id="261"/>
            <p14:sldId id="262"/>
          </p14:sldIdLst>
        </p14:section>
        <p14:section name="Teach" id="{0f5b90e2-2c37-5abd-947b-b81598b9674f}">
          <p14:sldIdLst>
            <p14:sldId id="263"/>
            <p14:sldId id="264"/>
            <p14:sldId id="265"/>
          </p14:sldIdLst>
        </p14:section>
        <p14:section name="Routes" id="{a642abd7-18f7-7394-812e-30186eb41b59}">
          <p14:sldIdLst>
            <p14:sldId id="266"/>
            <p14:sldId id="267"/>
            <p14:sldId id="268"/>
            <p14:sldId id="269"/>
          </p14:sldIdLst>
        </p14:section>
        <p14:section name="Close" id="{0037de51-1116-e235-e256-15c959719d72}">
          <p14:sldIdLst>
            <p14:sldId id="270"/>
          </p14:sldIdLst>
        </p14:section>
        <p14:section name="Answers" id="{5b6313cc-2db4-cd99-2d1c-b6a85f55315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Mary I: does she deserve the name Bloody Mary?. How Mary beat Lady Jane Grey to the throne, how she turned England Catholic again, why about 300 Protestants were burned, and whether the nickname is fair.
This deck covers the department's lesson: 4 (Mary I: Bloody Mary?: What religious changes did Mary make, and has history misjudged her?).
Read the big question aloud: "Which Tudor monarch made the biggest religious changes in England?"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did Edward VI want to become queen instead of his sister Mary?  →  A   Lady Jane Grey
2. Mary married King Philip II of ___, the ruler of the most powerful Catholic country in Europe.  →  Spain
3. What does the word propaganda mean?  →  D   Information designed to mislead people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Lady Jane Grey. Edward named his Protestant cousin Lady Jane Grey so that his religious changes would not be undone by the Catholic Mary.
2. Spain. Philip II of Spain was Mary's husband. The marriage was meant to strengthen ties with Catholic Spain, and it was unpopular in England.
3. D   Information designed to mislead people. Propaganda is information made to mislead people. Your lesson uses the word about the nickname Bloody Mary.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succeed: to take the throne after the previous monarch. Example: "Edward feared that his sister Mary would succeed him."
• heresy: believing something that goes against the religion of the monarch. Example: "Under Mary, heresy was punished by burning."
• propaganda: information designed to mislead people. Example: "Some historians say the nickname Bloody Mary is Protestant propaganda."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dynasty: a family of rulers who pass the throne from one to the next. Example: "With no children, Mary feared the Tudor dynasty would end."
• rebel: to rise up against the ruler. Example: "Some people chose to rebel against Mary's Spanish marriage."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Edward VI died in 1553, aged 15, with no children.
2. He feared his sister Mary would undo his Protestant changes.
3. So he tried to make his Protestant cousin, Lady Jane Grey, queen.
4. Jane had not been told, and she wept when she heard the news.
5. Within days her support melted away.
6. Mary rode into London and was declared Queen Mary I.
7. Mary was 37 and a committed Catholic.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She married King Philip II of Spain, a Catholic king.
9. Many people in England were unhappy, and some rebelled.
10. Mary brought back Latin prayer books and decorated churches.
11. She made heresy a crime again.
12. About 300 Protestants were burned at the stake.
13. Later, Protestants called her Bloody Mary.
14. Mary died in 1558, and people in London celebrated.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troubled early life and a race for the crown. Say it in your own words, then check understanding with a quick question: ask a pupil from the pre-teach group first, since they met these words and ideas before the lesson. Pupils try to recall before you re-explain.
Henry VIII was Mary's father, and her mother was his first wife, Catherine of Aragon. When Henry ended that marriage, Mary lost her title of Princess and was separated from her mother. She stayed a committed Catholic all her life, and she pleaded with her brother Edward not to make his Protestant changes. Her father had disowned her when he split from Rome.
In 1553 Edward lay dying, aged 15, with no children. He and his advisers feared Mary would reverse his Protestant reforms, so he named his cousin Lady Jane Grey, a committed Protestant, as the next queen. The Duke of Northumberland backed the plan for his own reasons: Jane was married to his son, so his family would become the most powerful in England.
In July 1553 Jane was taken to Syon House and told she was queen. Nobody had warned her or prepared her, and she broke down in tears. Within days her support melted away. Mary gathered her own supporters, rode into London almost unopposed, and was declared Queen Mary I.
Tip: Your lesson asks which factor mattered most in making Mary queen: Edward's death, Jane's failure, Mary's support from the people, or Mary's own determination. Have a reason ready for your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Mary's religious changes. Say it in your own words, then check understanding with a quick question: ask a pupil from the pre-teach group first, since they met these words and ideas before the lesson. Pupils try to recall before you re-explain.
Mary was 37 when she became queen, unmarried and childless, so the Tudor dynasty was at risk of ending with her. She married King Philip II of Spain, ruler of the most powerful Catholic country in Europe, to strengthen England's ties with Catholic Spain and to support the return of Catholicism. Many English people were unhappy about a Spanish king, and some rebelled against the marriage.
Mary set out to make England Catholic again. She overturned Edward's changes: the English prayer book went, and Latin prayer books and highly decorated churches came back. She went further and made heresy, which now meant disagreeing with Catholicism, a crime once more.
People found guilty of heresy who would not give up their Protestant beliefs were burned at the stake. Your lesson says about 300 Protestants were executed in this way. It is because of these burnings that Protestants later gave her the name Bloody Mary.
Worked example — model it step by step, thinking aloud: Mary became queen in 1553 and died in 1558. How many years did she reign? (1) Later year first: 1558. (2) Subtract the earlier year: 1558 − 1553. (3) The hundreds cancel, so 58 − 53 = 5. (4) Check it makes sense: a short reign, shorter even than Edward's six years. Answer: 5 years.
Tip: Mary's changes are the mirror image of Edward's: English prayer book → Latin; plain churches → decorated; Protestant country → Catholic.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Has history misjudged Mary?. Say it in your own words, then check understanding with a quick question: ask a pupil from the pre-teach group first, since they met these words and ideas before the lesson. Pupils try to recall before you re-explain.
Your lesson gives two views for you to weigh. One view says Mary wanted England Catholic again, married the king of Catholic Spain, brought back Latin prayer books and decorated churches, made heresy a crime and had Protestants burned who would not give up their faith. On this view the nickname describes what she did.
The other view says the nickname is unfair. It calls Bloody Mary Protestant propaganda: information designed to mislead, written by her enemies after her death, which painted Mary as an evil queen and the Protestants she executed as heroes. Propaganda is a key word in this lesson. Ask who gave Mary the name, and what they wanted people to think.
There is a harder question underneath. Henry VIII also executed people for their religion, and Edward's changes also caused suffering, yet neither is remembered as bloody. Your lesson asks why Mary is held to a different standard, and whether that is fair.
Tip: When you judge a nickname, separate two questions: did the events happen, and who chose the words to describe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Edward's death to Mary's.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Support — work through the steps with the group: (1) Three events are in 1553. Think about the story: a king must die before anyone can replace him. (2) Jane is told she is queen before her support melts away. (3) Mary can only marry as queen and change the churches as queen, so that comes after she is declared queen. (4) Her death is the end of the story.
Parallel worked example for Support (model it, do not give the task answer): Put in order: Luther's German Bible (your lesson's date, 1525); the 95 Theses (October 1517); Luther refuses to take back his words at his hearing. The 95 Theses start the story.; The hearing follows the protest.; The German Bible comes after he has gone into hiding.. Answer: 95 Theses; the hearing; the German Bible.
Core — reveal the hint only on request: Death of the king; Jane told; Mary declared; Mary rules; Mary dies.
Stretch — no help; when finished: Explain why Jane's support melted away so quickly, using what the chapter says about who had planned her reign and who had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Edward's death to Mary's.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Support — work through the steps with the group: (1) Three events are in 1553. Think about the story: a king must die before anyone can replace him. (2) Jane is told she is queen before her support melts away. (3) Mary can only marry as queen and change the churches as queen, so that comes after she is declared queen. (4) Her death is the end of the story.
Parallel worked example for Support (model it, do not give the task answer): Put in order: Luther's German Bible (your lesson's date, 1525); the 95 Theses (October 1517); Luther refuses to take back his words at his hearing. The 95 Theses start the story.; The hearing follows the protest.; The German Bible comes after he has gone into hiding.. Answer: 95 Theses; the hearing; the German Bible.
Core — reveal the hint only on request: Death of the king; Jane told; Mary declared; Mary rules; Mary dies.
Stretch — no help; when finished: Explain why Jane's support melted away so quickly, using what the chapter says about who had planned her reign and who had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do some historians call the nickname unfair?.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is the reason your lesson gives for saying the nickname Bloody Mary might be unfair?
Support — work through the steps with the group: (1) Remember the key word from the lesson: propaganda, information designed to mislead. (2) Ask who gave Mary the nickname: Protestants, after her death. (3) Ask what they wanted people to think: that Mary was evil and the people she burned were heroes. (4) The option that mentions propaganda and her enemies is the lesson's argument.
Parallel worked example for Support (model it, do not give the task answer): A football team's rivals call its captain the Butcher because of two hard tackles. Which argument says the name is unfair: the tackles never happened, or the rivals chose the name to make him look bad? The tackles did happen, so the first argument fails.; The second argument is about who chose the name and why: that is the propaganda argument.. Answer: The rivals chose the name to make him look bad..
Core — reveal the hint only on request: Three options deny or shrink the facts. One accepts the facts and questions who told the story.
Stretch — no help; when finished: Henry VIII also executed people for religion. Explain why Mary might be remembered more negatively than her father, giving at least one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do some historians call the nickname unfair?.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is the reason your lesson gives for saying the nickname Bloody Mary might be unfair?
Support — work through the steps with the group: (1) Remember the key word from the lesson: propaganda, information designed to mislead. (2) Ask who gave Mary the nickname: Protestants, after her death. (3) Ask what they wanted people to think: that Mary was evil and the people she burned were heroes. (4) The option that mentions propaganda and her enemies is the lesson's argument.
Parallel worked example for Support (model it, do not give the task answer): A football team's rivals call its captain the Butcher because of two hard tackles. Which argument says the name is unfair: the tackles never happened, or the rivals chose the name to make him look bad? The tackles did happen, so the first argument fails.; The second argument is about who chose the name and why: that is the propaganda argument.. Answer: The rivals chose the name to make him look bad..
Core — reveal the hint only on request: Three options deny or shrink the facts. One accepts the facts and questions who told the story.
Stretch — no help; when finished: Henry VIII also executed people for religion. Explain why Mary might be remembered more negatively than her father, giving at least one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did Edward VI want to become queen instead of his sister Mary?
Answer: D   Lady Jane Grey. Edward named his Protestant cousin Lady Jane Grey so that his religious changes would not be undone by the Catholic Mary.
Source of this question: gate item 1 re-asked (options rotated) — this chapter has no third quick-check module.
The ebook also holds task 3, "Does Mary deserve the nickname?",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Edward's death to Mary's. Reveal the answer; pupils mark their own work in a different colour, then read the "why" together. Same destination for every lane, so one answer serves the whole class.
Answer: Edward VI dies after a short illness, aged 15 (1553)  (E); Lady Jane Grey is taken to Syon House and told she is queen (July 1553)  (D); Jane's support melts away and Mary is declared Queen Mary I (1553)  (C); Mary marries Philip II of Spain and brings back Catholic services  (B); Mary dies without an heir, and Elizabeth becomes queen (17 November 1558)  (A)
Why: 1553 Edward dies; July 1553 Jane is told she is queen; days later Mary is declared queen; Mary marries Philip and restores Catholic services; 17 November 1558 Mary dies and Elizabeth succeeds.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do some historians call the nickname unfair?. Reveal the answer; pupils mark their own work in a different colour, then read the "why" together. Same destination for every lane, so one answer serves the whole class.
Answer: D   It was Protestant propaganda, written by her enemies to paint her as evil and her victims as heroes
Why: The lesson's unfairness argument is about propaganda: the nickname was given by Protestants after Mary's death to paint her as evil and her victims as heroes. It does not deny that about 300 Protestants were burned.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Lady Jane Grey
Why: Edward named his Protestant cousin Lady Jane Grey so that his religious changes would not be undone by the Catholic Mary.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Tudors · AQA KS3 → 8145</a:t>
            </a:r>
            <a:endParaRPr lang="en-US" sz="1800" dirty="0"/>
          </a:p>
        </p:txBody>
      </p:sp>
      <p:sp>
        <p:nvSpPr>
          <p:cNvPr id="10" name="deck-title"/>
          <p:cNvSpPr txBox="1"/>
          <p:nvPr/>
        </p:nvSpPr>
        <p:spPr>
          <a:xfrm>
            <a:off x="548640" y="252526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Mary I: does she deserve the name Bloody Mary?</a:t>
            </a:r>
            <a:endParaRPr lang="en-US" sz="3200" dirty="0"/>
          </a:p>
        </p:txBody>
      </p:sp>
      <p:sp>
        <p:nvSpPr>
          <p:cNvPr id="11" name="lessons-card"/>
          <p:cNvSpPr/>
          <p:nvPr/>
        </p:nvSpPr>
        <p:spPr>
          <a:xfrm>
            <a:off x="548640" y="3937508"/>
            <a:ext cx="5287975" cy="980440"/>
          </a:xfrm>
          <a:prstGeom prst="roundRect">
            <a:avLst>
              <a:gd name="adj" fmla="val 7461"/>
            </a:avLst>
          </a:prstGeom>
          <a:solidFill>
            <a:srgbClr val="F6F2EF"/>
          </a:solidFill>
          <a:ln/>
        </p:spPr>
      </p:sp>
      <p:sp>
        <p:nvSpPr>
          <p:cNvPr id="12" name="lessons"/>
          <p:cNvSpPr txBox="1"/>
          <p:nvPr/>
        </p:nvSpPr>
        <p:spPr>
          <a:xfrm>
            <a:off x="685800" y="40289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Mary I: Bloody Mary?</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Which Tudor monarch made the biggest religious changes in England?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Who did Edward VI want to become queen instead of his sister Mary?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Lady Jane Grey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Catherine of Aragon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Jane Seymour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Elizabeth</a:t>
            </a:r>
            <a:endParaRPr lang="en-US" sz="24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Mary married King Philip II of ___, the ruler of the most powerful Catholic country in Europe.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Spain  ·  France  ·  Scotland</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does the word propaganda mean?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tax paid to the Church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ceremony to crown a new monarch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law that makes a belief a crime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Information designed to mislead people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Lady Jane Grey</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Who did Edward VI want to become queen instead of his sister Mary?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Edward named his Protestant cousin Lady Jane Grey so that his religious changes would not be undone by the Catholic Mary.</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Spain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Mary married King Philip II of ___, the ruler of the most powerful Catholic country in Europe.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Philip II of Spain was Mary's husband. The marriage was meant to strengthen ties with Catholic Spain, and it was unpopular in England.</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FE4D0"/>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Information designed to mislead people</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does the word propaganda mean?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Propaganda is information made to mislead people. Your lesson uses the word about the nickname Bloody Mary.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succeed</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take the throne after the previous monarch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Edward feared that his sister Mary would succeed him.</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heresy</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believing something that goes against the religion of the monarch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Under Mary, heresy was punished by burning.</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propaganda</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information designed to mislead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Some historians say the nickname Bloody Mary is Protestant propaganda.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dynasty</a:t>
            </a:r>
            <a:endParaRPr lang="en-US" sz="2600" dirty="0"/>
          </a:p>
        </p:txBody>
      </p:sp>
      <p:sp>
        <p:nvSpPr>
          <p:cNvPr id="11" name="word-rule"/>
          <p:cNvSpPr/>
          <p:nvPr/>
        </p:nvSpPr>
        <p:spPr>
          <a:xfrm>
            <a:off x="731520" y="2129028"/>
            <a:ext cx="5044288" cy="0"/>
          </a:xfrm>
          <a:prstGeom prst="line">
            <a:avLst/>
          </a:prstGeom>
          <a:ln w="12700">
            <a:solidFill>
              <a:srgbClr val="CEBCAC"/>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family of rulers who pass the throne from one to the next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With no children, Mary feared the Tudor dynasty would end.</a:t>
            </a:r>
            <a:endParaRPr lang="en-US" sz="2200" dirty="0"/>
          </a:p>
        </p:txBody>
      </p:sp>
      <p:sp>
        <p:nvSpPr>
          <p:cNvPr id="13" name="word-card"/>
          <p:cNvSpPr/>
          <p:nvPr/>
        </p:nvSpPr>
        <p:spPr>
          <a:xfrm>
            <a:off x="6233008" y="1389888"/>
            <a:ext cx="5410048" cy="4754880"/>
          </a:xfrm>
          <a:prstGeom prst="roundRect">
            <a:avLst>
              <a:gd name="adj" fmla="val 1154"/>
            </a:avLst>
          </a:prstGeom>
          <a:solidFill>
            <a:srgbClr val="F8F6F4"/>
          </a:solidFill>
          <a:ln w="12700">
            <a:solidFill>
              <a:srgbClr val="CEBCAC"/>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rebel</a:t>
            </a:r>
            <a:endParaRPr lang="en-US" sz="2600" dirty="0"/>
          </a:p>
        </p:txBody>
      </p:sp>
      <p:sp>
        <p:nvSpPr>
          <p:cNvPr id="17" name="word-rule"/>
          <p:cNvSpPr/>
          <p:nvPr/>
        </p:nvSpPr>
        <p:spPr>
          <a:xfrm>
            <a:off x="6415888" y="2129028"/>
            <a:ext cx="5044288" cy="0"/>
          </a:xfrm>
          <a:prstGeom prst="line">
            <a:avLst/>
          </a:prstGeom>
          <a:ln w="12700">
            <a:solidFill>
              <a:srgbClr val="CEBCAC"/>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rise up against the ruler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Some people chose to rebel against Mary's Spanish marriage.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Edward VI died in 1553, aged 15, with no children.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feared his sister Mary would undo his Protestant changes.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he tried to make his Protestant cousin, Lady Jane Grey, queen.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Jane had not been told, and she wept when she heard the news.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Within days her support melted away.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Mary rode into London and was declared Queen Mary I.</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Mary was 37 and a committed Catholic.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She married King Philip II of Spain, a Catholic king.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people in England were unhappy, and some rebelled.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Mary brought back Latin prayer books and decorated churches.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She made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heresy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 crime again.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300 Protestants were burned at the stake.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Later, Protestants called her Bloody Mary.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Mary died in 1558, and people in London celebrated.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troubled early life and a race for the crown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Your lesson asks which factor mattered most in making Mary queen: Edward's death, Jane's failure, Mary's support from the people, or Mary's own determination. Have a reason ready for your choice.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VIII was Mary's father, and her mother was his first wife, Catherine of Aragon.</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1553 Edward lay dying, aged 15, with no children.</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July 1553 Jane was taken to Syon House and told she was queen.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Mary's religious changes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6F0E6"/>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Mary's changes are the mirror image of Edward's: English prayer book → Latin; plain churches → decorated; Protestant country → Catholic.</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C0AA95"/>
            </a:solidFill>
            <a:prstDash val="solid"/>
          </a:ln>
        </p:spPr>
      </p:sp>
      <p:sp>
        <p:nvSpPr>
          <p:cNvPr id="12"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Mary became queen in 1553 and died in 1558. How many years did she reign?</a:t>
            </a:r>
            <a:endParaRPr lang="en-US" sz="1800" dirty="0"/>
          </a:p>
        </p:txBody>
      </p:sp>
      <p:sp>
        <p:nvSpPr>
          <p:cNvPr id="14" name="step-box"/>
          <p:cNvSpPr/>
          <p:nvPr/>
        </p:nvSpPr>
        <p:spPr>
          <a:xfrm>
            <a:off x="6126480" y="2888488"/>
            <a:ext cx="5379415" cy="509397"/>
          </a:xfrm>
          <a:prstGeom prst="roundRect">
            <a:avLst>
              <a:gd name="adj" fmla="val 17951"/>
            </a:avLst>
          </a:prstGeom>
          <a:solidFill>
            <a:srgbClr val="F6F2EF"/>
          </a:solidFill>
          <a:ln/>
        </p:spPr>
      </p:sp>
      <p:sp>
        <p:nvSpPr>
          <p:cNvPr id="15" name="step-hex"/>
          <p:cNvSpPr/>
          <p:nvPr/>
        </p:nvSpPr>
        <p:spPr>
          <a:xfrm>
            <a:off x="6217920" y="2961056"/>
            <a:ext cx="420624" cy="364260"/>
          </a:xfrm>
          <a:prstGeom prst="hexagon">
            <a:avLst/>
          </a:prstGeom>
          <a:solidFill>
            <a:srgbClr val="7A4A1E"/>
          </a:solidFill>
          <a:ln/>
        </p:spPr>
      </p:sp>
      <p:sp>
        <p:nvSpPr>
          <p:cNvPr id="16" name="step-hex-label"/>
          <p:cNvSpPr txBox="1"/>
          <p:nvPr/>
        </p:nvSpPr>
        <p:spPr>
          <a:xfrm>
            <a:off x="6217920" y="296105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Later year first: 1558.</a:t>
            </a:r>
            <a:endParaRPr lang="en-US" sz="1800" dirty="0"/>
          </a:p>
        </p:txBody>
      </p:sp>
      <p:sp>
        <p:nvSpPr>
          <p:cNvPr id="18" name="step-box"/>
          <p:cNvSpPr/>
          <p:nvPr/>
        </p:nvSpPr>
        <p:spPr>
          <a:xfrm>
            <a:off x="6126480" y="3489325"/>
            <a:ext cx="5379415" cy="509397"/>
          </a:xfrm>
          <a:prstGeom prst="roundRect">
            <a:avLst>
              <a:gd name="adj" fmla="val 17951"/>
            </a:avLst>
          </a:prstGeom>
          <a:solidFill>
            <a:srgbClr val="F6F2EF"/>
          </a:solidFill>
          <a:ln/>
        </p:spPr>
      </p:sp>
      <p:sp>
        <p:nvSpPr>
          <p:cNvPr id="19" name="step-hex"/>
          <p:cNvSpPr/>
          <p:nvPr/>
        </p:nvSpPr>
        <p:spPr>
          <a:xfrm>
            <a:off x="6217920" y="3561893"/>
            <a:ext cx="420624" cy="364260"/>
          </a:xfrm>
          <a:prstGeom prst="hexagon">
            <a:avLst/>
          </a:prstGeom>
          <a:solidFill>
            <a:srgbClr val="7A4A1E"/>
          </a:solidFill>
          <a:ln/>
        </p:spPr>
      </p:sp>
      <p:sp>
        <p:nvSpPr>
          <p:cNvPr id="20" name="step-hex-label"/>
          <p:cNvSpPr txBox="1"/>
          <p:nvPr/>
        </p:nvSpPr>
        <p:spPr>
          <a:xfrm>
            <a:off x="6217920" y="356189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89325"/>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the earlier year: 1558 − 1553.</a:t>
            </a:r>
            <a:endParaRPr lang="en-US" sz="1800" dirty="0"/>
          </a:p>
        </p:txBody>
      </p:sp>
      <p:sp>
        <p:nvSpPr>
          <p:cNvPr id="22" name="step-box"/>
          <p:cNvSpPr/>
          <p:nvPr/>
        </p:nvSpPr>
        <p:spPr>
          <a:xfrm>
            <a:off x="6126480" y="4090162"/>
            <a:ext cx="5379415" cy="509397"/>
          </a:xfrm>
          <a:prstGeom prst="roundRect">
            <a:avLst>
              <a:gd name="adj" fmla="val 17951"/>
            </a:avLst>
          </a:prstGeom>
          <a:solidFill>
            <a:srgbClr val="F6F2EF"/>
          </a:solidFill>
          <a:ln/>
        </p:spPr>
      </p:sp>
      <p:sp>
        <p:nvSpPr>
          <p:cNvPr id="23" name="step-hex"/>
          <p:cNvSpPr/>
          <p:nvPr/>
        </p:nvSpPr>
        <p:spPr>
          <a:xfrm>
            <a:off x="6217920" y="4162730"/>
            <a:ext cx="420624" cy="364260"/>
          </a:xfrm>
          <a:prstGeom prst="hexagon">
            <a:avLst/>
          </a:prstGeom>
          <a:solidFill>
            <a:srgbClr val="7A4A1E"/>
          </a:solidFill>
          <a:ln/>
        </p:spPr>
      </p:sp>
      <p:sp>
        <p:nvSpPr>
          <p:cNvPr id="24" name="step-hex-label"/>
          <p:cNvSpPr txBox="1"/>
          <p:nvPr/>
        </p:nvSpPr>
        <p:spPr>
          <a:xfrm>
            <a:off x="6217920" y="41627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090162"/>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hundreds cancel, so 58 − 53 = 5.</a:t>
            </a:r>
            <a:endParaRPr lang="en-US" sz="1800" dirty="0"/>
          </a:p>
        </p:txBody>
      </p:sp>
      <p:sp>
        <p:nvSpPr>
          <p:cNvPr id="26" name="step-box"/>
          <p:cNvSpPr/>
          <p:nvPr/>
        </p:nvSpPr>
        <p:spPr>
          <a:xfrm>
            <a:off x="6126480" y="4690999"/>
            <a:ext cx="5379415" cy="736981"/>
          </a:xfrm>
          <a:prstGeom prst="roundRect">
            <a:avLst>
              <a:gd name="adj" fmla="val 12407"/>
            </a:avLst>
          </a:prstGeom>
          <a:solidFill>
            <a:srgbClr val="F6F2EF"/>
          </a:solidFill>
          <a:ln/>
        </p:spPr>
      </p:sp>
      <p:sp>
        <p:nvSpPr>
          <p:cNvPr id="27" name="step-hex"/>
          <p:cNvSpPr/>
          <p:nvPr/>
        </p:nvSpPr>
        <p:spPr>
          <a:xfrm>
            <a:off x="6217920" y="4877359"/>
            <a:ext cx="420624" cy="364260"/>
          </a:xfrm>
          <a:prstGeom prst="hexagon">
            <a:avLst/>
          </a:prstGeom>
          <a:solidFill>
            <a:srgbClr val="7A4A1E"/>
          </a:solidFill>
          <a:ln/>
        </p:spPr>
      </p:sp>
      <p:sp>
        <p:nvSpPr>
          <p:cNvPr id="28" name="step-hex-label"/>
          <p:cNvSpPr txBox="1"/>
          <p:nvPr/>
        </p:nvSpPr>
        <p:spPr>
          <a:xfrm>
            <a:off x="6217920" y="4877359"/>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690999"/>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it makes sense: a short reign, shorter even than Edward's six years.</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 years</a:t>
            </a:r>
            <a:endParaRPr lang="en-US" sz="1800" dirty="0"/>
          </a:p>
        </p:txBody>
      </p:sp>
      <p:sp>
        <p:nvSpPr>
          <p:cNvPr id="31" name="bullet-card"/>
          <p:cNvSpPr/>
          <p:nvPr/>
        </p:nvSpPr>
        <p:spPr>
          <a:xfrm>
            <a:off x="548640" y="1389888"/>
            <a:ext cx="5074920" cy="1181100"/>
          </a:xfrm>
          <a:prstGeom prst="roundRect">
            <a:avLst>
              <a:gd name="adj" fmla="val 6194"/>
            </a:avLst>
          </a:prstGeom>
          <a:solidFill>
            <a:srgbClr val="F8F6F4"/>
          </a:solidFill>
          <a:ln/>
        </p:spPr>
      </p:sp>
      <p:sp>
        <p:nvSpPr>
          <p:cNvPr id="32" name="bullet-hex"/>
          <p:cNvSpPr/>
          <p:nvPr/>
        </p:nvSpPr>
        <p:spPr>
          <a:xfrm>
            <a:off x="676656" y="1814145"/>
            <a:ext cx="384048" cy="332586"/>
          </a:xfrm>
          <a:prstGeom prst="hexagon">
            <a:avLst/>
          </a:prstGeom>
          <a:solidFill>
            <a:srgbClr val="7A4A1E"/>
          </a:solidFill>
          <a:ln/>
        </p:spPr>
      </p:sp>
      <p:sp>
        <p:nvSpPr>
          <p:cNvPr id="33" name="bullet"/>
          <p:cNvSpPr txBox="1"/>
          <p:nvPr/>
        </p:nvSpPr>
        <p:spPr>
          <a:xfrm>
            <a:off x="1143000" y="1389888"/>
            <a:ext cx="4389120" cy="118110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Mary was 37 when she became queen, unmarried and childless, so the Tudor dynasty was at risk of ending with her.</a:t>
            </a:r>
            <a:endParaRPr lang="en-US" sz="2000" dirty="0"/>
          </a:p>
        </p:txBody>
      </p:sp>
      <p:sp>
        <p:nvSpPr>
          <p:cNvPr id="34" name="bullet-card"/>
          <p:cNvSpPr/>
          <p:nvPr/>
        </p:nvSpPr>
        <p:spPr>
          <a:xfrm>
            <a:off x="548640" y="2717292"/>
            <a:ext cx="5074920" cy="1800860"/>
          </a:xfrm>
          <a:prstGeom prst="roundRect">
            <a:avLst>
              <a:gd name="adj" fmla="val 4062"/>
            </a:avLst>
          </a:prstGeom>
          <a:solidFill>
            <a:srgbClr val="F8F6F4"/>
          </a:solidFill>
          <a:ln/>
        </p:spPr>
      </p:sp>
      <p:sp>
        <p:nvSpPr>
          <p:cNvPr id="35" name="bullet-hex"/>
          <p:cNvSpPr/>
          <p:nvPr/>
        </p:nvSpPr>
        <p:spPr>
          <a:xfrm>
            <a:off x="676656" y="3451429"/>
            <a:ext cx="384048" cy="332586"/>
          </a:xfrm>
          <a:prstGeom prst="hexagon">
            <a:avLst/>
          </a:prstGeom>
          <a:solidFill>
            <a:srgbClr val="B8862B"/>
          </a:solidFill>
          <a:ln/>
        </p:spPr>
      </p:sp>
      <p:sp>
        <p:nvSpPr>
          <p:cNvPr id="36" name="bullet"/>
          <p:cNvSpPr txBox="1"/>
          <p:nvPr/>
        </p:nvSpPr>
        <p:spPr>
          <a:xfrm>
            <a:off x="1143000" y="2717292"/>
            <a:ext cx="4389120" cy="18008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Mary set out to make England Catholic again. She overturned Edward's changes: the English prayer book went, and Latin prayer books and highly decorated churches came back.</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Has history misjudged Mary?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judge a nickname, separate two questions: did the events happen, and who chose the words to describe them?</a:t>
            </a:r>
            <a:endParaRPr lang="en-US" sz="1800" dirty="0"/>
          </a:p>
        </p:txBody>
      </p:sp>
      <p:sp>
        <p:nvSpPr>
          <p:cNvPr id="11" name="bullet-card"/>
          <p:cNvSpPr/>
          <p:nvPr/>
        </p:nvSpPr>
        <p:spPr>
          <a:xfrm>
            <a:off x="548640" y="1389888"/>
            <a:ext cx="11094415" cy="1234440"/>
          </a:xfrm>
          <a:prstGeom prst="roundRect">
            <a:avLst>
              <a:gd name="adj" fmla="val 5926"/>
            </a:avLst>
          </a:prstGeom>
          <a:solidFill>
            <a:srgbClr val="F8F6F4"/>
          </a:solidFill>
          <a:ln/>
        </p:spPr>
      </p:sp>
      <p:sp>
        <p:nvSpPr>
          <p:cNvPr id="12" name="bullet-hex"/>
          <p:cNvSpPr/>
          <p:nvPr/>
        </p:nvSpPr>
        <p:spPr>
          <a:xfrm>
            <a:off x="676656" y="1840815"/>
            <a:ext cx="384048" cy="332586"/>
          </a:xfrm>
          <a:prstGeom prst="hexagon">
            <a:avLst/>
          </a:prstGeom>
          <a:solidFill>
            <a:srgbClr val="7A4A1E"/>
          </a:solidFill>
          <a:ln/>
        </p:spPr>
      </p:sp>
      <p:sp>
        <p:nvSpPr>
          <p:cNvPr id="13" name="bullet"/>
          <p:cNvSpPr txBox="1"/>
          <p:nvPr/>
        </p:nvSpPr>
        <p:spPr>
          <a:xfrm>
            <a:off x="1143000" y="1389888"/>
            <a:ext cx="10408615"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lesson gives two views for you to weigh. One view says Mary wanted England Catholic again, married the king of Catholic Spain, brought back Latin prayer books and decorated churches, made heresy a crime and had Protestants burned who would not give up their faith.</a:t>
            </a:r>
            <a:endParaRPr lang="en-US" sz="2000" dirty="0"/>
          </a:p>
        </p:txBody>
      </p:sp>
      <p:sp>
        <p:nvSpPr>
          <p:cNvPr id="14" name="bullet-card"/>
          <p:cNvSpPr/>
          <p:nvPr/>
        </p:nvSpPr>
        <p:spPr>
          <a:xfrm>
            <a:off x="548640" y="2770632"/>
            <a:ext cx="11094415" cy="1234440"/>
          </a:xfrm>
          <a:prstGeom prst="roundRect">
            <a:avLst>
              <a:gd name="adj" fmla="val 5926"/>
            </a:avLst>
          </a:prstGeom>
          <a:solidFill>
            <a:srgbClr val="F8F6F4"/>
          </a:solidFill>
          <a:ln/>
        </p:spPr>
      </p:sp>
      <p:sp>
        <p:nvSpPr>
          <p:cNvPr id="15" name="bullet-hex"/>
          <p:cNvSpPr/>
          <p:nvPr/>
        </p:nvSpPr>
        <p:spPr>
          <a:xfrm>
            <a:off x="676656" y="3221559"/>
            <a:ext cx="384048" cy="332586"/>
          </a:xfrm>
          <a:prstGeom prst="hexagon">
            <a:avLst/>
          </a:prstGeom>
          <a:solidFill>
            <a:srgbClr val="B8862B"/>
          </a:solidFill>
          <a:ln/>
        </p:spPr>
      </p:sp>
      <p:sp>
        <p:nvSpPr>
          <p:cNvPr id="16" name="bullet"/>
          <p:cNvSpPr txBox="1"/>
          <p:nvPr/>
        </p:nvSpPr>
        <p:spPr>
          <a:xfrm>
            <a:off x="1143000" y="2770632"/>
            <a:ext cx="10408615"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other view says the nickname is unfair. It calls Bloody Mary Protestant propaganda: information designed to mislead, written by her enemies after her death, which painted Mary as an evil queen and the Protestants she executed as heroes.</a:t>
            </a:r>
            <a:endParaRPr lang="en-US" sz="2000" dirty="0"/>
          </a:p>
        </p:txBody>
      </p:sp>
      <p:sp>
        <p:nvSpPr>
          <p:cNvPr id="17" name="bullet-card"/>
          <p:cNvSpPr/>
          <p:nvPr/>
        </p:nvSpPr>
        <p:spPr>
          <a:xfrm>
            <a:off x="548640" y="4151376"/>
            <a:ext cx="11094415" cy="924560"/>
          </a:xfrm>
          <a:prstGeom prst="roundRect">
            <a:avLst>
              <a:gd name="adj" fmla="val 7912"/>
            </a:avLst>
          </a:prstGeom>
          <a:solidFill>
            <a:srgbClr val="F8F6F4"/>
          </a:solidFill>
          <a:ln/>
        </p:spPr>
      </p:sp>
      <p:sp>
        <p:nvSpPr>
          <p:cNvPr id="18" name="bullet-hex"/>
          <p:cNvSpPr/>
          <p:nvPr/>
        </p:nvSpPr>
        <p:spPr>
          <a:xfrm>
            <a:off x="676656" y="4447363"/>
            <a:ext cx="384048" cy="332586"/>
          </a:xfrm>
          <a:prstGeom prst="hexagon">
            <a:avLst/>
          </a:prstGeom>
          <a:solidFill>
            <a:srgbClr val="7A4A1E"/>
          </a:solidFill>
          <a:ln/>
        </p:spPr>
      </p:sp>
      <p:sp>
        <p:nvSpPr>
          <p:cNvPr id="19" name="bullet"/>
          <p:cNvSpPr txBox="1"/>
          <p:nvPr/>
        </p:nvSpPr>
        <p:spPr>
          <a:xfrm>
            <a:off x="1143000" y="4151376"/>
            <a:ext cx="10408615"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There is a harder question underneath. Henry VIII also executed people for their religion, and Edward's changes also caused suffering, yet neither is remembered as bloody.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From Edward's death to Mary's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in chronological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dies without an heir, and Elizabeth becomes queen (17 November 1558)</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marries Philip II of Spain and brings back Catholic services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Jane's support melts away and Mary is declared Queen Mary I (1553)</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Lady Jane Grey is taken to Syon House and told she is queen (July 1553)</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Edward VI dies after a short illness, aged 15 (1553)</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From Edward's death to Mary's</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From Edward's death to Mary's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Three events are in 1553. Think about the story: a king must die before anyone can replace him.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Jane is told she is queen before her support melts away.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Mary can only marry as queen and change the churches as queen, so that comes after she is declared queen.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Her death is the end of the story.</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Death of the king; Jane told; Mary declared; Mary rules; Mary dies.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Jane's support melted away so quickly, using what the chapter says about who had planned her reign and who had not.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The task: Why do some historians call the nickname unfair?</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of these is the reason your lesson gives for saying the nickname Bloody Mary might be unfair?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was secretly a Protestant all along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reigned for more than forty years, so a few executions hardly mattered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never executed anyone for their religion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was Protestant propaganda, written by her enemies to paint her as evil and her victims as heroes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Why do some historians call the nickname unfair?</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do some historians call the nickname unfair?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the key word from the lesson: propaganda, information designed to mislead.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who gave Mary the nickname: Protestants, after her death.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they wanted people to think: that Mary was evil and the people she burned were heroes.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option that mentions propaganda and her enemies is the lesson's argument.</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options deny or shrink the facts. One accepts the facts and questions who told the story.</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Henry VIII also executed people for religion. Explain why Mary might be remembered more negatively than her father, giving at least one reason.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did Edward VI want to become queen instead of his sister Mary?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Catherine of Aragon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Jane Seymour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Elizabeth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Lady Jane Grey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From Edward's death to Mary's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Edward VI dies after a short illness, aged 15 (1553)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Lady Jane Grey is taken to Syon House and told she is queen (July 1553)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Jane's support melts away and Mary is declared Queen Mary I (1553)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Mary marries Philip II of Spain and brings back Catholic services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Mary dies without an heir, and Elizabeth becomes queen (17 November 1558)  (A)</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1553 Edward dies; July 1553 Jane is told she is queen; days later Mary is declared queen; Mary marries Philip and restores Catholic services; 17 November 1558 Mary dies and Elizabeth succeeds.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Answers: Why do some historians call the nickname unfair?</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the reason your lesson gives for saying the nickname Bloody Mary might be unfair?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It was Protestant propaganda, written by her enemies to paint her as evil and her victims as heroes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lesson's unfairness argument is about propaganda: the nickname was given by Protestants after Mary's death to paint her as evil and her victims as heroes. It does not deny that about 300 Protestants were burned.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did Edward VI want to become queen instead of his sister Mary?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Lady Jane Grey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Edward named his Protestant cousin Lady Jane Grey so that his religious changes would not be undone by the Catholic Mary.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Tudors · Chapter 4: Mary I: does she deserve the name Bloody Mary?</dc:title>
  <dc:subject>History · Year 7</dc:subject>
  <dc:creator>Dr Vitor Merissi de Carvalho</dc:creator>
  <cp:lastModifiedBy>Dr Vitor Merissi de Carvalho</cp:lastModifiedBy>
  <cp:revision>1</cp:revision>
  <dcterms:created xsi:type="dcterms:W3CDTF">2026-10-19T16:23:16Z</dcterms:created>
  <dcterms:modified xsi:type="dcterms:W3CDTF">2026-10-19T16:23:16Z</dcterms:modified>
</cp:coreProperties>
</file>