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454e0c9-9a5c-dd12-b76e-f93a10f2c162}">
          <p14:sldIdLst>
            <p14:sldId id="256"/>
          </p14:sldIdLst>
        </p14:section>
        <p14:section name="Gate" id="{1c9184c4-5de8-55cb-068a-c6d37c1bb6e5}">
          <p14:sldIdLst>
            <p14:sldId id="257"/>
            <p14:sldId id="258"/>
          </p14:sldIdLst>
        </p14:section>
        <p14:section name="Pre-teach" id="{6fff6471-dfae-b06f-2dc1-45e1e4e5f949}">
          <p14:sldIdLst>
            <p14:sldId id="259"/>
          </p14:sldIdLst>
        </p14:section>
        <p14:section name="Read-along" id="{a029296b-c706-ae1e-3b08-969e2b45013b}">
          <p14:sldIdLst>
            <p14:sldId id="260"/>
            <p14:sldId id="261"/>
          </p14:sldIdLst>
        </p14:section>
        <p14:section name="Teach" id="{bd54d9f9-3cde-eea5-f4a6-1eaf7d549111}">
          <p14:sldIdLst>
            <p14:sldId id="262"/>
            <p14:sldId id="263"/>
            <p14:sldId id="264"/>
          </p14:sldIdLst>
        </p14:section>
        <p14:section name="Routes" id="{f97acf26-a862-7d30-41c4-fc1e15c222bf}">
          <p14:sldIdLst>
            <p14:sldId id="265"/>
            <p14:sldId id="266"/>
          </p14:sldIdLst>
        </p14:section>
        <p14:section name="Close" id="{7cb20bfa-8a82-a61c-cc30-7b405e7bbcb9}">
          <p14:sldIdLst>
            <p14:sldId id="267"/>
          </p14:sldIdLst>
        </p14:section>
        <p14:section name="Answers" id="{9f5d8b2a-32b1-f084-abcc-ee3c28535f5e}">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Adding directed numbers. Add positive and negative numbers, and see why adding a negative makes a number smaller.
This deck covers the department's lesson: 5 (Add directed numbers: What happens when we add a negative number?).
Read the big question aloud: "What happens to numbers below zero, and how do we calculate with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Work out −2 + 9.  →  7
2. Work out 4 + (−6).  →  C   −2
3. Work out 8 − 11.  →  −3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7. Move 2 to reach zero, then 7 more.
2. C   −2. Adding −6 is the same as taking away 6: 4 − 6 = −2.
3. −3. Take 8 to reach zero, then 3 more. You land on −3.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add: to put together. Example: "When you add 3 to 5 you get 8."
• sum: the answer when you add. Example: "The sum of −2 and −4 is −6."
• brackets: the marks ( ) that keep a negative number tidy. Example: "We write 6 + (−4) with brackets."
• negative sign: the − in front of a number below zero. Example: "The negative sign tells you the number is below zero."
• mean: the total shared out equally: total ÷ how many. Example: "The mean of 4, −1 and 3 is 2."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You can add a negative number.
2. Think of 6 + (−4).
3. Put out 6 positive counters.
4. Then put out 4 negative counters.
5. Match them into zero pairs.
6. There are 4 zero pairs.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They are worth nothing.
8. 2 positive counters are left.
9. So 6 + (−4) is 2.
10. Adding a negative takes you left on the number line.
11. Adding two negatives gives a bigger negative.
12. −3 + (−5) is −8.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Adding a negative number. Say it in your own words, then check understanding with a quick question: ask a pupil from the pre-teach group first, since they met these words and ideas before the lesson. Pupils try to recall before you re-explain.
Adding a negative number is like adding a debt. If you have 6 positive counters and add 4 negative counters, 4 zero pairs cancel out. You are left with 2.
On the number line, adding a positive number moves you right. Adding a negative number moves you left. So 6 + (−4) = 6 − 4 = 2.
This is why adding does not always make a number bigger. 5 + (−7) = −2, which is less than 5.
Worked example — model it step by step, thinking aloud: Work out 3 + (−8). (1) Adding −8 is the same as taking away 8. (2) 3 + (−8) = 3 − 8. (3) Take 3 to reach zero, then 5 more. (4) 3 − 8 = −5. Answer: −5.
Tip: Adding a negative is the same as subtracting.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Adding two negative numbers. Say it in your own words, then check understanding with a quick question: ask a pupil from the pre-teach group first, since they met these words and ideas before the lesson. Pupils try to recall before you re-explain.
If you add negative counters to negative counters, there are no zero pairs. You just get more negative counters.
So −4 + (−3) = −7. The answer is more negative, not positive.
Be careful: 'two negatives make a positive' is not true for adding. −2 + (−6) = −8.
Worked example — model it step by step, thinking aloud: Work out −6 + (−9). (1) Both numbers are negative, so there are no zero pairs. (2) 6 + 9 = 15. (3) Keep the negative sign: −6 + (−9) = −15. Answer: −15.
Tip: Adding two negatives: add the digits, keep the minus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Starting from a negative number. Say it in your own words, then check understanding with a quick question: ask a pupil from the pre-teach group first, since they met these words and ideas before the lesson. Pupils try to recall before you re-explain.
When you start from a negative number and add a positive one, you move right. −7 + 3 = −4, because you only move 3 and do not reach zero.
−5 + 9 = 4, because you move 5 to reach zero and then 4 more.
Adding directed numbers helps us find a mean. Add all the numbers, then divide by how many there are. For 6, −2 and 2 the total is 6 + (−2) + 2 = 6, and the mean is 6 ÷ 3 = 2.
Worked example — model it step by step, thinking aloud: Find the mean of 7, −4, 5 and −4. (1) Add the numbers: 7 + (−4) + 5 + (−4) = 4. (2) There are 4 numbers. (3) 4 ÷ 4 = 1. Answer: 1.
Tip: Count how many numbers there are before you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Add a negative number.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Work out 9 + (−14).
Support — work through the steps with the group: (1) Adding a negative is the same as subtracting. (2) Rewrite the sum as a subtraction. (3) Jump to zero, then jump the rest.
Parallel worked example for Support (model it, do not give the task answer): Work out 4 + (−10). 4 + (−10) = 4 − 10.; Take 4 to reach zero, then 6 more.; 4 − 10 = −6.. Answer: −6.
Core — reveal the hint only on request: 9 + (−14) is the same as 9 − 14.
Stretch — no help; when finished: Whitney gets 23. She says adding always makes a number bigger. Give an example that proves her wrong, and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Add two negative numbers.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Work out −13 + (−8).
Support — work through the steps with the group: (1) Both numbers are negative, so there are no zero pairs. (2) Add the digits. (3) Keep the negative sign.
Parallel worked example for Support (model it, do not give the task answer): Work out −5 + (−7). 5 + 7 = 12.; Both numbers are negative, so the answer is negative.; −5 + (−7) = −12.. Answer: −12.
Core — reveal the hint only on request: Add 13 and 8, then think about the sign.
Stretch — no help; when finished: Eva knows that 23 + 48 = 71. She says −23 + (−48) must be −71. Is she right? Explain how she can be 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Find the mean of −3, 8, −6, 5 and 1.
Answer: 1. −3 + 8 + (−6) + 5 + 1 = 5. There are 5 numbers, and 5 ÷ 5 = 1.
Source of this question: module 3 task ("Find the mean")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Add a negative number. Reveal the answer; pupils mark their own work in a different colour, then read the "why" together. Same destination for every lane, so one answer serves the whole class.
Answer: A   −5
Why: 9 + (−14) = 9 − 14. Take 9 to reach zero, then 5 more, so the answer is −5.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Add two negative numbers. Reveal the answer; pupils mark their own work in a different colour, then read the "why" together. Same destination for every lane, so one answer serves the whole class.
Answer: −21
Why: There are no zero pairs, so the negatives build up: 13 + 8 = 21, and −13 + (−8) = −21.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
Why: −3 + 8 + (−6) + 5 + 1 = 5. There are 5 numbers, and 5 ÷ 5 = 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Directed Number</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Adding directed numbers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0F2F7"/>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Add directed numbers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happens to numbers below zero, and how do we calculate with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out −2 + 9.</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out 4 + (−6).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out 8 − 11.</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Work out −2 + 9.</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Move 2 to reach zero, then 7 more.</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−2</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Work out 4 + (−6).</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Adding −6 is the same as taking away 6: 4 − 6 = −2.</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Work out 8 − 11.</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Take 8 to reach zero, then 3 more. You land on −3.</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615086"/>
          </a:xfrm>
          <a:prstGeom prst="roundRect">
            <a:avLst>
              <a:gd name="adj" fmla="val 8920"/>
            </a:avLst>
          </a:prstGeom>
          <a:solidFill>
            <a:srgbClr val="F5F6F9"/>
          </a:solidFill>
          <a:ln/>
        </p:spPr>
      </p:sp>
      <p:sp>
        <p:nvSpPr>
          <p:cNvPr id="12" name="kw-hex"/>
          <p:cNvSpPr/>
          <p:nvPr/>
        </p:nvSpPr>
        <p:spPr>
          <a:xfrm>
            <a:off x="658368" y="2049612"/>
            <a:ext cx="411480" cy="356342"/>
          </a:xfrm>
          <a:prstGeom prst="hexagon">
            <a:avLst/>
          </a:prstGeom>
          <a:solidFill>
            <a:srgbClr val="2E4A8C"/>
          </a:solidFill>
          <a:ln/>
        </p:spPr>
      </p:sp>
      <p:sp>
        <p:nvSpPr>
          <p:cNvPr id="13" name="kw-cell"/>
          <p:cNvSpPr txBox="1"/>
          <p:nvPr/>
        </p:nvSpPr>
        <p:spPr>
          <a:xfrm>
            <a:off x="1143000" y="1920240"/>
            <a:ext cx="2331720" cy="615086"/>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add</a:t>
            </a:r>
            <a:endParaRPr lang="en-US" sz="2400" dirty="0"/>
          </a:p>
        </p:txBody>
      </p:sp>
      <p:sp>
        <p:nvSpPr>
          <p:cNvPr id="14" name="kw-cell"/>
          <p:cNvSpPr txBox="1"/>
          <p:nvPr/>
        </p:nvSpPr>
        <p:spPr>
          <a:xfrm>
            <a:off x="3657600" y="1920240"/>
            <a:ext cx="3474720" cy="6150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put together</a:t>
            </a:r>
            <a:endParaRPr lang="en-US" sz="2200" dirty="0"/>
          </a:p>
        </p:txBody>
      </p:sp>
      <p:sp>
        <p:nvSpPr>
          <p:cNvPr id="15" name="kw-cell"/>
          <p:cNvSpPr txBox="1"/>
          <p:nvPr/>
        </p:nvSpPr>
        <p:spPr>
          <a:xfrm>
            <a:off x="7315200" y="1920240"/>
            <a:ext cx="4236415" cy="615086"/>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When you add 3 to 5 you get 8.</a:t>
            </a:r>
            <a:endParaRPr lang="en-US" sz="2200" dirty="0"/>
          </a:p>
        </p:txBody>
      </p:sp>
      <p:sp>
        <p:nvSpPr>
          <p:cNvPr id="16" name="kw-row"/>
          <p:cNvSpPr/>
          <p:nvPr/>
        </p:nvSpPr>
        <p:spPr>
          <a:xfrm>
            <a:off x="548640" y="2608478"/>
            <a:ext cx="11094415" cy="615086"/>
          </a:xfrm>
          <a:prstGeom prst="roundRect">
            <a:avLst>
              <a:gd name="adj" fmla="val 8920"/>
            </a:avLst>
          </a:prstGeom>
          <a:solidFill>
            <a:srgbClr val="F9F4EC"/>
          </a:solidFill>
          <a:ln/>
        </p:spPr>
      </p:sp>
      <p:sp>
        <p:nvSpPr>
          <p:cNvPr id="17" name="kw-hex"/>
          <p:cNvSpPr/>
          <p:nvPr/>
        </p:nvSpPr>
        <p:spPr>
          <a:xfrm>
            <a:off x="658368" y="2737851"/>
            <a:ext cx="411480" cy="356342"/>
          </a:xfrm>
          <a:prstGeom prst="hexagon">
            <a:avLst/>
          </a:prstGeom>
          <a:solidFill>
            <a:srgbClr val="B8862B"/>
          </a:solidFill>
          <a:ln/>
        </p:spPr>
      </p:sp>
      <p:sp>
        <p:nvSpPr>
          <p:cNvPr id="18" name="kw-cell"/>
          <p:cNvSpPr txBox="1"/>
          <p:nvPr/>
        </p:nvSpPr>
        <p:spPr>
          <a:xfrm>
            <a:off x="1143000" y="2608478"/>
            <a:ext cx="2331720" cy="615086"/>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sum</a:t>
            </a:r>
            <a:endParaRPr lang="en-US" sz="2400" dirty="0"/>
          </a:p>
        </p:txBody>
      </p:sp>
      <p:sp>
        <p:nvSpPr>
          <p:cNvPr id="19" name="kw-cell"/>
          <p:cNvSpPr txBox="1"/>
          <p:nvPr/>
        </p:nvSpPr>
        <p:spPr>
          <a:xfrm>
            <a:off x="3657600" y="2608478"/>
            <a:ext cx="3474720" cy="6150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answer when you add</a:t>
            </a:r>
            <a:endParaRPr lang="en-US" sz="2200" dirty="0"/>
          </a:p>
        </p:txBody>
      </p:sp>
      <p:sp>
        <p:nvSpPr>
          <p:cNvPr id="20" name="kw-cell"/>
          <p:cNvSpPr txBox="1"/>
          <p:nvPr/>
        </p:nvSpPr>
        <p:spPr>
          <a:xfrm>
            <a:off x="7315200" y="2608478"/>
            <a:ext cx="4236415" cy="615086"/>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sum of −2 and −4 is −6.</a:t>
            </a:r>
            <a:endParaRPr lang="en-US" sz="2200" dirty="0"/>
          </a:p>
        </p:txBody>
      </p:sp>
      <p:sp>
        <p:nvSpPr>
          <p:cNvPr id="21" name="kw-row"/>
          <p:cNvSpPr/>
          <p:nvPr/>
        </p:nvSpPr>
        <p:spPr>
          <a:xfrm>
            <a:off x="548640" y="3296717"/>
            <a:ext cx="11094415" cy="900582"/>
          </a:xfrm>
          <a:prstGeom prst="roundRect">
            <a:avLst>
              <a:gd name="adj" fmla="val 6092"/>
            </a:avLst>
          </a:prstGeom>
          <a:solidFill>
            <a:srgbClr val="F5F6F9"/>
          </a:solidFill>
          <a:ln/>
        </p:spPr>
      </p:sp>
      <p:sp>
        <p:nvSpPr>
          <p:cNvPr id="22" name="kw-hex"/>
          <p:cNvSpPr/>
          <p:nvPr/>
        </p:nvSpPr>
        <p:spPr>
          <a:xfrm>
            <a:off x="658368" y="3568837"/>
            <a:ext cx="411480" cy="356342"/>
          </a:xfrm>
          <a:prstGeom prst="hexagon">
            <a:avLst/>
          </a:prstGeom>
          <a:solidFill>
            <a:srgbClr val="2E4A8C"/>
          </a:solidFill>
          <a:ln/>
        </p:spPr>
      </p:sp>
      <p:sp>
        <p:nvSpPr>
          <p:cNvPr id="23" name="kw-cell"/>
          <p:cNvSpPr txBox="1"/>
          <p:nvPr/>
        </p:nvSpPr>
        <p:spPr>
          <a:xfrm>
            <a:off x="1143000" y="3296717"/>
            <a:ext cx="2331720" cy="900582"/>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brackets</a:t>
            </a:r>
            <a:endParaRPr lang="en-US" sz="2400" dirty="0"/>
          </a:p>
        </p:txBody>
      </p:sp>
      <p:sp>
        <p:nvSpPr>
          <p:cNvPr id="24" name="kw-cell"/>
          <p:cNvSpPr txBox="1"/>
          <p:nvPr/>
        </p:nvSpPr>
        <p:spPr>
          <a:xfrm>
            <a:off x="3657600" y="3296717"/>
            <a:ext cx="3474720" cy="90058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marks ( ) that keep a negative number tidy</a:t>
            </a:r>
            <a:endParaRPr lang="en-US" sz="2200" dirty="0"/>
          </a:p>
        </p:txBody>
      </p:sp>
      <p:sp>
        <p:nvSpPr>
          <p:cNvPr id="25" name="kw-cell"/>
          <p:cNvSpPr txBox="1"/>
          <p:nvPr/>
        </p:nvSpPr>
        <p:spPr>
          <a:xfrm>
            <a:off x="7315200" y="3296717"/>
            <a:ext cx="4236415" cy="900582"/>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We write 6 + (−4) with brackets.</a:t>
            </a:r>
            <a:endParaRPr lang="en-US" sz="2200" dirty="0"/>
          </a:p>
        </p:txBody>
      </p:sp>
      <p:sp>
        <p:nvSpPr>
          <p:cNvPr id="26" name="kw-row"/>
          <p:cNvSpPr/>
          <p:nvPr/>
        </p:nvSpPr>
        <p:spPr>
          <a:xfrm>
            <a:off x="548640" y="4270451"/>
            <a:ext cx="11094415" cy="900582"/>
          </a:xfrm>
          <a:prstGeom prst="roundRect">
            <a:avLst>
              <a:gd name="adj" fmla="val 6092"/>
            </a:avLst>
          </a:prstGeom>
          <a:solidFill>
            <a:srgbClr val="F9F4EC"/>
          </a:solidFill>
          <a:ln/>
        </p:spPr>
      </p:sp>
      <p:sp>
        <p:nvSpPr>
          <p:cNvPr id="27" name="kw-hex"/>
          <p:cNvSpPr/>
          <p:nvPr/>
        </p:nvSpPr>
        <p:spPr>
          <a:xfrm>
            <a:off x="658368" y="4542572"/>
            <a:ext cx="411480" cy="356342"/>
          </a:xfrm>
          <a:prstGeom prst="hexagon">
            <a:avLst/>
          </a:prstGeom>
          <a:solidFill>
            <a:srgbClr val="B8862B"/>
          </a:solidFill>
          <a:ln/>
        </p:spPr>
      </p:sp>
      <p:sp>
        <p:nvSpPr>
          <p:cNvPr id="28" name="kw-cell"/>
          <p:cNvSpPr txBox="1"/>
          <p:nvPr/>
        </p:nvSpPr>
        <p:spPr>
          <a:xfrm>
            <a:off x="1143000" y="4270451"/>
            <a:ext cx="2331720" cy="900582"/>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negative sign</a:t>
            </a:r>
            <a:endParaRPr lang="en-US" sz="2400" dirty="0"/>
          </a:p>
        </p:txBody>
      </p:sp>
      <p:sp>
        <p:nvSpPr>
          <p:cNvPr id="29" name="kw-cell"/>
          <p:cNvSpPr txBox="1"/>
          <p:nvPr/>
        </p:nvSpPr>
        <p:spPr>
          <a:xfrm>
            <a:off x="3657600" y="4270451"/>
            <a:ext cx="3474720" cy="90058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 in front of a number below zero</a:t>
            </a:r>
            <a:endParaRPr lang="en-US" sz="2200" dirty="0"/>
          </a:p>
        </p:txBody>
      </p:sp>
      <p:sp>
        <p:nvSpPr>
          <p:cNvPr id="30" name="kw-cell"/>
          <p:cNvSpPr txBox="1"/>
          <p:nvPr/>
        </p:nvSpPr>
        <p:spPr>
          <a:xfrm>
            <a:off x="7315200" y="4270451"/>
            <a:ext cx="4236415" cy="900582"/>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negative sign tells you the number is below zero.</a:t>
            </a:r>
            <a:endParaRPr lang="en-US" sz="2200" dirty="0"/>
          </a:p>
        </p:txBody>
      </p:sp>
      <p:sp>
        <p:nvSpPr>
          <p:cNvPr id="31" name="kw-row"/>
          <p:cNvSpPr/>
          <p:nvPr/>
        </p:nvSpPr>
        <p:spPr>
          <a:xfrm>
            <a:off x="548640" y="5244186"/>
            <a:ext cx="11094415" cy="900582"/>
          </a:xfrm>
          <a:prstGeom prst="roundRect">
            <a:avLst>
              <a:gd name="adj" fmla="val 6092"/>
            </a:avLst>
          </a:prstGeom>
          <a:solidFill>
            <a:srgbClr val="F5F6F9"/>
          </a:solidFill>
          <a:ln/>
        </p:spPr>
      </p:sp>
      <p:sp>
        <p:nvSpPr>
          <p:cNvPr id="32" name="kw-hex"/>
          <p:cNvSpPr/>
          <p:nvPr/>
        </p:nvSpPr>
        <p:spPr>
          <a:xfrm>
            <a:off x="658368" y="5516306"/>
            <a:ext cx="411480" cy="356342"/>
          </a:xfrm>
          <a:prstGeom prst="hexagon">
            <a:avLst/>
          </a:prstGeom>
          <a:solidFill>
            <a:srgbClr val="2E4A8C"/>
          </a:solidFill>
          <a:ln/>
        </p:spPr>
      </p:sp>
      <p:sp>
        <p:nvSpPr>
          <p:cNvPr id="33" name="kw-cell"/>
          <p:cNvSpPr txBox="1"/>
          <p:nvPr/>
        </p:nvSpPr>
        <p:spPr>
          <a:xfrm>
            <a:off x="1143000" y="5244186"/>
            <a:ext cx="2331720" cy="900582"/>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mean</a:t>
            </a:r>
            <a:endParaRPr lang="en-US" sz="2400" dirty="0"/>
          </a:p>
        </p:txBody>
      </p:sp>
      <p:sp>
        <p:nvSpPr>
          <p:cNvPr id="34" name="kw-cell"/>
          <p:cNvSpPr txBox="1"/>
          <p:nvPr/>
        </p:nvSpPr>
        <p:spPr>
          <a:xfrm>
            <a:off x="3657600" y="5244186"/>
            <a:ext cx="3474720" cy="90058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total shared out equally: total ÷ how many</a:t>
            </a:r>
            <a:endParaRPr lang="en-US" sz="2200" dirty="0"/>
          </a:p>
        </p:txBody>
      </p:sp>
      <p:sp>
        <p:nvSpPr>
          <p:cNvPr id="35" name="kw-cell"/>
          <p:cNvSpPr txBox="1"/>
          <p:nvPr/>
        </p:nvSpPr>
        <p:spPr>
          <a:xfrm>
            <a:off x="7315200" y="5244186"/>
            <a:ext cx="4236415" cy="900582"/>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mean of 4, −1 and 3 is 2.</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can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add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 negative number.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Think of 6 + (−4).</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Put out 6 positive counters.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put out 4 negative counters.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Match them into zero pairs.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4 zero pairs.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are worth nothing.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2 positive counters are left.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6 + (−4) is 2.</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Adding a negative takes you left on the number line.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Adding two negatives gives a bigger negative.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−3 + (−5) is −8.</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Adding a negative number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Adding a negative is the same as subtracting.</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Work out 3 + (−8).</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Adding −8 is the same as taking away 8.</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 + (−8) = 3 − 8.</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Take 3 to reach zero, then 5 more.</a:t>
            </a:r>
            <a:endParaRPr lang="en-US" sz="1800" dirty="0"/>
          </a:p>
        </p:txBody>
      </p:sp>
      <p:sp>
        <p:nvSpPr>
          <p:cNvPr id="26" name="step-box"/>
          <p:cNvSpPr/>
          <p:nvPr/>
        </p:nvSpPr>
        <p:spPr>
          <a:xfrm>
            <a:off x="6126480" y="4584700"/>
            <a:ext cx="5379415" cy="566928"/>
          </a:xfrm>
          <a:prstGeom prst="roundRect">
            <a:avLst>
              <a:gd name="adj" fmla="val 16129"/>
            </a:avLst>
          </a:prstGeom>
          <a:solidFill>
            <a:srgbClr val="F0F2F7"/>
          </a:solidFill>
          <a:ln/>
        </p:spPr>
      </p:sp>
      <p:sp>
        <p:nvSpPr>
          <p:cNvPr id="27" name="step-hex"/>
          <p:cNvSpPr/>
          <p:nvPr/>
        </p:nvSpPr>
        <p:spPr>
          <a:xfrm>
            <a:off x="6217920" y="4686034"/>
            <a:ext cx="420624" cy="364260"/>
          </a:xfrm>
          <a:prstGeom prst="hexagon">
            <a:avLst/>
          </a:prstGeom>
          <a:solidFill>
            <a:srgbClr val="2E4A8C"/>
          </a:solidFill>
          <a:ln/>
        </p:spPr>
      </p:sp>
      <p:sp>
        <p:nvSpPr>
          <p:cNvPr id="28" name="step-hex-label"/>
          <p:cNvSpPr txBox="1"/>
          <p:nvPr/>
        </p:nvSpPr>
        <p:spPr>
          <a:xfrm>
            <a:off x="6217920" y="4686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584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3 − 8 = −5.</a:t>
            </a:r>
            <a:endParaRPr lang="en-US" sz="1800" dirty="0"/>
          </a:p>
        </p:txBody>
      </p:sp>
      <p:sp>
        <p:nvSpPr>
          <p:cNvPr id="30" name="worked-answer"/>
          <p:cNvSpPr/>
          <p:nvPr/>
        </p:nvSpPr>
        <p:spPr>
          <a:xfrm>
            <a:off x="6126480" y="5288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a:t>
            </a:r>
            <a:endParaRPr lang="en-US" sz="1800" dirty="0"/>
          </a:p>
        </p:txBody>
      </p:sp>
      <p:sp>
        <p:nvSpPr>
          <p:cNvPr id="31" name="bullet-card"/>
          <p:cNvSpPr/>
          <p:nvPr/>
        </p:nvSpPr>
        <p:spPr>
          <a:xfrm>
            <a:off x="548640" y="1389888"/>
            <a:ext cx="5074920" cy="1585637"/>
          </a:xfrm>
          <a:prstGeom prst="roundRect">
            <a:avLst>
              <a:gd name="adj" fmla="val 4613"/>
            </a:avLst>
          </a:prstGeom>
          <a:solidFill>
            <a:srgbClr val="F5F6F9"/>
          </a:solidFill>
          <a:ln/>
        </p:spPr>
      </p:sp>
      <p:sp>
        <p:nvSpPr>
          <p:cNvPr id="32" name="bullet-hex"/>
          <p:cNvSpPr/>
          <p:nvPr/>
        </p:nvSpPr>
        <p:spPr>
          <a:xfrm>
            <a:off x="676656" y="2016414"/>
            <a:ext cx="384048" cy="332586"/>
          </a:xfrm>
          <a:prstGeom prst="hexagon">
            <a:avLst/>
          </a:prstGeom>
          <a:solidFill>
            <a:srgbClr val="2E4A8C"/>
          </a:solidFill>
          <a:ln/>
        </p:spPr>
      </p:sp>
      <p:sp>
        <p:nvSpPr>
          <p:cNvPr id="33" name="bullet"/>
          <p:cNvSpPr txBox="1"/>
          <p:nvPr/>
        </p:nvSpPr>
        <p:spPr>
          <a:xfrm>
            <a:off x="1143000" y="1389888"/>
            <a:ext cx="4389120"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Adding a negative number is like adding a debt. If you have 6 positive counters and add 4 negative counters, 4 zero pairs cancel out.</a:t>
            </a:r>
            <a:endParaRPr lang="en-US" sz="2200" dirty="0"/>
          </a:p>
        </p:txBody>
      </p:sp>
      <p:sp>
        <p:nvSpPr>
          <p:cNvPr id="34" name="bullet-card"/>
          <p:cNvSpPr/>
          <p:nvPr/>
        </p:nvSpPr>
        <p:spPr>
          <a:xfrm>
            <a:off x="548640" y="3121829"/>
            <a:ext cx="5074920" cy="903901"/>
          </a:xfrm>
          <a:prstGeom prst="roundRect">
            <a:avLst>
              <a:gd name="adj" fmla="val 8093"/>
            </a:avLst>
          </a:prstGeom>
          <a:solidFill>
            <a:srgbClr val="F5F6F9"/>
          </a:solidFill>
          <a:ln/>
        </p:spPr>
      </p:sp>
      <p:sp>
        <p:nvSpPr>
          <p:cNvPr id="35" name="bullet-hex"/>
          <p:cNvSpPr/>
          <p:nvPr/>
        </p:nvSpPr>
        <p:spPr>
          <a:xfrm>
            <a:off x="676656" y="3407487"/>
            <a:ext cx="384048" cy="332586"/>
          </a:xfrm>
          <a:prstGeom prst="hexagon">
            <a:avLst/>
          </a:prstGeom>
          <a:solidFill>
            <a:srgbClr val="B8862B"/>
          </a:solidFill>
          <a:ln/>
        </p:spPr>
      </p:sp>
      <p:sp>
        <p:nvSpPr>
          <p:cNvPr id="36" name="bullet"/>
          <p:cNvSpPr txBox="1"/>
          <p:nvPr/>
        </p:nvSpPr>
        <p:spPr>
          <a:xfrm>
            <a:off x="1143000" y="3121829"/>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 the number line, adding a positive number moves you right.</a:t>
            </a:r>
            <a:endParaRPr lang="en-US" sz="2200" dirty="0"/>
          </a:p>
        </p:txBody>
      </p:sp>
      <p:sp>
        <p:nvSpPr>
          <p:cNvPr id="37" name="bullet-card"/>
          <p:cNvSpPr/>
          <p:nvPr/>
        </p:nvSpPr>
        <p:spPr>
          <a:xfrm>
            <a:off x="548640" y="4172035"/>
            <a:ext cx="5074920" cy="903901"/>
          </a:xfrm>
          <a:prstGeom prst="roundRect">
            <a:avLst>
              <a:gd name="adj" fmla="val 8093"/>
            </a:avLst>
          </a:prstGeom>
          <a:solidFill>
            <a:srgbClr val="F5F6F9"/>
          </a:solidFill>
          <a:ln/>
        </p:spPr>
      </p:sp>
      <p:sp>
        <p:nvSpPr>
          <p:cNvPr id="38" name="bullet-hex"/>
          <p:cNvSpPr/>
          <p:nvPr/>
        </p:nvSpPr>
        <p:spPr>
          <a:xfrm>
            <a:off x="676656" y="4457693"/>
            <a:ext cx="384048" cy="332586"/>
          </a:xfrm>
          <a:prstGeom prst="hexagon">
            <a:avLst/>
          </a:prstGeom>
          <a:solidFill>
            <a:srgbClr val="2E4A8C"/>
          </a:solidFill>
          <a:ln/>
        </p:spPr>
      </p:sp>
      <p:sp>
        <p:nvSpPr>
          <p:cNvPr id="39"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This is why adding does not always make a number bigger.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Adding two negative numbers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Adding two negatives: add the digits, keep the minus sign.</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Work out −6 + (−9).</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Both numbers are negative, so there are no zero pairs.</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 + 9 = 15.</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Keep the negative sign: −6 + (−9) = −15.</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−15</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you add negative counters to negative counters, there are no zero pairs.</a:t>
            </a:r>
            <a:endParaRPr lang="en-US" sz="2200" dirty="0"/>
          </a:p>
        </p:txBody>
      </p:sp>
      <p:sp>
        <p:nvSpPr>
          <p:cNvPr id="30" name="bullet-card"/>
          <p:cNvSpPr/>
          <p:nvPr/>
        </p:nvSpPr>
        <p:spPr>
          <a:xfrm>
            <a:off x="548640" y="2780961"/>
            <a:ext cx="5074920" cy="903901"/>
          </a:xfrm>
          <a:prstGeom prst="roundRect">
            <a:avLst>
              <a:gd name="adj" fmla="val 8093"/>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780961"/>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 −4 + (−3) = −7. The answer is more negative, not positive.</a:t>
            </a:r>
            <a:endParaRPr lang="en-US" sz="2200" dirty="0"/>
          </a:p>
        </p:txBody>
      </p:sp>
      <p:sp>
        <p:nvSpPr>
          <p:cNvPr id="33" name="bullet-card"/>
          <p:cNvSpPr/>
          <p:nvPr/>
        </p:nvSpPr>
        <p:spPr>
          <a:xfrm>
            <a:off x="548640" y="3831167"/>
            <a:ext cx="5074920" cy="1244769"/>
          </a:xfrm>
          <a:prstGeom prst="roundRect">
            <a:avLst>
              <a:gd name="adj" fmla="val 5877"/>
            </a:avLst>
          </a:prstGeom>
          <a:solidFill>
            <a:srgbClr val="F5F6F9"/>
          </a:solidFill>
          <a:ln/>
        </p:spPr>
      </p:sp>
      <p:sp>
        <p:nvSpPr>
          <p:cNvPr id="34" name="bullet-hex"/>
          <p:cNvSpPr/>
          <p:nvPr/>
        </p:nvSpPr>
        <p:spPr>
          <a:xfrm>
            <a:off x="676656" y="4287259"/>
            <a:ext cx="384048" cy="332586"/>
          </a:xfrm>
          <a:prstGeom prst="hexagon">
            <a:avLst/>
          </a:prstGeom>
          <a:solidFill>
            <a:srgbClr val="2E4A8C"/>
          </a:solidFill>
          <a:ln/>
        </p:spPr>
      </p:sp>
      <p:sp>
        <p:nvSpPr>
          <p:cNvPr id="35" name="bullet"/>
          <p:cNvSpPr txBox="1"/>
          <p:nvPr/>
        </p:nvSpPr>
        <p:spPr>
          <a:xfrm>
            <a:off x="1143000" y="3831167"/>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 careful: 'two negatives make a positive' is not true for adding. −2 + (−6) = −8.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Starting from a negative number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how many numbers there are before you divide.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Find the mean of 7, −4, 5 and −4.</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numbers: 7 + (−4) + 5 + (−4) = 4.</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There are 4 numbers.</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 ÷ 4 = 1.</a:t>
            </a:r>
            <a:endParaRPr lang="en-US" sz="1800" dirty="0"/>
          </a:p>
        </p:txBody>
      </p:sp>
      <p:sp>
        <p:nvSpPr>
          <p:cNvPr id="26" name="worked-answer"/>
          <p:cNvSpPr/>
          <p:nvPr/>
        </p:nvSpPr>
        <p:spPr>
          <a:xfrm>
            <a:off x="6126480" y="4630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a:t>
            </a:r>
            <a:endParaRPr lang="en-US" sz="1800" dirty="0"/>
          </a:p>
        </p:txBody>
      </p:sp>
      <p:sp>
        <p:nvSpPr>
          <p:cNvPr id="27" name="bullet-card"/>
          <p:cNvSpPr/>
          <p:nvPr/>
        </p:nvSpPr>
        <p:spPr>
          <a:xfrm>
            <a:off x="548640" y="1389888"/>
            <a:ext cx="5074920" cy="1441027"/>
          </a:xfrm>
          <a:prstGeom prst="roundRect">
            <a:avLst>
              <a:gd name="adj" fmla="val 5076"/>
            </a:avLst>
          </a:prstGeom>
          <a:solidFill>
            <a:srgbClr val="F5F6F9"/>
          </a:solidFill>
          <a:ln/>
        </p:spPr>
      </p:sp>
      <p:sp>
        <p:nvSpPr>
          <p:cNvPr id="28" name="bullet-hex"/>
          <p:cNvSpPr/>
          <p:nvPr/>
        </p:nvSpPr>
        <p:spPr>
          <a:xfrm>
            <a:off x="676656" y="1944109"/>
            <a:ext cx="384048" cy="332586"/>
          </a:xfrm>
          <a:prstGeom prst="hexagon">
            <a:avLst/>
          </a:prstGeom>
          <a:solidFill>
            <a:srgbClr val="2E4A8C"/>
          </a:solidFill>
          <a:ln/>
        </p:spPr>
      </p:sp>
      <p:sp>
        <p:nvSpPr>
          <p:cNvPr id="29" name="bullet"/>
          <p:cNvSpPr txBox="1"/>
          <p:nvPr/>
        </p:nvSpPr>
        <p:spPr>
          <a:xfrm>
            <a:off x="1143000" y="1389888"/>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When you start from a negative number and add a positive one, you move right. −7 + 3 = −4, because you only move 3 and do not reach zero.</a:t>
            </a:r>
            <a:endParaRPr lang="en-US" sz="2000" dirty="0"/>
          </a:p>
        </p:txBody>
      </p:sp>
      <p:sp>
        <p:nvSpPr>
          <p:cNvPr id="30" name="bullet-card"/>
          <p:cNvSpPr/>
          <p:nvPr/>
        </p:nvSpPr>
        <p:spPr>
          <a:xfrm>
            <a:off x="548640" y="2977219"/>
            <a:ext cx="5074920" cy="821267"/>
          </a:xfrm>
          <a:prstGeom prst="roundRect">
            <a:avLst>
              <a:gd name="adj" fmla="val 8907"/>
            </a:avLst>
          </a:prstGeom>
          <a:solidFill>
            <a:srgbClr val="F5F6F9"/>
          </a:solidFill>
          <a:ln/>
        </p:spPr>
      </p:sp>
      <p:sp>
        <p:nvSpPr>
          <p:cNvPr id="31" name="bullet-hex"/>
          <p:cNvSpPr/>
          <p:nvPr/>
        </p:nvSpPr>
        <p:spPr>
          <a:xfrm>
            <a:off x="676656" y="3221559"/>
            <a:ext cx="384048" cy="332586"/>
          </a:xfrm>
          <a:prstGeom prst="hexagon">
            <a:avLst/>
          </a:prstGeom>
          <a:solidFill>
            <a:srgbClr val="B8862B"/>
          </a:solidFill>
          <a:ln/>
        </p:spPr>
      </p:sp>
      <p:sp>
        <p:nvSpPr>
          <p:cNvPr id="32" name="bullet"/>
          <p:cNvSpPr txBox="1"/>
          <p:nvPr/>
        </p:nvSpPr>
        <p:spPr>
          <a:xfrm>
            <a:off x="1143000" y="297721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−5 + 9 = 4, because you move 5 to reach zero and then 4 more.</a:t>
            </a:r>
            <a:endParaRPr lang="en-US" sz="2000" dirty="0"/>
          </a:p>
        </p:txBody>
      </p:sp>
      <p:sp>
        <p:nvSpPr>
          <p:cNvPr id="33" name="bullet-card"/>
          <p:cNvSpPr/>
          <p:nvPr/>
        </p:nvSpPr>
        <p:spPr>
          <a:xfrm>
            <a:off x="548640" y="3944789"/>
            <a:ext cx="5074920" cy="1131147"/>
          </a:xfrm>
          <a:prstGeom prst="roundRect">
            <a:avLst>
              <a:gd name="adj" fmla="val 6467"/>
            </a:avLst>
          </a:prstGeom>
          <a:solidFill>
            <a:srgbClr val="F5F6F9"/>
          </a:solidFill>
          <a:ln/>
        </p:spPr>
      </p:sp>
      <p:sp>
        <p:nvSpPr>
          <p:cNvPr id="34" name="bullet-hex"/>
          <p:cNvSpPr/>
          <p:nvPr/>
        </p:nvSpPr>
        <p:spPr>
          <a:xfrm>
            <a:off x="676656" y="4344070"/>
            <a:ext cx="384048" cy="332586"/>
          </a:xfrm>
          <a:prstGeom prst="hexagon">
            <a:avLst/>
          </a:prstGeom>
          <a:solidFill>
            <a:srgbClr val="2E4A8C"/>
          </a:solidFill>
          <a:ln/>
        </p:spPr>
      </p:sp>
      <p:sp>
        <p:nvSpPr>
          <p:cNvPr id="35"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Adding directed numbers helps us find a mean. Add all the numbers, then divide by how many there are.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Add a negative number</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Work out 9 + (−14).</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−5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5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−23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23</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Adding a negative is the same as subtracting.</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Rewrite the sum as a subtraction.</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Jump to zero, then jump the rest.</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9 + (−14) is the same as 9 − 14.</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Whitney gets 23. She says adding always makes a number bigger. Give an example that proves her wrong, and explain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E4A8C"/>
                </a:solidFill>
                <a:latin typeface="Cambria" pitchFamily="34" charset="0"/>
                <a:ea typeface="Cambria" pitchFamily="34" charset="-122"/>
                <a:cs typeface="Cambria" pitchFamily="34" charset="-120"/>
              </a:rPr>
              <a:t>Same task, three ways in: Add two negative numbers</a:t>
            </a:r>
            <a:endParaRPr lang="en-US" sz="28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Work out −13 + (−8).</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Both numbers are negative, so there are no zero pairs.</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 the digits.</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Keep the negative sign.</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Add 13 and 8, then think about the sign.</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Eva knows that 23 + 48 = 71. She says −23 + (−48) must be −71. Is she right? Explain how she can be sure.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Find the mean of −3, 8, −6, 5 and 1.</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Add a negative number</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Work out 9 + (−14).</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−5</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9 + (−14) = 9 − 14. Take 9 to reach zero, then 5 more, so the answer is −5.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Add two negative numbers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Work out −13 + (−8).</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−21</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no zero pairs, so the negatives build up: 13 + 8 = 21, and −13 + (−8) = −21.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Find the mean of −3, 8, −6, 5 and 1.</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 + 8 + (−6) + 5 + 1 = 5. There are 5 numbers, and 5 ÷ 5 = 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Directed Number · Chapter 3: Adding directed numbers</dc:title>
  <dc:subject>Mathematics · Year 7</dc:subject>
  <dc:creator>Dr Vitor Merissi de Carvalho</dc:creator>
  <cp:lastModifiedBy>Dr Vitor Merissi de Carvalho</cp:lastModifiedBy>
  <cp:revision>1</cp:revision>
  <dcterms:created xsi:type="dcterms:W3CDTF">2026-10-19T16:23:21Z</dcterms:created>
  <dcterms:modified xsi:type="dcterms:W3CDTF">2026-10-19T16:23:21Z</dcterms:modified>
</cp:coreProperties>
</file>