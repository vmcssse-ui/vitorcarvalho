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358bf81-d5b8-4156-a7d8-dfe835ad4cb9}">
          <p14:sldIdLst>
            <p14:sldId id="256"/>
          </p14:sldIdLst>
        </p14:section>
        <p14:section name="Gate" id="{4dd6736e-cfd1-ff40-fdc8-132cfad33b77}">
          <p14:sldIdLst>
            <p14:sldId id="257"/>
            <p14:sldId id="258"/>
          </p14:sldIdLst>
        </p14:section>
        <p14:section name="Pre-teach" id="{2beb084e-3e3a-b433-55bd-c52ea7beb39e}">
          <p14:sldIdLst>
            <p14:sldId id="259"/>
          </p14:sldIdLst>
        </p14:section>
        <p14:section name="Read-along" id="{884a5262-205a-1f73-9565-ddb886431c1d}">
          <p14:sldIdLst>
            <p14:sldId id="260"/>
            <p14:sldId id="261"/>
          </p14:sldIdLst>
        </p14:section>
        <p14:section name="Teach" id="{411a1ba1-598e-d025-db69-f27420971748}">
          <p14:sldIdLst>
            <p14:sldId id="262"/>
            <p14:sldId id="263"/>
            <p14:sldId id="264"/>
          </p14:sldIdLst>
        </p14:section>
        <p14:section name="Routes" id="{169a12c2-be51-87cd-a6cd-2c61afd150c4}">
          <p14:sldIdLst>
            <p14:sldId id="265"/>
            <p14:sldId id="266"/>
          </p14:sldIdLst>
        </p14:section>
        <p14:section name="Close" id="{e1b8ed31-b46d-e065-62d6-b834c14fb2c0}">
          <p14:sldIdLst>
            <p14:sldId id="267"/>
          </p14:sldIdLst>
        </p14:section>
        <p14:section name="Answers" id="{d2f905a9-4bdb-37cf-3891-3f6fa94e700e}">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Order of operations, squares and the calculator. Use the order of operations with negative numbers, square negatives, substitute, and check on a calculator.
This deck covers the department's lessons: 8 (Order of operations with directed numbers: How do we use the order of operations when a calculation has negative numbers?); 9 (Use a calculator with directed numbers: How do we enter negative numbers, brackets and squares on a calculator correctly?).
Read the big question aloud: "What happens to numbers below zero, and how do we calculate with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Work out (−7) × (−3).  →  21
2. In 5 + 6 × (−2), which part do you work out first?  →  B   the multiplication 6 × (−2)
3. Work out 8 × (5 − 9).  →  −32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21. 7 × 3 = 21, and two negatives multiplied give a positive.
2. B   the multiplication 6 × (−2). Multiplication comes before addition in the order of operations.
3. −32. Brackets first: 5 − 9 = −4. Then 8 × (−4) = −32.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order of operations: the rule for which part of a calculation to do first. Example: "The order of operations says brackets come first."
• index: a power, like the small 2 in 5². Example: "In 5², the 2 is an index."
• square: a number multiplied by itself. Example: "The square of −4 is 16."
• substitute: to put a number in place of a letter. Example: "Substitute −2 for y, so 3y becomes 3 × (−2)."
• negative key: the (−) key on a calculator that makes a number negative. Example: "Press the negative key to type −3."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Some sums have lots of steps.
2. We need a rule for what to do first.
3. Brackets come first.
4. Then powers, like squares.
5. Then times and divide.
6. Then add and take away.
7. Negative numbers follow the same rule.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Look at 10 − 2 × (−3).
9. Times first: 2 × (−3) is −6.
10. Then 10 − (−6) is 16.
11. Squaring a negative number gives a positive answer.
12. (−4)² is −4 × −4, which is 16.
13. On a calculator, put brackets round a negative number before you square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order of operations. Say it in your own words, then check understanding with a quick question: ask a pupil from the pre-teach group first, since they met these words and ideas before the lesson. Pupils try to recall before you re-explain.
Brackets first, then indices (powers and roots), then multiplication and division, then addition and subtraction. Everyone uses the same order, so everyone gets the same answer.
Negative numbers do not change the order. In 12 + 4 × (−2), multiply first: 4 × (−2) = −8. Then 12 + (−8) = 4.
Brackets can change the answer: (12 + 4) × (−2) = 16 × (−2) = −32.
Worked example — model it step by step, thinking aloud: Work out 15 − 3 × (−4). (1) Multiply first: 3 × (−4) = −12. (2) Then 15 − (−12) = 15 + 12. (3) 15 + 12 = 27. Answer: 27.
Tip: Do not just work from left to right. Look for × and ÷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Squaring negative numbers. Say it in your own words, then check understanding with a quick question: ask a pupil from the pre-teach group first, since they met these words and ideas before the lesson. Pupils try to recall before you re-explain.
(−5)² means (−5) × (−5). Two negatives multiplied give a positive, so (−5)² = 25.
Without brackets it is different. −5² means 'the negative of 5²', so −5² = −25. The brackets tell you that the whole of −5 is squared.
In a longer calculation, do the power before × and ÷. (−3)² − 4 × 5 = 9 − 20 = −11.
Worked example — model it step by step, thinking aloud: Work out (−6)² + 2 × (−7). (1) Power first: (−6)² = 36. (2) Then multiply: 2 × (−7) = −14. (3) Then 36 + (−14) = 22. Answer: 22.
Tip: Square a negative number and the answer is always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Substituting and using a calculator. Say it in your own words, then check understanding with a quick question: ask a pupil from the pre-teach group first, since they met these words and ideas before the lesson. Pupils try to recall before you re-explain.
To substitute, put a number in place of a letter. If y is −3, then 4y means 4 × (−3) = −12.
y² means y × y. So if y is −3, then y² is (−3)² = 9. Always put a negative number in brackets when you substitute it.
On a calculator, use the negative key and brackets. To find (−3)², type the bracket, the negative key, 3, the closing bracket and then the square key. If you leave out the brackets, the calculator works out −3² = −9 instead.
Worked example — model it step by step, thinking aloud: Work out the value of 2y² when y = −4. (1) Substitute with brackets: 2 × (−4)². (2) Power first: (−4)² = 16. (3) Then 2 × 16 = 32. Answer: 32.
Tip: Brackets round negative numbers: on paper and on the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Order of operations with negatives.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Work out 18 − 6 × (−3).
Support — work through the steps with the group: (1) Look for brackets and powers first. (2) Then do any × or ÷. (3) Then do + and −, from left to right.
Parallel worked example for Support (model it, do not give the task answer): Work out 10 − 4 × (−2). Multiply first: 4 × (−2) = −8.; Then 10 − (−8) = 10 + 8.; 10 + 8 = 18.. Answer: 18.
Core — reveal the hint only on request: Work out 6 × (−3) before anything else.
Stretch — no help; when finished: Where could you put brackets in 18 − 6 × (−3) to get −36? Explain why the answer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Squares of negative numbers.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Work out (−5)² − 3 × 8.
Support — work through the steps with the group: (1) Square first: keep the negative number in its brackets and multiply it by itself. (2) Then do the multiplication. (3) Then add or subtract.
Parallel worked example for Support (model it, do not give the task answer): Work out (−4)² − 2 × 9. (−4)² = 16.; 2 × 9 = 18.; 16 − 18 = −2.. Answer: −2.
Core — reveal the hint only on request: (−5)² means (−5) × (−5).
Stretch — no help; when finished: Mo types −5² into his calculator and gets −25. Explain why, and say exactly what he should type to get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Work out the value of 3y² − y when y = −2.
Answer: 14. 3 × (−2)² = 3 × 4 = 12, and 12 − (−2) = 14.
Source of this question: module 3 task ("Substitute a negative number")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Order of operations with negatives. Reveal the answer; pupils mark their own work in a different colour, then read the "why" together. Same destination for every lane, so one answer serves the whole class.
Answer: C   36
Why: Multiply first: 6 × (−3) = −18. Then 18 − (−18) = 18 + 18 = 36.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Squares of negative numbers. Reveal the answer; pupils mark their own work in a different colour, then read the "why" together. Same destination for every lane, so one answer serves the whole class.
Answer: 1
Why: (−5)² = 25 and 3 × 8 = 24, so 25 − 24 = 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14
Why: 3 × (−2)² = 3 × 4 = 12, and 12 − (−2) = 14.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Directed Number</a:t>
            </a:r>
            <a:endParaRPr lang="en-US" sz="1800" dirty="0"/>
          </a:p>
        </p:txBody>
      </p:sp>
      <p:sp>
        <p:nvSpPr>
          <p:cNvPr id="10" name="deck-title"/>
          <p:cNvSpPr txBox="1"/>
          <p:nvPr/>
        </p:nvSpPr>
        <p:spPr>
          <a:xfrm>
            <a:off x="548640" y="235127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Order of operations, squares and the calculator</a:t>
            </a:r>
            <a:endParaRPr lang="en-US" sz="3200" dirty="0"/>
          </a:p>
        </p:txBody>
      </p:sp>
      <p:sp>
        <p:nvSpPr>
          <p:cNvPr id="11" name="lessons-card"/>
          <p:cNvSpPr/>
          <p:nvPr/>
        </p:nvSpPr>
        <p:spPr>
          <a:xfrm>
            <a:off x="548640" y="3763518"/>
            <a:ext cx="5287975" cy="1328420"/>
          </a:xfrm>
          <a:prstGeom prst="roundRect">
            <a:avLst>
              <a:gd name="adj" fmla="val 5507"/>
            </a:avLst>
          </a:prstGeom>
          <a:solidFill>
            <a:srgbClr val="F0F2F7"/>
          </a:solidFill>
          <a:ln/>
        </p:spPr>
      </p:sp>
      <p:sp>
        <p:nvSpPr>
          <p:cNvPr id="12" name="lessons"/>
          <p:cNvSpPr txBox="1"/>
          <p:nvPr/>
        </p:nvSpPr>
        <p:spPr>
          <a:xfrm>
            <a:off x="685800" y="38549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Order of operations with directed numbers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Use a calculator with directed numbers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happens to numbers below zero, and how do we calculate with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out (−7) × (−3).</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5 + 6 × (−2), which part do you work out first?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addition 5 + (−2)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multiplication 6 × (−2)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addition 5 + 6</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out 8 × (5 − 9).</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21</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Work out (−7) × (−3).</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7 × 3 = 21, and two negatives multiplied give a positive.</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FE4D0"/>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multiplication 6 × (−2)</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5 + 6 × (−2), which part do you work out first?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Multiplication comes before addition in the order of operations.</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−32</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Work out 8 × (5 − 9).</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Brackets first: 5 − 9 = −4. Then 8 × (−4) = −32.</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74344"/>
          </a:xfrm>
          <a:prstGeom prst="roundRect">
            <a:avLst>
              <a:gd name="adj" fmla="val 5631"/>
            </a:avLst>
          </a:prstGeom>
          <a:solidFill>
            <a:srgbClr val="F5F6F9"/>
          </a:solidFill>
          <a:ln/>
        </p:spPr>
      </p:sp>
      <p:sp>
        <p:nvSpPr>
          <p:cNvPr id="12" name="kw-hex"/>
          <p:cNvSpPr/>
          <p:nvPr/>
        </p:nvSpPr>
        <p:spPr>
          <a:xfrm>
            <a:off x="658368" y="2229241"/>
            <a:ext cx="411480" cy="356342"/>
          </a:xfrm>
          <a:prstGeom prst="hexagon">
            <a:avLst/>
          </a:prstGeom>
          <a:solidFill>
            <a:srgbClr val="2E4A8C"/>
          </a:solidFill>
          <a:ln/>
        </p:spPr>
      </p:sp>
      <p:sp>
        <p:nvSpPr>
          <p:cNvPr id="13" name="kw-cell"/>
          <p:cNvSpPr txBox="1"/>
          <p:nvPr/>
        </p:nvSpPr>
        <p:spPr>
          <a:xfrm>
            <a:off x="1143000" y="1920240"/>
            <a:ext cx="2331720" cy="974344"/>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order of operations</a:t>
            </a:r>
            <a:endParaRPr lang="en-US" sz="2200" dirty="0"/>
          </a:p>
        </p:txBody>
      </p:sp>
      <p:sp>
        <p:nvSpPr>
          <p:cNvPr id="14" name="kw-cell"/>
          <p:cNvSpPr txBox="1"/>
          <p:nvPr/>
        </p:nvSpPr>
        <p:spPr>
          <a:xfrm>
            <a:off x="3657600" y="1920240"/>
            <a:ext cx="3474720" cy="97434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rule for which part of a calculation to do first</a:t>
            </a:r>
            <a:endParaRPr lang="en-US" sz="2000" dirty="0"/>
          </a:p>
        </p:txBody>
      </p:sp>
      <p:sp>
        <p:nvSpPr>
          <p:cNvPr id="15" name="kw-cell"/>
          <p:cNvSpPr txBox="1"/>
          <p:nvPr/>
        </p:nvSpPr>
        <p:spPr>
          <a:xfrm>
            <a:off x="7315200" y="1920240"/>
            <a:ext cx="4236415" cy="974344"/>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The order of operations says brackets come first.</a:t>
            </a:r>
            <a:endParaRPr lang="en-US" sz="2000" dirty="0"/>
          </a:p>
        </p:txBody>
      </p:sp>
      <p:sp>
        <p:nvSpPr>
          <p:cNvPr id="16" name="kw-row"/>
          <p:cNvSpPr/>
          <p:nvPr/>
        </p:nvSpPr>
        <p:spPr>
          <a:xfrm>
            <a:off x="548640" y="2967736"/>
            <a:ext cx="11094415" cy="611124"/>
          </a:xfrm>
          <a:prstGeom prst="roundRect">
            <a:avLst>
              <a:gd name="adj" fmla="val 8978"/>
            </a:avLst>
          </a:prstGeom>
          <a:solidFill>
            <a:srgbClr val="F9F4EC"/>
          </a:solidFill>
          <a:ln/>
        </p:spPr>
      </p:sp>
      <p:sp>
        <p:nvSpPr>
          <p:cNvPr id="17" name="kw-hex"/>
          <p:cNvSpPr/>
          <p:nvPr/>
        </p:nvSpPr>
        <p:spPr>
          <a:xfrm>
            <a:off x="658368" y="3095127"/>
            <a:ext cx="411480" cy="356342"/>
          </a:xfrm>
          <a:prstGeom prst="hexagon">
            <a:avLst/>
          </a:prstGeom>
          <a:solidFill>
            <a:srgbClr val="B8862B"/>
          </a:solidFill>
          <a:ln/>
        </p:spPr>
      </p:sp>
      <p:sp>
        <p:nvSpPr>
          <p:cNvPr id="18" name="kw-cell"/>
          <p:cNvSpPr txBox="1"/>
          <p:nvPr/>
        </p:nvSpPr>
        <p:spPr>
          <a:xfrm>
            <a:off x="1143000" y="2967736"/>
            <a:ext cx="2331720" cy="611124"/>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index</a:t>
            </a:r>
            <a:endParaRPr lang="en-US" sz="2200" dirty="0"/>
          </a:p>
        </p:txBody>
      </p:sp>
      <p:sp>
        <p:nvSpPr>
          <p:cNvPr id="19" name="kw-cell"/>
          <p:cNvSpPr txBox="1"/>
          <p:nvPr/>
        </p:nvSpPr>
        <p:spPr>
          <a:xfrm>
            <a:off x="3657600" y="2967736"/>
            <a:ext cx="3474720" cy="61112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power, like the small 2 in 5²</a:t>
            </a:r>
            <a:endParaRPr lang="en-US" sz="2000" dirty="0"/>
          </a:p>
        </p:txBody>
      </p:sp>
      <p:sp>
        <p:nvSpPr>
          <p:cNvPr id="20" name="kw-cell"/>
          <p:cNvSpPr txBox="1"/>
          <p:nvPr/>
        </p:nvSpPr>
        <p:spPr>
          <a:xfrm>
            <a:off x="7315200" y="2967736"/>
            <a:ext cx="4236415" cy="611124"/>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In 5², the 2 is an index.</a:t>
            </a:r>
            <a:endParaRPr lang="en-US" sz="2000" dirty="0"/>
          </a:p>
        </p:txBody>
      </p:sp>
      <p:sp>
        <p:nvSpPr>
          <p:cNvPr id="21" name="kw-row"/>
          <p:cNvSpPr/>
          <p:nvPr/>
        </p:nvSpPr>
        <p:spPr>
          <a:xfrm>
            <a:off x="548640" y="3652012"/>
            <a:ext cx="11094415" cy="611124"/>
          </a:xfrm>
          <a:prstGeom prst="roundRect">
            <a:avLst>
              <a:gd name="adj" fmla="val 8978"/>
            </a:avLst>
          </a:prstGeom>
          <a:solidFill>
            <a:srgbClr val="F5F6F9"/>
          </a:solidFill>
          <a:ln/>
        </p:spPr>
      </p:sp>
      <p:sp>
        <p:nvSpPr>
          <p:cNvPr id="22" name="kw-hex"/>
          <p:cNvSpPr/>
          <p:nvPr/>
        </p:nvSpPr>
        <p:spPr>
          <a:xfrm>
            <a:off x="658368" y="3779403"/>
            <a:ext cx="411480" cy="356342"/>
          </a:xfrm>
          <a:prstGeom prst="hexagon">
            <a:avLst/>
          </a:prstGeom>
          <a:solidFill>
            <a:srgbClr val="2E4A8C"/>
          </a:solidFill>
          <a:ln/>
        </p:spPr>
      </p:sp>
      <p:sp>
        <p:nvSpPr>
          <p:cNvPr id="23" name="kw-cell"/>
          <p:cNvSpPr txBox="1"/>
          <p:nvPr/>
        </p:nvSpPr>
        <p:spPr>
          <a:xfrm>
            <a:off x="1143000" y="3652012"/>
            <a:ext cx="2331720" cy="611124"/>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square</a:t>
            </a:r>
            <a:endParaRPr lang="en-US" sz="2200" dirty="0"/>
          </a:p>
        </p:txBody>
      </p:sp>
      <p:sp>
        <p:nvSpPr>
          <p:cNvPr id="24" name="kw-cell"/>
          <p:cNvSpPr txBox="1"/>
          <p:nvPr/>
        </p:nvSpPr>
        <p:spPr>
          <a:xfrm>
            <a:off x="3657600" y="3652012"/>
            <a:ext cx="3474720" cy="61112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number multiplied by itself</a:t>
            </a:r>
            <a:endParaRPr lang="en-US" sz="2000" dirty="0"/>
          </a:p>
        </p:txBody>
      </p:sp>
      <p:sp>
        <p:nvSpPr>
          <p:cNvPr id="25" name="kw-cell"/>
          <p:cNvSpPr txBox="1"/>
          <p:nvPr/>
        </p:nvSpPr>
        <p:spPr>
          <a:xfrm>
            <a:off x="7315200" y="3652012"/>
            <a:ext cx="4236415" cy="611124"/>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The square of −4 is 16.</a:t>
            </a:r>
            <a:endParaRPr lang="en-US" sz="2000" dirty="0"/>
          </a:p>
        </p:txBody>
      </p:sp>
      <p:sp>
        <p:nvSpPr>
          <p:cNvPr id="26" name="kw-row"/>
          <p:cNvSpPr/>
          <p:nvPr/>
        </p:nvSpPr>
        <p:spPr>
          <a:xfrm>
            <a:off x="548640" y="4336288"/>
            <a:ext cx="11094415" cy="867664"/>
          </a:xfrm>
          <a:prstGeom prst="roundRect">
            <a:avLst>
              <a:gd name="adj" fmla="val 6323"/>
            </a:avLst>
          </a:prstGeom>
          <a:solidFill>
            <a:srgbClr val="F9F4EC"/>
          </a:solidFill>
          <a:ln/>
        </p:spPr>
      </p:sp>
      <p:sp>
        <p:nvSpPr>
          <p:cNvPr id="27" name="kw-hex"/>
          <p:cNvSpPr/>
          <p:nvPr/>
        </p:nvSpPr>
        <p:spPr>
          <a:xfrm>
            <a:off x="658368" y="4591949"/>
            <a:ext cx="411480" cy="356342"/>
          </a:xfrm>
          <a:prstGeom prst="hexagon">
            <a:avLst/>
          </a:prstGeom>
          <a:solidFill>
            <a:srgbClr val="B8862B"/>
          </a:solidFill>
          <a:ln/>
        </p:spPr>
      </p:sp>
      <p:sp>
        <p:nvSpPr>
          <p:cNvPr id="28" name="kw-cell"/>
          <p:cNvSpPr txBox="1"/>
          <p:nvPr/>
        </p:nvSpPr>
        <p:spPr>
          <a:xfrm>
            <a:off x="1143000" y="4336288"/>
            <a:ext cx="2331720" cy="867664"/>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substitute</a:t>
            </a:r>
            <a:endParaRPr lang="en-US" sz="2200" dirty="0"/>
          </a:p>
        </p:txBody>
      </p:sp>
      <p:sp>
        <p:nvSpPr>
          <p:cNvPr id="29" name="kw-cell"/>
          <p:cNvSpPr txBox="1"/>
          <p:nvPr/>
        </p:nvSpPr>
        <p:spPr>
          <a:xfrm>
            <a:off x="3657600" y="4336288"/>
            <a:ext cx="3474720" cy="86766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put a number in place of a letter</a:t>
            </a:r>
            <a:endParaRPr lang="en-US" sz="2000" dirty="0"/>
          </a:p>
        </p:txBody>
      </p:sp>
      <p:sp>
        <p:nvSpPr>
          <p:cNvPr id="30" name="kw-cell"/>
          <p:cNvSpPr txBox="1"/>
          <p:nvPr/>
        </p:nvSpPr>
        <p:spPr>
          <a:xfrm>
            <a:off x="7315200" y="4336288"/>
            <a:ext cx="4236415" cy="867664"/>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Substitute −2 for y, so 3y becomes 3 × (−2).</a:t>
            </a:r>
            <a:endParaRPr lang="en-US" sz="2000" dirty="0"/>
          </a:p>
        </p:txBody>
      </p:sp>
      <p:sp>
        <p:nvSpPr>
          <p:cNvPr id="31" name="kw-row"/>
          <p:cNvSpPr/>
          <p:nvPr/>
        </p:nvSpPr>
        <p:spPr>
          <a:xfrm>
            <a:off x="548640" y="5277104"/>
            <a:ext cx="11094415" cy="867664"/>
          </a:xfrm>
          <a:prstGeom prst="roundRect">
            <a:avLst>
              <a:gd name="adj" fmla="val 6323"/>
            </a:avLst>
          </a:prstGeom>
          <a:solidFill>
            <a:srgbClr val="F5F6F9"/>
          </a:solidFill>
          <a:ln/>
        </p:spPr>
      </p:sp>
      <p:sp>
        <p:nvSpPr>
          <p:cNvPr id="32" name="kw-hex"/>
          <p:cNvSpPr/>
          <p:nvPr/>
        </p:nvSpPr>
        <p:spPr>
          <a:xfrm>
            <a:off x="658368" y="5532765"/>
            <a:ext cx="411480" cy="356342"/>
          </a:xfrm>
          <a:prstGeom prst="hexagon">
            <a:avLst/>
          </a:prstGeom>
          <a:solidFill>
            <a:srgbClr val="2E4A8C"/>
          </a:solidFill>
          <a:ln/>
        </p:spPr>
      </p:sp>
      <p:sp>
        <p:nvSpPr>
          <p:cNvPr id="33" name="kw-cell"/>
          <p:cNvSpPr txBox="1"/>
          <p:nvPr/>
        </p:nvSpPr>
        <p:spPr>
          <a:xfrm>
            <a:off x="1143000" y="5277104"/>
            <a:ext cx="2331720" cy="867664"/>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negative key</a:t>
            </a:r>
            <a:endParaRPr lang="en-US" sz="2200" dirty="0"/>
          </a:p>
        </p:txBody>
      </p:sp>
      <p:sp>
        <p:nvSpPr>
          <p:cNvPr id="34" name="kw-cell"/>
          <p:cNvSpPr txBox="1"/>
          <p:nvPr/>
        </p:nvSpPr>
        <p:spPr>
          <a:xfrm>
            <a:off x="3657600" y="5277104"/>
            <a:ext cx="3474720" cy="86766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 key on a calculator that makes a number negative</a:t>
            </a:r>
            <a:endParaRPr lang="en-US" sz="2000" dirty="0"/>
          </a:p>
        </p:txBody>
      </p:sp>
      <p:sp>
        <p:nvSpPr>
          <p:cNvPr id="35" name="kw-cell"/>
          <p:cNvSpPr txBox="1"/>
          <p:nvPr/>
        </p:nvSpPr>
        <p:spPr>
          <a:xfrm>
            <a:off x="7315200" y="5277104"/>
            <a:ext cx="4236415" cy="867664"/>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Press the negative key to type −3.</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sums have lots of steps.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need a rule for what to do first.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Brackets come first.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powers, like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squares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times and divide.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add and take away.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Negative numbers follow the same rule.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Look at 10 − 2 × (−3).</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Times first: 2 × (−3) is −6.</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10 − (−6) is 16.</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Squaring a negative number gives a positive answer.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(−4)² is −4 × −4, which is 16.</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On a calculator, put brackets round a negative number before you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square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order of operations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Do not just work from left to right. Look for × and ÷ first.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Work out 15 − 3 × (−4).</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first: 3 × (−4) = −12.</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15 − (−12) = 15 + 12.</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15 + 12 = 27.</a:t>
            </a:r>
            <a:endParaRPr lang="en-US" sz="1800" dirty="0"/>
          </a:p>
        </p:txBody>
      </p:sp>
      <p:sp>
        <p:nvSpPr>
          <p:cNvPr id="26" name="worked-answer"/>
          <p:cNvSpPr/>
          <p:nvPr/>
        </p:nvSpPr>
        <p:spPr>
          <a:xfrm>
            <a:off x="6126480" y="4630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27</a:t>
            </a:r>
            <a:endParaRPr lang="en-US" sz="1800" dirty="0"/>
          </a:p>
        </p:txBody>
      </p:sp>
      <p:sp>
        <p:nvSpPr>
          <p:cNvPr id="27" name="bullet-card"/>
          <p:cNvSpPr/>
          <p:nvPr/>
        </p:nvSpPr>
        <p:spPr>
          <a:xfrm>
            <a:off x="548640" y="1389888"/>
            <a:ext cx="5074920" cy="1234440"/>
          </a:xfrm>
          <a:prstGeom prst="roundRect">
            <a:avLst>
              <a:gd name="adj" fmla="val 5926"/>
            </a:avLst>
          </a:prstGeom>
          <a:solidFill>
            <a:srgbClr val="F5F6F9"/>
          </a:solidFill>
          <a:ln/>
        </p:spPr>
      </p:sp>
      <p:sp>
        <p:nvSpPr>
          <p:cNvPr id="28" name="bullet-hex"/>
          <p:cNvSpPr/>
          <p:nvPr/>
        </p:nvSpPr>
        <p:spPr>
          <a:xfrm>
            <a:off x="676656" y="1840815"/>
            <a:ext cx="384048" cy="332586"/>
          </a:xfrm>
          <a:prstGeom prst="hexagon">
            <a:avLst/>
          </a:prstGeom>
          <a:solidFill>
            <a:srgbClr val="2E4A8C"/>
          </a:solidFill>
          <a:ln/>
        </p:spPr>
      </p:sp>
      <p:sp>
        <p:nvSpPr>
          <p:cNvPr id="29" name="bullet"/>
          <p:cNvSpPr txBox="1"/>
          <p:nvPr/>
        </p:nvSpPr>
        <p:spPr>
          <a:xfrm>
            <a:off x="1143000" y="1389888"/>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Brackets first, then indices (powers and roots), then multiplication and division, then addition and subtraction.</a:t>
            </a:r>
            <a:endParaRPr lang="en-US" sz="2000" dirty="0"/>
          </a:p>
        </p:txBody>
      </p:sp>
      <p:sp>
        <p:nvSpPr>
          <p:cNvPr id="30" name="bullet-card"/>
          <p:cNvSpPr/>
          <p:nvPr/>
        </p:nvSpPr>
        <p:spPr>
          <a:xfrm>
            <a:off x="548640" y="2770632"/>
            <a:ext cx="5074920" cy="1234440"/>
          </a:xfrm>
          <a:prstGeom prst="roundRect">
            <a:avLst>
              <a:gd name="adj" fmla="val 5926"/>
            </a:avLst>
          </a:prstGeom>
          <a:solidFill>
            <a:srgbClr val="F5F6F9"/>
          </a:solidFill>
          <a:ln/>
        </p:spPr>
      </p:sp>
      <p:sp>
        <p:nvSpPr>
          <p:cNvPr id="31" name="bullet-hex"/>
          <p:cNvSpPr/>
          <p:nvPr/>
        </p:nvSpPr>
        <p:spPr>
          <a:xfrm>
            <a:off x="676656" y="3221559"/>
            <a:ext cx="384048" cy="332586"/>
          </a:xfrm>
          <a:prstGeom prst="hexagon">
            <a:avLst/>
          </a:prstGeom>
          <a:solidFill>
            <a:srgbClr val="B8862B"/>
          </a:solidFill>
          <a:ln/>
        </p:spPr>
      </p:sp>
      <p:sp>
        <p:nvSpPr>
          <p:cNvPr id="32" name="bullet"/>
          <p:cNvSpPr txBox="1"/>
          <p:nvPr/>
        </p:nvSpPr>
        <p:spPr>
          <a:xfrm>
            <a:off x="1143000" y="2770632"/>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Negative numbers do not change the order. In 12 + 4 × (−2), multiply first: 4 × (−2) = −8.</a:t>
            </a:r>
            <a:endParaRPr lang="en-US" sz="2000" dirty="0"/>
          </a:p>
        </p:txBody>
      </p:sp>
      <p:sp>
        <p:nvSpPr>
          <p:cNvPr id="33" name="bullet-card"/>
          <p:cNvSpPr/>
          <p:nvPr/>
        </p:nvSpPr>
        <p:spPr>
          <a:xfrm>
            <a:off x="548640" y="4151376"/>
            <a:ext cx="5074920" cy="924560"/>
          </a:xfrm>
          <a:prstGeom prst="roundRect">
            <a:avLst>
              <a:gd name="adj" fmla="val 7912"/>
            </a:avLst>
          </a:prstGeom>
          <a:solidFill>
            <a:srgbClr val="F5F6F9"/>
          </a:solidFill>
          <a:ln/>
        </p:spPr>
      </p:sp>
      <p:sp>
        <p:nvSpPr>
          <p:cNvPr id="34" name="bullet-hex"/>
          <p:cNvSpPr/>
          <p:nvPr/>
        </p:nvSpPr>
        <p:spPr>
          <a:xfrm>
            <a:off x="676656" y="4447363"/>
            <a:ext cx="384048" cy="332586"/>
          </a:xfrm>
          <a:prstGeom prst="hexagon">
            <a:avLst/>
          </a:prstGeom>
          <a:solidFill>
            <a:srgbClr val="2E4A8C"/>
          </a:solidFill>
          <a:ln/>
        </p:spPr>
      </p:sp>
      <p:sp>
        <p:nvSpPr>
          <p:cNvPr id="35" name="bullet"/>
          <p:cNvSpPr txBox="1"/>
          <p:nvPr/>
        </p:nvSpPr>
        <p:spPr>
          <a:xfrm>
            <a:off x="1143000" y="4151376"/>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Brackets can change the answer: (12 + 4) × (−2) = 16 × (−2) = −32.</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Squaring negative numbers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Square a negative number and the answer is always positive.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Work out (−6)² + 2 × (−7).</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Power first: (−6)² = 36.</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multiply: 2 × (−7) = −14.</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36 + (−14) = 22.</a:t>
            </a:r>
            <a:endParaRPr lang="en-US" sz="1800" dirty="0"/>
          </a:p>
        </p:txBody>
      </p:sp>
      <p:sp>
        <p:nvSpPr>
          <p:cNvPr id="26" name="worked-answer"/>
          <p:cNvSpPr/>
          <p:nvPr/>
        </p:nvSpPr>
        <p:spPr>
          <a:xfrm>
            <a:off x="6126480" y="4630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22</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(−5)² means (−5) × (−5). Two negatives multiplied give a positive, so (−5)² = 25.</a:t>
            </a:r>
            <a:endParaRPr lang="en-US" sz="2200" dirty="0"/>
          </a:p>
        </p:txBody>
      </p:sp>
      <p:sp>
        <p:nvSpPr>
          <p:cNvPr id="30" name="bullet-card"/>
          <p:cNvSpPr/>
          <p:nvPr/>
        </p:nvSpPr>
        <p:spPr>
          <a:xfrm>
            <a:off x="548640" y="2780961"/>
            <a:ext cx="5074920" cy="1244769"/>
          </a:xfrm>
          <a:prstGeom prst="roundRect">
            <a:avLst>
              <a:gd name="adj" fmla="val 5877"/>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780961"/>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Without brackets it is different. −5² means 'the negative of 5²', so −5² = −25.</a:t>
            </a:r>
            <a:endParaRPr lang="en-US" sz="2200" dirty="0"/>
          </a:p>
        </p:txBody>
      </p:sp>
      <p:sp>
        <p:nvSpPr>
          <p:cNvPr id="33" name="bullet-card"/>
          <p:cNvSpPr/>
          <p:nvPr/>
        </p:nvSpPr>
        <p:spPr>
          <a:xfrm>
            <a:off x="548640" y="4172035"/>
            <a:ext cx="5074920" cy="903901"/>
          </a:xfrm>
          <a:prstGeom prst="roundRect">
            <a:avLst>
              <a:gd name="adj" fmla="val 8093"/>
            </a:avLst>
          </a:prstGeom>
          <a:solidFill>
            <a:srgbClr val="F5F6F9"/>
          </a:solidFill>
          <a:ln/>
        </p:spPr>
      </p:sp>
      <p:sp>
        <p:nvSpPr>
          <p:cNvPr id="34" name="bullet-hex"/>
          <p:cNvSpPr/>
          <p:nvPr/>
        </p:nvSpPr>
        <p:spPr>
          <a:xfrm>
            <a:off x="676656" y="4457693"/>
            <a:ext cx="384048" cy="332586"/>
          </a:xfrm>
          <a:prstGeom prst="hexagon">
            <a:avLst/>
          </a:prstGeom>
          <a:solidFill>
            <a:srgbClr val="2E4A8C"/>
          </a:solidFill>
          <a:ln/>
        </p:spPr>
      </p:sp>
      <p:sp>
        <p:nvSpPr>
          <p:cNvPr id="35"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a longer calculation, do the power before × and ÷.</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Substituting and using a calculator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Brackets round negative numbers: on paper and on the calculator.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Work out the value of 2y² when y = −4.</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with brackets: 2 × (−4)².</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Power first: (−4)² = 16.</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2 × 16 = 32.</a:t>
            </a:r>
            <a:endParaRPr lang="en-US" sz="1800" dirty="0"/>
          </a:p>
        </p:txBody>
      </p:sp>
      <p:sp>
        <p:nvSpPr>
          <p:cNvPr id="26" name="worked-answer"/>
          <p:cNvSpPr/>
          <p:nvPr/>
        </p:nvSpPr>
        <p:spPr>
          <a:xfrm>
            <a:off x="6126480" y="4630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32</a:t>
            </a:r>
            <a:endParaRPr lang="en-US" sz="1800" dirty="0"/>
          </a:p>
        </p:txBody>
      </p:sp>
      <p:sp>
        <p:nvSpPr>
          <p:cNvPr id="27" name="bullet-card"/>
          <p:cNvSpPr/>
          <p:nvPr/>
        </p:nvSpPr>
        <p:spPr>
          <a:xfrm>
            <a:off x="548640" y="1389888"/>
            <a:ext cx="5074920" cy="924560"/>
          </a:xfrm>
          <a:prstGeom prst="roundRect">
            <a:avLst>
              <a:gd name="adj" fmla="val 7912"/>
            </a:avLst>
          </a:prstGeom>
          <a:solidFill>
            <a:srgbClr val="F5F6F9"/>
          </a:solidFill>
          <a:ln/>
        </p:spPr>
      </p:sp>
      <p:sp>
        <p:nvSpPr>
          <p:cNvPr id="28" name="bullet-hex"/>
          <p:cNvSpPr/>
          <p:nvPr/>
        </p:nvSpPr>
        <p:spPr>
          <a:xfrm>
            <a:off x="676656" y="1685875"/>
            <a:ext cx="384048" cy="332586"/>
          </a:xfrm>
          <a:prstGeom prst="hexagon">
            <a:avLst/>
          </a:prstGeom>
          <a:solidFill>
            <a:srgbClr val="2E4A8C"/>
          </a:solidFill>
          <a:ln/>
        </p:spPr>
      </p:sp>
      <p:sp>
        <p:nvSpPr>
          <p:cNvPr id="29" name="bullet"/>
          <p:cNvSpPr txBox="1"/>
          <p:nvPr/>
        </p:nvSpPr>
        <p:spPr>
          <a:xfrm>
            <a:off x="1143000" y="1389888"/>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substitute, put a number in place of a letter.</a:t>
            </a:r>
            <a:endParaRPr lang="en-US" sz="2000" dirty="0"/>
          </a:p>
        </p:txBody>
      </p:sp>
      <p:sp>
        <p:nvSpPr>
          <p:cNvPr id="30" name="bullet-card"/>
          <p:cNvSpPr/>
          <p:nvPr/>
        </p:nvSpPr>
        <p:spPr>
          <a:xfrm>
            <a:off x="548640" y="2460752"/>
            <a:ext cx="5074920" cy="924560"/>
          </a:xfrm>
          <a:prstGeom prst="roundRect">
            <a:avLst>
              <a:gd name="adj" fmla="val 7912"/>
            </a:avLst>
          </a:prstGeom>
          <a:solidFill>
            <a:srgbClr val="F5F6F9"/>
          </a:solidFill>
          <a:ln/>
        </p:spPr>
      </p:sp>
      <p:sp>
        <p:nvSpPr>
          <p:cNvPr id="31" name="bullet-hex"/>
          <p:cNvSpPr/>
          <p:nvPr/>
        </p:nvSpPr>
        <p:spPr>
          <a:xfrm>
            <a:off x="676656" y="2756739"/>
            <a:ext cx="384048" cy="332586"/>
          </a:xfrm>
          <a:prstGeom prst="hexagon">
            <a:avLst/>
          </a:prstGeom>
          <a:solidFill>
            <a:srgbClr val="B8862B"/>
          </a:solidFill>
          <a:ln/>
        </p:spPr>
      </p:sp>
      <p:sp>
        <p:nvSpPr>
          <p:cNvPr id="32" name="bullet"/>
          <p:cNvSpPr txBox="1"/>
          <p:nvPr/>
        </p:nvSpPr>
        <p:spPr>
          <a:xfrm>
            <a:off x="1143000" y="2460752"/>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y² means y × y. So if y is −3, then y² is (−3)² = 9.</a:t>
            </a:r>
            <a:endParaRPr lang="en-US" sz="2000" dirty="0"/>
          </a:p>
        </p:txBody>
      </p:sp>
      <p:sp>
        <p:nvSpPr>
          <p:cNvPr id="33" name="bullet-card"/>
          <p:cNvSpPr/>
          <p:nvPr/>
        </p:nvSpPr>
        <p:spPr>
          <a:xfrm>
            <a:off x="548640" y="3531616"/>
            <a:ext cx="5074920" cy="1544320"/>
          </a:xfrm>
          <a:prstGeom prst="roundRect">
            <a:avLst>
              <a:gd name="adj" fmla="val 4737"/>
            </a:avLst>
          </a:prstGeom>
          <a:solidFill>
            <a:srgbClr val="F5F6F9"/>
          </a:solidFill>
          <a:ln/>
        </p:spPr>
      </p:sp>
      <p:sp>
        <p:nvSpPr>
          <p:cNvPr id="34" name="bullet-hex"/>
          <p:cNvSpPr/>
          <p:nvPr/>
        </p:nvSpPr>
        <p:spPr>
          <a:xfrm>
            <a:off x="676656" y="4137483"/>
            <a:ext cx="384048" cy="332586"/>
          </a:xfrm>
          <a:prstGeom prst="hexagon">
            <a:avLst/>
          </a:prstGeom>
          <a:solidFill>
            <a:srgbClr val="2E4A8C"/>
          </a:solidFill>
          <a:ln/>
        </p:spPr>
      </p:sp>
      <p:sp>
        <p:nvSpPr>
          <p:cNvPr id="35" name="bullet"/>
          <p:cNvSpPr txBox="1"/>
          <p:nvPr/>
        </p:nvSpPr>
        <p:spPr>
          <a:xfrm>
            <a:off x="1143000" y="3531616"/>
            <a:ext cx="4389120" cy="15443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 a calculator, use the negative key and brackets. To find (−3)², type the bracket, the negative key, 3, the closing bracket and then the square key.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Order of operations with negatives</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Work out 18 − 6 × (−3).</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0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−36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36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−18</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Look for brackets and powers first.</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Then do any × or ÷.</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Then do + and −, from left to right.</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Work out 6 × (−3) before anything else.</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Where could you put brackets in 18 − 6 × (−3) to get −36? Explain why the answer changes.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Same task, three ways in: Squares of negative numbers</a:t>
            </a:r>
            <a:endParaRPr lang="en-US" sz="26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Work out (−5)² − 3 × 8.</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Square first: keep the negative number in its brackets and multiply it by itself.</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Then do the multiplication.</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Then add or subtract.</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(−5)² means (−5) × (−5).</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Mo types −5² into his calculator and gets −25. Explain why, and say exactly what he should type to get 25.</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Work out the value of 3y² − y when y = −2.</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Order of operations with negatives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Work out 18 − 6 × (−3).</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36</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Multiply first: 6 × (−3) = −18. Then 18 − (−18) = 18 + 18 = 36.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Squares of negative numbers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Work out (−5)² − 3 × 8.</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(−5)² = 25 and 3 × 8 = 24, so 25 − 24 = 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Work out the value of 3y² − y when y = −2.</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14</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 × (−2)² = 3 × 4 = 12, and 12 − (−2) = 14.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Directed Number · Chapter 6: Order of operations, squares and the calculator</dc:title>
  <dc:subject>Mathematics · Year 7</dc:subject>
  <dc:creator>Dr Vitor Merissi de Carvalho</dc:creator>
  <cp:lastModifiedBy>Dr Vitor Merissi de Carvalho</cp:lastModifiedBy>
  <cp:revision>1</cp:revision>
  <dcterms:created xsi:type="dcterms:W3CDTF">2026-10-19T06:08:10Z</dcterms:created>
  <dcterms:modified xsi:type="dcterms:W3CDTF">2026-10-19T06:08:10Z</dcterms:modified>
</cp:coreProperties>
</file>