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9e7e3e-1ed8-4d35-a550-caf7b8fd71c4}">
          <p14:sldIdLst>
            <p14:sldId id="256"/>
          </p14:sldIdLst>
        </p14:section>
        <p14:section name="Gate" id="{7abf0cea-510e-891a-9b43-6be5000b1773}">
          <p14:sldIdLst>
            <p14:sldId id="257"/>
            <p14:sldId id="258"/>
          </p14:sldIdLst>
        </p14:section>
        <p14:section name="Pre-teach" id="{39de4270-3e6a-e4ba-abe0-d010446b8a6d}">
          <p14:sldIdLst>
            <p14:sldId id="259"/>
          </p14:sldIdLst>
        </p14:section>
        <p14:section name="Read-along" id="{4a8fbfd5-e741-0a37-617d-b111f9fec21e}">
          <p14:sldIdLst>
            <p14:sldId id="260"/>
            <p14:sldId id="261"/>
          </p14:sldIdLst>
        </p14:section>
        <p14:section name="Teach" id="{1d48f41a-874b-1559-31a9-65d05e29115f}">
          <p14:sldIdLst>
            <p14:sldId id="262"/>
            <p14:sldId id="263"/>
            <p14:sldId id="264"/>
          </p14:sldIdLst>
        </p14:section>
        <p14:section name="Routes" id="{49f0e1f1-4f9d-6e70-6be8-840ef1f2f763}">
          <p14:sldIdLst>
            <p14:sldId id="265"/>
            <p14:sldId id="266"/>
          </p14:sldIdLst>
        </p14:section>
        <p14:section name="Close" id="{75822a7c-ad91-5f41-7ca3-e373403864c7}">
          <p14:sldIdLst>
            <p14:sldId id="267"/>
          </p14:sldIdLst>
        </p14:section>
        <p14:section name="Answers" id="{95ab27c2-7ed5-e98c-e06e-8f4caac1c91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Crossing zero and zero pairs. Use jumps on a number line and counters to work out sums that go past zero.
This deck covers the department's lessons: 3 (Calculations that cross zero: How do we add or subtract when the answer goes past zero?); 4 (Directed number and zero pairs: Why are a positive counter and a negative counter together worth zero?).
Read the big question aloud: "What happens to numbers below zero, and how do we calculate with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Work out 5 − 9.  →  −4
2. Work out −3 + 10.  →  7
3. Which set of counters is worth zero?  →  D   4 positive and 4 negative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−4. Take 5 to reach zero, then 4 more. You land on −4.
2. 7. Add 3 to reach zero, then 7 more. You land on 7.
3. D   4 positive and 4 negative. Equal numbers of positive and negative counters make only zero pairs, so the value is 0.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cross zero: to go past zero on the number line. Example: "4 − 7 crosses zero, so the answer is negative."
• counter: a small disc worth 1 or −1. Example: "Each positive counter is worth 1."
• zero pair: one positive and one negative counter, worth 0 together. Example: "A 1 counter and a −1 counter make a zero pair."
• difference: how far apart two numbers are. Example: "The difference between −2 and 3 is 5."
• partition: to split a number into parts. Example: "Partition 7 into 4 and 3 to get to zero first."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Some sums go past zero.
2. We say they cross zero.
3. Start at 4 and take away 7.
4. Take away 4 to get to zero.
5. You still have 3 more to take.
6. So the answer is −3.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Counters can help too.
8. A positive counter is worth 1.
9. A negative counter is worth −1.
10. Put one of each together and they are worth zero.
11. This is called a zero pair.
12. Take away the zero pairs and count what is left.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Jumping across zero. Say it in your own words, then check understanding with a quick question: ask a pupil from the pre-teach group first, since they met these words and ideas before the lesson. Pupils try to recall before you re-explain.
When a calculation crosses zero, split the jump into two parts. First jump to zero. Then jump the rest of the way.
For 2 − 6, jump 2 to reach zero. You still need to take away 4 more. So you land on −4.
For −5 + 8, jump 5 to reach zero. You still need to add 3 more. So you land on 3.
Worked example — model it step by step, thinking aloud: Work out 3 − 8. (1) How far is 3 from zero? It is 3 away. (2) Take 3 to reach zero: 3 − 3 = 0. (3) 8 − 3 = 5, so take 5 more. (4) 0 − 5 = −5. Answer: −5.
Tip: Ask two questions: how far is it to zero? How much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Temperatures that cross zero. Say it in your own words, then check understanding with a quick question: ask a pupil from the pre-teach group first, since they met these words and ideas before the lesson. Pupils try to recall before you re-explain.
A thermometer is a number line that stands up. If the temperature rises, move up. If it falls, move down.
If it is 2°C and the temperature falls by 5 degrees, you go down 2 to reach 0°C. Then you go down 3 more. The new temperature is −3°C.
The difference between two temperatures is how many degrees apart they are. From −4°C up to 3°C is 4 degrees to zero, then 3 more. That is 7 degrees.
Worked example — model it step by step, thinking aloud: It is −6°C. The temperature rises by 9 degrees. What is the new temperature? (1) −6°C is 6 degrees below zero. (2) Rise 6 degrees to reach 0°C. (3) 9 − 6 = 3, so rise 3 more. (4) −6 + 9 = 3. Answer: 3°C.
Tip: Going up a thermometer means adding. Going down means subtracting.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Zero pairs. Say it in your own words, then check understanding with a quick question: ask a pupil from the pre-teach group first, since they met these words and ideas before the lesson. Pupils try to recall before you re-explain.
We can show numbers with double-sided counters. One side is positive and worth 1. The other side is negative and worth −1.
A positive counter and a negative counter together make a zero pair: 1 + (−1) = 0. Zero pairs cancel out, so we can take them away without changing the value.
To find the value of a set of counters, match up the zero pairs. Then count what is left over. With 5 positive and 8 negative counters, there are 5 zero pairs and 3 negative counters left. The value is −3.
Worked example — model it step by step, thinking aloud: There are 7 positive counters and 4 negative counters. What value do they show? (1) Match the counters into zero pairs: there are 4 pairs. (2) The pairs are worth 0, so take them away. (3) 7 − 4 = 3 positive counters are left. (4) The value is 3. Answer: 3.
Tip: Zero pairs do not change the value. Together they are worth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Calculations that cross zero.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Work out 6 − 13.
Support — work through the steps with the group: (1) How far is the first number from zero? (2) Jump to zero first. (3) Work out how much of the jump is left. (4) Jump that far past zero.
Parallel worked example for Support (model it, do not give the task answer): Work out 4 − 9. 4 is 4 away from zero.; Take 4 to reach zero.; 9 − 4 = 5 left to take away.; 0 − 5 = −5.. Answer: −5.
Core — reveal the hint only on request: Partition 13 into 6 and 7.
Stretch — no help; when finished: Write two different calculations that start with a positive number, cross zero and land on −7. Explain how you made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Temperature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At midnight it was −8°C. By noon the temperature had risen by 11 degrees. What was the temperature at noon?
Support — work through the steps with the group: (1) Picture a thermometer. (2) Rising means going up, so add. (3) Count up to zero first, then count on.
Parallel worked example for Support (model it, do not give the task answer): It was −5°C. It warmed up by 7 degrees. What is the temperature now? Rise 5 degrees to reach 0°C.; 7 − 5 = 2, so rise 2 more.; −5 + 7 = 2.. Answer: 2°C.
Core — reveal the hint only on request: How many degrees is it from −8°C up to 0°C?
Stretch — no help; when finished: In the evening the temperature drops by 6 degrees from the noon temperature. What is the new temperature? Explain why this change crosses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bag has 6 positive counters and 11 negative counters. What value do they show?
Answer: −5. There are 6 zero pairs. 11 − 6 = 5 negative counters are left over, so the value is −5.
Source of this question: module 3 task ("The value of a set of counters")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Calculations that cross zero. Reveal the answer; pupils mark their own work in a different colour, then read the "why" together. Same destination for every lane, so one answer serves the whole class.
Answer: −7
Why: Take 6 to reach zero, then 7 more: 6 − 13 = −7.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Temperature change. Reveal the answer; pupils mark their own work in a different colour, then read the "why" together. Same destination for every lane, so one answer serves the whole class.
Answer: 3 °C
Why: From −8°C it is 8 degrees up to zero, then 3 more: −8 + 11 = 3. It was 3°C at noon.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−5
Why: There are 6 zero pairs. 11 − 6 = 5 negative counters are left over, so the value is −5.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Directed Number</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Crossing zero and zero pairs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0F2F7"/>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Calculations that cross zero</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Directed number and zero pairs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happens to numbers below zero, and how do we calculate with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5 − 9.</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−3 + 10.</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set of counters is worth zero?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2 positive and 6 negative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5 positive and 1 negative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3 positive and 2 negative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4 positive and 4 negative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5 − 9.</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Take 5 to reach zero, then 4 more. You land on −4.</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−3 + 10.</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Add 3 to reach zero, then 7 more. You land on 7.</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4 positive and 4 negative</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set of counters is worth zero?</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Equal numbers of positive and negative counters make only zero pairs, so the value is 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7692"/>
          </a:xfrm>
          <a:prstGeom prst="roundRect">
            <a:avLst>
              <a:gd name="adj" fmla="val 6549"/>
            </a:avLst>
          </a:prstGeom>
          <a:solidFill>
            <a:srgbClr val="F5F6F9"/>
          </a:solidFill>
          <a:ln/>
        </p:spPr>
      </p:sp>
      <p:sp>
        <p:nvSpPr>
          <p:cNvPr id="12" name="kw-hex"/>
          <p:cNvSpPr/>
          <p:nvPr/>
        </p:nvSpPr>
        <p:spPr>
          <a:xfrm>
            <a:off x="658368" y="2160915"/>
            <a:ext cx="411480" cy="356342"/>
          </a:xfrm>
          <a:prstGeom prst="hexagon">
            <a:avLst/>
          </a:prstGeom>
          <a:solidFill>
            <a:srgbClr val="2E4A8C"/>
          </a:solidFill>
          <a:ln/>
        </p:spPr>
      </p:sp>
      <p:sp>
        <p:nvSpPr>
          <p:cNvPr id="13" name="kw-cell"/>
          <p:cNvSpPr txBox="1"/>
          <p:nvPr/>
        </p:nvSpPr>
        <p:spPr>
          <a:xfrm>
            <a:off x="1143000" y="1920240"/>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cross zero</a:t>
            </a:r>
            <a:endParaRPr lang="en-US" sz="2200" dirty="0"/>
          </a:p>
        </p:txBody>
      </p:sp>
      <p:sp>
        <p:nvSpPr>
          <p:cNvPr id="14" name="kw-cell"/>
          <p:cNvSpPr txBox="1"/>
          <p:nvPr/>
        </p:nvSpPr>
        <p:spPr>
          <a:xfrm>
            <a:off x="3657600" y="1920240"/>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go past zero on the number line</a:t>
            </a:r>
            <a:endParaRPr lang="en-US" sz="2000" dirty="0"/>
          </a:p>
        </p:txBody>
      </p:sp>
      <p:sp>
        <p:nvSpPr>
          <p:cNvPr id="15" name="kw-cell"/>
          <p:cNvSpPr txBox="1"/>
          <p:nvPr/>
        </p:nvSpPr>
        <p:spPr>
          <a:xfrm>
            <a:off x="7315200" y="1920240"/>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4 − 7 crosses zero, so the answer is negative.</a:t>
            </a:r>
            <a:endParaRPr lang="en-US" sz="2000" dirty="0"/>
          </a:p>
        </p:txBody>
      </p:sp>
      <p:sp>
        <p:nvSpPr>
          <p:cNvPr id="16" name="kw-row"/>
          <p:cNvSpPr/>
          <p:nvPr/>
        </p:nvSpPr>
        <p:spPr>
          <a:xfrm>
            <a:off x="548640" y="2831084"/>
            <a:ext cx="11094415" cy="581152"/>
          </a:xfrm>
          <a:prstGeom prst="roundRect">
            <a:avLst>
              <a:gd name="adj" fmla="val 9441"/>
            </a:avLst>
          </a:prstGeom>
          <a:solidFill>
            <a:srgbClr val="F9F4EC"/>
          </a:solidFill>
          <a:ln/>
        </p:spPr>
      </p:sp>
      <p:sp>
        <p:nvSpPr>
          <p:cNvPr id="17" name="kw-hex"/>
          <p:cNvSpPr/>
          <p:nvPr/>
        </p:nvSpPr>
        <p:spPr>
          <a:xfrm>
            <a:off x="658368" y="2943489"/>
            <a:ext cx="411480" cy="356342"/>
          </a:xfrm>
          <a:prstGeom prst="hexagon">
            <a:avLst/>
          </a:prstGeom>
          <a:solidFill>
            <a:srgbClr val="B8862B"/>
          </a:solidFill>
          <a:ln/>
        </p:spPr>
      </p:sp>
      <p:sp>
        <p:nvSpPr>
          <p:cNvPr id="18" name="kw-cell"/>
          <p:cNvSpPr txBox="1"/>
          <p:nvPr/>
        </p:nvSpPr>
        <p:spPr>
          <a:xfrm>
            <a:off x="1143000" y="2831084"/>
            <a:ext cx="2331720" cy="58115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counter</a:t>
            </a:r>
            <a:endParaRPr lang="en-US" sz="2200" dirty="0"/>
          </a:p>
        </p:txBody>
      </p:sp>
      <p:sp>
        <p:nvSpPr>
          <p:cNvPr id="19" name="kw-cell"/>
          <p:cNvSpPr txBox="1"/>
          <p:nvPr/>
        </p:nvSpPr>
        <p:spPr>
          <a:xfrm>
            <a:off x="3657600" y="2831084"/>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small disc worth 1 or −1</a:t>
            </a:r>
            <a:endParaRPr lang="en-US" sz="2000" dirty="0"/>
          </a:p>
        </p:txBody>
      </p:sp>
      <p:sp>
        <p:nvSpPr>
          <p:cNvPr id="20" name="kw-cell"/>
          <p:cNvSpPr txBox="1"/>
          <p:nvPr/>
        </p:nvSpPr>
        <p:spPr>
          <a:xfrm>
            <a:off x="7315200" y="2831084"/>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Each positive counter is worth 1.</a:t>
            </a:r>
            <a:endParaRPr lang="en-US" sz="2000" dirty="0"/>
          </a:p>
        </p:txBody>
      </p:sp>
      <p:sp>
        <p:nvSpPr>
          <p:cNvPr id="21" name="kw-row"/>
          <p:cNvSpPr/>
          <p:nvPr/>
        </p:nvSpPr>
        <p:spPr>
          <a:xfrm>
            <a:off x="548640" y="3485388"/>
            <a:ext cx="11094415" cy="837692"/>
          </a:xfrm>
          <a:prstGeom prst="roundRect">
            <a:avLst>
              <a:gd name="adj" fmla="val 6549"/>
            </a:avLst>
          </a:prstGeom>
          <a:solidFill>
            <a:srgbClr val="F5F6F9"/>
          </a:solidFill>
          <a:ln/>
        </p:spPr>
      </p:sp>
      <p:sp>
        <p:nvSpPr>
          <p:cNvPr id="22" name="kw-hex"/>
          <p:cNvSpPr/>
          <p:nvPr/>
        </p:nvSpPr>
        <p:spPr>
          <a:xfrm>
            <a:off x="658368" y="3726063"/>
            <a:ext cx="411480" cy="356342"/>
          </a:xfrm>
          <a:prstGeom prst="hexagon">
            <a:avLst/>
          </a:prstGeom>
          <a:solidFill>
            <a:srgbClr val="2E4A8C"/>
          </a:solidFill>
          <a:ln/>
        </p:spPr>
      </p:sp>
      <p:sp>
        <p:nvSpPr>
          <p:cNvPr id="23" name="kw-cell"/>
          <p:cNvSpPr txBox="1"/>
          <p:nvPr/>
        </p:nvSpPr>
        <p:spPr>
          <a:xfrm>
            <a:off x="1143000" y="3485388"/>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zero pair</a:t>
            </a:r>
            <a:endParaRPr lang="en-US" sz="2200" dirty="0"/>
          </a:p>
        </p:txBody>
      </p:sp>
      <p:sp>
        <p:nvSpPr>
          <p:cNvPr id="24" name="kw-cell"/>
          <p:cNvSpPr txBox="1"/>
          <p:nvPr/>
        </p:nvSpPr>
        <p:spPr>
          <a:xfrm>
            <a:off x="3657600" y="348538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one positive and one negative counter, worth 0 together</a:t>
            </a:r>
            <a:endParaRPr lang="en-US" sz="2000" dirty="0"/>
          </a:p>
        </p:txBody>
      </p:sp>
      <p:sp>
        <p:nvSpPr>
          <p:cNvPr id="25" name="kw-cell"/>
          <p:cNvSpPr txBox="1"/>
          <p:nvPr/>
        </p:nvSpPr>
        <p:spPr>
          <a:xfrm>
            <a:off x="7315200" y="348538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1 counter and a −1 counter make a zero pair.</a:t>
            </a:r>
            <a:endParaRPr lang="en-US" sz="2000" dirty="0"/>
          </a:p>
        </p:txBody>
      </p:sp>
      <p:sp>
        <p:nvSpPr>
          <p:cNvPr id="26" name="kw-row"/>
          <p:cNvSpPr/>
          <p:nvPr/>
        </p:nvSpPr>
        <p:spPr>
          <a:xfrm>
            <a:off x="548640" y="4396232"/>
            <a:ext cx="11094415" cy="837692"/>
          </a:xfrm>
          <a:prstGeom prst="roundRect">
            <a:avLst>
              <a:gd name="adj" fmla="val 6549"/>
            </a:avLst>
          </a:prstGeom>
          <a:solidFill>
            <a:srgbClr val="F9F4EC"/>
          </a:solidFill>
          <a:ln/>
        </p:spPr>
      </p:sp>
      <p:sp>
        <p:nvSpPr>
          <p:cNvPr id="27" name="kw-hex"/>
          <p:cNvSpPr/>
          <p:nvPr/>
        </p:nvSpPr>
        <p:spPr>
          <a:xfrm>
            <a:off x="658368" y="4636907"/>
            <a:ext cx="411480" cy="356342"/>
          </a:xfrm>
          <a:prstGeom prst="hexagon">
            <a:avLst/>
          </a:prstGeom>
          <a:solidFill>
            <a:srgbClr val="B8862B"/>
          </a:solidFill>
          <a:ln/>
        </p:spPr>
      </p:sp>
      <p:sp>
        <p:nvSpPr>
          <p:cNvPr id="28" name="kw-cell"/>
          <p:cNvSpPr txBox="1"/>
          <p:nvPr/>
        </p:nvSpPr>
        <p:spPr>
          <a:xfrm>
            <a:off x="1143000" y="4396232"/>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difference</a:t>
            </a:r>
            <a:endParaRPr lang="en-US" sz="2200" dirty="0"/>
          </a:p>
        </p:txBody>
      </p:sp>
      <p:sp>
        <p:nvSpPr>
          <p:cNvPr id="29" name="kw-cell"/>
          <p:cNvSpPr txBox="1"/>
          <p:nvPr/>
        </p:nvSpPr>
        <p:spPr>
          <a:xfrm>
            <a:off x="3657600" y="4396232"/>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how far apart two numbers are</a:t>
            </a:r>
            <a:endParaRPr lang="en-US" sz="2000" dirty="0"/>
          </a:p>
        </p:txBody>
      </p:sp>
      <p:sp>
        <p:nvSpPr>
          <p:cNvPr id="30" name="kw-cell"/>
          <p:cNvSpPr txBox="1"/>
          <p:nvPr/>
        </p:nvSpPr>
        <p:spPr>
          <a:xfrm>
            <a:off x="7315200" y="4396232"/>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The difference between −2 and 3 is 5.</a:t>
            </a:r>
            <a:endParaRPr lang="en-US" sz="2000" dirty="0"/>
          </a:p>
        </p:txBody>
      </p:sp>
      <p:sp>
        <p:nvSpPr>
          <p:cNvPr id="31" name="kw-row"/>
          <p:cNvSpPr/>
          <p:nvPr/>
        </p:nvSpPr>
        <p:spPr>
          <a:xfrm>
            <a:off x="548640" y="5307076"/>
            <a:ext cx="11094415" cy="837692"/>
          </a:xfrm>
          <a:prstGeom prst="roundRect">
            <a:avLst>
              <a:gd name="adj" fmla="val 6549"/>
            </a:avLst>
          </a:prstGeom>
          <a:solidFill>
            <a:srgbClr val="F5F6F9"/>
          </a:solidFill>
          <a:ln/>
        </p:spPr>
      </p:sp>
      <p:sp>
        <p:nvSpPr>
          <p:cNvPr id="32" name="kw-hex"/>
          <p:cNvSpPr/>
          <p:nvPr/>
        </p:nvSpPr>
        <p:spPr>
          <a:xfrm>
            <a:off x="658368" y="5547751"/>
            <a:ext cx="411480" cy="356342"/>
          </a:xfrm>
          <a:prstGeom prst="hexagon">
            <a:avLst/>
          </a:prstGeom>
          <a:solidFill>
            <a:srgbClr val="2E4A8C"/>
          </a:solidFill>
          <a:ln/>
        </p:spPr>
      </p:sp>
      <p:sp>
        <p:nvSpPr>
          <p:cNvPr id="33" name="kw-cell"/>
          <p:cNvSpPr txBox="1"/>
          <p:nvPr/>
        </p:nvSpPr>
        <p:spPr>
          <a:xfrm>
            <a:off x="1143000" y="5307076"/>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partition</a:t>
            </a:r>
            <a:endParaRPr lang="en-US" sz="2200" dirty="0"/>
          </a:p>
        </p:txBody>
      </p:sp>
      <p:sp>
        <p:nvSpPr>
          <p:cNvPr id="34" name="kw-cell"/>
          <p:cNvSpPr txBox="1"/>
          <p:nvPr/>
        </p:nvSpPr>
        <p:spPr>
          <a:xfrm>
            <a:off x="3657600" y="5307076"/>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split a number into parts</a:t>
            </a:r>
            <a:endParaRPr lang="en-US" sz="2000" dirty="0"/>
          </a:p>
        </p:txBody>
      </p:sp>
      <p:sp>
        <p:nvSpPr>
          <p:cNvPr id="35" name="kw-cell"/>
          <p:cNvSpPr txBox="1"/>
          <p:nvPr/>
        </p:nvSpPr>
        <p:spPr>
          <a:xfrm>
            <a:off x="7315200" y="5307076"/>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Partition 7 into 4 and 3 to get to zero first.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sums go past zero.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say they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cross zero</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Start at 4 and take away 7.</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Take away 4 to get to zero.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still have 3 more to take.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the answer is −3.</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Counters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can help too.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positive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counter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worth 1.</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negative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counter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worth −1.</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Put one of each together and they are worth zero.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called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zero pair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Take away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zero pairs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count what is left.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Jumping across zero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Ask two questions: how far is it to zero? How much is left?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Work out 3 − 8.</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far is 3 from zero? It is 3 away.</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Take 3 to reach zero: 3 − 3 = 0.</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8 − 3 = 5, so take 5 more.</a:t>
            </a:r>
            <a:endParaRPr lang="en-US" sz="1800" dirty="0"/>
          </a:p>
        </p:txBody>
      </p:sp>
      <p:sp>
        <p:nvSpPr>
          <p:cNvPr id="26" name="step-box"/>
          <p:cNvSpPr/>
          <p:nvPr/>
        </p:nvSpPr>
        <p:spPr>
          <a:xfrm>
            <a:off x="6126480" y="4584700"/>
            <a:ext cx="5379415" cy="566928"/>
          </a:xfrm>
          <a:prstGeom prst="roundRect">
            <a:avLst>
              <a:gd name="adj" fmla="val 16129"/>
            </a:avLst>
          </a:prstGeom>
          <a:solidFill>
            <a:srgbClr val="F0F2F7"/>
          </a:solidFill>
          <a:ln/>
        </p:spPr>
      </p:sp>
      <p:sp>
        <p:nvSpPr>
          <p:cNvPr id="27" name="step-hex"/>
          <p:cNvSpPr/>
          <p:nvPr/>
        </p:nvSpPr>
        <p:spPr>
          <a:xfrm>
            <a:off x="6217920" y="4686034"/>
            <a:ext cx="420624" cy="364260"/>
          </a:xfrm>
          <a:prstGeom prst="hexagon">
            <a:avLst/>
          </a:prstGeom>
          <a:solidFill>
            <a:srgbClr val="2E4A8C"/>
          </a:solidFill>
          <a:ln/>
        </p:spPr>
      </p:sp>
      <p:sp>
        <p:nvSpPr>
          <p:cNvPr id="28" name="step-hex-label"/>
          <p:cNvSpPr txBox="1"/>
          <p:nvPr/>
        </p:nvSpPr>
        <p:spPr>
          <a:xfrm>
            <a:off x="6217920" y="4686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584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0 − 5 = −5.</a:t>
            </a:r>
            <a:endParaRPr lang="en-US" sz="1800" dirty="0"/>
          </a:p>
        </p:txBody>
      </p:sp>
      <p:sp>
        <p:nvSpPr>
          <p:cNvPr id="30" name="worked-answer"/>
          <p:cNvSpPr/>
          <p:nvPr/>
        </p:nvSpPr>
        <p:spPr>
          <a:xfrm>
            <a:off x="6126480" y="5288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a:t>
            </a:r>
            <a:endParaRPr lang="en-US" sz="1800" dirty="0"/>
          </a:p>
        </p:txBody>
      </p:sp>
      <p:sp>
        <p:nvSpPr>
          <p:cNvPr id="31" name="bullet-card"/>
          <p:cNvSpPr/>
          <p:nvPr/>
        </p:nvSpPr>
        <p:spPr>
          <a:xfrm>
            <a:off x="548640" y="1389888"/>
            <a:ext cx="5074920" cy="1131147"/>
          </a:xfrm>
          <a:prstGeom prst="roundRect">
            <a:avLst>
              <a:gd name="adj" fmla="val 6467"/>
            </a:avLst>
          </a:prstGeom>
          <a:solidFill>
            <a:srgbClr val="F5F6F9"/>
          </a:solidFill>
          <a:ln/>
        </p:spPr>
      </p:sp>
      <p:sp>
        <p:nvSpPr>
          <p:cNvPr id="32" name="bullet-hex"/>
          <p:cNvSpPr/>
          <p:nvPr/>
        </p:nvSpPr>
        <p:spPr>
          <a:xfrm>
            <a:off x="676656" y="1789169"/>
            <a:ext cx="384048" cy="332586"/>
          </a:xfrm>
          <a:prstGeom prst="hexagon">
            <a:avLst/>
          </a:prstGeom>
          <a:solidFill>
            <a:srgbClr val="2E4A8C"/>
          </a:solidFill>
          <a:ln/>
        </p:spPr>
      </p:sp>
      <p:sp>
        <p:nvSpPr>
          <p:cNvPr id="33"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a calculation crosses zero, split the jump into two parts.</a:t>
            </a:r>
            <a:endParaRPr lang="en-US" sz="2200" dirty="0"/>
          </a:p>
        </p:txBody>
      </p:sp>
      <p:sp>
        <p:nvSpPr>
          <p:cNvPr id="34" name="bullet-card"/>
          <p:cNvSpPr/>
          <p:nvPr/>
        </p:nvSpPr>
        <p:spPr>
          <a:xfrm>
            <a:off x="548640" y="2667339"/>
            <a:ext cx="5074920" cy="1131147"/>
          </a:xfrm>
          <a:prstGeom prst="roundRect">
            <a:avLst>
              <a:gd name="adj" fmla="val 6467"/>
            </a:avLst>
          </a:prstGeom>
          <a:solidFill>
            <a:srgbClr val="F5F6F9"/>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2 − 6, jump 2 to reach zero. You still need to take away 4 more.</a:t>
            </a:r>
            <a:endParaRPr lang="en-US" sz="2200" dirty="0"/>
          </a:p>
        </p:txBody>
      </p:sp>
      <p:sp>
        <p:nvSpPr>
          <p:cNvPr id="37" name="bullet-card"/>
          <p:cNvSpPr/>
          <p:nvPr/>
        </p:nvSpPr>
        <p:spPr>
          <a:xfrm>
            <a:off x="548640" y="3944789"/>
            <a:ext cx="5074920" cy="1131147"/>
          </a:xfrm>
          <a:prstGeom prst="roundRect">
            <a:avLst>
              <a:gd name="adj" fmla="val 6467"/>
            </a:avLst>
          </a:prstGeom>
          <a:solidFill>
            <a:srgbClr val="F5F6F9"/>
          </a:solidFill>
          <a:ln/>
        </p:spPr>
      </p:sp>
      <p:sp>
        <p:nvSpPr>
          <p:cNvPr id="38" name="bullet-hex"/>
          <p:cNvSpPr/>
          <p:nvPr/>
        </p:nvSpPr>
        <p:spPr>
          <a:xfrm>
            <a:off x="676656" y="4344070"/>
            <a:ext cx="384048" cy="332586"/>
          </a:xfrm>
          <a:prstGeom prst="hexagon">
            <a:avLst/>
          </a:prstGeom>
          <a:solidFill>
            <a:srgbClr val="2E4A8C"/>
          </a:solidFill>
          <a:ln/>
        </p:spPr>
      </p:sp>
      <p:sp>
        <p:nvSpPr>
          <p:cNvPr id="39"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−5 + 8, jump 5 to reach zero. You still need to add 3 more.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Temperatures that cross zero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Going up a thermometer means adding. Going down means subtracting.</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It is −6°C. The temperature rises by 9 degrees. What is the new temperature?</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−6°C is 6 degrees below zero.</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Rise 6 degrees to reach 0°C.</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9 − 6 = 3, so rise 3 more.</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+ 9 = 3.</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3°C</a:t>
            </a:r>
            <a:endParaRPr lang="en-US" sz="1800" dirty="0"/>
          </a:p>
        </p:txBody>
      </p:sp>
      <p:sp>
        <p:nvSpPr>
          <p:cNvPr id="31" name="bullet-card"/>
          <p:cNvSpPr/>
          <p:nvPr/>
        </p:nvSpPr>
        <p:spPr>
          <a:xfrm>
            <a:off x="548640" y="1389888"/>
            <a:ext cx="5074920" cy="1234440"/>
          </a:xfrm>
          <a:prstGeom prst="roundRect">
            <a:avLst>
              <a:gd name="adj" fmla="val 5926"/>
            </a:avLst>
          </a:prstGeom>
          <a:solidFill>
            <a:srgbClr val="F5F6F9"/>
          </a:solidFill>
          <a:ln/>
        </p:spPr>
      </p:sp>
      <p:sp>
        <p:nvSpPr>
          <p:cNvPr id="32" name="bullet-hex"/>
          <p:cNvSpPr/>
          <p:nvPr/>
        </p:nvSpPr>
        <p:spPr>
          <a:xfrm>
            <a:off x="676656" y="1840815"/>
            <a:ext cx="384048" cy="332586"/>
          </a:xfrm>
          <a:prstGeom prst="hexagon">
            <a:avLst/>
          </a:prstGeom>
          <a:solidFill>
            <a:srgbClr val="2E4A8C"/>
          </a:solidFill>
          <a:ln/>
        </p:spPr>
      </p:sp>
      <p:sp>
        <p:nvSpPr>
          <p:cNvPr id="33" name="bullet"/>
          <p:cNvSpPr txBox="1"/>
          <p:nvPr/>
        </p:nvSpPr>
        <p:spPr>
          <a:xfrm>
            <a:off x="1143000" y="1389888"/>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thermometer is a number line that stands up. If the temperature rises, move up.</a:t>
            </a:r>
            <a:endParaRPr lang="en-US" sz="2000" dirty="0"/>
          </a:p>
        </p:txBody>
      </p:sp>
      <p:sp>
        <p:nvSpPr>
          <p:cNvPr id="34" name="bullet-card"/>
          <p:cNvSpPr/>
          <p:nvPr/>
        </p:nvSpPr>
        <p:spPr>
          <a:xfrm>
            <a:off x="548640" y="2770632"/>
            <a:ext cx="5074920" cy="924560"/>
          </a:xfrm>
          <a:prstGeom prst="roundRect">
            <a:avLst>
              <a:gd name="adj" fmla="val 7912"/>
            </a:avLst>
          </a:prstGeom>
          <a:solidFill>
            <a:srgbClr val="F5F6F9"/>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770632"/>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If it is 2°C and the temperature falls by 5 degrees, you go down 2 to reach 0°C.</a:t>
            </a:r>
            <a:endParaRPr lang="en-US" sz="2000" dirty="0"/>
          </a:p>
        </p:txBody>
      </p:sp>
      <p:sp>
        <p:nvSpPr>
          <p:cNvPr id="37" name="bullet-card"/>
          <p:cNvSpPr/>
          <p:nvPr/>
        </p:nvSpPr>
        <p:spPr>
          <a:xfrm>
            <a:off x="548640" y="3841496"/>
            <a:ext cx="5074920" cy="1234440"/>
          </a:xfrm>
          <a:prstGeom prst="roundRect">
            <a:avLst>
              <a:gd name="adj" fmla="val 5926"/>
            </a:avLst>
          </a:prstGeom>
          <a:solidFill>
            <a:srgbClr val="F5F6F9"/>
          </a:solidFill>
          <a:ln/>
        </p:spPr>
      </p:sp>
      <p:sp>
        <p:nvSpPr>
          <p:cNvPr id="38" name="bullet-hex"/>
          <p:cNvSpPr/>
          <p:nvPr/>
        </p:nvSpPr>
        <p:spPr>
          <a:xfrm>
            <a:off x="676656" y="4292423"/>
            <a:ext cx="384048" cy="332586"/>
          </a:xfrm>
          <a:prstGeom prst="hexagon">
            <a:avLst/>
          </a:prstGeom>
          <a:solidFill>
            <a:srgbClr val="2E4A8C"/>
          </a:solidFill>
          <a:ln/>
        </p:spPr>
      </p:sp>
      <p:sp>
        <p:nvSpPr>
          <p:cNvPr id="39" name="bullet"/>
          <p:cNvSpPr txBox="1"/>
          <p:nvPr/>
        </p:nvSpPr>
        <p:spPr>
          <a:xfrm>
            <a:off x="1143000" y="3841496"/>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difference between two temperatures is how many degrees apart they are.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Zero pairs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Zero pairs do not change the value. Together they are worth nothing.</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There are 7 positive counters and 4 negative counters. What value do they show?</a:t>
            </a:r>
            <a:endParaRPr lang="en-US" sz="1800" dirty="0"/>
          </a:p>
        </p:txBody>
      </p:sp>
      <p:sp>
        <p:nvSpPr>
          <p:cNvPr id="14" name="step-box"/>
          <p:cNvSpPr/>
          <p:nvPr/>
        </p:nvSpPr>
        <p:spPr>
          <a:xfrm>
            <a:off x="6126480" y="2888488"/>
            <a:ext cx="5379415" cy="736981"/>
          </a:xfrm>
          <a:prstGeom prst="roundRect">
            <a:avLst>
              <a:gd name="adj" fmla="val 12407"/>
            </a:avLst>
          </a:prstGeom>
          <a:solidFill>
            <a:srgbClr val="F0F2F7"/>
          </a:solidFill>
          <a:ln/>
        </p:spPr>
      </p:sp>
      <p:sp>
        <p:nvSpPr>
          <p:cNvPr id="15" name="step-hex"/>
          <p:cNvSpPr/>
          <p:nvPr/>
        </p:nvSpPr>
        <p:spPr>
          <a:xfrm>
            <a:off x="6217920" y="3074848"/>
            <a:ext cx="420624" cy="364260"/>
          </a:xfrm>
          <a:prstGeom prst="hexagon">
            <a:avLst/>
          </a:prstGeom>
          <a:solidFill>
            <a:srgbClr val="2E4A8C"/>
          </a:solidFill>
          <a:ln/>
        </p:spPr>
      </p:sp>
      <p:sp>
        <p:nvSpPr>
          <p:cNvPr id="16" name="step-hex-label"/>
          <p:cNvSpPr txBox="1"/>
          <p:nvPr/>
        </p:nvSpPr>
        <p:spPr>
          <a:xfrm>
            <a:off x="6217920" y="307484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Match the counters into zero pairs: there are 4 pairs.</a:t>
            </a:r>
            <a:endParaRPr lang="en-US" sz="1800" dirty="0"/>
          </a:p>
        </p:txBody>
      </p:sp>
      <p:sp>
        <p:nvSpPr>
          <p:cNvPr id="18" name="step-box"/>
          <p:cNvSpPr/>
          <p:nvPr/>
        </p:nvSpPr>
        <p:spPr>
          <a:xfrm>
            <a:off x="6126480" y="3716909"/>
            <a:ext cx="5379415" cy="509397"/>
          </a:xfrm>
          <a:prstGeom prst="roundRect">
            <a:avLst>
              <a:gd name="adj" fmla="val 17951"/>
            </a:avLst>
          </a:prstGeom>
          <a:solidFill>
            <a:srgbClr val="F0F2F7"/>
          </a:solidFill>
          <a:ln/>
        </p:spPr>
      </p:sp>
      <p:sp>
        <p:nvSpPr>
          <p:cNvPr id="19" name="step-hex"/>
          <p:cNvSpPr/>
          <p:nvPr/>
        </p:nvSpPr>
        <p:spPr>
          <a:xfrm>
            <a:off x="6217920" y="3789477"/>
            <a:ext cx="420624" cy="364260"/>
          </a:xfrm>
          <a:prstGeom prst="hexagon">
            <a:avLst/>
          </a:prstGeom>
          <a:solidFill>
            <a:srgbClr val="2E4A8C"/>
          </a:solidFill>
          <a:ln/>
        </p:spPr>
      </p:sp>
      <p:sp>
        <p:nvSpPr>
          <p:cNvPr id="20" name="step-hex-label"/>
          <p:cNvSpPr txBox="1"/>
          <p:nvPr/>
        </p:nvSpPr>
        <p:spPr>
          <a:xfrm>
            <a:off x="6217920" y="378947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16909"/>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pairs are worth 0, so take them away.</a:t>
            </a:r>
            <a:endParaRPr lang="en-US" sz="1800" dirty="0"/>
          </a:p>
        </p:txBody>
      </p:sp>
      <p:sp>
        <p:nvSpPr>
          <p:cNvPr id="22" name="step-box"/>
          <p:cNvSpPr/>
          <p:nvPr/>
        </p:nvSpPr>
        <p:spPr>
          <a:xfrm>
            <a:off x="6126480" y="4317746"/>
            <a:ext cx="5379415" cy="509397"/>
          </a:xfrm>
          <a:prstGeom prst="roundRect">
            <a:avLst>
              <a:gd name="adj" fmla="val 17951"/>
            </a:avLst>
          </a:prstGeom>
          <a:solidFill>
            <a:srgbClr val="F0F2F7"/>
          </a:solidFill>
          <a:ln/>
        </p:spPr>
      </p:sp>
      <p:sp>
        <p:nvSpPr>
          <p:cNvPr id="23" name="step-hex"/>
          <p:cNvSpPr/>
          <p:nvPr/>
        </p:nvSpPr>
        <p:spPr>
          <a:xfrm>
            <a:off x="6217920" y="4390314"/>
            <a:ext cx="420624" cy="364260"/>
          </a:xfrm>
          <a:prstGeom prst="hexagon">
            <a:avLst/>
          </a:prstGeom>
          <a:solidFill>
            <a:srgbClr val="2E4A8C"/>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7 − 4 = 3 positive counters are left.</a:t>
            </a:r>
            <a:endParaRPr lang="en-US" sz="1800" dirty="0"/>
          </a:p>
        </p:txBody>
      </p:sp>
      <p:sp>
        <p:nvSpPr>
          <p:cNvPr id="26" name="step-box"/>
          <p:cNvSpPr/>
          <p:nvPr/>
        </p:nvSpPr>
        <p:spPr>
          <a:xfrm>
            <a:off x="6126480" y="4918583"/>
            <a:ext cx="5379415" cy="509397"/>
          </a:xfrm>
          <a:prstGeom prst="roundRect">
            <a:avLst>
              <a:gd name="adj" fmla="val 17951"/>
            </a:avLst>
          </a:prstGeom>
          <a:solidFill>
            <a:srgbClr val="F0F2F7"/>
          </a:solidFill>
          <a:ln/>
        </p:spPr>
      </p:sp>
      <p:sp>
        <p:nvSpPr>
          <p:cNvPr id="27" name="step-hex"/>
          <p:cNvSpPr/>
          <p:nvPr/>
        </p:nvSpPr>
        <p:spPr>
          <a:xfrm>
            <a:off x="6217920" y="4991151"/>
            <a:ext cx="420624" cy="364260"/>
          </a:xfrm>
          <a:prstGeom prst="hexagon">
            <a:avLst/>
          </a:prstGeom>
          <a:solidFill>
            <a:srgbClr val="2E4A8C"/>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value is 3.</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a:t>
            </a:r>
            <a:endParaRPr lang="en-US" sz="1800" dirty="0"/>
          </a:p>
        </p:txBody>
      </p:sp>
      <p:sp>
        <p:nvSpPr>
          <p:cNvPr id="31" name="bullet-card"/>
          <p:cNvSpPr/>
          <p:nvPr/>
        </p:nvSpPr>
        <p:spPr>
          <a:xfrm>
            <a:off x="548640" y="1389888"/>
            <a:ext cx="5074920" cy="1244769"/>
          </a:xfrm>
          <a:prstGeom prst="roundRect">
            <a:avLst>
              <a:gd name="adj" fmla="val 5877"/>
            </a:avLst>
          </a:prstGeom>
          <a:solidFill>
            <a:srgbClr val="F5F6F9"/>
          </a:solidFill>
          <a:ln/>
        </p:spPr>
      </p:sp>
      <p:sp>
        <p:nvSpPr>
          <p:cNvPr id="32" name="bullet-hex"/>
          <p:cNvSpPr/>
          <p:nvPr/>
        </p:nvSpPr>
        <p:spPr>
          <a:xfrm>
            <a:off x="676656" y="1845980"/>
            <a:ext cx="384048" cy="332586"/>
          </a:xfrm>
          <a:prstGeom prst="hexagon">
            <a:avLst/>
          </a:prstGeom>
          <a:solidFill>
            <a:srgbClr val="2E4A8C"/>
          </a:solidFill>
          <a:ln/>
        </p:spPr>
      </p:sp>
      <p:sp>
        <p:nvSpPr>
          <p:cNvPr id="33"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We can show numbers with double-sided counters. One side is positive and worth 1.</a:t>
            </a:r>
            <a:endParaRPr lang="en-US" sz="2200" dirty="0"/>
          </a:p>
        </p:txBody>
      </p:sp>
      <p:sp>
        <p:nvSpPr>
          <p:cNvPr id="34" name="bullet-card"/>
          <p:cNvSpPr/>
          <p:nvPr/>
        </p:nvSpPr>
        <p:spPr>
          <a:xfrm>
            <a:off x="548640" y="2780961"/>
            <a:ext cx="5074920" cy="1244769"/>
          </a:xfrm>
          <a:prstGeom prst="roundRect">
            <a:avLst>
              <a:gd name="adj" fmla="val 5877"/>
            </a:avLst>
          </a:prstGeom>
          <a:solidFill>
            <a:srgbClr val="F5F6F9"/>
          </a:solidFill>
          <a:ln/>
        </p:spPr>
      </p:sp>
      <p:sp>
        <p:nvSpPr>
          <p:cNvPr id="35" name="bullet-hex"/>
          <p:cNvSpPr/>
          <p:nvPr/>
        </p:nvSpPr>
        <p:spPr>
          <a:xfrm>
            <a:off x="676656" y="3237053"/>
            <a:ext cx="384048" cy="332586"/>
          </a:xfrm>
          <a:prstGeom prst="hexagon">
            <a:avLst/>
          </a:prstGeom>
          <a:solidFill>
            <a:srgbClr val="B8862B"/>
          </a:solidFill>
          <a:ln/>
        </p:spPr>
      </p:sp>
      <p:sp>
        <p:nvSpPr>
          <p:cNvPr id="36" name="bullet"/>
          <p:cNvSpPr txBox="1"/>
          <p:nvPr/>
        </p:nvSpPr>
        <p:spPr>
          <a:xfrm>
            <a:off x="1143000" y="2780961"/>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positive counter and a negative counter together make a zero pair: 1 + (−1) = 0.</a:t>
            </a:r>
            <a:endParaRPr lang="en-US" sz="2200" dirty="0"/>
          </a:p>
        </p:txBody>
      </p:sp>
      <p:sp>
        <p:nvSpPr>
          <p:cNvPr id="37" name="bullet-card"/>
          <p:cNvSpPr/>
          <p:nvPr/>
        </p:nvSpPr>
        <p:spPr>
          <a:xfrm>
            <a:off x="548640" y="4172035"/>
            <a:ext cx="5074920" cy="903901"/>
          </a:xfrm>
          <a:prstGeom prst="roundRect">
            <a:avLst>
              <a:gd name="adj" fmla="val 8093"/>
            </a:avLst>
          </a:prstGeom>
          <a:solidFill>
            <a:srgbClr val="F5F6F9"/>
          </a:solidFill>
          <a:ln/>
        </p:spPr>
      </p:sp>
      <p:sp>
        <p:nvSpPr>
          <p:cNvPr id="38" name="bullet-hex"/>
          <p:cNvSpPr/>
          <p:nvPr/>
        </p:nvSpPr>
        <p:spPr>
          <a:xfrm>
            <a:off x="676656" y="4457693"/>
            <a:ext cx="384048" cy="332586"/>
          </a:xfrm>
          <a:prstGeom prst="hexagon">
            <a:avLst/>
          </a:prstGeom>
          <a:solidFill>
            <a:srgbClr val="2E4A8C"/>
          </a:solidFill>
          <a:ln/>
        </p:spPr>
      </p:sp>
      <p:sp>
        <p:nvSpPr>
          <p:cNvPr id="39"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the value of a set of counters, match up the zero pairs.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E4A8C"/>
                </a:solidFill>
                <a:latin typeface="Cambria" pitchFamily="34" charset="0"/>
                <a:ea typeface="Cambria" pitchFamily="34" charset="-122"/>
                <a:cs typeface="Cambria" pitchFamily="34" charset="-120"/>
              </a:rPr>
              <a:t>Same task, three ways in: Calculations that cross zero</a:t>
            </a:r>
            <a:endParaRPr lang="en-US" sz="28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Work out 6 − 13.</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far is the first number from zero?</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Jump to zero first.</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Work out how much of the jump is left.</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Jump that far past zero.</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Partition 13 into 6 and 7.</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Write two different calculations that start with a positive number, cross zero and land on −7. Explain how you made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Temperature change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At midnight it was −8°C. By noon the temperature had risen by 11 degrees. What was the temperature at noon?</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Picture a thermometer.</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Rising means going up, so add.</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Count up to zero first, then count on.</a:t>
            </a:r>
            <a:endParaRPr lang="en-US" sz="20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253B70"/>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How many degrees is it from −8°C up to 0°C?</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In the evening the temperature drops by 6 degrees from the noon temperature. What is the new temperature? Explain why this change crosses zero.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bag has 6 positive counters and 11 negative counters. What value do they show?</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Calculations that cross zero</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Work out 6 − 13.</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−7</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Take 6 to reach zero, then 7 more: 6 − 13 = −7.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Temperature change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At midnight it was −8°C. By noon the temperature had risen by 11 degrees. What was the temperature at noon?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−8°C it is 8 degrees up to zero, then 3 more: −8 + 11 = 3. It was 3°C at noon.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bag has 6 positive counters and 11 negative counters. What value do they show?</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6 zero pairs. 11 − 6 = 5 negative counters are left over, so the value is −5.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Directed Number · Chapter 2: Crossing zero and zero pairs</dc:title>
  <dc:subject>Mathematics · Year 7</dc:subject>
  <dc:creator>Dr Vitor Merissi de Carvalho</dc:creator>
  <cp:lastModifiedBy>Dr Vitor Merissi de Carvalho</cp:lastModifiedBy>
  <cp:revision>1</cp:revision>
  <dcterms:created xsi:type="dcterms:W3CDTF">2026-10-19T16:23:21Z</dcterms:created>
  <dcterms:modified xsi:type="dcterms:W3CDTF">2026-10-19T16:23:21Z</dcterms:modified>
</cp:coreProperties>
</file>