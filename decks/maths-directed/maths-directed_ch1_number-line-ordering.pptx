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05f7bf5-b750-b2c0-278d-cd6ecf15b9e7}">
          <p14:sldIdLst>
            <p14:sldId id="256"/>
          </p14:sldIdLst>
        </p14:section>
        <p14:section name="Gate" id="{023fb494-ed70-ad3f-77f7-c804b9ebab76}">
          <p14:sldIdLst>
            <p14:sldId id="257"/>
            <p14:sldId id="258"/>
          </p14:sldIdLst>
        </p14:section>
        <p14:section name="Pre-teach" id="{eb18b497-ee6b-8c6d-d09a-4927a17b010a}">
          <p14:sldIdLst>
            <p14:sldId id="259"/>
          </p14:sldIdLst>
        </p14:section>
        <p14:section name="Read-along" id="{b85f1c52-f86a-0b35-a888-781368596f0c}">
          <p14:sldIdLst>
            <p14:sldId id="260"/>
            <p14:sldId id="261"/>
          </p14:sldIdLst>
        </p14:section>
        <p14:section name="Teach" id="{101a8c15-a7ca-10c1-6280-bd7964f880d4}">
          <p14:sldIdLst>
            <p14:sldId id="262"/>
            <p14:sldId id="263"/>
            <p14:sldId id="264"/>
          </p14:sldIdLst>
        </p14:section>
        <p14:section name="Routes" id="{486f3fa7-0c38-b53e-58f9-b7676b15327e}">
          <p14:sldIdLst>
            <p14:sldId id="265"/>
            <p14:sldId id="266"/>
          </p14:sldIdLst>
        </p14:section>
        <p14:section name="Close" id="{ef9eb48c-c004-3465-633d-7f6bf5ccb00e}">
          <p14:sldIdLst>
            <p14:sldId id="267"/>
          </p14:sldIdLst>
        </p14:section>
        <p14:section name="Answers" id="{1ced156d-4932-8cde-a6cc-66f83ef09b61}">
          <p14:sldIdLst>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 of 6: The number line and ordering. See where negative numbers live, and learn to compare and order them.
This deck covers the department's lessons: 1 (Directed number and number lines: Where do negative numbers sit on a number line, and how do we read them?); 2 (Compare and order directed numbers: How can you tell which of two directed numbers is greater?).
Read the big question aloud: "What happens to numbers below zero, and how do we calculate with them?"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Which number is greater than −4?  →  D   −2
2. Count down in ones: 2, 1, 0, … What is the next number?  →  −1
3. Which list is in ascending order?  →  B   −4, −1, 2, 5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D   −2. −2 is the closest to zero, so it is the furthest right. It is the only one greater than −4.
2. −1. After zero comes −1. Do not stop at zero.
3. B   −4, −1, 2, 5. Ascending means smallest first. −4 is further left than −1, so −4 comes first.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negative number: a number less than zero. Example: "−4 is a negative number."
• positive number: a number greater than zero. Example: "7 is a positive number."
• number line: a line with numbers in order and equal gaps. Example: "Zero sits in the middle of our number line."
• integer: a whole number: positive, negative or zero. Example: "−3, 0 and 5 are all integers."
• ascending: going up, from smallest to greatest. Example: "In ascending order, −6 comes before −2."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Numbers do not stop at zero.
2. If you keep counting back, you get to −1, −2 and −3.
3. These are negative numbers.
4. We say them as negative one, negative two and negative three.
5. A number line shows numbers in order.
6. Zero is in the middle.
7. Positive numbers are on the right of zero.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Negative numbers are on the left of zero.
9. Numbers get bigger as you move right.
10. Numbers get smaller as you move left.
11. So −2 is greater than −5, because −2 is further right.
12. A thermometer is a number line that stands up.
13. Cold days can be below zero, like −3°C.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Counting below zero. Say it in your own words, then check understanding with a quick question: ask a pupil from the pre-teach group first, since they met these words and ideas before the lesson. Pupils try to recall before you re-explain.
Think of a lift in a tall building. Floor 0 is the ground. The floors below the ground are −1, −2 and −3. Numbers carry on below zero in just the same way.
When you count back from 3 you say 3, 2, 1, 0, −1, −2. Do not skip zero. Zero is a number too, and it sits between −1 and 1.
A number with a minus sign in front, like −6, is a negative number. A number with no sign, like 6, is positive. Zero is neither positive nor negative.
Worked example — model it step by step, thinking aloud: Count up in ones from −4 to 2. Write every number. (1) Start at −4. (2) Move right one step at a time: −3, −2, −1. (3) Remember to say zero: 0. (4) Carry on: 1, 2. Answer: −4, −3, −2, −1, 0, 1, 2.
Tip: Mistake to avoid: jumping from −1 straight to 1. Zero always comes in between.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Reading a number line and a thermometer. Say it in your own words, then check understanding with a quick question: ask a pupil from the pre-teach group first, since they met these words and ideas before the lesson. Pupils try to recall before you re-explain.
On a number line the gaps are always the same size. First work out what one gap is worth. Then count the gaps from zero.
If a line goes from 0 to 10 in five equal gaps, each gap is worth 2. An arrow three gaps to the left of zero points to −6.
A thermometer works the same way, but it stands up. Up is warmer. Down is colder. A reading below zero is a negative temperature.
Worked example — model it step by step, thinking aloud: A number line goes from 0 to 20 in four equal gaps. An arrow is two gaps to the left of 0. What number is it pointing to? (1) Each gap is worth 20 ÷ 4 = 5. (2) Two gaps to the left of zero is two steps of 5 below zero. (3) 0 − 5 − 5 = −10. Answer: −10.
Tip: Always find the value of one gap before you read the arrow.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Comparing and ordering. Say it in your own words, then check understanding with a quick question: ask a pupil from the pre-teach group first, since they met these words and ideas before the lesson. Pupils try to recall before you re-explain.
The symbol &gt; means 'is greater than'. The symbol &lt; means 'is less than'. The wide, open side of the sign faces the bigger number.
On a number line, the number further to the right is always greater. So 3 &gt; −7, and −2 &gt; −5. With two negative numbers, the one closer to zero is greater.
To write numbers in ascending order, start with the number furthest left on the number line. Descending order is the other way round: start with the greatest.
Worked example — model it step by step, thinking aloud: Write −3, 4, −8, 0, 1 in ascending order. (1) Find the negative numbers: −3 and −8. (2) −8 is further left than −3, so −8 comes first. (3) Then zero, then the positive numbers: 1, 4. Answer: −8, −3, 0, 1, 4.
Tip: A bigger digit does not mean a bigger number when it is negative: −9 &lt;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Read the number line.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number line goes from 0 to 30 in three equal gaps. An arrow is two gaps to the left of 0. What number is it pointing to?
Support — work through the steps with the group: (1) Find the value of one gap: divide the length by the number of gaps. (2) Count the gaps from zero. (3) Left of zero means the number is negative.
Parallel worked example for Support (model it, do not give the task answer): A number line goes from 0 to 8 in four equal gaps. An arrow is three gaps to the left of 0. What number is it pointing to? One gap is 8 ÷ 4 = 2.; Three gaps of 2 is 3 × 2 = 6.; Left of zero, so the arrow points to −6.. Answer: −6.
Core — reveal the hint only on request: Work out what one gap is worth first.
Stretch — no help; when finished: Another arrow on the same line points to −35. Which two marks does it sit between, and where exactly? Explain how you know.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Compare with &lt; and &gt;.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Which statement is true?
Support — work through the steps with the group: (1) Picture both numbers on a number line. (2) The one further right is greater. (3) The wide side of the sign faces the greater number.
Parallel worked example for Support (model it, do not give the task answer): Write &lt; or &gt; between −9 and −3. −3 is closer to zero, so it is further right.; So −3 is the greater number.; The wide side of the sign faces −3.. Answer: −9 &lt; −3.
Core — reveal the hint only on request: With two negative numbers, the one closer to zero is greater.
Stretch — no help; when finished: Max says −7 is greater than 3, because 7 is bigger than 3. Explain his mistake using a number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Put these numbers in ascending order (smallest first): −1, 6, −9, 0, −5.
Answer: −9  (D); −5  (C); −1  (E); 0  (A); 6  (B). On the number line −9 is furthest left and 6 is furthest right, so the order is −9, −5, −1, 0, 6.
Source of this question: module 3 task ("Order directed numbers")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Read the number line. Reveal the answer; pupils mark their own work in a different colour, then read the "why" together. Same destination for every lane, so one answer serves the whole class.
Answer: −20
Why: Each gap is 30 ÷ 3 = 10. Two gaps to the left of zero is −20.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Compare with &lt; and &gt;. Reveal the answer; pupils mark their own work in a different colour, then read the "why" together. Same destination for every lane, so one answer serves the whole class.
Answer: C   −4 &gt; −10
Why: −4 is closer to zero than −10, so −4 is further right and greater. The other three statements are false.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−9  (D); −5  (C); −1  (E); 0  (A); 6  (B)
Why: On the number line −9 is furthest left and 6 is furthest right, so the order is −9, −5, −1, 0, 6.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0F2F7"/>
          </a:solidFill>
          <a:ln w="12700">
            <a:solidFill>
              <a:srgbClr val="F0F2F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Mathematics · Year 7 · Directed Number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BF7EE"/>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0F2F7"/>
          </a:solidFill>
          <a:ln w="12700">
            <a:solidFill>
              <a:srgbClr val="F0F2F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Mathematics · Year 7 · Directed Number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2E4A8C"/>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BE0EB"/>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2E4A8C"/>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1</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2E4A8C"/>
                </a:solidFill>
                <a:latin typeface="Calibri" pitchFamily="34" charset="0"/>
                <a:ea typeface="Calibri" pitchFamily="34" charset="-122"/>
                <a:cs typeface="Calibri" pitchFamily="34" charset="-120"/>
              </a:rPr>
              <a:t>Mathematics · Year 7</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1/6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Directed Number</a:t>
            </a:r>
            <a:endParaRPr lang="en-US" sz="1800" dirty="0"/>
          </a:p>
        </p:txBody>
      </p:sp>
      <p:sp>
        <p:nvSpPr>
          <p:cNvPr id="10" name="deck-title"/>
          <p:cNvSpPr txBox="1"/>
          <p:nvPr/>
        </p:nvSpPr>
        <p:spPr>
          <a:xfrm>
            <a:off x="548640" y="221919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The number line and ordering</a:t>
            </a:r>
            <a:endParaRPr lang="en-US" sz="4000" dirty="0"/>
          </a:p>
        </p:txBody>
      </p:sp>
      <p:sp>
        <p:nvSpPr>
          <p:cNvPr id="11" name="lessons-card"/>
          <p:cNvSpPr/>
          <p:nvPr/>
        </p:nvSpPr>
        <p:spPr>
          <a:xfrm>
            <a:off x="548640" y="3895598"/>
            <a:ext cx="5287975" cy="1328420"/>
          </a:xfrm>
          <a:prstGeom prst="roundRect">
            <a:avLst>
              <a:gd name="adj" fmla="val 5507"/>
            </a:avLst>
          </a:prstGeom>
          <a:solidFill>
            <a:srgbClr val="F0F2F7"/>
          </a:solidFill>
          <a:ln/>
        </p:spPr>
      </p:sp>
      <p:sp>
        <p:nvSpPr>
          <p:cNvPr id="12" name="lessons"/>
          <p:cNvSpPr txBox="1"/>
          <p:nvPr/>
        </p:nvSpPr>
        <p:spPr>
          <a:xfrm>
            <a:off x="685800" y="3987038"/>
            <a:ext cx="5013655" cy="114554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2E4A8C"/>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Directed number and number lines</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2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Compare and order directed numbers</a:t>
            </a:r>
            <a:endParaRPr lang="en-US" sz="2000" dirty="0"/>
          </a:p>
        </p:txBody>
      </p:sp>
      <p:sp>
        <p:nvSpPr>
          <p:cNvPr id="13" name="plate-frame"/>
          <p:cNvSpPr/>
          <p:nvPr/>
        </p:nvSpPr>
        <p:spPr>
          <a:xfrm>
            <a:off x="6248095" y="411480"/>
            <a:ext cx="5394960" cy="3130677"/>
          </a:xfrm>
          <a:prstGeom prst="rect">
            <a:avLst/>
          </a:prstGeom>
          <a:solidFill>
            <a:srgbClr val="F4EDDF"/>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Mathematics, Year 7">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0F2F7"/>
          </a:solidFill>
          <a:ln w="12700">
            <a:solidFill>
              <a:srgbClr val="B2BCD4"/>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2E4A8C"/>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What happens to numbers below zero, and how do we calculate with them?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8FA"/>
          </a:solidFill>
          <a:ln w="12700">
            <a:solidFill>
              <a:srgbClr val="BCC5DA"/>
            </a:solidFill>
            <a:prstDash val="solid"/>
          </a:ln>
        </p:spPr>
      </p:sp>
      <p:sp>
        <p:nvSpPr>
          <p:cNvPr id="8" name="card-hex"/>
          <p:cNvSpPr/>
          <p:nvPr/>
        </p:nvSpPr>
        <p:spPr>
          <a:xfrm>
            <a:off x="731520" y="1572768"/>
            <a:ext cx="640080" cy="554309"/>
          </a:xfrm>
          <a:prstGeom prst="hexagon">
            <a:avLst/>
          </a:prstGeom>
          <a:solidFill>
            <a:srgbClr val="2E4A8C"/>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Which number is greater than −4?</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−5</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−9</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−7</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−2</a:t>
            </a:r>
            <a:endParaRPr lang="en-US" sz="2400" dirty="0"/>
          </a:p>
        </p:txBody>
      </p:sp>
      <p:sp>
        <p:nvSpPr>
          <p:cNvPr id="12" name="card"/>
          <p:cNvSpPr/>
          <p:nvPr/>
        </p:nvSpPr>
        <p:spPr>
          <a:xfrm>
            <a:off x="4338218" y="1389888"/>
            <a:ext cx="3515258" cy="4754880"/>
          </a:xfrm>
          <a:prstGeom prst="roundRect">
            <a:avLst>
              <a:gd name="adj" fmla="val 1561"/>
            </a:avLst>
          </a:prstGeom>
          <a:solidFill>
            <a:srgbClr val="F7F8FA"/>
          </a:solidFill>
          <a:ln w="12700">
            <a:solidFill>
              <a:srgbClr val="BCC5DA"/>
            </a:solidFill>
            <a:prstDash val="solid"/>
          </a:ln>
        </p:spPr>
      </p:sp>
      <p:sp>
        <p:nvSpPr>
          <p:cNvPr id="13" name="card-hex"/>
          <p:cNvSpPr/>
          <p:nvPr/>
        </p:nvSpPr>
        <p:spPr>
          <a:xfrm>
            <a:off x="4521098" y="1572768"/>
            <a:ext cx="640080" cy="554309"/>
          </a:xfrm>
          <a:prstGeom prst="hexagon">
            <a:avLst/>
          </a:prstGeom>
          <a:solidFill>
            <a:srgbClr val="2E4A8C"/>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Work it out</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Count down in ones: 2, 1, 0, … What is the next number?</a:t>
            </a:r>
            <a:endParaRPr lang="en-US" sz="2400" dirty="0"/>
          </a:p>
          <a:p>
            <a:pPr algn="l" indent="0" marL="0">
              <a:buNone/>
            </a:pPr>
            <a:r>
              <a:rPr lang="en-US" sz="2400" b="1" dirty="0">
                <a:solidFill>
                  <a:srgbClr val="2E4A8C"/>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a:t>
            </a:r>
            <a:endParaRPr lang="en-US" sz="2400" dirty="0"/>
          </a:p>
        </p:txBody>
      </p:sp>
      <p:sp>
        <p:nvSpPr>
          <p:cNvPr id="17" name="card"/>
          <p:cNvSpPr/>
          <p:nvPr/>
        </p:nvSpPr>
        <p:spPr>
          <a:xfrm>
            <a:off x="8127797" y="1389888"/>
            <a:ext cx="3515258" cy="4754880"/>
          </a:xfrm>
          <a:prstGeom prst="roundRect">
            <a:avLst>
              <a:gd name="adj" fmla="val 1561"/>
            </a:avLst>
          </a:prstGeom>
          <a:solidFill>
            <a:srgbClr val="F7F8FA"/>
          </a:solidFill>
          <a:ln w="12700">
            <a:solidFill>
              <a:srgbClr val="BCC5DA"/>
            </a:solidFill>
            <a:prstDash val="solid"/>
          </a:ln>
        </p:spPr>
      </p:sp>
      <p:sp>
        <p:nvSpPr>
          <p:cNvPr id="18" name="card-hex"/>
          <p:cNvSpPr/>
          <p:nvPr/>
        </p:nvSpPr>
        <p:spPr>
          <a:xfrm>
            <a:off x="8310677" y="1572768"/>
            <a:ext cx="640080" cy="554309"/>
          </a:xfrm>
          <a:prstGeom prst="hexagon">
            <a:avLst/>
          </a:prstGeom>
          <a:solidFill>
            <a:srgbClr val="2E4A8C"/>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Which list is in ascending order?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−1, −4, 2, 5</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−4, −1, 2, 5</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−1, −4, 5, 2</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5, 2, −1, −4</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8FA"/>
          </a:solidFill>
          <a:ln w="12700">
            <a:solidFill>
              <a:srgbClr val="BCC5DA"/>
            </a:solidFill>
            <a:prstDash val="solid"/>
          </a:ln>
        </p:spPr>
      </p:sp>
      <p:sp>
        <p:nvSpPr>
          <p:cNvPr id="8" name="card-hex"/>
          <p:cNvSpPr/>
          <p:nvPr/>
        </p:nvSpPr>
        <p:spPr>
          <a:xfrm>
            <a:off x="731520" y="1572768"/>
            <a:ext cx="640080" cy="554309"/>
          </a:xfrm>
          <a:prstGeom prst="hexagon">
            <a:avLst/>
          </a:prstGeom>
          <a:solidFill>
            <a:srgbClr val="2E4A8C"/>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FE4D0"/>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−2</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Which number is greater than −4?</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−2 is the closest to zero, so it is the furthest right. It is the only one greater than −4.</a:t>
            </a:r>
            <a:endParaRPr lang="en-US" sz="2200" dirty="0"/>
          </a:p>
        </p:txBody>
      </p:sp>
      <p:sp>
        <p:nvSpPr>
          <p:cNvPr id="14" name="card"/>
          <p:cNvSpPr/>
          <p:nvPr/>
        </p:nvSpPr>
        <p:spPr>
          <a:xfrm>
            <a:off x="4338218" y="1389888"/>
            <a:ext cx="3515258" cy="4754880"/>
          </a:xfrm>
          <a:prstGeom prst="roundRect">
            <a:avLst>
              <a:gd name="adj" fmla="val 1561"/>
            </a:avLst>
          </a:prstGeom>
          <a:solidFill>
            <a:srgbClr val="F7F8FA"/>
          </a:solidFill>
          <a:ln w="12700">
            <a:solidFill>
              <a:srgbClr val="BCC5DA"/>
            </a:solidFill>
            <a:prstDash val="solid"/>
          </a:ln>
        </p:spPr>
      </p:sp>
      <p:sp>
        <p:nvSpPr>
          <p:cNvPr id="15" name="card-hex"/>
          <p:cNvSpPr/>
          <p:nvPr/>
        </p:nvSpPr>
        <p:spPr>
          <a:xfrm>
            <a:off x="4521098" y="1572768"/>
            <a:ext cx="640080" cy="554309"/>
          </a:xfrm>
          <a:prstGeom prst="hexagon">
            <a:avLst/>
          </a:prstGeom>
          <a:solidFill>
            <a:srgbClr val="2E4A8C"/>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FE4D0"/>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−1</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Count down in ones: 2, 1, 0, … What is the next number?</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After zero comes −1. Do not stop at zero.</a:t>
            </a:r>
            <a:endParaRPr lang="en-US" sz="2200" dirty="0"/>
          </a:p>
        </p:txBody>
      </p:sp>
      <p:sp>
        <p:nvSpPr>
          <p:cNvPr id="21" name="card"/>
          <p:cNvSpPr/>
          <p:nvPr/>
        </p:nvSpPr>
        <p:spPr>
          <a:xfrm>
            <a:off x="8127797" y="1389888"/>
            <a:ext cx="3515258" cy="4754880"/>
          </a:xfrm>
          <a:prstGeom prst="roundRect">
            <a:avLst>
              <a:gd name="adj" fmla="val 1561"/>
            </a:avLst>
          </a:prstGeom>
          <a:solidFill>
            <a:srgbClr val="F7F8FA"/>
          </a:solidFill>
          <a:ln w="12700">
            <a:solidFill>
              <a:srgbClr val="BCC5DA"/>
            </a:solidFill>
            <a:prstDash val="solid"/>
          </a:ln>
        </p:spPr>
      </p:sp>
      <p:sp>
        <p:nvSpPr>
          <p:cNvPr id="22" name="card-hex"/>
          <p:cNvSpPr/>
          <p:nvPr/>
        </p:nvSpPr>
        <p:spPr>
          <a:xfrm>
            <a:off x="8310677" y="1572768"/>
            <a:ext cx="640080" cy="554309"/>
          </a:xfrm>
          <a:prstGeom prst="hexagon">
            <a:avLst/>
          </a:prstGeom>
          <a:solidFill>
            <a:srgbClr val="2E4A8C"/>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FE4D0"/>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−4, −1, 2, 5</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Which list is in ascending order?</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Ascending means smallest first. −4 is further left than −1, so −4 comes first.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2E4A8C"/>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923036"/>
          </a:xfrm>
          <a:prstGeom prst="roundRect">
            <a:avLst>
              <a:gd name="adj" fmla="val 5944"/>
            </a:avLst>
          </a:prstGeom>
          <a:solidFill>
            <a:srgbClr val="F5F6F9"/>
          </a:solidFill>
          <a:ln/>
        </p:spPr>
      </p:sp>
      <p:sp>
        <p:nvSpPr>
          <p:cNvPr id="12" name="kw-hex"/>
          <p:cNvSpPr/>
          <p:nvPr/>
        </p:nvSpPr>
        <p:spPr>
          <a:xfrm>
            <a:off x="658368" y="2203587"/>
            <a:ext cx="411480" cy="356342"/>
          </a:xfrm>
          <a:prstGeom prst="hexagon">
            <a:avLst/>
          </a:prstGeom>
          <a:solidFill>
            <a:srgbClr val="2E4A8C"/>
          </a:solidFill>
          <a:ln/>
        </p:spPr>
      </p:sp>
      <p:sp>
        <p:nvSpPr>
          <p:cNvPr id="13" name="kw-cell"/>
          <p:cNvSpPr txBox="1"/>
          <p:nvPr/>
        </p:nvSpPr>
        <p:spPr>
          <a:xfrm>
            <a:off x="1143000" y="1920240"/>
            <a:ext cx="2331720" cy="923036"/>
          </a:xfrm>
          <a:prstGeom prst="rect">
            <a:avLst/>
          </a:prstGeom>
          <a:noFill/>
          <a:ln/>
        </p:spPr>
        <p:txBody>
          <a:bodyPr wrap="square" lIns="63500" tIns="63500" rIns="63500" bIns="63500" rtlCol="0" anchor="ctr"/>
          <a:lstStyle/>
          <a:p>
            <a:pPr algn="l" indent="0" marL="0">
              <a:buNone/>
            </a:pPr>
            <a:r>
              <a:rPr lang="en-US" sz="2200" b="1" dirty="0">
                <a:solidFill>
                  <a:srgbClr val="2E4A8C"/>
                </a:solidFill>
                <a:latin typeface="Cambria" pitchFamily="34" charset="0"/>
                <a:ea typeface="Cambria" pitchFamily="34" charset="-122"/>
                <a:cs typeface="Cambria" pitchFamily="34" charset="-120"/>
              </a:rPr>
              <a:t>negative number</a:t>
            </a:r>
            <a:endParaRPr lang="en-US" sz="2200" dirty="0"/>
          </a:p>
        </p:txBody>
      </p:sp>
      <p:sp>
        <p:nvSpPr>
          <p:cNvPr id="14" name="kw-cell"/>
          <p:cNvSpPr txBox="1"/>
          <p:nvPr/>
        </p:nvSpPr>
        <p:spPr>
          <a:xfrm>
            <a:off x="3657600" y="1920240"/>
            <a:ext cx="3474720" cy="923036"/>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 number less than zero</a:t>
            </a:r>
            <a:endParaRPr lang="en-US" sz="2000" dirty="0"/>
          </a:p>
        </p:txBody>
      </p:sp>
      <p:sp>
        <p:nvSpPr>
          <p:cNvPr id="15" name="kw-cell"/>
          <p:cNvSpPr txBox="1"/>
          <p:nvPr/>
        </p:nvSpPr>
        <p:spPr>
          <a:xfrm>
            <a:off x="7315200" y="1920240"/>
            <a:ext cx="4236415" cy="923036"/>
          </a:xfrm>
          <a:prstGeom prst="rect">
            <a:avLst/>
          </a:prstGeom>
          <a:noFill/>
          <a:ln/>
        </p:spPr>
        <p:txBody>
          <a:bodyPr wrap="square" lIns="63500" tIns="63500" rIns="63500" bIns="63500" rtlCol="0" anchor="ctr"/>
          <a:lstStyle/>
          <a:p>
            <a:pPr algn="l" indent="0" marL="0">
              <a:buNone/>
            </a:pPr>
            <a:r>
              <a:rPr lang="en-US" sz="2000" i="1" dirty="0">
                <a:solidFill>
                  <a:srgbClr val="4A505C"/>
                </a:solidFill>
                <a:latin typeface="Calibri" pitchFamily="34" charset="0"/>
                <a:ea typeface="Calibri" pitchFamily="34" charset="-122"/>
                <a:cs typeface="Calibri" pitchFamily="34" charset="-120"/>
              </a:rPr>
              <a:t>−4 is a negative number.</a:t>
            </a:r>
            <a:endParaRPr lang="en-US" sz="2000" dirty="0"/>
          </a:p>
        </p:txBody>
      </p:sp>
      <p:sp>
        <p:nvSpPr>
          <p:cNvPr id="16" name="kw-row"/>
          <p:cNvSpPr/>
          <p:nvPr/>
        </p:nvSpPr>
        <p:spPr>
          <a:xfrm>
            <a:off x="548640" y="2916428"/>
            <a:ext cx="11094415" cy="559816"/>
          </a:xfrm>
          <a:prstGeom prst="roundRect">
            <a:avLst>
              <a:gd name="adj" fmla="val 9800"/>
            </a:avLst>
          </a:prstGeom>
          <a:solidFill>
            <a:srgbClr val="F9F4EC"/>
          </a:solidFill>
          <a:ln/>
        </p:spPr>
      </p:sp>
      <p:sp>
        <p:nvSpPr>
          <p:cNvPr id="17" name="kw-hex"/>
          <p:cNvSpPr/>
          <p:nvPr/>
        </p:nvSpPr>
        <p:spPr>
          <a:xfrm>
            <a:off x="658368" y="3018165"/>
            <a:ext cx="411480" cy="356342"/>
          </a:xfrm>
          <a:prstGeom prst="hexagon">
            <a:avLst/>
          </a:prstGeom>
          <a:solidFill>
            <a:srgbClr val="B8862B"/>
          </a:solidFill>
          <a:ln/>
        </p:spPr>
      </p:sp>
      <p:sp>
        <p:nvSpPr>
          <p:cNvPr id="18" name="kw-cell"/>
          <p:cNvSpPr txBox="1"/>
          <p:nvPr/>
        </p:nvSpPr>
        <p:spPr>
          <a:xfrm>
            <a:off x="1143000" y="2916428"/>
            <a:ext cx="2331720" cy="559816"/>
          </a:xfrm>
          <a:prstGeom prst="rect">
            <a:avLst/>
          </a:prstGeom>
          <a:noFill/>
          <a:ln/>
        </p:spPr>
        <p:txBody>
          <a:bodyPr wrap="square" lIns="63500" tIns="63500" rIns="63500" bIns="63500" rtlCol="0" anchor="ctr"/>
          <a:lstStyle/>
          <a:p>
            <a:pPr algn="l" indent="0" marL="0">
              <a:buNone/>
            </a:pPr>
            <a:r>
              <a:rPr lang="en-US" sz="2200" b="1" dirty="0">
                <a:solidFill>
                  <a:srgbClr val="2E4A8C"/>
                </a:solidFill>
                <a:latin typeface="Cambria" pitchFamily="34" charset="0"/>
                <a:ea typeface="Cambria" pitchFamily="34" charset="-122"/>
                <a:cs typeface="Cambria" pitchFamily="34" charset="-120"/>
              </a:rPr>
              <a:t>positive number</a:t>
            </a:r>
            <a:endParaRPr lang="en-US" sz="2200" dirty="0"/>
          </a:p>
        </p:txBody>
      </p:sp>
      <p:sp>
        <p:nvSpPr>
          <p:cNvPr id="19" name="kw-cell"/>
          <p:cNvSpPr txBox="1"/>
          <p:nvPr/>
        </p:nvSpPr>
        <p:spPr>
          <a:xfrm>
            <a:off x="3657600" y="2916428"/>
            <a:ext cx="3474720" cy="559816"/>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 number greater than zero</a:t>
            </a:r>
            <a:endParaRPr lang="en-US" sz="2000" dirty="0"/>
          </a:p>
        </p:txBody>
      </p:sp>
      <p:sp>
        <p:nvSpPr>
          <p:cNvPr id="20" name="kw-cell"/>
          <p:cNvSpPr txBox="1"/>
          <p:nvPr/>
        </p:nvSpPr>
        <p:spPr>
          <a:xfrm>
            <a:off x="7315200" y="2916428"/>
            <a:ext cx="4236415" cy="559816"/>
          </a:xfrm>
          <a:prstGeom prst="rect">
            <a:avLst/>
          </a:prstGeom>
          <a:noFill/>
          <a:ln/>
        </p:spPr>
        <p:txBody>
          <a:bodyPr wrap="square" lIns="63500" tIns="63500" rIns="63500" bIns="63500" rtlCol="0" anchor="ctr"/>
          <a:lstStyle/>
          <a:p>
            <a:pPr algn="l" indent="0" marL="0">
              <a:buNone/>
            </a:pPr>
            <a:r>
              <a:rPr lang="en-US" sz="2000" i="1" dirty="0">
                <a:solidFill>
                  <a:srgbClr val="4A505C"/>
                </a:solidFill>
                <a:latin typeface="Calibri" pitchFamily="34" charset="0"/>
                <a:ea typeface="Calibri" pitchFamily="34" charset="-122"/>
                <a:cs typeface="Calibri" pitchFamily="34" charset="-120"/>
              </a:rPr>
              <a:t>7 is a positive number.</a:t>
            </a:r>
            <a:endParaRPr lang="en-US" sz="2000" dirty="0"/>
          </a:p>
        </p:txBody>
      </p:sp>
      <p:sp>
        <p:nvSpPr>
          <p:cNvPr id="21" name="kw-row"/>
          <p:cNvSpPr/>
          <p:nvPr/>
        </p:nvSpPr>
        <p:spPr>
          <a:xfrm>
            <a:off x="548640" y="3549396"/>
            <a:ext cx="11094415" cy="816356"/>
          </a:xfrm>
          <a:prstGeom prst="roundRect">
            <a:avLst>
              <a:gd name="adj" fmla="val 6721"/>
            </a:avLst>
          </a:prstGeom>
          <a:solidFill>
            <a:srgbClr val="F5F6F9"/>
          </a:solidFill>
          <a:ln/>
        </p:spPr>
      </p:sp>
      <p:sp>
        <p:nvSpPr>
          <p:cNvPr id="22" name="kw-hex"/>
          <p:cNvSpPr/>
          <p:nvPr/>
        </p:nvSpPr>
        <p:spPr>
          <a:xfrm>
            <a:off x="658368" y="3779403"/>
            <a:ext cx="411480" cy="356342"/>
          </a:xfrm>
          <a:prstGeom prst="hexagon">
            <a:avLst/>
          </a:prstGeom>
          <a:solidFill>
            <a:srgbClr val="2E4A8C"/>
          </a:solidFill>
          <a:ln/>
        </p:spPr>
      </p:sp>
      <p:sp>
        <p:nvSpPr>
          <p:cNvPr id="23" name="kw-cell"/>
          <p:cNvSpPr txBox="1"/>
          <p:nvPr/>
        </p:nvSpPr>
        <p:spPr>
          <a:xfrm>
            <a:off x="1143000" y="3549396"/>
            <a:ext cx="2331720" cy="816356"/>
          </a:xfrm>
          <a:prstGeom prst="rect">
            <a:avLst/>
          </a:prstGeom>
          <a:noFill/>
          <a:ln/>
        </p:spPr>
        <p:txBody>
          <a:bodyPr wrap="square" lIns="63500" tIns="63500" rIns="63500" bIns="63500" rtlCol="0" anchor="ctr"/>
          <a:lstStyle/>
          <a:p>
            <a:pPr algn="l" indent="0" marL="0">
              <a:buNone/>
            </a:pPr>
            <a:r>
              <a:rPr lang="en-US" sz="2200" b="1" dirty="0">
                <a:solidFill>
                  <a:srgbClr val="2E4A8C"/>
                </a:solidFill>
                <a:latin typeface="Cambria" pitchFamily="34" charset="0"/>
                <a:ea typeface="Cambria" pitchFamily="34" charset="-122"/>
                <a:cs typeface="Cambria" pitchFamily="34" charset="-120"/>
              </a:rPr>
              <a:t>number line</a:t>
            </a:r>
            <a:endParaRPr lang="en-US" sz="2200" dirty="0"/>
          </a:p>
        </p:txBody>
      </p:sp>
      <p:sp>
        <p:nvSpPr>
          <p:cNvPr id="24" name="kw-cell"/>
          <p:cNvSpPr txBox="1"/>
          <p:nvPr/>
        </p:nvSpPr>
        <p:spPr>
          <a:xfrm>
            <a:off x="3657600" y="3549396"/>
            <a:ext cx="3474720" cy="816356"/>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 line with numbers in order and equal gaps</a:t>
            </a:r>
            <a:endParaRPr lang="en-US" sz="2000" dirty="0"/>
          </a:p>
        </p:txBody>
      </p:sp>
      <p:sp>
        <p:nvSpPr>
          <p:cNvPr id="25" name="kw-cell"/>
          <p:cNvSpPr txBox="1"/>
          <p:nvPr/>
        </p:nvSpPr>
        <p:spPr>
          <a:xfrm>
            <a:off x="7315200" y="3549396"/>
            <a:ext cx="4236415" cy="816356"/>
          </a:xfrm>
          <a:prstGeom prst="rect">
            <a:avLst/>
          </a:prstGeom>
          <a:noFill/>
          <a:ln/>
        </p:spPr>
        <p:txBody>
          <a:bodyPr wrap="square" lIns="63500" tIns="63500" rIns="63500" bIns="63500" rtlCol="0" anchor="ctr"/>
          <a:lstStyle/>
          <a:p>
            <a:pPr algn="l" indent="0" marL="0">
              <a:buNone/>
            </a:pPr>
            <a:r>
              <a:rPr lang="en-US" sz="2000" i="1" dirty="0">
                <a:solidFill>
                  <a:srgbClr val="4A505C"/>
                </a:solidFill>
                <a:latin typeface="Calibri" pitchFamily="34" charset="0"/>
                <a:ea typeface="Calibri" pitchFamily="34" charset="-122"/>
                <a:cs typeface="Calibri" pitchFamily="34" charset="-120"/>
              </a:rPr>
              <a:t>Zero sits in the middle of our number line.</a:t>
            </a:r>
            <a:endParaRPr lang="en-US" sz="2000" dirty="0"/>
          </a:p>
        </p:txBody>
      </p:sp>
      <p:sp>
        <p:nvSpPr>
          <p:cNvPr id="26" name="kw-row"/>
          <p:cNvSpPr/>
          <p:nvPr/>
        </p:nvSpPr>
        <p:spPr>
          <a:xfrm>
            <a:off x="548640" y="4438904"/>
            <a:ext cx="11094415" cy="816356"/>
          </a:xfrm>
          <a:prstGeom prst="roundRect">
            <a:avLst>
              <a:gd name="adj" fmla="val 6721"/>
            </a:avLst>
          </a:prstGeom>
          <a:solidFill>
            <a:srgbClr val="F9F4EC"/>
          </a:solidFill>
          <a:ln/>
        </p:spPr>
      </p:sp>
      <p:sp>
        <p:nvSpPr>
          <p:cNvPr id="27" name="kw-hex"/>
          <p:cNvSpPr/>
          <p:nvPr/>
        </p:nvSpPr>
        <p:spPr>
          <a:xfrm>
            <a:off x="658368" y="4668911"/>
            <a:ext cx="411480" cy="356342"/>
          </a:xfrm>
          <a:prstGeom prst="hexagon">
            <a:avLst/>
          </a:prstGeom>
          <a:solidFill>
            <a:srgbClr val="B8862B"/>
          </a:solidFill>
          <a:ln/>
        </p:spPr>
      </p:sp>
      <p:sp>
        <p:nvSpPr>
          <p:cNvPr id="28" name="kw-cell"/>
          <p:cNvSpPr txBox="1"/>
          <p:nvPr/>
        </p:nvSpPr>
        <p:spPr>
          <a:xfrm>
            <a:off x="1143000" y="4438904"/>
            <a:ext cx="2331720" cy="816356"/>
          </a:xfrm>
          <a:prstGeom prst="rect">
            <a:avLst/>
          </a:prstGeom>
          <a:noFill/>
          <a:ln/>
        </p:spPr>
        <p:txBody>
          <a:bodyPr wrap="square" lIns="63500" tIns="63500" rIns="63500" bIns="63500" rtlCol="0" anchor="ctr"/>
          <a:lstStyle/>
          <a:p>
            <a:pPr algn="l" indent="0" marL="0">
              <a:buNone/>
            </a:pPr>
            <a:r>
              <a:rPr lang="en-US" sz="2200" b="1" dirty="0">
                <a:solidFill>
                  <a:srgbClr val="2E4A8C"/>
                </a:solidFill>
                <a:latin typeface="Cambria" pitchFamily="34" charset="0"/>
                <a:ea typeface="Cambria" pitchFamily="34" charset="-122"/>
                <a:cs typeface="Cambria" pitchFamily="34" charset="-120"/>
              </a:rPr>
              <a:t>integer</a:t>
            </a:r>
            <a:endParaRPr lang="en-US" sz="2200" dirty="0"/>
          </a:p>
        </p:txBody>
      </p:sp>
      <p:sp>
        <p:nvSpPr>
          <p:cNvPr id="29" name="kw-cell"/>
          <p:cNvSpPr txBox="1"/>
          <p:nvPr/>
        </p:nvSpPr>
        <p:spPr>
          <a:xfrm>
            <a:off x="3657600" y="4438904"/>
            <a:ext cx="3474720" cy="816356"/>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 whole number: positive, negative or zero</a:t>
            </a:r>
            <a:endParaRPr lang="en-US" sz="2000" dirty="0"/>
          </a:p>
        </p:txBody>
      </p:sp>
      <p:sp>
        <p:nvSpPr>
          <p:cNvPr id="30" name="kw-cell"/>
          <p:cNvSpPr txBox="1"/>
          <p:nvPr/>
        </p:nvSpPr>
        <p:spPr>
          <a:xfrm>
            <a:off x="7315200" y="4438904"/>
            <a:ext cx="4236415" cy="816356"/>
          </a:xfrm>
          <a:prstGeom prst="rect">
            <a:avLst/>
          </a:prstGeom>
          <a:noFill/>
          <a:ln/>
        </p:spPr>
        <p:txBody>
          <a:bodyPr wrap="square" lIns="63500" tIns="63500" rIns="63500" bIns="63500" rtlCol="0" anchor="ctr"/>
          <a:lstStyle/>
          <a:p>
            <a:pPr algn="l" indent="0" marL="0">
              <a:buNone/>
            </a:pPr>
            <a:r>
              <a:rPr lang="en-US" sz="2000" i="1" dirty="0">
                <a:solidFill>
                  <a:srgbClr val="4A505C"/>
                </a:solidFill>
                <a:latin typeface="Calibri" pitchFamily="34" charset="0"/>
                <a:ea typeface="Calibri" pitchFamily="34" charset="-122"/>
                <a:cs typeface="Calibri" pitchFamily="34" charset="-120"/>
              </a:rPr>
              <a:t>−3, 0 and 5 are all integers.</a:t>
            </a:r>
            <a:endParaRPr lang="en-US" sz="2000" dirty="0"/>
          </a:p>
        </p:txBody>
      </p:sp>
      <p:sp>
        <p:nvSpPr>
          <p:cNvPr id="31" name="kw-row"/>
          <p:cNvSpPr/>
          <p:nvPr/>
        </p:nvSpPr>
        <p:spPr>
          <a:xfrm>
            <a:off x="548640" y="5328412"/>
            <a:ext cx="11094415" cy="816356"/>
          </a:xfrm>
          <a:prstGeom prst="roundRect">
            <a:avLst>
              <a:gd name="adj" fmla="val 6721"/>
            </a:avLst>
          </a:prstGeom>
          <a:solidFill>
            <a:srgbClr val="F5F6F9"/>
          </a:solidFill>
          <a:ln/>
        </p:spPr>
      </p:sp>
      <p:sp>
        <p:nvSpPr>
          <p:cNvPr id="32" name="kw-hex"/>
          <p:cNvSpPr/>
          <p:nvPr/>
        </p:nvSpPr>
        <p:spPr>
          <a:xfrm>
            <a:off x="658368" y="5558419"/>
            <a:ext cx="411480" cy="356342"/>
          </a:xfrm>
          <a:prstGeom prst="hexagon">
            <a:avLst/>
          </a:prstGeom>
          <a:solidFill>
            <a:srgbClr val="2E4A8C"/>
          </a:solidFill>
          <a:ln/>
        </p:spPr>
      </p:sp>
      <p:sp>
        <p:nvSpPr>
          <p:cNvPr id="33" name="kw-cell"/>
          <p:cNvSpPr txBox="1"/>
          <p:nvPr/>
        </p:nvSpPr>
        <p:spPr>
          <a:xfrm>
            <a:off x="1143000" y="5328412"/>
            <a:ext cx="2331720" cy="816356"/>
          </a:xfrm>
          <a:prstGeom prst="rect">
            <a:avLst/>
          </a:prstGeom>
          <a:noFill/>
          <a:ln/>
        </p:spPr>
        <p:txBody>
          <a:bodyPr wrap="square" lIns="63500" tIns="63500" rIns="63500" bIns="63500" rtlCol="0" anchor="ctr"/>
          <a:lstStyle/>
          <a:p>
            <a:pPr algn="l" indent="0" marL="0">
              <a:buNone/>
            </a:pPr>
            <a:r>
              <a:rPr lang="en-US" sz="2200" b="1" dirty="0">
                <a:solidFill>
                  <a:srgbClr val="2E4A8C"/>
                </a:solidFill>
                <a:latin typeface="Cambria" pitchFamily="34" charset="0"/>
                <a:ea typeface="Cambria" pitchFamily="34" charset="-122"/>
                <a:cs typeface="Cambria" pitchFamily="34" charset="-120"/>
              </a:rPr>
              <a:t>ascending</a:t>
            </a:r>
            <a:endParaRPr lang="en-US" sz="2200" dirty="0"/>
          </a:p>
        </p:txBody>
      </p:sp>
      <p:sp>
        <p:nvSpPr>
          <p:cNvPr id="34" name="kw-cell"/>
          <p:cNvSpPr txBox="1"/>
          <p:nvPr/>
        </p:nvSpPr>
        <p:spPr>
          <a:xfrm>
            <a:off x="3657600" y="5328412"/>
            <a:ext cx="3474720" cy="816356"/>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going up, from smallest to greatest</a:t>
            </a:r>
            <a:endParaRPr lang="en-US" sz="2000" dirty="0"/>
          </a:p>
        </p:txBody>
      </p:sp>
      <p:sp>
        <p:nvSpPr>
          <p:cNvPr id="35" name="kw-cell"/>
          <p:cNvSpPr txBox="1"/>
          <p:nvPr/>
        </p:nvSpPr>
        <p:spPr>
          <a:xfrm>
            <a:off x="7315200" y="5328412"/>
            <a:ext cx="4236415" cy="816356"/>
          </a:xfrm>
          <a:prstGeom prst="rect">
            <a:avLst/>
          </a:prstGeom>
          <a:noFill/>
          <a:ln/>
        </p:spPr>
        <p:txBody>
          <a:bodyPr wrap="square" lIns="63500" tIns="63500" rIns="63500" bIns="63500" rtlCol="0" anchor="ctr"/>
          <a:lstStyle/>
          <a:p>
            <a:pPr algn="l" indent="0" marL="0">
              <a:buNone/>
            </a:pPr>
            <a:r>
              <a:rPr lang="en-US" sz="2000" i="1" dirty="0">
                <a:solidFill>
                  <a:srgbClr val="4A505C"/>
                </a:solidFill>
                <a:latin typeface="Calibri" pitchFamily="34" charset="0"/>
                <a:ea typeface="Calibri" pitchFamily="34" charset="-122"/>
                <a:cs typeface="Calibri" pitchFamily="34" charset="-120"/>
              </a:rPr>
              <a:t>In ascending order, −6 comes before −2.</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E4A8C"/>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8FA"/>
          </a:solidFill>
          <a:ln w="12700">
            <a:solidFill>
              <a:srgbClr val="C7CEE0"/>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Numbers do not stop at zero.</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If you keep counting back, you get to −1, −2 and −3.</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These are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negative numbers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We say them as negative one, negative two and negative three.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number line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shows numbers in order.</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Zero is in the middle.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Positive numbers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are on the right of zero.</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E4A8C"/>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8FA"/>
          </a:solidFill>
          <a:ln w="12700">
            <a:solidFill>
              <a:srgbClr val="C7CEE0"/>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Negative numbers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are on the left of zero.</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Numbers get bigger as you move right.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Numbers get smaller as you move left.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So −2 is greater than −5, because −2 is further right.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thermometer is a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number line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that stands up.</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Cold days can be below zero, like −3°C.</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Counting below zero</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5074920" cy="1073404"/>
          </a:xfrm>
          <a:prstGeom prst="roundRect">
            <a:avLst>
              <a:gd name="adj" fmla="val 12778"/>
            </a:avLst>
          </a:prstGeom>
          <a:solidFill>
            <a:srgbClr val="F6F0E6"/>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4206240"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Mistake to avoid: jumping from −1 straight to 1. Zero always comes in between.</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9DAAC9"/>
            </a:solidFill>
            <a:prstDash val="solid"/>
          </a:ln>
        </p:spPr>
      </p:sp>
      <p:sp>
        <p:nvSpPr>
          <p:cNvPr id="12" name="worked-tab"/>
          <p:cNvSpPr/>
          <p:nvPr/>
        </p:nvSpPr>
        <p:spPr>
          <a:xfrm>
            <a:off x="6126480" y="1499616"/>
            <a:ext cx="2377440" cy="457200"/>
          </a:xfrm>
          <a:prstGeom prst="roundRect">
            <a:avLst>
              <a:gd name="adj" fmla="val 40000"/>
            </a:avLst>
          </a:prstGeom>
          <a:solidFill>
            <a:srgbClr val="2E4A8C"/>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405892"/>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Count up in ones from −4 to 2. Write every number.</a:t>
            </a:r>
            <a:endParaRPr lang="en-US" sz="1800" dirty="0"/>
          </a:p>
        </p:txBody>
      </p:sp>
      <p:sp>
        <p:nvSpPr>
          <p:cNvPr id="14" name="step-box"/>
          <p:cNvSpPr/>
          <p:nvPr/>
        </p:nvSpPr>
        <p:spPr>
          <a:xfrm>
            <a:off x="6126480" y="2609596"/>
            <a:ext cx="5379415" cy="566928"/>
          </a:xfrm>
          <a:prstGeom prst="roundRect">
            <a:avLst>
              <a:gd name="adj" fmla="val 16129"/>
            </a:avLst>
          </a:prstGeom>
          <a:solidFill>
            <a:srgbClr val="F0F2F7"/>
          </a:solidFill>
          <a:ln/>
        </p:spPr>
      </p:sp>
      <p:sp>
        <p:nvSpPr>
          <p:cNvPr id="15" name="step-hex"/>
          <p:cNvSpPr/>
          <p:nvPr/>
        </p:nvSpPr>
        <p:spPr>
          <a:xfrm>
            <a:off x="6217920" y="2710930"/>
            <a:ext cx="420624" cy="364260"/>
          </a:xfrm>
          <a:prstGeom prst="hexagon">
            <a:avLst/>
          </a:prstGeom>
          <a:solidFill>
            <a:srgbClr val="2E4A8C"/>
          </a:solidFill>
          <a:ln/>
        </p:spPr>
      </p:sp>
      <p:sp>
        <p:nvSpPr>
          <p:cNvPr id="16" name="step-hex-label"/>
          <p:cNvSpPr txBox="1"/>
          <p:nvPr/>
        </p:nvSpPr>
        <p:spPr>
          <a:xfrm>
            <a:off x="6217920" y="2710930"/>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609596"/>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Start at −4.</a:t>
            </a:r>
            <a:endParaRPr lang="en-US" sz="1800" dirty="0"/>
          </a:p>
        </p:txBody>
      </p:sp>
      <p:sp>
        <p:nvSpPr>
          <p:cNvPr id="18" name="step-box"/>
          <p:cNvSpPr/>
          <p:nvPr/>
        </p:nvSpPr>
        <p:spPr>
          <a:xfrm>
            <a:off x="6126480" y="3267964"/>
            <a:ext cx="5379415" cy="566928"/>
          </a:xfrm>
          <a:prstGeom prst="roundRect">
            <a:avLst>
              <a:gd name="adj" fmla="val 16129"/>
            </a:avLst>
          </a:prstGeom>
          <a:solidFill>
            <a:srgbClr val="F0F2F7"/>
          </a:solidFill>
          <a:ln/>
        </p:spPr>
      </p:sp>
      <p:sp>
        <p:nvSpPr>
          <p:cNvPr id="19" name="step-hex"/>
          <p:cNvSpPr/>
          <p:nvPr/>
        </p:nvSpPr>
        <p:spPr>
          <a:xfrm>
            <a:off x="6217920" y="3369298"/>
            <a:ext cx="420624" cy="364260"/>
          </a:xfrm>
          <a:prstGeom prst="hexagon">
            <a:avLst/>
          </a:prstGeom>
          <a:solidFill>
            <a:srgbClr val="2E4A8C"/>
          </a:solidFill>
          <a:ln/>
        </p:spPr>
      </p:sp>
      <p:sp>
        <p:nvSpPr>
          <p:cNvPr id="20" name="step-hex-label"/>
          <p:cNvSpPr txBox="1"/>
          <p:nvPr/>
        </p:nvSpPr>
        <p:spPr>
          <a:xfrm>
            <a:off x="6217920" y="3369298"/>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267964"/>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Move right one step at a time: −3, −2, −1.</a:t>
            </a:r>
            <a:endParaRPr lang="en-US" sz="1800" dirty="0"/>
          </a:p>
        </p:txBody>
      </p:sp>
      <p:sp>
        <p:nvSpPr>
          <p:cNvPr id="22" name="step-box"/>
          <p:cNvSpPr/>
          <p:nvPr/>
        </p:nvSpPr>
        <p:spPr>
          <a:xfrm>
            <a:off x="6126480" y="3926332"/>
            <a:ext cx="5379415" cy="566928"/>
          </a:xfrm>
          <a:prstGeom prst="roundRect">
            <a:avLst>
              <a:gd name="adj" fmla="val 16129"/>
            </a:avLst>
          </a:prstGeom>
          <a:solidFill>
            <a:srgbClr val="F0F2F7"/>
          </a:solidFill>
          <a:ln/>
        </p:spPr>
      </p:sp>
      <p:sp>
        <p:nvSpPr>
          <p:cNvPr id="23" name="step-hex"/>
          <p:cNvSpPr/>
          <p:nvPr/>
        </p:nvSpPr>
        <p:spPr>
          <a:xfrm>
            <a:off x="6217920" y="4027666"/>
            <a:ext cx="420624" cy="364260"/>
          </a:xfrm>
          <a:prstGeom prst="hexagon">
            <a:avLst/>
          </a:prstGeom>
          <a:solidFill>
            <a:srgbClr val="2E4A8C"/>
          </a:solidFill>
          <a:ln/>
        </p:spPr>
      </p:sp>
      <p:sp>
        <p:nvSpPr>
          <p:cNvPr id="24" name="step-hex-label"/>
          <p:cNvSpPr txBox="1"/>
          <p:nvPr/>
        </p:nvSpPr>
        <p:spPr>
          <a:xfrm>
            <a:off x="6217920" y="4027666"/>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3926332"/>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Remember to say zero: 0.</a:t>
            </a:r>
            <a:endParaRPr lang="en-US" sz="1800" dirty="0"/>
          </a:p>
        </p:txBody>
      </p:sp>
      <p:sp>
        <p:nvSpPr>
          <p:cNvPr id="26" name="step-box"/>
          <p:cNvSpPr/>
          <p:nvPr/>
        </p:nvSpPr>
        <p:spPr>
          <a:xfrm>
            <a:off x="6126480" y="4584700"/>
            <a:ext cx="5379415" cy="566928"/>
          </a:xfrm>
          <a:prstGeom prst="roundRect">
            <a:avLst>
              <a:gd name="adj" fmla="val 16129"/>
            </a:avLst>
          </a:prstGeom>
          <a:solidFill>
            <a:srgbClr val="F0F2F7"/>
          </a:solidFill>
          <a:ln/>
        </p:spPr>
      </p:sp>
      <p:sp>
        <p:nvSpPr>
          <p:cNvPr id="27" name="step-hex"/>
          <p:cNvSpPr/>
          <p:nvPr/>
        </p:nvSpPr>
        <p:spPr>
          <a:xfrm>
            <a:off x="6217920" y="4686034"/>
            <a:ext cx="420624" cy="364260"/>
          </a:xfrm>
          <a:prstGeom prst="hexagon">
            <a:avLst/>
          </a:prstGeom>
          <a:solidFill>
            <a:srgbClr val="2E4A8C"/>
          </a:solidFill>
          <a:ln/>
        </p:spPr>
      </p:sp>
      <p:sp>
        <p:nvSpPr>
          <p:cNvPr id="28" name="step-hex-label"/>
          <p:cNvSpPr txBox="1"/>
          <p:nvPr/>
        </p:nvSpPr>
        <p:spPr>
          <a:xfrm>
            <a:off x="6217920" y="468603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9" name="step"/>
          <p:cNvSpPr txBox="1"/>
          <p:nvPr/>
        </p:nvSpPr>
        <p:spPr>
          <a:xfrm>
            <a:off x="6766560" y="4584700"/>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Carry on: 1, 2.</a:t>
            </a:r>
            <a:endParaRPr lang="en-US" sz="1800" dirty="0"/>
          </a:p>
        </p:txBody>
      </p:sp>
      <p:sp>
        <p:nvSpPr>
          <p:cNvPr id="30" name="worked-answer"/>
          <p:cNvSpPr/>
          <p:nvPr/>
        </p:nvSpPr>
        <p:spPr>
          <a:xfrm>
            <a:off x="6126480" y="5288788"/>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−4, −3, −2, −1, 0, 1, 2</a:t>
            </a:r>
            <a:endParaRPr lang="en-US" sz="1800" dirty="0"/>
          </a:p>
        </p:txBody>
      </p:sp>
      <p:sp>
        <p:nvSpPr>
          <p:cNvPr id="31" name="bullet-card"/>
          <p:cNvSpPr/>
          <p:nvPr/>
        </p:nvSpPr>
        <p:spPr>
          <a:xfrm>
            <a:off x="548640" y="1389888"/>
            <a:ext cx="5074920" cy="1038183"/>
          </a:xfrm>
          <a:prstGeom prst="roundRect">
            <a:avLst>
              <a:gd name="adj" fmla="val 7046"/>
            </a:avLst>
          </a:prstGeom>
          <a:solidFill>
            <a:srgbClr val="F5F6F9"/>
          </a:solidFill>
          <a:ln/>
        </p:spPr>
      </p:sp>
      <p:sp>
        <p:nvSpPr>
          <p:cNvPr id="32" name="bullet-hex"/>
          <p:cNvSpPr/>
          <p:nvPr/>
        </p:nvSpPr>
        <p:spPr>
          <a:xfrm>
            <a:off x="676656" y="1742687"/>
            <a:ext cx="384048" cy="332586"/>
          </a:xfrm>
          <a:prstGeom prst="hexagon">
            <a:avLst/>
          </a:prstGeom>
          <a:solidFill>
            <a:srgbClr val="2E4A8C"/>
          </a:solidFill>
          <a:ln/>
        </p:spPr>
      </p:sp>
      <p:sp>
        <p:nvSpPr>
          <p:cNvPr id="33" name="bullet"/>
          <p:cNvSpPr txBox="1"/>
          <p:nvPr/>
        </p:nvSpPr>
        <p:spPr>
          <a:xfrm>
            <a:off x="1143000" y="1389888"/>
            <a:ext cx="4389120" cy="103818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Think of a lift in a tall building. Floor 0 is the ground.</a:t>
            </a:r>
            <a:endParaRPr lang="en-US" sz="2200" dirty="0"/>
          </a:p>
        </p:txBody>
      </p:sp>
      <p:sp>
        <p:nvSpPr>
          <p:cNvPr id="34" name="bullet-card"/>
          <p:cNvSpPr/>
          <p:nvPr/>
        </p:nvSpPr>
        <p:spPr>
          <a:xfrm>
            <a:off x="548640" y="2574375"/>
            <a:ext cx="5074920" cy="1038183"/>
          </a:xfrm>
          <a:prstGeom prst="roundRect">
            <a:avLst>
              <a:gd name="adj" fmla="val 7046"/>
            </a:avLst>
          </a:prstGeom>
          <a:solidFill>
            <a:srgbClr val="F5F6F9"/>
          </a:solidFill>
          <a:ln/>
        </p:spPr>
      </p:sp>
      <p:sp>
        <p:nvSpPr>
          <p:cNvPr id="35" name="bullet-hex"/>
          <p:cNvSpPr/>
          <p:nvPr/>
        </p:nvSpPr>
        <p:spPr>
          <a:xfrm>
            <a:off x="676656" y="2927173"/>
            <a:ext cx="384048" cy="332586"/>
          </a:xfrm>
          <a:prstGeom prst="hexagon">
            <a:avLst/>
          </a:prstGeom>
          <a:solidFill>
            <a:srgbClr val="B8862B"/>
          </a:solidFill>
          <a:ln/>
        </p:spPr>
      </p:sp>
      <p:sp>
        <p:nvSpPr>
          <p:cNvPr id="36" name="bullet"/>
          <p:cNvSpPr txBox="1"/>
          <p:nvPr/>
        </p:nvSpPr>
        <p:spPr>
          <a:xfrm>
            <a:off x="1143000" y="2574375"/>
            <a:ext cx="4389120" cy="103818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When you count back from 3 you say 3, 2, 1, 0, −1, −2.</a:t>
            </a:r>
            <a:endParaRPr lang="en-US" sz="2200" dirty="0"/>
          </a:p>
        </p:txBody>
      </p:sp>
      <p:sp>
        <p:nvSpPr>
          <p:cNvPr id="37" name="bullet-card"/>
          <p:cNvSpPr/>
          <p:nvPr/>
        </p:nvSpPr>
        <p:spPr>
          <a:xfrm>
            <a:off x="548640" y="3758861"/>
            <a:ext cx="5074920" cy="1038183"/>
          </a:xfrm>
          <a:prstGeom prst="roundRect">
            <a:avLst>
              <a:gd name="adj" fmla="val 7046"/>
            </a:avLst>
          </a:prstGeom>
          <a:solidFill>
            <a:srgbClr val="F5F6F9"/>
          </a:solidFill>
          <a:ln/>
        </p:spPr>
      </p:sp>
      <p:sp>
        <p:nvSpPr>
          <p:cNvPr id="38" name="bullet-hex"/>
          <p:cNvSpPr/>
          <p:nvPr/>
        </p:nvSpPr>
        <p:spPr>
          <a:xfrm>
            <a:off x="676656" y="4111660"/>
            <a:ext cx="384048" cy="332586"/>
          </a:xfrm>
          <a:prstGeom prst="hexagon">
            <a:avLst/>
          </a:prstGeom>
          <a:solidFill>
            <a:srgbClr val="2E4A8C"/>
          </a:solidFill>
          <a:ln/>
        </p:spPr>
      </p:sp>
      <p:sp>
        <p:nvSpPr>
          <p:cNvPr id="39" name="bullet"/>
          <p:cNvSpPr txBox="1"/>
          <p:nvPr/>
        </p:nvSpPr>
        <p:spPr>
          <a:xfrm>
            <a:off x="1143000" y="3758861"/>
            <a:ext cx="4389120" cy="103818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number with a minus sign in front, like −6, is a negative number.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Reading a number line and a thermometer</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5074920"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4206240"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Always find the value of one gap before you read the arrow.</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9DAAC9"/>
            </a:solidFill>
            <a:prstDash val="solid"/>
          </a:ln>
        </p:spPr>
      </p:sp>
      <p:sp>
        <p:nvSpPr>
          <p:cNvPr id="12" name="worked-tab"/>
          <p:cNvSpPr/>
          <p:nvPr/>
        </p:nvSpPr>
        <p:spPr>
          <a:xfrm>
            <a:off x="6126480" y="1499616"/>
            <a:ext cx="2377440" cy="457200"/>
          </a:xfrm>
          <a:prstGeom prst="roundRect">
            <a:avLst>
              <a:gd name="adj" fmla="val 40000"/>
            </a:avLst>
          </a:prstGeom>
          <a:solidFill>
            <a:srgbClr val="2E4A8C"/>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963676"/>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A number line goes from 0 to 20 in four equal gaps. An arrow is two gaps to the left of 0. What number is it pointing to?</a:t>
            </a:r>
            <a:endParaRPr lang="en-US" sz="1800" dirty="0"/>
          </a:p>
        </p:txBody>
      </p:sp>
      <p:sp>
        <p:nvSpPr>
          <p:cNvPr id="14" name="step-box"/>
          <p:cNvSpPr/>
          <p:nvPr/>
        </p:nvSpPr>
        <p:spPr>
          <a:xfrm>
            <a:off x="6126480" y="3167380"/>
            <a:ext cx="5379415" cy="566928"/>
          </a:xfrm>
          <a:prstGeom prst="roundRect">
            <a:avLst>
              <a:gd name="adj" fmla="val 16129"/>
            </a:avLst>
          </a:prstGeom>
          <a:solidFill>
            <a:srgbClr val="F0F2F7"/>
          </a:solidFill>
          <a:ln/>
        </p:spPr>
      </p:sp>
      <p:sp>
        <p:nvSpPr>
          <p:cNvPr id="15" name="step-hex"/>
          <p:cNvSpPr/>
          <p:nvPr/>
        </p:nvSpPr>
        <p:spPr>
          <a:xfrm>
            <a:off x="6217920" y="3268714"/>
            <a:ext cx="420624" cy="364260"/>
          </a:xfrm>
          <a:prstGeom prst="hexagon">
            <a:avLst/>
          </a:prstGeom>
          <a:solidFill>
            <a:srgbClr val="2E4A8C"/>
          </a:solidFill>
          <a:ln/>
        </p:spPr>
      </p:sp>
      <p:sp>
        <p:nvSpPr>
          <p:cNvPr id="16" name="step-hex-label"/>
          <p:cNvSpPr txBox="1"/>
          <p:nvPr/>
        </p:nvSpPr>
        <p:spPr>
          <a:xfrm>
            <a:off x="6217920" y="326871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3167380"/>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Each gap is worth 20 ÷ 4 = 5.</a:t>
            </a:r>
            <a:endParaRPr lang="en-US" sz="1800" dirty="0"/>
          </a:p>
        </p:txBody>
      </p:sp>
      <p:sp>
        <p:nvSpPr>
          <p:cNvPr id="18" name="step-box"/>
          <p:cNvSpPr/>
          <p:nvPr/>
        </p:nvSpPr>
        <p:spPr>
          <a:xfrm>
            <a:off x="6126480" y="3825748"/>
            <a:ext cx="5379415" cy="794512"/>
          </a:xfrm>
          <a:prstGeom prst="roundRect">
            <a:avLst>
              <a:gd name="adj" fmla="val 11509"/>
            </a:avLst>
          </a:prstGeom>
          <a:solidFill>
            <a:srgbClr val="F0F2F7"/>
          </a:solidFill>
          <a:ln/>
        </p:spPr>
      </p:sp>
      <p:sp>
        <p:nvSpPr>
          <p:cNvPr id="19" name="step-hex"/>
          <p:cNvSpPr/>
          <p:nvPr/>
        </p:nvSpPr>
        <p:spPr>
          <a:xfrm>
            <a:off x="6217920" y="4040874"/>
            <a:ext cx="420624" cy="364260"/>
          </a:xfrm>
          <a:prstGeom prst="hexagon">
            <a:avLst/>
          </a:prstGeom>
          <a:solidFill>
            <a:srgbClr val="2E4A8C"/>
          </a:solidFill>
          <a:ln/>
        </p:spPr>
      </p:sp>
      <p:sp>
        <p:nvSpPr>
          <p:cNvPr id="20" name="step-hex-label"/>
          <p:cNvSpPr txBox="1"/>
          <p:nvPr/>
        </p:nvSpPr>
        <p:spPr>
          <a:xfrm>
            <a:off x="6217920" y="404087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825748"/>
            <a:ext cx="4739335" cy="79451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Two gaps to the left of zero is two steps of 5 below zero.</a:t>
            </a:r>
            <a:endParaRPr lang="en-US" sz="1800" dirty="0"/>
          </a:p>
        </p:txBody>
      </p:sp>
      <p:sp>
        <p:nvSpPr>
          <p:cNvPr id="22" name="step-box"/>
          <p:cNvSpPr/>
          <p:nvPr/>
        </p:nvSpPr>
        <p:spPr>
          <a:xfrm>
            <a:off x="6126480" y="4711700"/>
            <a:ext cx="5379415" cy="566928"/>
          </a:xfrm>
          <a:prstGeom prst="roundRect">
            <a:avLst>
              <a:gd name="adj" fmla="val 16129"/>
            </a:avLst>
          </a:prstGeom>
          <a:solidFill>
            <a:srgbClr val="F0F2F7"/>
          </a:solidFill>
          <a:ln/>
        </p:spPr>
      </p:sp>
      <p:sp>
        <p:nvSpPr>
          <p:cNvPr id="23" name="step-hex"/>
          <p:cNvSpPr/>
          <p:nvPr/>
        </p:nvSpPr>
        <p:spPr>
          <a:xfrm>
            <a:off x="6217920" y="4813034"/>
            <a:ext cx="420624" cy="364260"/>
          </a:xfrm>
          <a:prstGeom prst="hexagon">
            <a:avLst/>
          </a:prstGeom>
          <a:solidFill>
            <a:srgbClr val="2E4A8C"/>
          </a:solidFill>
          <a:ln/>
        </p:spPr>
      </p:sp>
      <p:sp>
        <p:nvSpPr>
          <p:cNvPr id="24" name="step-hex-label"/>
          <p:cNvSpPr txBox="1"/>
          <p:nvPr/>
        </p:nvSpPr>
        <p:spPr>
          <a:xfrm>
            <a:off x="6217920" y="481303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711700"/>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0 − 5 − 5 = −10.</a:t>
            </a:r>
            <a:endParaRPr lang="en-US" sz="1800" dirty="0"/>
          </a:p>
        </p:txBody>
      </p:sp>
      <p:sp>
        <p:nvSpPr>
          <p:cNvPr id="26" name="worked-answer"/>
          <p:cNvSpPr/>
          <p:nvPr/>
        </p:nvSpPr>
        <p:spPr>
          <a:xfrm>
            <a:off x="6126480" y="5415788"/>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−10</a:t>
            </a:r>
            <a:endParaRPr lang="en-US" sz="1800" dirty="0"/>
          </a:p>
        </p:txBody>
      </p:sp>
      <p:sp>
        <p:nvSpPr>
          <p:cNvPr id="27" name="bullet-card"/>
          <p:cNvSpPr/>
          <p:nvPr/>
        </p:nvSpPr>
        <p:spPr>
          <a:xfrm>
            <a:off x="548640" y="1389888"/>
            <a:ext cx="5074920" cy="1131147"/>
          </a:xfrm>
          <a:prstGeom prst="roundRect">
            <a:avLst>
              <a:gd name="adj" fmla="val 6467"/>
            </a:avLst>
          </a:prstGeom>
          <a:solidFill>
            <a:srgbClr val="F5F6F9"/>
          </a:solidFill>
          <a:ln/>
        </p:spPr>
      </p:sp>
      <p:sp>
        <p:nvSpPr>
          <p:cNvPr id="28" name="bullet-hex"/>
          <p:cNvSpPr/>
          <p:nvPr/>
        </p:nvSpPr>
        <p:spPr>
          <a:xfrm>
            <a:off x="676656" y="1789169"/>
            <a:ext cx="384048" cy="332586"/>
          </a:xfrm>
          <a:prstGeom prst="hexagon">
            <a:avLst/>
          </a:prstGeom>
          <a:solidFill>
            <a:srgbClr val="2E4A8C"/>
          </a:solidFill>
          <a:ln/>
        </p:spPr>
      </p:sp>
      <p:sp>
        <p:nvSpPr>
          <p:cNvPr id="29" name="bullet"/>
          <p:cNvSpPr txBox="1"/>
          <p:nvPr/>
        </p:nvSpPr>
        <p:spPr>
          <a:xfrm>
            <a:off x="1143000" y="1389888"/>
            <a:ext cx="4389120" cy="1131147"/>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On a number line the gaps are always the same size.</a:t>
            </a:r>
            <a:endParaRPr lang="en-US" sz="2200" dirty="0"/>
          </a:p>
        </p:txBody>
      </p:sp>
      <p:sp>
        <p:nvSpPr>
          <p:cNvPr id="30" name="bullet-card"/>
          <p:cNvSpPr/>
          <p:nvPr/>
        </p:nvSpPr>
        <p:spPr>
          <a:xfrm>
            <a:off x="548640" y="2667339"/>
            <a:ext cx="5074920" cy="1131147"/>
          </a:xfrm>
          <a:prstGeom prst="roundRect">
            <a:avLst>
              <a:gd name="adj" fmla="val 6467"/>
            </a:avLst>
          </a:prstGeom>
          <a:solidFill>
            <a:srgbClr val="F5F6F9"/>
          </a:solidFill>
          <a:ln/>
        </p:spPr>
      </p:sp>
      <p:sp>
        <p:nvSpPr>
          <p:cNvPr id="31" name="bullet-hex"/>
          <p:cNvSpPr/>
          <p:nvPr/>
        </p:nvSpPr>
        <p:spPr>
          <a:xfrm>
            <a:off x="676656" y="3066619"/>
            <a:ext cx="384048" cy="332586"/>
          </a:xfrm>
          <a:prstGeom prst="hexagon">
            <a:avLst/>
          </a:prstGeom>
          <a:solidFill>
            <a:srgbClr val="B8862B"/>
          </a:solidFill>
          <a:ln/>
        </p:spPr>
      </p:sp>
      <p:sp>
        <p:nvSpPr>
          <p:cNvPr id="32" name="bullet"/>
          <p:cNvSpPr txBox="1"/>
          <p:nvPr/>
        </p:nvSpPr>
        <p:spPr>
          <a:xfrm>
            <a:off x="1143000" y="2667339"/>
            <a:ext cx="4389120" cy="1131147"/>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If a line goes from 0 to 10 in five equal gaps, each gap is worth 2.</a:t>
            </a:r>
            <a:endParaRPr lang="en-US" sz="2200" dirty="0"/>
          </a:p>
        </p:txBody>
      </p:sp>
      <p:sp>
        <p:nvSpPr>
          <p:cNvPr id="33" name="bullet-card"/>
          <p:cNvSpPr/>
          <p:nvPr/>
        </p:nvSpPr>
        <p:spPr>
          <a:xfrm>
            <a:off x="548640" y="3944789"/>
            <a:ext cx="5074920" cy="1131147"/>
          </a:xfrm>
          <a:prstGeom prst="roundRect">
            <a:avLst>
              <a:gd name="adj" fmla="val 6467"/>
            </a:avLst>
          </a:prstGeom>
          <a:solidFill>
            <a:srgbClr val="F5F6F9"/>
          </a:solidFill>
          <a:ln/>
        </p:spPr>
      </p:sp>
      <p:sp>
        <p:nvSpPr>
          <p:cNvPr id="34" name="bullet-hex"/>
          <p:cNvSpPr/>
          <p:nvPr/>
        </p:nvSpPr>
        <p:spPr>
          <a:xfrm>
            <a:off x="676656" y="4344070"/>
            <a:ext cx="384048" cy="332586"/>
          </a:xfrm>
          <a:prstGeom prst="hexagon">
            <a:avLst/>
          </a:prstGeom>
          <a:solidFill>
            <a:srgbClr val="2E4A8C"/>
          </a:solidFill>
          <a:ln/>
        </p:spPr>
      </p:sp>
      <p:sp>
        <p:nvSpPr>
          <p:cNvPr id="35" name="bullet"/>
          <p:cNvSpPr txBox="1"/>
          <p:nvPr/>
        </p:nvSpPr>
        <p:spPr>
          <a:xfrm>
            <a:off x="1143000" y="3944789"/>
            <a:ext cx="4389120" cy="1131147"/>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thermometer works the same way, but it stands up.</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Comparing and ordering</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5074920"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4206240"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 bigger digit does not mean a bigger number when it is negative: −9 &lt; −2.</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9DAAC9"/>
            </a:solidFill>
            <a:prstDash val="solid"/>
          </a:ln>
        </p:spPr>
      </p:sp>
      <p:sp>
        <p:nvSpPr>
          <p:cNvPr id="12" name="worked-tab"/>
          <p:cNvSpPr/>
          <p:nvPr/>
        </p:nvSpPr>
        <p:spPr>
          <a:xfrm>
            <a:off x="6126480" y="1499616"/>
            <a:ext cx="2377440" cy="457200"/>
          </a:xfrm>
          <a:prstGeom prst="roundRect">
            <a:avLst>
              <a:gd name="adj" fmla="val 40000"/>
            </a:avLst>
          </a:prstGeom>
          <a:solidFill>
            <a:srgbClr val="2E4A8C"/>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405892"/>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Write −3, 4, −8, 0, 1 in ascending order.</a:t>
            </a:r>
            <a:endParaRPr lang="en-US" sz="1800" dirty="0"/>
          </a:p>
        </p:txBody>
      </p:sp>
      <p:sp>
        <p:nvSpPr>
          <p:cNvPr id="14" name="step-box"/>
          <p:cNvSpPr/>
          <p:nvPr/>
        </p:nvSpPr>
        <p:spPr>
          <a:xfrm>
            <a:off x="6126480" y="2609596"/>
            <a:ext cx="5379415" cy="566928"/>
          </a:xfrm>
          <a:prstGeom prst="roundRect">
            <a:avLst>
              <a:gd name="adj" fmla="val 16129"/>
            </a:avLst>
          </a:prstGeom>
          <a:solidFill>
            <a:srgbClr val="F0F2F7"/>
          </a:solidFill>
          <a:ln/>
        </p:spPr>
      </p:sp>
      <p:sp>
        <p:nvSpPr>
          <p:cNvPr id="15" name="step-hex"/>
          <p:cNvSpPr/>
          <p:nvPr/>
        </p:nvSpPr>
        <p:spPr>
          <a:xfrm>
            <a:off x="6217920" y="2710930"/>
            <a:ext cx="420624" cy="364260"/>
          </a:xfrm>
          <a:prstGeom prst="hexagon">
            <a:avLst/>
          </a:prstGeom>
          <a:solidFill>
            <a:srgbClr val="2E4A8C"/>
          </a:solidFill>
          <a:ln/>
        </p:spPr>
      </p:sp>
      <p:sp>
        <p:nvSpPr>
          <p:cNvPr id="16" name="step-hex-label"/>
          <p:cNvSpPr txBox="1"/>
          <p:nvPr/>
        </p:nvSpPr>
        <p:spPr>
          <a:xfrm>
            <a:off x="6217920" y="2710930"/>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609596"/>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Find the negative numbers: −3 and −8.</a:t>
            </a:r>
            <a:endParaRPr lang="en-US" sz="1800" dirty="0"/>
          </a:p>
        </p:txBody>
      </p:sp>
      <p:sp>
        <p:nvSpPr>
          <p:cNvPr id="18" name="step-box"/>
          <p:cNvSpPr/>
          <p:nvPr/>
        </p:nvSpPr>
        <p:spPr>
          <a:xfrm>
            <a:off x="6126480" y="3267964"/>
            <a:ext cx="5379415" cy="566928"/>
          </a:xfrm>
          <a:prstGeom prst="roundRect">
            <a:avLst>
              <a:gd name="adj" fmla="val 16129"/>
            </a:avLst>
          </a:prstGeom>
          <a:solidFill>
            <a:srgbClr val="F0F2F7"/>
          </a:solidFill>
          <a:ln/>
        </p:spPr>
      </p:sp>
      <p:sp>
        <p:nvSpPr>
          <p:cNvPr id="19" name="step-hex"/>
          <p:cNvSpPr/>
          <p:nvPr/>
        </p:nvSpPr>
        <p:spPr>
          <a:xfrm>
            <a:off x="6217920" y="3369298"/>
            <a:ext cx="420624" cy="364260"/>
          </a:xfrm>
          <a:prstGeom prst="hexagon">
            <a:avLst/>
          </a:prstGeom>
          <a:solidFill>
            <a:srgbClr val="2E4A8C"/>
          </a:solidFill>
          <a:ln/>
        </p:spPr>
      </p:sp>
      <p:sp>
        <p:nvSpPr>
          <p:cNvPr id="20" name="step-hex-label"/>
          <p:cNvSpPr txBox="1"/>
          <p:nvPr/>
        </p:nvSpPr>
        <p:spPr>
          <a:xfrm>
            <a:off x="6217920" y="3369298"/>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267964"/>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−8 is further left than −3, so −8 comes first.</a:t>
            </a:r>
            <a:endParaRPr lang="en-US" sz="1800" dirty="0"/>
          </a:p>
        </p:txBody>
      </p:sp>
      <p:sp>
        <p:nvSpPr>
          <p:cNvPr id="22" name="step-box"/>
          <p:cNvSpPr/>
          <p:nvPr/>
        </p:nvSpPr>
        <p:spPr>
          <a:xfrm>
            <a:off x="6126480" y="3926332"/>
            <a:ext cx="5379415" cy="566928"/>
          </a:xfrm>
          <a:prstGeom prst="roundRect">
            <a:avLst>
              <a:gd name="adj" fmla="val 16129"/>
            </a:avLst>
          </a:prstGeom>
          <a:solidFill>
            <a:srgbClr val="F0F2F7"/>
          </a:solidFill>
          <a:ln/>
        </p:spPr>
      </p:sp>
      <p:sp>
        <p:nvSpPr>
          <p:cNvPr id="23" name="step-hex"/>
          <p:cNvSpPr/>
          <p:nvPr/>
        </p:nvSpPr>
        <p:spPr>
          <a:xfrm>
            <a:off x="6217920" y="4027666"/>
            <a:ext cx="420624" cy="364260"/>
          </a:xfrm>
          <a:prstGeom prst="hexagon">
            <a:avLst/>
          </a:prstGeom>
          <a:solidFill>
            <a:srgbClr val="2E4A8C"/>
          </a:solidFill>
          <a:ln/>
        </p:spPr>
      </p:sp>
      <p:sp>
        <p:nvSpPr>
          <p:cNvPr id="24" name="step-hex-label"/>
          <p:cNvSpPr txBox="1"/>
          <p:nvPr/>
        </p:nvSpPr>
        <p:spPr>
          <a:xfrm>
            <a:off x="6217920" y="4027666"/>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3926332"/>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Then zero, then the positive numbers: 1, 4.</a:t>
            </a:r>
            <a:endParaRPr lang="en-US" sz="1800" dirty="0"/>
          </a:p>
        </p:txBody>
      </p:sp>
      <p:sp>
        <p:nvSpPr>
          <p:cNvPr id="26" name="worked-answer"/>
          <p:cNvSpPr/>
          <p:nvPr/>
        </p:nvSpPr>
        <p:spPr>
          <a:xfrm>
            <a:off x="6126480" y="4630420"/>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−8, −3, 0, 1, 4</a:t>
            </a:r>
            <a:endParaRPr lang="en-US" sz="1800" dirty="0"/>
          </a:p>
        </p:txBody>
      </p:sp>
      <p:sp>
        <p:nvSpPr>
          <p:cNvPr id="27" name="bullet-card"/>
          <p:cNvSpPr/>
          <p:nvPr/>
        </p:nvSpPr>
        <p:spPr>
          <a:xfrm>
            <a:off x="548640" y="1389888"/>
            <a:ext cx="5074920" cy="1027853"/>
          </a:xfrm>
          <a:prstGeom prst="roundRect">
            <a:avLst>
              <a:gd name="adj" fmla="val 7117"/>
            </a:avLst>
          </a:prstGeom>
          <a:solidFill>
            <a:srgbClr val="F5F6F9"/>
          </a:solidFill>
          <a:ln/>
        </p:spPr>
      </p:sp>
      <p:sp>
        <p:nvSpPr>
          <p:cNvPr id="28" name="bullet-hex"/>
          <p:cNvSpPr/>
          <p:nvPr/>
        </p:nvSpPr>
        <p:spPr>
          <a:xfrm>
            <a:off x="676656" y="1737522"/>
            <a:ext cx="384048" cy="332586"/>
          </a:xfrm>
          <a:prstGeom prst="hexagon">
            <a:avLst/>
          </a:prstGeom>
          <a:solidFill>
            <a:srgbClr val="2E4A8C"/>
          </a:solidFill>
          <a:ln/>
        </p:spPr>
      </p:sp>
      <p:sp>
        <p:nvSpPr>
          <p:cNvPr id="29" name="bullet"/>
          <p:cNvSpPr txBox="1"/>
          <p:nvPr/>
        </p:nvSpPr>
        <p:spPr>
          <a:xfrm>
            <a:off x="1143000" y="1389888"/>
            <a:ext cx="4389120" cy="1027853"/>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symbol &gt; means 'is greater than'. The symbol &lt; means 'is less than'.</a:t>
            </a:r>
            <a:endParaRPr lang="en-US" sz="2000" dirty="0"/>
          </a:p>
        </p:txBody>
      </p:sp>
      <p:sp>
        <p:nvSpPr>
          <p:cNvPr id="30" name="bullet-card"/>
          <p:cNvSpPr/>
          <p:nvPr/>
        </p:nvSpPr>
        <p:spPr>
          <a:xfrm>
            <a:off x="548640" y="2564045"/>
            <a:ext cx="5074920" cy="1027853"/>
          </a:xfrm>
          <a:prstGeom prst="roundRect">
            <a:avLst>
              <a:gd name="adj" fmla="val 7117"/>
            </a:avLst>
          </a:prstGeom>
          <a:solidFill>
            <a:srgbClr val="F5F6F9"/>
          </a:solidFill>
          <a:ln/>
        </p:spPr>
      </p:sp>
      <p:sp>
        <p:nvSpPr>
          <p:cNvPr id="31" name="bullet-hex"/>
          <p:cNvSpPr/>
          <p:nvPr/>
        </p:nvSpPr>
        <p:spPr>
          <a:xfrm>
            <a:off x="676656" y="2911679"/>
            <a:ext cx="384048" cy="332586"/>
          </a:xfrm>
          <a:prstGeom prst="hexagon">
            <a:avLst/>
          </a:prstGeom>
          <a:solidFill>
            <a:srgbClr val="B8862B"/>
          </a:solidFill>
          <a:ln/>
        </p:spPr>
      </p:sp>
      <p:sp>
        <p:nvSpPr>
          <p:cNvPr id="32" name="bullet"/>
          <p:cNvSpPr txBox="1"/>
          <p:nvPr/>
        </p:nvSpPr>
        <p:spPr>
          <a:xfrm>
            <a:off x="1143000" y="2564045"/>
            <a:ext cx="4389120" cy="1027853"/>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On a number line, the number further to the right is always greater.</a:t>
            </a:r>
            <a:endParaRPr lang="en-US" sz="2000" dirty="0"/>
          </a:p>
        </p:txBody>
      </p:sp>
      <p:sp>
        <p:nvSpPr>
          <p:cNvPr id="33" name="bullet-card"/>
          <p:cNvSpPr/>
          <p:nvPr/>
        </p:nvSpPr>
        <p:spPr>
          <a:xfrm>
            <a:off x="548640" y="3738203"/>
            <a:ext cx="5074920" cy="1337733"/>
          </a:xfrm>
          <a:prstGeom prst="roundRect">
            <a:avLst>
              <a:gd name="adj" fmla="val 5468"/>
            </a:avLst>
          </a:prstGeom>
          <a:solidFill>
            <a:srgbClr val="F5F6F9"/>
          </a:solidFill>
          <a:ln/>
        </p:spPr>
      </p:sp>
      <p:sp>
        <p:nvSpPr>
          <p:cNvPr id="34" name="bullet-hex"/>
          <p:cNvSpPr/>
          <p:nvPr/>
        </p:nvSpPr>
        <p:spPr>
          <a:xfrm>
            <a:off x="676656" y="4240777"/>
            <a:ext cx="384048" cy="332586"/>
          </a:xfrm>
          <a:prstGeom prst="hexagon">
            <a:avLst/>
          </a:prstGeom>
          <a:solidFill>
            <a:srgbClr val="2E4A8C"/>
          </a:solidFill>
          <a:ln/>
        </p:spPr>
      </p:sp>
      <p:sp>
        <p:nvSpPr>
          <p:cNvPr id="35" name="bullet"/>
          <p:cNvSpPr txBox="1"/>
          <p:nvPr/>
        </p:nvSpPr>
        <p:spPr>
          <a:xfrm>
            <a:off x="1143000" y="3738203"/>
            <a:ext cx="4389120" cy="1337733"/>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To write numbers in ascending order, start with the number furthest left on the number line.</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2E4A8C"/>
                </a:solidFill>
                <a:latin typeface="Cambria" pitchFamily="34" charset="0"/>
                <a:ea typeface="Cambria" pitchFamily="34" charset="-122"/>
                <a:cs typeface="Cambria" pitchFamily="34" charset="-120"/>
              </a:rPr>
              <a:t>Same task, three ways in: Read the number line</a:t>
            </a:r>
            <a:endParaRPr lang="en-US" sz="30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84732"/>
          </a:xfrm>
          <a:prstGeom prst="roundRect">
            <a:avLst>
              <a:gd name="adj" fmla="val 7117"/>
            </a:avLst>
          </a:prstGeom>
          <a:solidFill>
            <a:srgbClr val="FFFFFF"/>
          </a:solidFill>
          <a:ln w="31750">
            <a:solidFill>
              <a:srgbClr val="B8862B"/>
            </a:solidFill>
            <a:prstDash val="solid"/>
          </a:ln>
        </p:spPr>
      </p:sp>
      <p:sp>
        <p:nvSpPr>
          <p:cNvPr id="8" name="task-hex"/>
          <p:cNvSpPr/>
          <p:nvPr/>
        </p:nvSpPr>
        <p:spPr>
          <a:xfrm>
            <a:off x="777240" y="1715506"/>
            <a:ext cx="731520" cy="633496"/>
          </a:xfrm>
          <a:prstGeom prst="hexagon">
            <a:avLst/>
          </a:prstGeom>
          <a:solidFill>
            <a:srgbClr val="B8862B"/>
          </a:solidFill>
          <a:ln/>
        </p:spPr>
      </p:sp>
      <p:sp>
        <p:nvSpPr>
          <p:cNvPr id="9" name="task-hex-label"/>
          <p:cNvSpPr txBox="1"/>
          <p:nvPr/>
        </p:nvSpPr>
        <p:spPr>
          <a:xfrm>
            <a:off x="777240" y="171550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75793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10185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 number line goes from 0 to 30 in three equal gaps. An arrow is two gaps to the left of 0. What number is it pointing to?</a:t>
            </a:r>
            <a:endParaRPr lang="en-US" sz="2000" dirty="0"/>
          </a:p>
          <a:p>
            <a:pPr algn="ctr" indent="0" marL="0">
              <a:buNone/>
            </a:pPr>
            <a:r>
              <a:rPr lang="en-US" sz="1800" b="1" dirty="0">
                <a:solidFill>
                  <a:srgbClr val="2E4A8C"/>
                </a:solidFill>
                <a:latin typeface="Calibri" pitchFamily="34" charset="0"/>
                <a:ea typeface="Calibri" pitchFamily="34" charset="-122"/>
                <a:cs typeface="Calibri" pitchFamily="34" charset="-120"/>
              </a:rPr>
              <a:t>Answer:  </a:t>
            </a:r>
            <a:pPr algn="ctr" indent="0" marL="0">
              <a:buNone/>
            </a:pPr>
            <a:r>
              <a:rPr lang="en-US" sz="1800" dirty="0">
                <a:solidFill>
                  <a:srgbClr val="1E2229"/>
                </a:solidFill>
                <a:latin typeface="Calibri" pitchFamily="34" charset="0"/>
                <a:ea typeface="Calibri" pitchFamily="34" charset="-122"/>
                <a:cs typeface="Calibri" pitchFamily="34" charset="-120"/>
              </a:rPr>
              <a:t>__________</a:t>
            </a:r>
            <a:endParaRPr lang="en-US" sz="2000" dirty="0"/>
          </a:p>
        </p:txBody>
      </p:sp>
      <p:sp>
        <p:nvSpPr>
          <p:cNvPr id="12" name="col-Support"/>
          <p:cNvSpPr/>
          <p:nvPr/>
        </p:nvSpPr>
        <p:spPr>
          <a:xfrm>
            <a:off x="548640" y="2948940"/>
            <a:ext cx="3515258" cy="3195828"/>
          </a:xfrm>
          <a:prstGeom prst="roundRect">
            <a:avLst>
              <a:gd name="adj" fmla="val 1717"/>
            </a:avLst>
          </a:prstGeom>
          <a:solidFill>
            <a:srgbClr val="F0F2F7"/>
          </a:solidFill>
          <a:ln/>
        </p:spPr>
      </p:sp>
      <p:sp>
        <p:nvSpPr>
          <p:cNvPr id="13" name="col-hex"/>
          <p:cNvSpPr/>
          <p:nvPr/>
        </p:nvSpPr>
        <p:spPr>
          <a:xfrm>
            <a:off x="658368" y="302209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589020"/>
            <a:ext cx="3240938" cy="2446020"/>
          </a:xfrm>
          <a:prstGeom prst="rect">
            <a:avLst/>
          </a:prstGeom>
          <a:noFill/>
          <a:ln/>
        </p:spPr>
        <p:txBody>
          <a:bodyPr wrap="square" lIns="63500" tIns="63500" rIns="63500" bIns="63500" rtlCol="0" anchor="t"/>
          <a:lstStyle/>
          <a:p>
            <a:pPr algn="l" indent="0" marL="0">
              <a:spcAft>
                <a:spcPts val="600"/>
              </a:spcAft>
              <a:buNone/>
            </a:pPr>
            <a:r>
              <a:rPr lang="en-US" sz="2000" b="1" dirty="0">
                <a:solidFill>
                  <a:srgbClr val="2E4A8C"/>
                </a:solidFill>
                <a:latin typeface="Calibri" pitchFamily="34" charset="0"/>
                <a:ea typeface="Calibri" pitchFamily="34" charset="-122"/>
                <a:cs typeface="Calibri" pitchFamily="34" charset="-120"/>
              </a:rPr>
              <a:t>1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Find the value of one gap: divide the length by the number of gaps.</a:t>
            </a:r>
            <a:endParaRPr lang="en-US" sz="2000" dirty="0"/>
          </a:p>
          <a:p>
            <a:pPr algn="l" indent="0" marL="0">
              <a:spcAft>
                <a:spcPts val="600"/>
              </a:spcAft>
              <a:buNone/>
            </a:pPr>
            <a:r>
              <a:rPr lang="en-US" sz="2000" b="1" dirty="0">
                <a:solidFill>
                  <a:srgbClr val="2E4A8C"/>
                </a:solidFill>
                <a:latin typeface="Calibri" pitchFamily="34" charset="0"/>
                <a:ea typeface="Calibri" pitchFamily="34" charset="-122"/>
                <a:cs typeface="Calibri" pitchFamily="34" charset="-120"/>
              </a:rPr>
              <a:t>2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Count the gaps from zero.</a:t>
            </a:r>
            <a:endParaRPr lang="en-US" sz="2000" dirty="0"/>
          </a:p>
          <a:p>
            <a:pPr algn="l" indent="0" marL="0">
              <a:spcAft>
                <a:spcPts val="600"/>
              </a:spcAft>
              <a:buNone/>
            </a:pPr>
            <a:r>
              <a:rPr lang="en-US" sz="2000" b="1" dirty="0">
                <a:solidFill>
                  <a:srgbClr val="2E4A8C"/>
                </a:solidFill>
                <a:latin typeface="Calibri" pitchFamily="34" charset="0"/>
                <a:ea typeface="Calibri" pitchFamily="34" charset="-122"/>
                <a:cs typeface="Calibri" pitchFamily="34" charset="-120"/>
              </a:rPr>
              <a:t>3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Left of zero means the number is negative.</a:t>
            </a:r>
            <a:endParaRPr lang="en-US" sz="2000" dirty="0"/>
          </a:p>
        </p:txBody>
      </p:sp>
      <p:sp>
        <p:nvSpPr>
          <p:cNvPr id="17" name="col-Core"/>
          <p:cNvSpPr/>
          <p:nvPr/>
        </p:nvSpPr>
        <p:spPr>
          <a:xfrm>
            <a:off x="4338218" y="2948940"/>
            <a:ext cx="3515258" cy="3195828"/>
          </a:xfrm>
          <a:prstGeom prst="roundRect">
            <a:avLst>
              <a:gd name="adj" fmla="val 1717"/>
            </a:avLst>
          </a:prstGeom>
          <a:solidFill>
            <a:srgbClr val="D7DDE9"/>
          </a:solidFill>
          <a:ln/>
        </p:spPr>
      </p:sp>
      <p:sp>
        <p:nvSpPr>
          <p:cNvPr id="18" name="col-hex"/>
          <p:cNvSpPr/>
          <p:nvPr/>
        </p:nvSpPr>
        <p:spPr>
          <a:xfrm>
            <a:off x="4447946" y="302209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589020"/>
            <a:ext cx="3240938" cy="2446020"/>
          </a:xfrm>
          <a:prstGeom prst="rect">
            <a:avLst/>
          </a:prstGeom>
          <a:noFill/>
          <a:ln/>
        </p:spPr>
        <p:txBody>
          <a:bodyPr wrap="square" lIns="63500" tIns="63500" rIns="63500" bIns="63500" rtlCol="0" anchor="t"/>
          <a:lstStyle/>
          <a:p>
            <a:pPr algn="l" indent="0" marL="0">
              <a:buNone/>
            </a:pPr>
            <a:r>
              <a:rPr lang="en-US" sz="2000" b="1" dirty="0">
                <a:solidFill>
                  <a:srgbClr val="253B70"/>
                </a:solidFill>
                <a:latin typeface="Calibri" pitchFamily="34" charset="0"/>
                <a:ea typeface="Calibri" pitchFamily="34" charset="-122"/>
                <a:cs typeface="Calibri" pitchFamily="34" charset="-120"/>
              </a:rPr>
              <a:t>Hint:  </a:t>
            </a:r>
            <a:pPr algn="l" indent="0" marL="0">
              <a:buNone/>
            </a:pPr>
            <a:r>
              <a:rPr lang="en-US" sz="2000" dirty="0">
                <a:solidFill>
                  <a:srgbClr val="1E2229"/>
                </a:solidFill>
                <a:latin typeface="Calibri" pitchFamily="34" charset="0"/>
                <a:ea typeface="Calibri" pitchFamily="34" charset="-122"/>
                <a:cs typeface="Calibri" pitchFamily="34" charset="-120"/>
              </a:rPr>
              <a:t>Work out what one gap is worth first.</a:t>
            </a:r>
            <a:endParaRPr lang="en-US" sz="2000" dirty="0"/>
          </a:p>
        </p:txBody>
      </p:sp>
      <p:sp>
        <p:nvSpPr>
          <p:cNvPr id="22" name="col-Stretch"/>
          <p:cNvSpPr/>
          <p:nvPr/>
        </p:nvSpPr>
        <p:spPr>
          <a:xfrm>
            <a:off x="8127797" y="2948940"/>
            <a:ext cx="3515258" cy="3195828"/>
          </a:xfrm>
          <a:prstGeom prst="roundRect">
            <a:avLst>
              <a:gd name="adj" fmla="val 1717"/>
            </a:avLst>
          </a:prstGeom>
          <a:solidFill>
            <a:srgbClr val="2E4A8C"/>
          </a:solidFill>
          <a:ln/>
        </p:spPr>
      </p:sp>
      <p:sp>
        <p:nvSpPr>
          <p:cNvPr id="23" name="col-hex"/>
          <p:cNvSpPr/>
          <p:nvPr/>
        </p:nvSpPr>
        <p:spPr>
          <a:xfrm>
            <a:off x="8237525" y="302209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589020"/>
            <a:ext cx="3240938" cy="2446020"/>
          </a:xfrm>
          <a:prstGeom prst="rect">
            <a:avLst/>
          </a:prstGeom>
          <a:noFill/>
          <a:ln/>
        </p:spPr>
        <p:txBody>
          <a:bodyPr wrap="square" lIns="63500" tIns="63500" rIns="63500" bIns="63500" rtlCol="0" anchor="t"/>
          <a:lstStyle/>
          <a:p>
            <a:pPr algn="l" indent="0" marL="0">
              <a:buNone/>
            </a:pPr>
            <a:r>
              <a:rPr lang="en-US" sz="2000" b="1" dirty="0">
                <a:solidFill>
                  <a:srgbClr val="D4B680"/>
                </a:solidFill>
                <a:latin typeface="Calibri" pitchFamily="34" charset="0"/>
                <a:ea typeface="Calibri" pitchFamily="34" charset="-122"/>
                <a:cs typeface="Calibri" pitchFamily="34" charset="-120"/>
              </a:rPr>
              <a:t>Then:  </a:t>
            </a:r>
            <a:pPr algn="l" indent="0" marL="0">
              <a:buNone/>
            </a:pPr>
            <a:r>
              <a:rPr lang="en-US" sz="2000" dirty="0">
                <a:solidFill>
                  <a:srgbClr val="FFFFFF"/>
                </a:solidFill>
                <a:latin typeface="Calibri" pitchFamily="34" charset="0"/>
                <a:ea typeface="Calibri" pitchFamily="34" charset="-122"/>
                <a:cs typeface="Calibri" pitchFamily="34" charset="-120"/>
              </a:rPr>
              <a:t>Another arrow on the same line points to −35. Which two marks does it sit between, and where exactly? Explain how you know.</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2E4A8C"/>
                </a:solidFill>
                <a:latin typeface="Cambria" pitchFamily="34" charset="0"/>
                <a:ea typeface="Cambria" pitchFamily="34" charset="-122"/>
                <a:cs typeface="Cambria" pitchFamily="34" charset="-120"/>
              </a:rPr>
              <a:t>Same task, three ways in: Compare with &lt; and &gt;</a:t>
            </a:r>
            <a:endParaRPr lang="en-US" sz="30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74852"/>
          </a:xfrm>
          <a:prstGeom prst="roundRect">
            <a:avLst>
              <a:gd name="adj" fmla="val 9380"/>
            </a:avLst>
          </a:prstGeom>
          <a:solidFill>
            <a:srgbClr val="FFFFFF"/>
          </a:solidFill>
          <a:ln w="31750">
            <a:solidFill>
              <a:srgbClr val="B8862B"/>
            </a:solidFill>
            <a:prstDash val="solid"/>
          </a:ln>
        </p:spPr>
      </p:sp>
      <p:sp>
        <p:nvSpPr>
          <p:cNvPr id="8" name="task-hex"/>
          <p:cNvSpPr/>
          <p:nvPr/>
        </p:nvSpPr>
        <p:spPr>
          <a:xfrm>
            <a:off x="777240" y="1560566"/>
            <a:ext cx="731520" cy="633496"/>
          </a:xfrm>
          <a:prstGeom prst="hexagon">
            <a:avLst/>
          </a:prstGeom>
          <a:solidFill>
            <a:srgbClr val="B8862B"/>
          </a:solidFill>
          <a:ln/>
        </p:spPr>
      </p:sp>
      <p:sp>
        <p:nvSpPr>
          <p:cNvPr id="9" name="task-hex-label"/>
          <p:cNvSpPr txBox="1"/>
          <p:nvPr/>
        </p:nvSpPr>
        <p:spPr>
          <a:xfrm>
            <a:off x="777240" y="156056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60299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9197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Which statement is true?</a:t>
            </a:r>
            <a:endParaRPr lang="en-US" sz="2000" dirty="0"/>
          </a:p>
          <a:p>
            <a:pPr algn="ctr" indent="0" marL="0">
              <a:buNone/>
            </a:pPr>
            <a:r>
              <a:rPr lang="en-US" sz="1800" b="1" dirty="0">
                <a:solidFill>
                  <a:srgbClr val="B8862B"/>
                </a:solidFill>
                <a:latin typeface="Calibri" pitchFamily="34" charset="0"/>
                <a:ea typeface="Calibri" pitchFamily="34" charset="-122"/>
                <a:cs typeface="Calibri" pitchFamily="34" charset="-120"/>
              </a:rPr>
              <a:t>A  </a:t>
            </a:r>
            <a:pPr algn="ctr" indent="0" marL="0">
              <a:buNone/>
            </a:pPr>
            <a:r>
              <a:rPr lang="en-US" sz="1800" dirty="0">
                <a:solidFill>
                  <a:srgbClr val="1E2229"/>
                </a:solidFill>
                <a:latin typeface="Calibri" pitchFamily="34" charset="0"/>
                <a:ea typeface="Calibri" pitchFamily="34" charset="-122"/>
                <a:cs typeface="Calibri" pitchFamily="34" charset="-120"/>
              </a:rPr>
              <a:t>−3 &lt; −8      </a:t>
            </a:r>
            <a:pPr algn="ctr" indent="0" marL="0">
              <a:buNone/>
            </a:pPr>
            <a:r>
              <a:rPr lang="en-US" sz="1800" b="1" dirty="0">
                <a:solidFill>
                  <a:srgbClr val="B8862B"/>
                </a:solidFill>
                <a:latin typeface="Calibri" pitchFamily="34" charset="0"/>
                <a:ea typeface="Calibri" pitchFamily="34" charset="-122"/>
                <a:cs typeface="Calibri" pitchFamily="34" charset="-120"/>
              </a:rPr>
              <a:t>B  </a:t>
            </a:r>
            <a:pPr algn="ctr" indent="0" marL="0">
              <a:buNone/>
            </a:pPr>
            <a:r>
              <a:rPr lang="en-US" sz="1800" dirty="0">
                <a:solidFill>
                  <a:srgbClr val="1E2229"/>
                </a:solidFill>
                <a:latin typeface="Calibri" pitchFamily="34" charset="0"/>
                <a:ea typeface="Calibri" pitchFamily="34" charset="-122"/>
                <a:cs typeface="Calibri" pitchFamily="34" charset="-120"/>
              </a:rPr>
              <a:t>0 &lt; −2      </a:t>
            </a:r>
            <a:pPr algn="ctr" indent="0" marL="0">
              <a:buNone/>
            </a:pPr>
            <a:r>
              <a:rPr lang="en-US" sz="1800" b="1" dirty="0">
                <a:solidFill>
                  <a:srgbClr val="B8862B"/>
                </a:solidFill>
                <a:latin typeface="Calibri" pitchFamily="34" charset="0"/>
                <a:ea typeface="Calibri" pitchFamily="34" charset="-122"/>
                <a:cs typeface="Calibri" pitchFamily="34" charset="-120"/>
              </a:rPr>
              <a:t>C  </a:t>
            </a:r>
            <a:pPr algn="ctr" indent="0" marL="0">
              <a:buNone/>
            </a:pPr>
            <a:r>
              <a:rPr lang="en-US" sz="1800" dirty="0">
                <a:solidFill>
                  <a:srgbClr val="1E2229"/>
                </a:solidFill>
                <a:latin typeface="Calibri" pitchFamily="34" charset="0"/>
                <a:ea typeface="Calibri" pitchFamily="34" charset="-122"/>
                <a:cs typeface="Calibri" pitchFamily="34" charset="-120"/>
              </a:rPr>
              <a:t>−4 &gt; −10      </a:t>
            </a:r>
            <a:pPr algn="ctr" indent="0" marL="0">
              <a:buNone/>
            </a:pPr>
            <a:r>
              <a:rPr lang="en-US" sz="1800" b="1" dirty="0">
                <a:solidFill>
                  <a:srgbClr val="B8862B"/>
                </a:solidFill>
                <a:latin typeface="Calibri" pitchFamily="34" charset="0"/>
                <a:ea typeface="Calibri" pitchFamily="34" charset="-122"/>
                <a:cs typeface="Calibri" pitchFamily="34" charset="-120"/>
              </a:rPr>
              <a:t>D  </a:t>
            </a:r>
            <a:pPr algn="ctr" indent="0" marL="0">
              <a:buNone/>
            </a:pPr>
            <a:r>
              <a:rPr lang="en-US" sz="1800" dirty="0">
                <a:solidFill>
                  <a:srgbClr val="1E2229"/>
                </a:solidFill>
                <a:latin typeface="Calibri" pitchFamily="34" charset="0"/>
                <a:ea typeface="Calibri" pitchFamily="34" charset="-122"/>
                <a:cs typeface="Calibri" pitchFamily="34" charset="-120"/>
              </a:rPr>
              <a:t>−6 &gt; −1</a:t>
            </a:r>
            <a:endParaRPr lang="en-US" sz="2000" dirty="0"/>
          </a:p>
        </p:txBody>
      </p:sp>
      <p:sp>
        <p:nvSpPr>
          <p:cNvPr id="12" name="col-Support"/>
          <p:cNvSpPr/>
          <p:nvPr/>
        </p:nvSpPr>
        <p:spPr>
          <a:xfrm>
            <a:off x="548640" y="2639060"/>
            <a:ext cx="3515258" cy="3505708"/>
          </a:xfrm>
          <a:prstGeom prst="roundRect">
            <a:avLst>
              <a:gd name="adj" fmla="val 1565"/>
            </a:avLst>
          </a:prstGeom>
          <a:solidFill>
            <a:srgbClr val="F0F2F7"/>
          </a:solidFill>
          <a:ln/>
        </p:spPr>
      </p:sp>
      <p:sp>
        <p:nvSpPr>
          <p:cNvPr id="13" name="col-hex"/>
          <p:cNvSpPr/>
          <p:nvPr/>
        </p:nvSpPr>
        <p:spPr>
          <a:xfrm>
            <a:off x="658368" y="271221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71221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75636"/>
            <a:ext cx="2783738"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79140"/>
            <a:ext cx="3240938" cy="2755900"/>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2E4A8C"/>
                </a:solidFill>
                <a:latin typeface="Calibri" pitchFamily="34" charset="0"/>
                <a:ea typeface="Calibri" pitchFamily="34" charset="-122"/>
                <a:cs typeface="Calibri" pitchFamily="34" charset="-120"/>
              </a:rPr>
              <a:t>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Picture both numbers on a number line.</a:t>
            </a:r>
            <a:endParaRPr lang="en-US" sz="2200" dirty="0"/>
          </a:p>
          <a:p>
            <a:pPr algn="l" indent="0" marL="0">
              <a:spcAft>
                <a:spcPts val="600"/>
              </a:spcAft>
              <a:buNone/>
            </a:pPr>
            <a:r>
              <a:rPr lang="en-US" sz="2200" b="1" dirty="0">
                <a:solidFill>
                  <a:srgbClr val="2E4A8C"/>
                </a:solidFill>
                <a:latin typeface="Calibri" pitchFamily="34" charset="0"/>
                <a:ea typeface="Calibri" pitchFamily="34" charset="-122"/>
                <a:cs typeface="Calibri" pitchFamily="34" charset="-120"/>
              </a:rPr>
              <a:t>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one further right is greater.</a:t>
            </a:r>
            <a:endParaRPr lang="en-US" sz="2200" dirty="0"/>
          </a:p>
          <a:p>
            <a:pPr algn="l" indent="0" marL="0">
              <a:spcAft>
                <a:spcPts val="600"/>
              </a:spcAft>
              <a:buNone/>
            </a:pPr>
            <a:r>
              <a:rPr lang="en-US" sz="2200" b="1" dirty="0">
                <a:solidFill>
                  <a:srgbClr val="2E4A8C"/>
                </a:solidFill>
                <a:latin typeface="Calibri" pitchFamily="34" charset="0"/>
                <a:ea typeface="Calibri" pitchFamily="34" charset="-122"/>
                <a:cs typeface="Calibri" pitchFamily="34" charset="-120"/>
              </a:rPr>
              <a:t>3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wide side of the sign faces the greater number.</a:t>
            </a:r>
            <a:endParaRPr lang="en-US" sz="2200" dirty="0"/>
          </a:p>
        </p:txBody>
      </p:sp>
      <p:sp>
        <p:nvSpPr>
          <p:cNvPr id="17" name="col-Core"/>
          <p:cNvSpPr/>
          <p:nvPr/>
        </p:nvSpPr>
        <p:spPr>
          <a:xfrm>
            <a:off x="4338218" y="2639060"/>
            <a:ext cx="3515258" cy="3505708"/>
          </a:xfrm>
          <a:prstGeom prst="roundRect">
            <a:avLst>
              <a:gd name="adj" fmla="val 1565"/>
            </a:avLst>
          </a:prstGeom>
          <a:solidFill>
            <a:srgbClr val="D7DDE9"/>
          </a:solidFill>
          <a:ln/>
        </p:spPr>
      </p:sp>
      <p:sp>
        <p:nvSpPr>
          <p:cNvPr id="18" name="col-hex"/>
          <p:cNvSpPr/>
          <p:nvPr/>
        </p:nvSpPr>
        <p:spPr>
          <a:xfrm>
            <a:off x="4447946" y="271221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71221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675636"/>
            <a:ext cx="2783738"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279140"/>
            <a:ext cx="3240938" cy="2755900"/>
          </a:xfrm>
          <a:prstGeom prst="rect">
            <a:avLst/>
          </a:prstGeom>
          <a:noFill/>
          <a:ln/>
        </p:spPr>
        <p:txBody>
          <a:bodyPr wrap="square" lIns="63500" tIns="63500" rIns="63500" bIns="63500" rtlCol="0" anchor="t"/>
          <a:lstStyle/>
          <a:p>
            <a:pPr algn="l" indent="0" marL="0">
              <a:buNone/>
            </a:pPr>
            <a:r>
              <a:rPr lang="en-US" sz="2200" b="1" dirty="0">
                <a:solidFill>
                  <a:srgbClr val="253B70"/>
                </a:solidFill>
                <a:latin typeface="Calibri" pitchFamily="34" charset="0"/>
                <a:ea typeface="Calibri" pitchFamily="34" charset="-122"/>
                <a:cs typeface="Calibri" pitchFamily="34" charset="-120"/>
              </a:rPr>
              <a:t>Hint:  </a:t>
            </a:r>
            <a:pPr algn="l" indent="0" marL="0">
              <a:buNone/>
            </a:pPr>
            <a:r>
              <a:rPr lang="en-US" sz="2200" dirty="0">
                <a:solidFill>
                  <a:srgbClr val="1E2229"/>
                </a:solidFill>
                <a:latin typeface="Calibri" pitchFamily="34" charset="0"/>
                <a:ea typeface="Calibri" pitchFamily="34" charset="-122"/>
                <a:cs typeface="Calibri" pitchFamily="34" charset="-120"/>
              </a:rPr>
              <a:t>With two negative numbers, the one closer to zero is greater.</a:t>
            </a:r>
            <a:endParaRPr lang="en-US" sz="2200" dirty="0"/>
          </a:p>
        </p:txBody>
      </p:sp>
      <p:sp>
        <p:nvSpPr>
          <p:cNvPr id="22" name="col-Stretch"/>
          <p:cNvSpPr/>
          <p:nvPr/>
        </p:nvSpPr>
        <p:spPr>
          <a:xfrm>
            <a:off x="8127797" y="2639060"/>
            <a:ext cx="3515258" cy="3505708"/>
          </a:xfrm>
          <a:prstGeom prst="roundRect">
            <a:avLst>
              <a:gd name="adj" fmla="val 1565"/>
            </a:avLst>
          </a:prstGeom>
          <a:solidFill>
            <a:srgbClr val="2E4A8C"/>
          </a:solidFill>
          <a:ln/>
        </p:spPr>
      </p:sp>
      <p:sp>
        <p:nvSpPr>
          <p:cNvPr id="23" name="col-hex"/>
          <p:cNvSpPr/>
          <p:nvPr/>
        </p:nvSpPr>
        <p:spPr>
          <a:xfrm>
            <a:off x="8237525" y="271221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71221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675636"/>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279140"/>
            <a:ext cx="3240938" cy="2755900"/>
          </a:xfrm>
          <a:prstGeom prst="rect">
            <a:avLst/>
          </a:prstGeom>
          <a:noFill/>
          <a:ln/>
        </p:spPr>
        <p:txBody>
          <a:bodyPr wrap="square" lIns="63500" tIns="63500" rIns="63500" bIns="63500" rtlCol="0" anchor="t"/>
          <a:lstStyle/>
          <a:p>
            <a:pPr algn="l" indent="0" marL="0">
              <a:buNone/>
            </a:pPr>
            <a:r>
              <a:rPr lang="en-US" sz="2200" b="1" dirty="0">
                <a:solidFill>
                  <a:srgbClr val="D4B680"/>
                </a:solidFill>
                <a:latin typeface="Calibri" pitchFamily="34" charset="0"/>
                <a:ea typeface="Calibri" pitchFamily="34" charset="-122"/>
                <a:cs typeface="Calibri" pitchFamily="34" charset="-120"/>
              </a:rPr>
              <a:t>Then:  </a:t>
            </a:r>
            <a:pPr algn="l" indent="0" marL="0">
              <a:buNone/>
            </a:pPr>
            <a:r>
              <a:rPr lang="en-US" sz="2200" dirty="0">
                <a:solidFill>
                  <a:srgbClr val="FFFFFF"/>
                </a:solidFill>
                <a:latin typeface="Calibri" pitchFamily="34" charset="0"/>
                <a:ea typeface="Calibri" pitchFamily="34" charset="-122"/>
                <a:cs typeface="Calibri" pitchFamily="34" charset="-120"/>
              </a:rPr>
              <a:t>Max says −7 is greater than 3, because 7 is bigger than 3. Explain his mistake using a number line.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2E4A8C"/>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2E4A8C"/>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3032252"/>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Put these numbers in ascending order (smallest first): −1, 6, −9, 0, −5.</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0</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6</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−5</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−9</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E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−1</a:t>
            </a:r>
            <a:endParaRPr lang="en-US" sz="2400" dirty="0"/>
          </a:p>
        </p:txBody>
      </p:sp>
      <p:sp>
        <p:nvSpPr>
          <p:cNvPr id="11" name="exit-answer-box"/>
          <p:cNvSpPr/>
          <p:nvPr/>
        </p:nvSpPr>
        <p:spPr>
          <a:xfrm>
            <a:off x="2286000" y="5184648"/>
            <a:ext cx="7619695" cy="685800"/>
          </a:xfrm>
          <a:prstGeom prst="roundRect">
            <a:avLst>
              <a:gd name="adj" fmla="val 13333"/>
            </a:avLst>
          </a:prstGeom>
          <a:solidFill>
            <a:srgbClr val="F7F8FA"/>
          </a:solidFill>
          <a:ln w="12700">
            <a:solidFill>
              <a:srgbClr val="9DAAC9"/>
            </a:solidFill>
            <a:prstDash val="solid"/>
          </a:ln>
        </p:spPr>
      </p:sp>
      <p:sp>
        <p:nvSpPr>
          <p:cNvPr id="12" name="exit-answer-label"/>
          <p:cNvSpPr txBox="1"/>
          <p:nvPr/>
        </p:nvSpPr>
        <p:spPr>
          <a:xfrm>
            <a:off x="2423160" y="5184648"/>
            <a:ext cx="2926080" cy="685800"/>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 Read the number line</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number line goes from 0 to 30 in three equal gaps. An arrow is two gaps to the left of 0. What number is it pointing to?</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−20</a:t>
            </a:r>
            <a:endParaRPr lang="en-US" sz="1800" dirty="0"/>
          </a:p>
        </p:txBody>
      </p:sp>
      <p:sp>
        <p:nvSpPr>
          <p:cNvPr id="10" name="why-panel"/>
          <p:cNvSpPr/>
          <p:nvPr/>
        </p:nvSpPr>
        <p:spPr>
          <a:xfrm>
            <a:off x="7223760" y="1389888"/>
            <a:ext cx="4419295" cy="4754880"/>
          </a:xfrm>
          <a:prstGeom prst="roundRect">
            <a:avLst>
              <a:gd name="adj" fmla="val 1035"/>
            </a:avLst>
          </a:prstGeom>
          <a:solidFill>
            <a:srgbClr val="F0F2F7"/>
          </a:solidFill>
          <a:ln/>
        </p:spPr>
      </p:sp>
      <p:sp>
        <p:nvSpPr>
          <p:cNvPr id="11" name="why-hex"/>
          <p:cNvSpPr/>
          <p:nvPr/>
        </p:nvSpPr>
        <p:spPr>
          <a:xfrm>
            <a:off x="7406640" y="1572768"/>
            <a:ext cx="685800" cy="593903"/>
          </a:xfrm>
          <a:prstGeom prst="hexagon">
            <a:avLst/>
          </a:prstGeom>
          <a:solidFill>
            <a:srgbClr val="2E4A8C"/>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Each gap is 30 ÷ 3 = 10. Two gaps to the left of zero is −20.</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 Compare with &lt; and &gt;</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Which statement is true?</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C   −4 &gt; −10</a:t>
            </a:r>
            <a:endParaRPr lang="en-US" sz="1800" dirty="0"/>
          </a:p>
        </p:txBody>
      </p:sp>
      <p:sp>
        <p:nvSpPr>
          <p:cNvPr id="10" name="why-panel"/>
          <p:cNvSpPr/>
          <p:nvPr/>
        </p:nvSpPr>
        <p:spPr>
          <a:xfrm>
            <a:off x="7223760" y="1389888"/>
            <a:ext cx="4419295" cy="4754880"/>
          </a:xfrm>
          <a:prstGeom prst="roundRect">
            <a:avLst>
              <a:gd name="adj" fmla="val 1035"/>
            </a:avLst>
          </a:prstGeom>
          <a:solidFill>
            <a:srgbClr val="F0F2F7"/>
          </a:solidFill>
          <a:ln/>
        </p:spPr>
      </p:sp>
      <p:sp>
        <p:nvSpPr>
          <p:cNvPr id="11" name="why-hex"/>
          <p:cNvSpPr/>
          <p:nvPr/>
        </p:nvSpPr>
        <p:spPr>
          <a:xfrm>
            <a:off x="7406640" y="1572768"/>
            <a:ext cx="685800" cy="593903"/>
          </a:xfrm>
          <a:prstGeom prst="hexagon">
            <a:avLst/>
          </a:prstGeom>
          <a:solidFill>
            <a:srgbClr val="2E4A8C"/>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−4 is closer to zero than −10, so −4 is further right and greater. The other three statements are false.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−9  (D)</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−5  (C)</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−1  (E)</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0  (A)</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6  (B)</a:t>
            </a:r>
            <a:endParaRPr lang="en-US" sz="2400" dirty="0"/>
          </a:p>
        </p:txBody>
      </p:sp>
      <p:sp>
        <p:nvSpPr>
          <p:cNvPr id="10" name="why-panel"/>
          <p:cNvSpPr/>
          <p:nvPr/>
        </p:nvSpPr>
        <p:spPr>
          <a:xfrm>
            <a:off x="7223760" y="1389888"/>
            <a:ext cx="4419295" cy="4754880"/>
          </a:xfrm>
          <a:prstGeom prst="roundRect">
            <a:avLst>
              <a:gd name="adj" fmla="val 1035"/>
            </a:avLst>
          </a:prstGeom>
          <a:solidFill>
            <a:srgbClr val="F0F2F7"/>
          </a:solidFill>
          <a:ln/>
        </p:spPr>
      </p:sp>
      <p:sp>
        <p:nvSpPr>
          <p:cNvPr id="11" name="why-hex"/>
          <p:cNvSpPr/>
          <p:nvPr/>
        </p:nvSpPr>
        <p:spPr>
          <a:xfrm>
            <a:off x="7406640" y="1572768"/>
            <a:ext cx="685800" cy="593903"/>
          </a:xfrm>
          <a:prstGeom prst="hexagon">
            <a:avLst/>
          </a:prstGeom>
          <a:solidFill>
            <a:srgbClr val="2E4A8C"/>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On the number line −9 is furthest left and 6 is furthest right, so the order is −9, −5, −1, 0, 6.</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Ad Astra maths">
  <a:themeElements>
    <a:clrScheme name="Ad Astra maths">
      <a:dk1>
        <a:srgbClr val="1E2229"/>
      </a:dk1>
      <a:lt1>
        <a:srgbClr val="FFFFFF"/>
      </a:lt1>
      <a:dk2>
        <a:srgbClr val="253B70"/>
      </a:dk2>
      <a:lt2>
        <a:srgbClr val="F0F2F7"/>
      </a:lt2>
      <a:accent1>
        <a:srgbClr val="2E4A8C"/>
      </a:accent1>
      <a:accent2>
        <a:srgbClr val="B8862B"/>
      </a:accent2>
      <a:accent3>
        <a:srgbClr val="8292BA"/>
      </a:accent3>
      <a:accent4>
        <a:srgbClr val="815E1E"/>
      </a:accent4>
      <a:accent5>
        <a:srgbClr val="4A505C"/>
      </a:accent5>
      <a:accent6>
        <a:srgbClr val="DEC69B"/>
      </a:accent6>
      <a:hlink>
        <a:srgbClr val="2E4A8C"/>
      </a:hlink>
      <a:folHlink>
        <a:srgbClr val="203462"/>
      </a:folHlink>
    </a:clrScheme>
    <a:fontScheme name="Ad Astra math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Directed Number · Chapter 1: The number line and ordering</dc:title>
  <dc:subject>Mathematics · Year 7</dc:subject>
  <dc:creator>Dr Vitor Merissi de Carvalho</dc:creator>
  <cp:lastModifiedBy>Dr Vitor Merissi de Carvalho</cp:lastModifiedBy>
  <cp:revision>1</cp:revision>
  <dcterms:created xsi:type="dcterms:W3CDTF">2026-10-19T16:23:21Z</dcterms:created>
  <dcterms:modified xsi:type="dcterms:W3CDTF">2026-10-19T16:23:21Z</dcterms:modified>
</cp:coreProperties>
</file>