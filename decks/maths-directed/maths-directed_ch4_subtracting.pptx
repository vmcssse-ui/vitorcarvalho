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353c75c-2434-5d2c-b74d-e3f66f8654ce}">
          <p14:sldIdLst>
            <p14:sldId id="256"/>
          </p14:sldIdLst>
        </p14:section>
        <p14:section name="Gate" id="{6699c271-c36c-9442-1b2d-65166e3b10ec}">
          <p14:sldIdLst>
            <p14:sldId id="257"/>
            <p14:sldId id="258"/>
          </p14:sldIdLst>
        </p14:section>
        <p14:section name="Pre-teach" id="{be6b6614-f74f-47c9-8a57-ca324b327c99}">
          <p14:sldIdLst>
            <p14:sldId id="259"/>
          </p14:sldIdLst>
        </p14:section>
        <p14:section name="Read-along" id="{103ac4ea-cc36-eeee-1b15-48924cb9463c}">
          <p14:sldIdLst>
            <p14:sldId id="260"/>
            <p14:sldId id="261"/>
          </p14:sldIdLst>
        </p14:section>
        <p14:section name="Teach" id="{d7ff7d3e-0d8c-46a2-e8e9-de8d3d21a52c}">
          <p14:sldIdLst>
            <p14:sldId id="262"/>
            <p14:sldId id="263"/>
            <p14:sldId id="264"/>
          </p14:sldIdLst>
        </p14:section>
        <p14:section name="Routes" id="{7affc92d-b290-0b57-d801-f088c15f889d}">
          <p14:sldIdLst>
            <p14:sldId id="265"/>
            <p14:sldId id="266"/>
          </p14:sldIdLst>
        </p14:section>
        <p14:section name="Close" id="{cb6d2e12-5a11-30b6-8e7f-da34b0328c13}">
          <p14:sldIdLst>
            <p14:sldId id="267"/>
          </p14:sldIdLst>
        </p14:section>
        <p14:section name="Answers" id="{17e3f0d4-32d9-1a40-6c9d-5314a6bf3e22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 of 6: Subtracting directed numbers. Subtract positive and negative numbers, and see why taking away a negative makes a number bigger.
This deck covers the department's lesson: 6 (Subtract directed numbers: Why does subtracting a negative number make the answer bigger?).
Read the big question aloud: "What happens to numbers below zero, and how do we calculate with them?" We come back to it at the exit ticket.
Before this lesson the pre-teach group has heard the read-along and met the key words; today they lead the reading. Lesson shape: do now (recall before any help), key words, read-along, teach, then the same task three ways in (Support, Core, Stretch), exit ticket, answers. Every pupil works towards the same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retrieval. Silent, no notes, no help: recall comes before any support. Give about four minutes.
1. Work out −6 + (−3).  →  −9
2. Work out 7 − 10.  →  C   −3
3. Subtracting a negative number is the same as ___ a positive number.  →  adding
Circulate: who gets 3/3 (Stretch route), 2/3 (Core), 0–1 (Support)? Use this to route pupils later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pupils mark their own in a different colour, then hands up for 3/3, 2/3, 1/3.
1. −9. Both numbers are negative, so there are no zero pairs: 6 + 3 = 9, and the answer is −9.
2. C   −3. Take 7 to reach zero, then 3 more. You land on −3.
3. adding. Taking away negative counters leaves extra positive counters, so the value goes up.
Say the route each score points to: 3/3 Stretch, 2/3 Core, 0–1 Support. Pupils may choose to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subtract: to take away. Example: "Subtract 3 from 10 to get 7."
• minus: the word we say for the − sign when we take away. Example: "We read 5 − 2 as five minus two."
• negative: below zero. Example: "We read −3 as negative three."
• opposite: the move that undoes another move. Example: "Adding is the opposite of subtracting."
• rewrite: to write a calculation again in an easier way. Example: "Rewrite 5 − (−2) as 5 + 2."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1–6 of 12:
1. Taking away a negative is a surprise.
2. It makes the number bigger.
3. Think of 3 − (−2).
4. Put out 3 positive counters.
5. There are no negative counters to take.
6. So add two zero pairs.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7–12 of 12:
7. The value is still 3.
8. Now take away the 2 negative counters.
9. 5 positive counters are left.
10. So 3 − (−2) is 5.
11. Taking away a negative is the same as adding.
12. Read it as: three minus negative two.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Subtracting a positive number. Say it in your own words, then check understanding with a quick question: ask a pupil from the pre-teach group first, since they met these words and ideas before the lesson. Pupils try to recall before you re-explain.
Subtracting a positive number moves you left on the number line. You already know this from crossing zero: 2 − 6 = −4.
If you start below zero, you move further left. −3 − 5 = −8. The answer is more negative.
Some pupils think 'two minus signs make a positive' here. That is not true. −3 − 5 has one negative number and one subtraction, and you simply move left.
Worked example — model it step by step, thinking aloud: Work out −4 − 7. (1) Start at −4. (2) Subtract 7: move 7 to the left. (3) 4 + 7 = 11, so you end up 11 below zero. (4) −4 − 7 = −11. Answer: −11.
Tip: Subtracting a positive number: move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Subtracting a negative number. Say it in your own words, then check understanding with a quick question: ask a pupil from the pre-teach group first, since they met these words and ideas before the lesson. Pupils try to recall before you re-explain.
To take away negative counters, you need some to take. Add zero pairs first. They do not change the value. Then take the negatives away, and extra positives are left.
For 4 − (−3), start with 4 positive counters. Add 3 zero pairs. Take away 3 negative counters. 7 positive counters are left, so 4 − (−3) = 7.
On the number line, subtracting a negative moves you right. Subtracting a negative is the same as adding a positive: 4 − (−3) = 4 + 3.
Worked example — model it step by step, thinking aloud: Work out 6 − (−5). (1) Subtracting a negative is the same as adding. (2) Rewrite: 6 − (−5) = 6 + 5. (3) 6 + 5 = 11. Answer: 11.
Tip: Two signs side by side, − (−), become 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Starting from a negative number. Say it in your own words, then check understanding with a quick question: ask a pupil from the pre-teach group first, since they met these words and ideas before the lesson. Pupils try to recall before you re-explain.
The same rule works when you start below zero. −5 − (−3) = −5 + 3 = −2.
−2 − (−6) = −2 + 6 = 4. This time the answer crosses zero.
Check yourself with −9 − (−5). Rewrite it as −9 + 5. You move 5 right from −9 and land on −4. So two negatives do not always give a positive answer.
Worked example — model it step by step, thinking aloud: Work out −8 − (−10). (1) Rewrite: −8 − (−10) = −8 + 10. (2) Move 8 right to reach zero. (3) 10 − 8 = 2, so move 2 more. (4) −8 + 10 = 2. Answer: 2.
Tip: Rewrite first, then use a number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Subtract a negative number.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Work out 5 − (−9).
Support — work through the steps with the group: (1) Spot the two signs side by side: − (−). (2) Change them to +. (3) Work out the addition.
Parallel worked example for Support (model it, do not give the task answer): Work out 3 − (−6). 3 − (−6) = 3 + 6.; 3 + 6 = 9.. Answer: 9.
Core — reveal the hint only on request: 5 − (−9) is the same as 5 + 9.
Stretch — no help; when finished: Use counters and zero pairs to explain why 5 − (−9) gives an answer bigger than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A negative minus a positive.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Work out −12 − 9.
Support — work through the steps with the group: (1) Start at the first number. (2) Subtracting a positive number means moving left. (3) Add the two digits: you go further below zero.
Parallel worked example for Support (model it, do not give the task answer): Work out −3 − 8. Start at −3 and move 8 to the left.; 3 + 8 = 11.; −3 − 8 = −11.. Answer: −11.
Core — reveal the hint only on request: You start 12 below zero and go 9 further down.
Stretch — no help; when finished: Eva works out −2 − 4 and gets 2. She says she took away four negative counters. Explain her mistake, and give the correct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— individual, silent, on a slip or mini-whiteboard. Recall before help: no notes, no lanes, no hints. Collect before pupils leave.
Question: Put these calculations in order, smallest answer first: 4 + (−5), −3 − 6, −1 − (−8), −7 − (−2).
Answer: −3 − 6  (B); −7 − (−2)  (C); 4 + (−5)  (D); −1 − (−8)  (A). The answers are −9, −5, −1 and 7, so that is the order.
Source of this question: module 3 task ("Order the calculations") from the manifest.
Sort the slips: correct → ready to move on; incorrect → start next lesson in the pre-teach group, with the read-along and the Support lane. Same destination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1: Subtract a negative number. Reveal the answer; pupils mark their own work in a different colour, then read the "why" together. Same destination for every lane, so one answer serves the whole class.
Answer: B   14
Why: Subtracting a negative is the same as adding: 5 − (−9) = 5 + 9 = 14.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A negative minus a positive. Reveal the answer; pupils mark their own work in a different colour, then read the "why" together. Same destination for every lane, so one answer serves the whole class.
Answer: −21
Why: You start at −12 and move 9 more to the left: −12 − 9 = −21.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exit ticket: Exit ticket. Reveal the answer; pupils mark their own work in a different colour, then read the "why" together. Same destination for every lane, so one answer serves the whole class.
Answer: −3 − 6  (B); −7 − (−2)  (C); 4 + (−5)  (D); −1 − (−8)  (A)
Why: The answers are −9, −5, −1 and 7, so that is the order.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Directed Number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CONTEN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Directed Number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-hue"/>
          <p:cNvSpPr/>
          <p:nvPr/>
        </p:nvSpPr>
        <p:spPr>
          <a:xfrm>
            <a:off x="0" y="5989320"/>
            <a:ext cx="12191695" cy="164592"/>
          </a:xfrm>
          <a:prstGeom prst="rect">
            <a:avLst/>
          </a:prstGeom>
          <a:solidFill>
            <a:srgbClr val="2E4A8C"/>
          </a:solidFill>
          <a:ln/>
        </p:spPr>
      </p:sp>
      <p:sp>
        <p:nvSpPr>
          <p:cNvPr id="4" name="band-gold"/>
          <p:cNvSpPr/>
          <p:nvPr/>
        </p:nvSpPr>
        <p:spPr>
          <a:xfrm>
            <a:off x="0" y="6208776"/>
            <a:ext cx="12191695" cy="64008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5" name="hex-deco1"/>
          <p:cNvSpPr/>
          <p:nvPr/>
        </p:nvSpPr>
        <p:spPr>
          <a:xfrm>
            <a:off x="1373886" y="276195"/>
            <a:ext cx="525780" cy="455325"/>
          </a:xfrm>
          <a:prstGeom prst="hexagon">
            <a:avLst/>
          </a:prstGeom>
          <a:solidFill>
            <a:srgbClr val="DBE0EB"/>
          </a:solidFill>
          <a:ln/>
        </p:spPr>
      </p:sp>
      <p:sp>
        <p:nvSpPr>
          <p:cNvPr id="6" name="hex-deco2"/>
          <p:cNvSpPr/>
          <p:nvPr/>
        </p:nvSpPr>
        <p:spPr>
          <a:xfrm>
            <a:off x="1373886" y="1168557"/>
            <a:ext cx="525780" cy="455325"/>
          </a:xfrm>
          <a:prstGeom prst="hexagon">
            <a:avLst/>
          </a:prstGeom>
          <a:ln w="19050">
            <a:solidFill>
              <a:srgbClr val="B8862B"/>
            </a:solidFill>
            <a:prstDash val="solid"/>
          </a:ln>
        </p:spPr>
      </p:sp>
      <p:sp>
        <p:nvSpPr>
          <p:cNvPr id="7" name="hex-chapter"/>
          <p:cNvSpPr/>
          <p:nvPr/>
        </p:nvSpPr>
        <p:spPr>
          <a:xfrm>
            <a:off x="548640" y="457200"/>
            <a:ext cx="1051560" cy="910651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8" name="hex-chapter-label"/>
          <p:cNvSpPr txBox="1"/>
          <p:nvPr/>
        </p:nvSpPr>
        <p:spPr>
          <a:xfrm>
            <a:off x="548640" y="457200"/>
            <a:ext cx="1051560" cy="91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kicker"/>
          <p:cNvSpPr txBox="1"/>
          <p:nvPr/>
        </p:nvSpPr>
        <p:spPr>
          <a:xfrm>
            <a:off x="2331720" y="256032"/>
            <a:ext cx="3504895" cy="12984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3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4/6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Number</a:t>
            </a:r>
            <a:endParaRPr lang="en-US" sz="1800" dirty="0"/>
          </a:p>
        </p:txBody>
      </p:sp>
      <p:sp>
        <p:nvSpPr>
          <p:cNvPr id="10" name="deck-title"/>
          <p:cNvSpPr txBox="1"/>
          <p:nvPr/>
        </p:nvSpPr>
        <p:spPr>
          <a:xfrm>
            <a:off x="548640" y="2393188"/>
            <a:ext cx="5287975" cy="1447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directed numbers</a:t>
            </a:r>
            <a:endParaRPr lang="en-US" sz="4000" dirty="0"/>
          </a:p>
        </p:txBody>
      </p:sp>
      <p:sp>
        <p:nvSpPr>
          <p:cNvPr id="11" name="lessons-card"/>
          <p:cNvSpPr/>
          <p:nvPr/>
        </p:nvSpPr>
        <p:spPr>
          <a:xfrm>
            <a:off x="548640" y="4069588"/>
            <a:ext cx="5287975" cy="980440"/>
          </a:xfrm>
          <a:prstGeom prst="roundRect">
            <a:avLst>
              <a:gd name="adj" fmla="val 7461"/>
            </a:avLst>
          </a:prstGeom>
          <a:solidFill>
            <a:srgbClr val="F0F2F7"/>
          </a:solidFill>
          <a:ln/>
        </p:spPr>
      </p:sp>
      <p:sp>
        <p:nvSpPr>
          <p:cNvPr id="12" name="lessons"/>
          <p:cNvSpPr txBox="1"/>
          <p:nvPr/>
        </p:nvSpPr>
        <p:spPr>
          <a:xfrm>
            <a:off x="685800" y="4161028"/>
            <a:ext cx="5013655" cy="797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covered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directed numbers</a:t>
            </a:r>
            <a:endParaRPr lang="en-US" sz="2000" dirty="0"/>
          </a:p>
        </p:txBody>
      </p:sp>
      <p:sp>
        <p:nvSpPr>
          <p:cNvPr id="13" name="plate-frame"/>
          <p:cNvSpPr/>
          <p:nvPr/>
        </p:nvSpPr>
        <p:spPr>
          <a:xfrm>
            <a:off x="6248095" y="411480"/>
            <a:ext cx="5394960" cy="3130677"/>
          </a:xfrm>
          <a:prstGeom prst="rect">
            <a:avLst/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plate" descr="Ad Astra engraved plate for Mathematics, Year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823" y="521208"/>
            <a:ext cx="5175504" cy="2911221"/>
          </a:xfrm>
          <a:prstGeom prst="rect">
            <a:avLst/>
          </a:prstGeom>
        </p:spPr>
      </p:pic>
      <p:sp>
        <p:nvSpPr>
          <p:cNvPr id="15" name="plate-inner"/>
          <p:cNvSpPr/>
          <p:nvPr/>
        </p:nvSpPr>
        <p:spPr>
          <a:xfrm>
            <a:off x="6357823" y="521208"/>
            <a:ext cx="5175504" cy="2911221"/>
          </a:xfrm>
          <a:prstGeom prst="rect">
            <a:avLst/>
          </a:prstGeom>
          <a:ln w="9525">
            <a:solidFill>
              <a:srgbClr val="B8862B"/>
            </a:solidFill>
            <a:prstDash val="solid"/>
          </a:ln>
        </p:spPr>
      </p:sp>
      <p:sp>
        <p:nvSpPr>
          <p:cNvPr id="16" name="stud0"/>
          <p:cNvSpPr/>
          <p:nvPr/>
        </p:nvSpPr>
        <p:spPr>
          <a:xfrm>
            <a:off x="613836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ud1"/>
          <p:cNvSpPr/>
          <p:nvPr/>
        </p:nvSpPr>
        <p:spPr>
          <a:xfrm>
            <a:off x="1153332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ud2"/>
          <p:cNvSpPr/>
          <p:nvPr/>
        </p:nvSpPr>
        <p:spPr>
          <a:xfrm>
            <a:off x="613836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ud3"/>
          <p:cNvSpPr/>
          <p:nvPr/>
        </p:nvSpPr>
        <p:spPr>
          <a:xfrm>
            <a:off x="1153332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q-card"/>
          <p:cNvSpPr/>
          <p:nvPr/>
        </p:nvSpPr>
        <p:spPr>
          <a:xfrm>
            <a:off x="6248095" y="3816477"/>
            <a:ext cx="5394960" cy="2053971"/>
          </a:xfrm>
          <a:prstGeom prst="roundRect">
            <a:avLst>
              <a:gd name="adj" fmla="val 3561"/>
            </a:avLst>
          </a:prstGeom>
          <a:solidFill>
            <a:srgbClr val="F0F2F7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21" name="bq-hex"/>
          <p:cNvSpPr/>
          <p:nvPr/>
        </p:nvSpPr>
        <p:spPr>
          <a:xfrm>
            <a:off x="6412687" y="3999357"/>
            <a:ext cx="621792" cy="53847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2" name="bq-hex-label"/>
          <p:cNvSpPr txBox="1"/>
          <p:nvPr/>
        </p:nvSpPr>
        <p:spPr>
          <a:xfrm>
            <a:off x="6412687" y="3999357"/>
            <a:ext cx="621792" cy="5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bq"/>
          <p:cNvSpPr txBox="1"/>
          <p:nvPr/>
        </p:nvSpPr>
        <p:spPr>
          <a:xfrm>
            <a:off x="7144207" y="3907917"/>
            <a:ext cx="4389120" cy="18710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8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numbers below zero, and how do we calculate with them?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now: three from memory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11" name="card-body"/>
          <p:cNvSpPr txBox="1"/>
          <p:nvPr/>
        </p:nvSpPr>
        <p:spPr>
          <a:xfrm>
            <a:off x="731520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−6 + (−3).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3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4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6" name="card-body"/>
          <p:cNvSpPr txBox="1"/>
          <p:nvPr/>
        </p:nvSpPr>
        <p:spPr>
          <a:xfrm>
            <a:off x="4521098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7 − 10.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8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9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gap</a:t>
            </a:r>
            <a:endParaRPr lang="en-US" sz="1800" dirty="0"/>
          </a:p>
        </p:txBody>
      </p:sp>
      <p:sp>
        <p:nvSpPr>
          <p:cNvPr id="21" name="card-body"/>
          <p:cNvSpPr txBox="1"/>
          <p:nvPr/>
        </p:nvSpPr>
        <p:spPr>
          <a:xfrm>
            <a:off x="8310677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negative number is the same as ___ a positive number.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 ·  subtracting  ·  multiplying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answer-chip"/>
          <p:cNvSpPr/>
          <p:nvPr/>
        </p:nvSpPr>
        <p:spPr>
          <a:xfrm>
            <a:off x="731520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2" name="answer"/>
          <p:cNvSpPr txBox="1"/>
          <p:nvPr/>
        </p:nvSpPr>
        <p:spPr>
          <a:xfrm>
            <a:off x="822960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</a:t>
            </a:r>
            <a:endParaRPr lang="en-US" sz="2200" dirty="0"/>
          </a:p>
        </p:txBody>
      </p:sp>
      <p:sp>
        <p:nvSpPr>
          <p:cNvPr id="13" name="card-body"/>
          <p:cNvSpPr txBox="1"/>
          <p:nvPr/>
        </p:nvSpPr>
        <p:spPr>
          <a:xfrm>
            <a:off x="731520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−6 + (−3).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are negative, so there are no zero pairs: 6 + 3 = 9, and the answer is −9.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5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8" name="answer-chip"/>
          <p:cNvSpPr/>
          <p:nvPr/>
        </p:nvSpPr>
        <p:spPr>
          <a:xfrm>
            <a:off x="4521098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9" name="answer"/>
          <p:cNvSpPr txBox="1"/>
          <p:nvPr/>
        </p:nvSpPr>
        <p:spPr>
          <a:xfrm>
            <a:off x="4612538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−3</a:t>
            </a:r>
            <a:endParaRPr lang="en-US" sz="2200" dirty="0"/>
          </a:p>
        </p:txBody>
      </p:sp>
      <p:sp>
        <p:nvSpPr>
          <p:cNvPr id="20" name="card-body"/>
          <p:cNvSpPr txBox="1"/>
          <p:nvPr/>
        </p:nvSpPr>
        <p:spPr>
          <a:xfrm>
            <a:off x="4521098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7 − 10.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7 to reach zero, then 3 more. You land on −3.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22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25" name="answer-chip"/>
          <p:cNvSpPr/>
          <p:nvPr/>
        </p:nvSpPr>
        <p:spPr>
          <a:xfrm>
            <a:off x="8310677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26" name="answer"/>
          <p:cNvSpPr txBox="1"/>
          <p:nvPr/>
        </p:nvSpPr>
        <p:spPr>
          <a:xfrm>
            <a:off x="8402117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</a:t>
            </a:r>
            <a:endParaRPr lang="en-US" sz="2200" dirty="0"/>
          </a:p>
        </p:txBody>
      </p:sp>
      <p:sp>
        <p:nvSpPr>
          <p:cNvPr id="27" name="card-body"/>
          <p:cNvSpPr txBox="1"/>
          <p:nvPr/>
        </p:nvSpPr>
        <p:spPr>
          <a:xfrm>
            <a:off x="8310677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negative number is the same as ___ a positive number.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away negative counters leaves extra positive counters, so the value goes up.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kw-head"/>
          <p:cNvSpPr/>
          <p:nvPr/>
        </p:nvSpPr>
        <p:spPr>
          <a:xfrm>
            <a:off x="548640" y="1389888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E4A8C"/>
          </a:solidFill>
          <a:ln/>
        </p:spPr>
      </p:sp>
      <p:sp>
        <p:nvSpPr>
          <p:cNvPr id="8" name="kw-headtext"/>
          <p:cNvSpPr txBox="1"/>
          <p:nvPr/>
        </p:nvSpPr>
        <p:spPr>
          <a:xfrm>
            <a:off x="1143000" y="1389888"/>
            <a:ext cx="2331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800" dirty="0"/>
          </a:p>
        </p:txBody>
      </p:sp>
      <p:sp>
        <p:nvSpPr>
          <p:cNvPr id="9" name="kw-headtext"/>
          <p:cNvSpPr txBox="1"/>
          <p:nvPr/>
        </p:nvSpPr>
        <p:spPr>
          <a:xfrm>
            <a:off x="3657600" y="1389888"/>
            <a:ext cx="3474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0" name="kw-headtext"/>
          <p:cNvSpPr txBox="1"/>
          <p:nvPr/>
        </p:nvSpPr>
        <p:spPr>
          <a:xfrm>
            <a:off x="7315200" y="1389888"/>
            <a:ext cx="4236415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sentence</a:t>
            </a:r>
            <a:endParaRPr lang="en-US" sz="1800" dirty="0"/>
          </a:p>
        </p:txBody>
      </p:sp>
      <p:sp>
        <p:nvSpPr>
          <p:cNvPr id="11" name="kw-row"/>
          <p:cNvSpPr/>
          <p:nvPr/>
        </p:nvSpPr>
        <p:spPr>
          <a:xfrm>
            <a:off x="548640" y="1920240"/>
            <a:ext cx="11094415" cy="615086"/>
          </a:xfrm>
          <a:prstGeom prst="roundRect">
            <a:avLst>
              <a:gd name="adj" fmla="val 8920"/>
            </a:avLst>
          </a:prstGeom>
          <a:solidFill>
            <a:srgbClr val="F5F6F9"/>
          </a:solidFill>
          <a:ln/>
        </p:spPr>
      </p:sp>
      <p:sp>
        <p:nvSpPr>
          <p:cNvPr id="12" name="kw-hex"/>
          <p:cNvSpPr/>
          <p:nvPr/>
        </p:nvSpPr>
        <p:spPr>
          <a:xfrm>
            <a:off x="658368" y="2049612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3" name="kw-cell"/>
          <p:cNvSpPr txBox="1"/>
          <p:nvPr/>
        </p:nvSpPr>
        <p:spPr>
          <a:xfrm>
            <a:off x="1143000" y="1920240"/>
            <a:ext cx="2331720" cy="61508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</a:t>
            </a:r>
            <a:endParaRPr lang="en-US" sz="2400" dirty="0"/>
          </a:p>
        </p:txBody>
      </p:sp>
      <p:sp>
        <p:nvSpPr>
          <p:cNvPr id="14" name="kw-cell"/>
          <p:cNvSpPr txBox="1"/>
          <p:nvPr/>
        </p:nvSpPr>
        <p:spPr>
          <a:xfrm>
            <a:off x="3657600" y="1920240"/>
            <a:ext cx="3474720" cy="61508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away</a:t>
            </a:r>
            <a:endParaRPr lang="en-US" sz="2200" dirty="0"/>
          </a:p>
        </p:txBody>
      </p:sp>
      <p:sp>
        <p:nvSpPr>
          <p:cNvPr id="15" name="kw-cell"/>
          <p:cNvSpPr txBox="1"/>
          <p:nvPr/>
        </p:nvSpPr>
        <p:spPr>
          <a:xfrm>
            <a:off x="7315200" y="1920240"/>
            <a:ext cx="4236415" cy="61508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3 from 10 to get 7.</a:t>
            </a:r>
            <a:endParaRPr lang="en-US" sz="2200" dirty="0"/>
          </a:p>
        </p:txBody>
      </p:sp>
      <p:sp>
        <p:nvSpPr>
          <p:cNvPr id="16" name="kw-row"/>
          <p:cNvSpPr/>
          <p:nvPr/>
        </p:nvSpPr>
        <p:spPr>
          <a:xfrm>
            <a:off x="548640" y="2608478"/>
            <a:ext cx="11094415" cy="900582"/>
          </a:xfrm>
          <a:prstGeom prst="roundRect">
            <a:avLst>
              <a:gd name="adj" fmla="val 6092"/>
            </a:avLst>
          </a:prstGeom>
          <a:solidFill>
            <a:srgbClr val="F9F4EC"/>
          </a:solidFill>
          <a:ln/>
        </p:spPr>
      </p:sp>
      <p:sp>
        <p:nvSpPr>
          <p:cNvPr id="17" name="kw-hex"/>
          <p:cNvSpPr/>
          <p:nvPr/>
        </p:nvSpPr>
        <p:spPr>
          <a:xfrm>
            <a:off x="658368" y="2880599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8" name="kw-cell"/>
          <p:cNvSpPr txBox="1"/>
          <p:nvPr/>
        </p:nvSpPr>
        <p:spPr>
          <a:xfrm>
            <a:off x="1143000" y="2608478"/>
            <a:ext cx="2331720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minus</a:t>
            </a:r>
            <a:endParaRPr lang="en-US" sz="2400" dirty="0"/>
          </a:p>
        </p:txBody>
      </p:sp>
      <p:sp>
        <p:nvSpPr>
          <p:cNvPr id="19" name="kw-cell"/>
          <p:cNvSpPr txBox="1"/>
          <p:nvPr/>
        </p:nvSpPr>
        <p:spPr>
          <a:xfrm>
            <a:off x="3657600" y="2608478"/>
            <a:ext cx="3474720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we say for the − sign when we take away</a:t>
            </a:r>
            <a:endParaRPr lang="en-US" sz="2200" dirty="0"/>
          </a:p>
        </p:txBody>
      </p:sp>
      <p:sp>
        <p:nvSpPr>
          <p:cNvPr id="20" name="kw-cell"/>
          <p:cNvSpPr txBox="1"/>
          <p:nvPr/>
        </p:nvSpPr>
        <p:spPr>
          <a:xfrm>
            <a:off x="7315200" y="2608478"/>
            <a:ext cx="4236415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5 − 2 as five minus two.</a:t>
            </a:r>
            <a:endParaRPr lang="en-US" sz="2200" dirty="0"/>
          </a:p>
        </p:txBody>
      </p:sp>
      <p:sp>
        <p:nvSpPr>
          <p:cNvPr id="21" name="kw-row"/>
          <p:cNvSpPr/>
          <p:nvPr/>
        </p:nvSpPr>
        <p:spPr>
          <a:xfrm>
            <a:off x="548640" y="3582213"/>
            <a:ext cx="11094415" cy="615086"/>
          </a:xfrm>
          <a:prstGeom prst="roundRect">
            <a:avLst>
              <a:gd name="adj" fmla="val 8920"/>
            </a:avLst>
          </a:prstGeom>
          <a:solidFill>
            <a:srgbClr val="F5F6F9"/>
          </a:solidFill>
          <a:ln/>
        </p:spPr>
      </p:sp>
      <p:sp>
        <p:nvSpPr>
          <p:cNvPr id="22" name="kw-hex"/>
          <p:cNvSpPr/>
          <p:nvPr/>
        </p:nvSpPr>
        <p:spPr>
          <a:xfrm>
            <a:off x="658368" y="3711585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kw-cell"/>
          <p:cNvSpPr txBox="1"/>
          <p:nvPr/>
        </p:nvSpPr>
        <p:spPr>
          <a:xfrm>
            <a:off x="1143000" y="3582213"/>
            <a:ext cx="2331720" cy="61508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2400" dirty="0"/>
          </a:p>
        </p:txBody>
      </p:sp>
      <p:sp>
        <p:nvSpPr>
          <p:cNvPr id="24" name="kw-cell"/>
          <p:cNvSpPr txBox="1"/>
          <p:nvPr/>
        </p:nvSpPr>
        <p:spPr>
          <a:xfrm>
            <a:off x="3657600" y="3582213"/>
            <a:ext cx="3474720" cy="61508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zero</a:t>
            </a:r>
            <a:endParaRPr lang="en-US" sz="2200" dirty="0"/>
          </a:p>
        </p:txBody>
      </p:sp>
      <p:sp>
        <p:nvSpPr>
          <p:cNvPr id="25" name="kw-cell"/>
          <p:cNvSpPr txBox="1"/>
          <p:nvPr/>
        </p:nvSpPr>
        <p:spPr>
          <a:xfrm>
            <a:off x="7315200" y="3582213"/>
            <a:ext cx="4236415" cy="61508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−3 as negative three.</a:t>
            </a:r>
            <a:endParaRPr lang="en-US" sz="2200" dirty="0"/>
          </a:p>
        </p:txBody>
      </p:sp>
      <p:sp>
        <p:nvSpPr>
          <p:cNvPr id="26" name="kw-row"/>
          <p:cNvSpPr/>
          <p:nvPr/>
        </p:nvSpPr>
        <p:spPr>
          <a:xfrm>
            <a:off x="548640" y="4270451"/>
            <a:ext cx="11094415" cy="900582"/>
          </a:xfrm>
          <a:prstGeom prst="roundRect">
            <a:avLst>
              <a:gd name="adj" fmla="val 6092"/>
            </a:avLst>
          </a:prstGeom>
          <a:solidFill>
            <a:srgbClr val="F9F4EC"/>
          </a:solidFill>
          <a:ln/>
        </p:spPr>
      </p:sp>
      <p:sp>
        <p:nvSpPr>
          <p:cNvPr id="27" name="kw-hex"/>
          <p:cNvSpPr/>
          <p:nvPr/>
        </p:nvSpPr>
        <p:spPr>
          <a:xfrm>
            <a:off x="658368" y="4542572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8" name="kw-cell"/>
          <p:cNvSpPr txBox="1"/>
          <p:nvPr/>
        </p:nvSpPr>
        <p:spPr>
          <a:xfrm>
            <a:off x="1143000" y="4270451"/>
            <a:ext cx="2331720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opposite</a:t>
            </a:r>
            <a:endParaRPr lang="en-US" sz="2400" dirty="0"/>
          </a:p>
        </p:txBody>
      </p:sp>
      <p:sp>
        <p:nvSpPr>
          <p:cNvPr id="29" name="kw-cell"/>
          <p:cNvSpPr txBox="1"/>
          <p:nvPr/>
        </p:nvSpPr>
        <p:spPr>
          <a:xfrm>
            <a:off x="3657600" y="4270451"/>
            <a:ext cx="3474720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that undoes another move</a:t>
            </a:r>
            <a:endParaRPr lang="en-US" sz="2200" dirty="0"/>
          </a:p>
        </p:txBody>
      </p:sp>
      <p:sp>
        <p:nvSpPr>
          <p:cNvPr id="30" name="kw-cell"/>
          <p:cNvSpPr txBox="1"/>
          <p:nvPr/>
        </p:nvSpPr>
        <p:spPr>
          <a:xfrm>
            <a:off x="7315200" y="4270451"/>
            <a:ext cx="4236415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is the opposite of subtracting.</a:t>
            </a:r>
            <a:endParaRPr lang="en-US" sz="2200" dirty="0"/>
          </a:p>
        </p:txBody>
      </p:sp>
      <p:sp>
        <p:nvSpPr>
          <p:cNvPr id="31" name="kw-row"/>
          <p:cNvSpPr/>
          <p:nvPr/>
        </p:nvSpPr>
        <p:spPr>
          <a:xfrm>
            <a:off x="548640" y="5244186"/>
            <a:ext cx="11094415" cy="900582"/>
          </a:xfrm>
          <a:prstGeom prst="roundRect">
            <a:avLst>
              <a:gd name="adj" fmla="val 6092"/>
            </a:avLst>
          </a:prstGeom>
          <a:solidFill>
            <a:srgbClr val="F5F6F9"/>
          </a:solidFill>
          <a:ln/>
        </p:spPr>
      </p:sp>
      <p:sp>
        <p:nvSpPr>
          <p:cNvPr id="32" name="kw-hex"/>
          <p:cNvSpPr/>
          <p:nvPr/>
        </p:nvSpPr>
        <p:spPr>
          <a:xfrm>
            <a:off x="658368" y="5516306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3" name="kw-cell"/>
          <p:cNvSpPr txBox="1"/>
          <p:nvPr/>
        </p:nvSpPr>
        <p:spPr>
          <a:xfrm>
            <a:off x="1143000" y="5244186"/>
            <a:ext cx="2331720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</a:t>
            </a:r>
            <a:endParaRPr lang="en-US" sz="2400" dirty="0"/>
          </a:p>
        </p:txBody>
      </p:sp>
      <p:sp>
        <p:nvSpPr>
          <p:cNvPr id="34" name="kw-cell"/>
          <p:cNvSpPr txBox="1"/>
          <p:nvPr/>
        </p:nvSpPr>
        <p:spPr>
          <a:xfrm>
            <a:off x="3657600" y="5244186"/>
            <a:ext cx="3474720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a calculation again in an easier way</a:t>
            </a:r>
            <a:endParaRPr lang="en-US" sz="2200" dirty="0"/>
          </a:p>
        </p:txBody>
      </p:sp>
      <p:sp>
        <p:nvSpPr>
          <p:cNvPr id="35" name="kw-cell"/>
          <p:cNvSpPr txBox="1"/>
          <p:nvPr/>
        </p:nvSpPr>
        <p:spPr>
          <a:xfrm>
            <a:off x="7315200" y="5244186"/>
            <a:ext cx="4236415" cy="90058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5 − (−2) as 5 + 2.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away a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surprise.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number bigger.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3 − (−2).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out 3 positive counters.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counters to take.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add two zero pairs.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still 3.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take away the 2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counters.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positive counters are left.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3 − (−2) is 5.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away a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same as adding.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three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a positive number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positive number: move left.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−4 − 7.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−4.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7: move 7 to the left.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+ 7 = 11, so you end up 11 below zero.</a:t>
            </a:r>
            <a:endParaRPr lang="en-US" sz="1800" dirty="0"/>
          </a:p>
        </p:txBody>
      </p:sp>
      <p:sp>
        <p:nvSpPr>
          <p:cNvPr id="26" name="step-box"/>
          <p:cNvSpPr/>
          <p:nvPr/>
        </p:nvSpPr>
        <p:spPr>
          <a:xfrm>
            <a:off x="6126480" y="4584700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7" name="step-hex"/>
          <p:cNvSpPr/>
          <p:nvPr/>
        </p:nvSpPr>
        <p:spPr>
          <a:xfrm>
            <a:off x="6217920" y="4686034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8" name="step-hex-label"/>
          <p:cNvSpPr txBox="1"/>
          <p:nvPr/>
        </p:nvSpPr>
        <p:spPr>
          <a:xfrm>
            <a:off x="6217920" y="4686034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tep"/>
          <p:cNvSpPr txBox="1"/>
          <p:nvPr/>
        </p:nvSpPr>
        <p:spPr>
          <a:xfrm>
            <a:off x="6766560" y="4584700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−4 − 7 = −11.</a:t>
            </a:r>
            <a:endParaRPr lang="en-US" sz="1800" dirty="0"/>
          </a:p>
        </p:txBody>
      </p:sp>
      <p:sp>
        <p:nvSpPr>
          <p:cNvPr id="30" name="worked-answer"/>
          <p:cNvSpPr/>
          <p:nvPr/>
        </p:nvSpPr>
        <p:spPr>
          <a:xfrm>
            <a:off x="6126480" y="5288788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</a:t>
            </a:r>
            <a:endParaRPr lang="en-US" sz="1800" dirty="0"/>
          </a:p>
        </p:txBody>
      </p:sp>
      <p:sp>
        <p:nvSpPr>
          <p:cNvPr id="31" name="bullet-card"/>
          <p:cNvSpPr/>
          <p:nvPr/>
        </p:nvSpPr>
        <p:spPr>
          <a:xfrm>
            <a:off x="548640" y="1389888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2" name="bullet-hex"/>
          <p:cNvSpPr/>
          <p:nvPr/>
        </p:nvSpPr>
        <p:spPr>
          <a:xfrm>
            <a:off x="676656" y="178916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3" name="bullet"/>
          <p:cNvSpPr txBox="1"/>
          <p:nvPr/>
        </p:nvSpPr>
        <p:spPr>
          <a:xfrm>
            <a:off x="1143000" y="1389888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positive number moves you left on the number line.</a:t>
            </a:r>
            <a:endParaRPr lang="en-US" sz="2200" dirty="0"/>
          </a:p>
        </p:txBody>
      </p:sp>
      <p:sp>
        <p:nvSpPr>
          <p:cNvPr id="34" name="bullet-card"/>
          <p:cNvSpPr/>
          <p:nvPr/>
        </p:nvSpPr>
        <p:spPr>
          <a:xfrm>
            <a:off x="548640" y="266733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5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6" name="bullet"/>
          <p:cNvSpPr txBox="1"/>
          <p:nvPr/>
        </p:nvSpPr>
        <p:spPr>
          <a:xfrm>
            <a:off x="1143000" y="266733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start below zero, you move further left. −3 − 5 = −8.</a:t>
            </a:r>
            <a:endParaRPr lang="en-US" sz="2200" dirty="0"/>
          </a:p>
        </p:txBody>
      </p:sp>
      <p:sp>
        <p:nvSpPr>
          <p:cNvPr id="37" name="bullet-card"/>
          <p:cNvSpPr/>
          <p:nvPr/>
        </p:nvSpPr>
        <p:spPr>
          <a:xfrm>
            <a:off x="548640" y="394478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8" name="bullet-hex"/>
          <p:cNvSpPr/>
          <p:nvPr/>
        </p:nvSpPr>
        <p:spPr>
          <a:xfrm>
            <a:off x="676656" y="4344070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9" name="bullet"/>
          <p:cNvSpPr txBox="1"/>
          <p:nvPr/>
        </p:nvSpPr>
        <p:spPr>
          <a:xfrm>
            <a:off x="1143000" y="394478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pupils think 'two minus signs make a positive' here.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a negative number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signs side by side, − (−), become +.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6 − (−5).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negative is the same as adding.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Rewrite: 6 − (−5) = 6 + 5.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+ 5 = 11.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78916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away negative counters, you need some to take.</a:t>
            </a:r>
            <a:endParaRPr lang="en-US" sz="22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66733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66733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4 − (−3), start with 4 positive counters. Add 3 zero pairs.</a:t>
            </a:r>
            <a:endParaRPr lang="en-US" sz="22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94478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344070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94478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number line, subtracting a negative moves you right.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from a negative number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629148"/>
            <a:ext cx="5074920" cy="515620"/>
          </a:xfrm>
          <a:prstGeom prst="roundRect">
            <a:avLst>
              <a:gd name="adj" fmla="val 26601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688990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688990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684012"/>
            <a:ext cx="4206240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first, then use a number line.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−8 − (−10).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Rewrite: −8 − (−10) = −8 + 10.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8 right to reach zero.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10 − 8 = 2, so move 2 more.</a:t>
            </a:r>
            <a:endParaRPr lang="en-US" sz="1800" dirty="0"/>
          </a:p>
        </p:txBody>
      </p:sp>
      <p:sp>
        <p:nvSpPr>
          <p:cNvPr id="26" name="step-box"/>
          <p:cNvSpPr/>
          <p:nvPr/>
        </p:nvSpPr>
        <p:spPr>
          <a:xfrm>
            <a:off x="6126480" y="4584700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7" name="step-hex"/>
          <p:cNvSpPr/>
          <p:nvPr/>
        </p:nvSpPr>
        <p:spPr>
          <a:xfrm>
            <a:off x="6217920" y="4686034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8" name="step-hex-label"/>
          <p:cNvSpPr txBox="1"/>
          <p:nvPr/>
        </p:nvSpPr>
        <p:spPr>
          <a:xfrm>
            <a:off x="6217920" y="4686034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tep"/>
          <p:cNvSpPr txBox="1"/>
          <p:nvPr/>
        </p:nvSpPr>
        <p:spPr>
          <a:xfrm>
            <a:off x="6766560" y="4584700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+ 10 = 2.</a:t>
            </a:r>
            <a:endParaRPr lang="en-US" sz="1800" dirty="0"/>
          </a:p>
        </p:txBody>
      </p:sp>
      <p:sp>
        <p:nvSpPr>
          <p:cNvPr id="30" name="worked-answer"/>
          <p:cNvSpPr/>
          <p:nvPr/>
        </p:nvSpPr>
        <p:spPr>
          <a:xfrm>
            <a:off x="6126480" y="5288788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bullet-card"/>
          <p:cNvSpPr/>
          <p:nvPr/>
        </p:nvSpPr>
        <p:spPr>
          <a:xfrm>
            <a:off x="548640" y="1389888"/>
            <a:ext cx="5074920" cy="1451356"/>
          </a:xfrm>
          <a:prstGeom prst="roundRect">
            <a:avLst>
              <a:gd name="adj" fmla="val 5040"/>
            </a:avLst>
          </a:prstGeom>
          <a:solidFill>
            <a:srgbClr val="F5F6F9"/>
          </a:solidFill>
          <a:ln/>
        </p:spPr>
      </p:sp>
      <p:sp>
        <p:nvSpPr>
          <p:cNvPr id="32" name="bullet-hex"/>
          <p:cNvSpPr/>
          <p:nvPr/>
        </p:nvSpPr>
        <p:spPr>
          <a:xfrm>
            <a:off x="676656" y="1949273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3" name="bullet"/>
          <p:cNvSpPr txBox="1"/>
          <p:nvPr/>
        </p:nvSpPr>
        <p:spPr>
          <a:xfrm>
            <a:off x="1143000" y="1389888"/>
            <a:ext cx="4389120" cy="14513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works when you start below zero. −5 − (−3) = −5 + 3 = −2.</a:t>
            </a:r>
            <a:endParaRPr lang="en-US" sz="2200" dirty="0"/>
          </a:p>
        </p:txBody>
      </p:sp>
      <p:sp>
        <p:nvSpPr>
          <p:cNvPr id="34" name="bullet-card"/>
          <p:cNvSpPr/>
          <p:nvPr/>
        </p:nvSpPr>
        <p:spPr>
          <a:xfrm>
            <a:off x="548640" y="2987548"/>
            <a:ext cx="5074920" cy="1110488"/>
          </a:xfrm>
          <a:prstGeom prst="roundRect">
            <a:avLst>
              <a:gd name="adj" fmla="val 6587"/>
            </a:avLst>
          </a:prstGeom>
          <a:solidFill>
            <a:srgbClr val="F5F6F9"/>
          </a:solidFill>
          <a:ln/>
        </p:spPr>
      </p:sp>
      <p:sp>
        <p:nvSpPr>
          <p:cNvPr id="35" name="bullet-hex"/>
          <p:cNvSpPr/>
          <p:nvPr/>
        </p:nvSpPr>
        <p:spPr>
          <a:xfrm>
            <a:off x="676656" y="337649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6" name="bullet"/>
          <p:cNvSpPr txBox="1"/>
          <p:nvPr/>
        </p:nvSpPr>
        <p:spPr>
          <a:xfrm>
            <a:off x="1143000" y="2987548"/>
            <a:ext cx="4389120" cy="1110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−2 − (−6) = −2 + 6 = 4. This time the answer crosses zero.</a:t>
            </a:r>
            <a:endParaRPr lang="en-US" sz="2200" dirty="0"/>
          </a:p>
        </p:txBody>
      </p:sp>
      <p:sp>
        <p:nvSpPr>
          <p:cNvPr id="37" name="bullet-card"/>
          <p:cNvSpPr/>
          <p:nvPr/>
        </p:nvSpPr>
        <p:spPr>
          <a:xfrm>
            <a:off x="548640" y="4244340"/>
            <a:ext cx="5074920" cy="1110488"/>
          </a:xfrm>
          <a:prstGeom prst="roundRect">
            <a:avLst>
              <a:gd name="adj" fmla="val 6587"/>
            </a:avLst>
          </a:prstGeom>
          <a:solidFill>
            <a:srgbClr val="F5F6F9"/>
          </a:solidFill>
          <a:ln/>
        </p:spPr>
      </p:sp>
      <p:sp>
        <p:nvSpPr>
          <p:cNvPr id="38" name="bullet-hex"/>
          <p:cNvSpPr/>
          <p:nvPr/>
        </p:nvSpPr>
        <p:spPr>
          <a:xfrm>
            <a:off x="676656" y="463329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9" name="bullet"/>
          <p:cNvSpPr txBox="1"/>
          <p:nvPr/>
        </p:nvSpPr>
        <p:spPr>
          <a:xfrm>
            <a:off x="1143000" y="4244340"/>
            <a:ext cx="4389120" cy="1110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 with −9 − (−5). Rewrite it as −9 + 5.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Subtract a negative number</a:t>
            </a:r>
            <a:endParaRPr lang="en-US" sz="28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5 − (−9).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  </a:t>
            </a:r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   </a:t>
            </a:r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      </a:t>
            </a:r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two signs side by side: − (−).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them to +.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the addition.</a:t>
            </a:r>
            <a:endParaRPr lang="en-US" sz="22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5 − (−9) is the same as 5 + 9.</a:t>
            </a:r>
            <a:endParaRPr lang="en-US" sz="22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counters and zero pairs to explain why 5 − (−9) gives an answer bigger than 5.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A negative minus a positive</a:t>
            </a:r>
            <a:endParaRPr lang="en-US" sz="28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−12 − 9.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first number.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positive number means moving left.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two digits: you go further below zero.</a:t>
            </a:r>
            <a:endParaRPr lang="en-US" sz="22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12 below zero and go 9 further down.</a:t>
            </a:r>
            <a:endParaRPr lang="en-US" sz="22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works out −2 − 4 and gets 2. She says she took away four negative counters. Explain her mistake, and give the correct answer.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800" dirty="0"/>
          </a:p>
        </p:txBody>
      </p:sp>
      <p:sp>
        <p:nvSpPr>
          <p:cNvPr id="7" name="exit-card"/>
          <p:cNvSpPr/>
          <p:nvPr/>
        </p:nvSpPr>
        <p:spPr>
          <a:xfrm>
            <a:off x="1645920" y="1389888"/>
            <a:ext cx="889985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2E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it-hex"/>
          <p:cNvSpPr/>
          <p:nvPr/>
        </p:nvSpPr>
        <p:spPr>
          <a:xfrm>
            <a:off x="1143000" y="1618488"/>
            <a:ext cx="1005840" cy="871057"/>
          </a:xfrm>
          <a:prstGeom prst="hexagon">
            <a:avLst/>
          </a:prstGeom>
          <a:solidFill>
            <a:srgbClr val="2E4A8C"/>
          </a:solidFill>
          <a:ln w="25400">
            <a:solidFill>
              <a:srgbClr val="B8862B"/>
            </a:solidFill>
            <a:prstDash val="solid"/>
          </a:ln>
        </p:spPr>
      </p:sp>
      <p:sp>
        <p:nvSpPr>
          <p:cNvPr id="9" name="exit-hex-label"/>
          <p:cNvSpPr txBox="1"/>
          <p:nvPr/>
        </p:nvSpPr>
        <p:spPr>
          <a:xfrm>
            <a:off x="1143000" y="1618488"/>
            <a:ext cx="1005840" cy="87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2000" dirty="0"/>
          </a:p>
        </p:txBody>
      </p:sp>
      <p:sp>
        <p:nvSpPr>
          <p:cNvPr id="10" name="exit-q"/>
          <p:cNvSpPr txBox="1"/>
          <p:nvPr/>
        </p:nvSpPr>
        <p:spPr>
          <a:xfrm>
            <a:off x="2286000" y="1664208"/>
            <a:ext cx="7802575" cy="2615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these calculations in order, smallest answer first: 4 + (−5), −3 − 6, −1 − (−8), −7 − (−2).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−1 − (−8)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−3 − 6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−7 − (−2)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(−5)</a:t>
            </a:r>
            <a:endParaRPr lang="en-US" sz="2400" dirty="0"/>
          </a:p>
        </p:txBody>
      </p:sp>
      <p:sp>
        <p:nvSpPr>
          <p:cNvPr id="11" name="exit-answer-box"/>
          <p:cNvSpPr/>
          <p:nvPr/>
        </p:nvSpPr>
        <p:spPr>
          <a:xfrm>
            <a:off x="2286000" y="5184648"/>
            <a:ext cx="7619695" cy="68580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12700">
            <a:solidFill>
              <a:srgbClr val="9DAAC9"/>
            </a:solidFill>
            <a:prstDash val="solid"/>
          </a:ln>
        </p:spPr>
      </p:sp>
      <p:sp>
        <p:nvSpPr>
          <p:cNvPr id="12" name="exit-answer-label"/>
          <p:cNvSpPr txBox="1"/>
          <p:nvPr/>
        </p:nvSpPr>
        <p:spPr>
          <a:xfrm>
            <a:off x="2423160" y="5184648"/>
            <a:ext cx="292608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Subtract a negative number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5 − (−9).</a:t>
            </a:r>
            <a:endParaRPr lang="en-US" sz="18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 14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a negative is the same as adding: 5 − (−9) = 5 + 9 = 14.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A negative minus a positive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−12 − 9.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at −12 and move 9 more to the left: −12 − 9 = −21.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−3 − 6  (B)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−7 − (−2)  (C)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(−5)  (D)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−1 − (−8)  (A)</a:t>
            </a:r>
            <a:endParaRPr lang="en-US" sz="24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are −9, −5, −1 and 7, so that is the order.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Astra maths">
  <a:themeElements>
    <a:clrScheme name="Ad Astra maths">
      <a:dk1>
        <a:srgbClr val="1E2229"/>
      </a:dk1>
      <a:lt1>
        <a:srgbClr val="FFFFFF"/>
      </a:lt1>
      <a:dk2>
        <a:srgbClr val="253B70"/>
      </a:dk2>
      <a:lt2>
        <a:srgbClr val="F0F2F7"/>
      </a:lt2>
      <a:accent1>
        <a:srgbClr val="2E4A8C"/>
      </a:accent1>
      <a:accent2>
        <a:srgbClr val="B8862B"/>
      </a:accent2>
      <a:accent3>
        <a:srgbClr val="8292BA"/>
      </a:accent3>
      <a:accent4>
        <a:srgbClr val="815E1E"/>
      </a:accent4>
      <a:accent5>
        <a:srgbClr val="4A505C"/>
      </a:accent5>
      <a:accent6>
        <a:srgbClr val="DEC69B"/>
      </a:accent6>
      <a:hlink>
        <a:srgbClr val="2E4A8C"/>
      </a:hlink>
      <a:folHlink>
        <a:srgbClr val="203462"/>
      </a:folHlink>
    </a:clrScheme>
    <a:fontScheme name="Ad Astra math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Directed Number · Chapter 4: Subtracting directed numbers</dc:title>
  <dc:subject>Mathematics · Year 7</dc:subject>
  <dc:creator>Dr Vitor Merissi de Carvalho</dc:creator>
  <cp:lastModifiedBy>Dr Vitor Merissi de Carvalho</cp:lastModifiedBy>
  <cp:revision>1</cp:revision>
  <dcterms:created xsi:type="dcterms:W3CDTF">2026-10-19T16:23:21Z</dcterms:created>
  <dcterms:modified xsi:type="dcterms:W3CDTF">2026-10-19T16:23:21Z</dcterms:modified>
</cp:coreProperties>
</file>