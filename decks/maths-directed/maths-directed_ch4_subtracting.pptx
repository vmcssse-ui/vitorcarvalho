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b6af262d-be45-8eef-630c-321e7f76cab5}">
          <p14:sldIdLst>
            <p14:sldId id="256"/>
          </p14:sldIdLst>
        </p14:section>
        <p14:section name="Gate" id="{9e89f67e-2203-0188-e07c-a1a893bf2e13}">
          <p14:sldIdLst>
            <p14:sldId id="257"/>
            <p14:sldId id="258"/>
          </p14:sldIdLst>
        </p14:section>
        <p14:section name="Pre-teach" id="{03db2f2f-51dd-7050-9b90-34fd1bbde09d}">
          <p14:sldIdLst>
            <p14:sldId id="259"/>
          </p14:sldIdLst>
        </p14:section>
        <p14:section name="Read-along" id="{514c934c-bb4f-4757-7b3b-1b614f88bbb1}">
          <p14:sldIdLst>
            <p14:sldId id="260"/>
            <p14:sldId id="261"/>
          </p14:sldIdLst>
        </p14:section>
        <p14:section name="Teach" id="{4b6b7c72-4354-9e74-01a0-2546f101a41f}">
          <p14:sldIdLst>
            <p14:sldId id="262"/>
            <p14:sldId id="263"/>
            <p14:sldId id="264"/>
          </p14:sldIdLst>
        </p14:section>
        <p14:section name="Routes" id="{cb350427-0c21-695a-fb9a-9283dc274a78}">
          <p14:sldIdLst>
            <p14:sldId id="265"/>
            <p14:sldId id="266"/>
          </p14:sldIdLst>
        </p14:section>
        <p14:section name="Close" id="{c4b265bd-87bf-fb9c-9d75-5fb1cb41ed88}">
          <p14:sldIdLst>
            <p14:sldId id="267"/>
          </p14:sldIdLst>
        </p14:section>
        <p14:section name="Answers" id="{6128277a-1db0-543b-9da5-610643e3eae1}">
          <p14:sldIdLst>
            <p14:sldId id="268"/>
            <p14:sldId id="269"/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4 of 6: Subtracting directed numbers. Subtract positive and negative numbers, and see why taking away a negative makes a number bigger.
This deck covers the department's lesson: 6 (Subtract directed numbers: Why does subtracting a negative number make the answer bigger?).
Read the big question aloud: "What happens to numbers below zero, and how do we calculate with them?" We come back to it at the exit ticket.
Before this lesson the pre-teach group has heard the read-along and met the key words; today they lead the reading. Lesson shape: do now (recall before any help), key words, read-along, teach, then the same task three ways in (Support, Core, Stretch), exit ticket, answers. Every pupil works towards the same destination.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now — retrieval. Silent, no notes, no help: recall comes before any support. Give about four minutes.
1. Work out −6 + (−3).  →  −9
2. Work out 7 − 10.  →  C   −3
3. Subtracting a negative number is the same as ___ a positive number.  →  adding
Circulate: who gets 3/3 (Stretch route), 2/3 (Core), 0–1 (Support)? Use this to route pupils later in the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 — pupils mark their own in a different colour, then hands up for 3/3, 2/3, 1/3.
1. −9. Both numbers are negative, so there are no zero pairs: 6 + 3 = 9, and the answer is −9.
2. C   −3. Take 7 to reach zero, then 3 more. You land on −3.
3. adding. Taking away negative counters leaves extra positive counters, so the value goes up.
Say the route each score points to: 3/3 Stretch, 2/3 Core, 0–1 Support. Pupils may choose to move 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words. Ask the pre-teach group first: they met these words before the lesson, so they give the meaning before anyone else.
For each word: say it, pupils repeat it, read the meaning, then read the example sentence together.
• subtract: to take away. Example: "Subtract 3 from 10 to get 7."
• minus: the word we say for the − sign when we take away. Example: "We read 5 − 2 as five minus two."
• negative: below zero. Example: "We read −3 as negative three."
• opposite: the move that undoes another move. Example: "Adding is the opposite of subtracting."
• rewrite: to write a calculation again in an easier way. Example: "Rewrite 5 − (−2) as 5 + 2."
Recall before help: cover the meanings and ask pupils to define one word from memory before moving 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together; pupils who were pre-taught lead. The pre-teach group heard this passage (with highlighted audio in the ebook) before the lesson, so invite them to read each sentence aloud first; everyone else follows with a finger, then echo-reads it.
Key words are in bold: pause on each and ask for its meaning.
Sentences 1–6 of 12:
1. Taking away a negative is a surprise.
2. It makes the number bigger.
3. Think of 3 − (−2).
4. Put out 3 positive counters.
5. There are no negative counters to take.
6. So add two zero pairs.
In the ebook the audio highlights each sentence as it is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together; pupils who were pre-taught lead. The pre-teach group heard this passage (with highlighted audio in the ebook) before the lesson, so invite them to read each sentence aloud first; everyone else follows with a finger, then echo-reads it.
Key words are in bold: pause on each and ask for its meaning.
Sentences 7–12 of 12:
7. The value is still 3.
8. Now take away the 2 negative counters.
9. 5 positive counters are left.
10. So 3 − (−2) is 5.
11. Taking away a negative is the same as adding.
12. Read it as: three minus negative two.
In the ebook the audio highlights each sentence as it is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 — Subtracting a positive number. Say it in your own words, then check understanding with a quick question: ask a pupil from the pre-teach group first, since they met these words and ideas before the lesson. Pupils try to recall before you re-explain.
Subtracting a positive number moves you left on the number line. You already know this from crossing zero: 2 − 6 = −4.
If you start below zero, you move further left. −3 − 5 = −8. The answer is more negative.
Some pupils think 'two minus signs make a positive' here. That is not true. −3 − 5 has one negative number and one subtraction, and you simply move left.
Worked example — model it step by step, thinking aloud: Work out −4 − 7. (1) Start at −4. (2) Subtract 7: move 7 to the left. (3) 4 + 7 = 11, so you end up 11 below zero. (4) −4 − 7 = −11. Answer: −11.
Tip: Subtracting a positive number: move left.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 — Subtracting a negative number. Say it in your own words, then check understanding with a quick question: ask a pupil from the pre-teach group first, since they met these words and ideas before the lesson. Pupils try to recall before you re-explain.
To take away negative counters, you need some to take. Add zero pairs first. They do not change the value. Then take the negatives away, and extra positives are left.
For 4 − (−3), start with 4 positive counters. Add 3 zero pairs. Take away 3 negative counters. 7 positive counters are left, so 4 − (−3) = 7.
On the number line, subtracting a negative moves you right. Subtracting a negative is the same as adding a positive: 4 − (−3) = 4 + 3.
Worked example — model it step by step, thinking aloud: Work out 6 − (−5). (1) Subtracting a negative is the same as adding. (2) Rewrite: 6 − (−5) = 6 + 5. (3) 6 + 5 = 11. Answer: 11.
Tip: Two signs side by side, − (−), become +.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 — Starting from a negative number. Say it in your own words, then check understanding with a quick question: ask a pupil from the pre-teach group first, since they met these words and ideas before the lesson. Pupils try to recall before you re-explain.
The same rule works when you start below zero. −5 − (−3) = −5 + 3 = −2.
−2 − (−6) = −2 + 6 = 4. This time the answer crosses zero.
Check yourself with −9 − (−5). Rewrite it as −9 + 5. You move 5 right from −9 and land on −4. So two negatives do not always give a positive answer.
Worked example — model it step by step, thinking aloud: Work out −8 − (−10). (1) Rewrite: −8 − (−10) = −8 + 10. (2) Move 8 right to reach zero. (3) 10 − 8 = 2, so move 2 more. (4) −8 + 10 = 2. Answer: 2.
Tip: Rewrite first, then use a number 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Task 1: Subtract a negative number. Same task, three ways in: one destination for everyone; only the scaffold changes. Pupils take the lane their do-now score pointed to (3/3 Stretch, 2/3 Core, 0–1 Support) and may move up at any time.
Start the pre-teach group first: they know the words and the passage, so set them going on the task before you turn to the rest. Recall before help: every pupil tries from memory before opening a lane.
The task: Work out 5 − (−9).
Support — work through the steps with the group: (1) Spot the two signs side by side: − (−). (2) Change them to +. (3) Work out the addition.
Parallel worked example for Support (model it, do not give the task answer): Work out 3 − (−6). 3 − (−6) = 3 + 6.; 3 + 6 = 9.. Answer: 9.
Core — reveal the hint only on request: 5 − (−9) is the same as 5 + 9.
Stretch — no help; when finished: Use counters and zero pairs to explain why 5 − (−9) gives an answer bigger than 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Task 2: A negative minus a positive. Same task, three ways in: one destination for everyone; only the scaffold changes. Pupils take the lane their do-now score pointed to (3/3 Stretch, 2/3 Core, 0–1 Support) and may move up at any time.
Start the pre-teach group first: they know the words and the passage, so set them going on the task before you turn to the rest. Recall before help: every pupil tries from memory before opening a lane.
The task: Work out −12 − 9.
Support — work through the steps with the group: (1) Start at the first number. (2) Subtracting a positive number means moving left. (3) Add the two digits: you go further below zero.
Parallel worked example for Support (model it, do not give the task answer): Work out −3 − 8. Start at −3 and move 8 to the left.; 3 + 8 = 11.; −3 − 8 = −11.. Answer: −11.
Core — reveal the hint only on request: You start 12 below zero and go 9 further down.
Stretch — no help; when finished: Eva works out −2 − 4 and gets 2. She says she took away four negative counters. Explain her mistake, and give the correct answer.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Exit ticket — individual, silent, on a slip or mini-whiteboard. Recall before help: no notes, no lanes, no hints. Collect before pupils leave.
Question: Put these calculations in order, smallest answer first: 4 + (−5), −3 − 6, −1 − (−8), −7 − (−2).
Answer: −3 − 6  (B); −7 − (−2)  (C); 4 + (−5)  (D); −1 − (−8)  (A). The answers are −9, −5, −1 and 7, so that is the order.
Source of this question: module 3 task ("Order the calculations") from the manifest.
Sort the slips: correct → ready to move on; incorrect → start next lesson in the pre-teach group, with the read-along and the Support lane. Same destination next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 — task 1: Subtract a negative number. Reveal the answer; pupils mark their own work in a different colour, then read the "why" together. Same destination for every lane, so one answer serves the whole class.
Answer: B   14
Why: Subtracting a negative is the same as adding: 5 − (−9) = 5 + 9 = 14.
Ask a Support pupil to explain one step, and a Stretch pupil to share their extension.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 — task 2: A negative minus a positive. Reveal the answer; pupils mark their own work in a different colour, then read the "why" together. Same destination for every lane, so one answer serves the whole class.
Answer: −21
Why: You start at −12 and move 9 more to the left: −12 − 9 = −21.
Ask a Support pupil to explain one step, and a Stretch pupil to share their extension.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 — exit ticket: Exit ticket. Reveal the answer; pupils mark their own work in a different colour, then read the "why" together. Same destination for every lane, so one answer serves the whole class.
Answer: −3 − 6  (B); −7 − (−2)  (C); 4 + (−5)  (D); −1 − (−8)  (A)
Why: The answers are −9, −5, −1 and 7, so that is the order.
Ask a Support pupil to explain one step, and a Stretch pupil to share their extension.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STRA_TIT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F0F2F7"/>
          </a:solidFill>
          <a:ln w="12700">
            <a:solidFill>
              <a:srgbClr val="F0F2F7"/>
            </a:solidFill>
            <a:prstDash val="solid"/>
          </a:ln>
        </p:spPr>
      </p:sp>
      <p:pic>
        <p:nvPicPr>
          <p:cNvPr id="3" name="Image 0" descr="Edu.AI hexagon mot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4592" y="6437376"/>
            <a:ext cx="438912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13232" y="644652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Mathematics · Year 7 · Directed Number · Ad Astra pilot exemplar — awaiting department review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8915400" y="644652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A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Edu.Ai SV Digital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8520" y="644652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29437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STRA_CONTENT">
    <p:bg>
      <p:bgPr>
        <a:solidFill>
          <a:srgbClr val="FBF7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F0F2F7"/>
          </a:solidFill>
          <a:ln w="12700">
            <a:solidFill>
              <a:srgbClr val="F0F2F7"/>
            </a:solidFill>
            <a:prstDash val="solid"/>
          </a:ln>
        </p:spPr>
      </p:sp>
      <p:pic>
        <p:nvPicPr>
          <p:cNvPr id="3" name="Image 0" descr="Edu.AI hexagon mot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4592" y="6437376"/>
            <a:ext cx="438912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13232" y="644652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Mathematics · Year 7 · Directed Number · Ad Astra pilot exemplar — awaiting department review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8915400" y="644652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A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Edu.Ai SV Digital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8520" y="644652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29437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8520" y="644652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29437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and-hue"/>
          <p:cNvSpPr/>
          <p:nvPr/>
        </p:nvSpPr>
        <p:spPr>
          <a:xfrm>
            <a:off x="0" y="5989320"/>
            <a:ext cx="12191695" cy="164592"/>
          </a:xfrm>
          <a:prstGeom prst="rect">
            <a:avLst/>
          </a:prstGeom>
          <a:solidFill>
            <a:srgbClr val="2E4A8C"/>
          </a:solidFill>
          <a:ln/>
        </p:spPr>
      </p:sp>
      <p:sp>
        <p:nvSpPr>
          <p:cNvPr id="4" name="band-gold"/>
          <p:cNvSpPr/>
          <p:nvPr/>
        </p:nvSpPr>
        <p:spPr>
          <a:xfrm>
            <a:off x="0" y="6208776"/>
            <a:ext cx="12191695" cy="64008"/>
          </a:xfrm>
          <a:prstGeom prst="rect">
            <a:avLst/>
          </a:prstGeom>
          <a:solidFill>
            <a:srgbClr val="B8862B"/>
          </a:solidFill>
          <a:ln/>
        </p:spPr>
      </p:sp>
      <p:sp>
        <p:nvSpPr>
          <p:cNvPr id="5" name="hex-deco1"/>
          <p:cNvSpPr/>
          <p:nvPr/>
        </p:nvSpPr>
        <p:spPr>
          <a:xfrm>
            <a:off x="1373886" y="276195"/>
            <a:ext cx="525780" cy="455325"/>
          </a:xfrm>
          <a:prstGeom prst="hexagon">
            <a:avLst/>
          </a:prstGeom>
          <a:solidFill>
            <a:srgbClr val="DBE0EB"/>
          </a:solidFill>
          <a:ln/>
        </p:spPr>
      </p:sp>
      <p:sp>
        <p:nvSpPr>
          <p:cNvPr id="6" name="hex-deco2"/>
          <p:cNvSpPr/>
          <p:nvPr/>
        </p:nvSpPr>
        <p:spPr>
          <a:xfrm>
            <a:off x="1373886" y="1168557"/>
            <a:ext cx="525780" cy="455325"/>
          </a:xfrm>
          <a:prstGeom prst="hexagon">
            <a:avLst/>
          </a:prstGeom>
          <a:ln w="19050">
            <a:solidFill>
              <a:srgbClr val="B8862B"/>
            </a:solidFill>
            <a:prstDash val="solid"/>
          </a:ln>
        </p:spPr>
      </p:sp>
      <p:sp>
        <p:nvSpPr>
          <p:cNvPr id="7" name="hex-chapter"/>
          <p:cNvSpPr/>
          <p:nvPr/>
        </p:nvSpPr>
        <p:spPr>
          <a:xfrm>
            <a:off x="548640" y="457200"/>
            <a:ext cx="1051560" cy="910651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8" name="hex-chapter-label"/>
          <p:cNvSpPr txBox="1"/>
          <p:nvPr/>
        </p:nvSpPr>
        <p:spPr>
          <a:xfrm>
            <a:off x="548640" y="457200"/>
            <a:ext cx="1051560" cy="9106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4000" dirty="0"/>
          </a:p>
        </p:txBody>
      </p:sp>
      <p:sp>
        <p:nvSpPr>
          <p:cNvPr id="9" name="kicker"/>
          <p:cNvSpPr txBox="1"/>
          <p:nvPr/>
        </p:nvSpPr>
        <p:spPr>
          <a:xfrm>
            <a:off x="2331720" y="256032"/>
            <a:ext cx="3504895" cy="129844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Mathematics · Year 7</a:t>
            </a:r>
            <a:endParaRPr lang="en-US" sz="18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800" b="1" dirty="0">
                <a:solidFill>
                  <a:srgbClr val="936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4/6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4A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Directed Number</a:t>
            </a:r>
            <a:endParaRPr lang="en-US" sz="1800" dirty="0"/>
          </a:p>
        </p:txBody>
      </p:sp>
      <p:sp>
        <p:nvSpPr>
          <p:cNvPr id="10" name="deck-title"/>
          <p:cNvSpPr txBox="1"/>
          <p:nvPr/>
        </p:nvSpPr>
        <p:spPr>
          <a:xfrm>
            <a:off x="548640" y="2393188"/>
            <a:ext cx="5287975" cy="144780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1E22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Subtracting directed numbers</a:t>
            </a:r>
            <a:endParaRPr lang="en-US" sz="4000" dirty="0"/>
          </a:p>
        </p:txBody>
      </p:sp>
      <p:sp>
        <p:nvSpPr>
          <p:cNvPr id="11" name="lessons-card"/>
          <p:cNvSpPr/>
          <p:nvPr/>
        </p:nvSpPr>
        <p:spPr>
          <a:xfrm>
            <a:off x="548640" y="4069588"/>
            <a:ext cx="5287975" cy="980440"/>
          </a:xfrm>
          <a:prstGeom prst="roundRect">
            <a:avLst>
              <a:gd name="adj" fmla="val 7461"/>
            </a:avLst>
          </a:prstGeom>
          <a:solidFill>
            <a:srgbClr val="F0F2F7"/>
          </a:solidFill>
          <a:ln/>
        </p:spPr>
      </p:sp>
      <p:sp>
        <p:nvSpPr>
          <p:cNvPr id="12" name="lessons"/>
          <p:cNvSpPr txBox="1"/>
          <p:nvPr/>
        </p:nvSpPr>
        <p:spPr>
          <a:xfrm>
            <a:off x="685800" y="4161028"/>
            <a:ext cx="5013655" cy="79756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Lessons covered</a:t>
            </a:r>
            <a:endParaRPr lang="en-US" sz="20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2000" b="1" dirty="0">
                <a:solidFill>
                  <a:srgbClr val="9C72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 </a:t>
            </a:r>
            <a:pPr algn="l" indent="0" marL="0">
              <a:spcAft>
                <a:spcPts val="300"/>
              </a:spcAft>
              <a:buNone/>
            </a:pPr>
            <a:r>
              <a:rPr lang="en-US" sz="20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Subtract directed numbers</a:t>
            </a:r>
            <a:endParaRPr lang="en-US" sz="2000" dirty="0"/>
          </a:p>
        </p:txBody>
      </p:sp>
      <p:sp>
        <p:nvSpPr>
          <p:cNvPr id="13" name="plate-frame"/>
          <p:cNvSpPr/>
          <p:nvPr/>
        </p:nvSpPr>
        <p:spPr>
          <a:xfrm>
            <a:off x="6248095" y="411480"/>
            <a:ext cx="5394960" cy="3130677"/>
          </a:xfrm>
          <a:prstGeom prst="rect">
            <a:avLst/>
          </a:prstGeom>
          <a:solidFill>
            <a:srgbClr val="F4EDDF"/>
          </a:solidFill>
          <a:ln w="19050">
            <a:solidFill>
              <a:srgbClr val="B8862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14" name="plate" descr="Ad Astra engraved plate for Mathematics, Year 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57823" y="521208"/>
            <a:ext cx="5175504" cy="2911221"/>
          </a:xfrm>
          <a:prstGeom prst="rect">
            <a:avLst/>
          </a:prstGeom>
        </p:spPr>
      </p:pic>
      <p:sp>
        <p:nvSpPr>
          <p:cNvPr id="15" name="plate-inner"/>
          <p:cNvSpPr/>
          <p:nvPr/>
        </p:nvSpPr>
        <p:spPr>
          <a:xfrm>
            <a:off x="6357823" y="521208"/>
            <a:ext cx="5175504" cy="2911221"/>
          </a:xfrm>
          <a:prstGeom prst="rect">
            <a:avLst/>
          </a:prstGeom>
          <a:ln w="9525">
            <a:solidFill>
              <a:srgbClr val="B8862B"/>
            </a:solidFill>
            <a:prstDash val="solid"/>
          </a:ln>
        </p:spPr>
      </p:sp>
      <p:sp>
        <p:nvSpPr>
          <p:cNvPr id="16" name="stud0"/>
          <p:cNvSpPr/>
          <p:nvPr/>
        </p:nvSpPr>
        <p:spPr>
          <a:xfrm>
            <a:off x="6138367" y="316456"/>
            <a:ext cx="219456" cy="190049"/>
          </a:xfrm>
          <a:prstGeom prst="hexagon">
            <a:avLst/>
          </a:prstGeom>
          <a:solidFill>
            <a:srgbClr val="B886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stud1"/>
          <p:cNvSpPr/>
          <p:nvPr/>
        </p:nvSpPr>
        <p:spPr>
          <a:xfrm>
            <a:off x="11533327" y="316456"/>
            <a:ext cx="219456" cy="190049"/>
          </a:xfrm>
          <a:prstGeom prst="hexagon">
            <a:avLst/>
          </a:prstGeom>
          <a:solidFill>
            <a:srgbClr val="B886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tud2"/>
          <p:cNvSpPr/>
          <p:nvPr/>
        </p:nvSpPr>
        <p:spPr>
          <a:xfrm>
            <a:off x="6138367" y="3447133"/>
            <a:ext cx="219456" cy="190049"/>
          </a:xfrm>
          <a:prstGeom prst="hexagon">
            <a:avLst/>
          </a:prstGeom>
          <a:solidFill>
            <a:srgbClr val="B886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tud3"/>
          <p:cNvSpPr/>
          <p:nvPr/>
        </p:nvSpPr>
        <p:spPr>
          <a:xfrm>
            <a:off x="11533327" y="3447133"/>
            <a:ext cx="219456" cy="190049"/>
          </a:xfrm>
          <a:prstGeom prst="hexagon">
            <a:avLst/>
          </a:prstGeom>
          <a:solidFill>
            <a:srgbClr val="B886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bq-card"/>
          <p:cNvSpPr/>
          <p:nvPr/>
        </p:nvSpPr>
        <p:spPr>
          <a:xfrm>
            <a:off x="6248095" y="3816477"/>
            <a:ext cx="5394960" cy="2053971"/>
          </a:xfrm>
          <a:prstGeom prst="roundRect">
            <a:avLst>
              <a:gd name="adj" fmla="val 3561"/>
            </a:avLst>
          </a:prstGeom>
          <a:solidFill>
            <a:srgbClr val="F0F2F7"/>
          </a:solidFill>
          <a:ln w="12700">
            <a:solidFill>
              <a:srgbClr val="B2BCD4"/>
            </a:solidFill>
            <a:prstDash val="solid"/>
          </a:ln>
        </p:spPr>
      </p:sp>
      <p:sp>
        <p:nvSpPr>
          <p:cNvPr id="21" name="bq-hex"/>
          <p:cNvSpPr/>
          <p:nvPr/>
        </p:nvSpPr>
        <p:spPr>
          <a:xfrm>
            <a:off x="6412687" y="3999357"/>
            <a:ext cx="621792" cy="538472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22" name="bq-hex-label"/>
          <p:cNvSpPr txBox="1"/>
          <p:nvPr/>
        </p:nvSpPr>
        <p:spPr>
          <a:xfrm>
            <a:off x="6412687" y="3999357"/>
            <a:ext cx="621792" cy="538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2600" dirty="0"/>
          </a:p>
        </p:txBody>
      </p:sp>
      <p:sp>
        <p:nvSpPr>
          <p:cNvPr id="23" name="bq"/>
          <p:cNvSpPr txBox="1"/>
          <p:nvPr/>
        </p:nvSpPr>
        <p:spPr>
          <a:xfrm>
            <a:off x="7144207" y="3907917"/>
            <a:ext cx="4389120" cy="1871091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800" dirty="0"/>
          </a:p>
          <a:p>
            <a:pPr algn="l" indent="0" marL="0">
              <a:buNone/>
            </a:pPr>
            <a:r>
              <a:rPr lang="en-US" sz="2400" i="1" dirty="0">
                <a:solidFill>
                  <a:srgbClr val="1E22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happens to numbers below zero, and how do we calculate with them?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8520" y="644652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29437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548640" y="292608"/>
            <a:ext cx="905256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 now: three from memory</a:t>
            </a:r>
            <a:endParaRPr lang="en-US" sz="3200" dirty="0"/>
          </a:p>
        </p:txBody>
      </p:sp>
      <p:sp>
        <p:nvSpPr>
          <p:cNvPr id="4" name="chip-hex"/>
          <p:cNvSpPr/>
          <p:nvPr/>
        </p:nvSpPr>
        <p:spPr>
          <a:xfrm>
            <a:off x="9677095" y="531760"/>
            <a:ext cx="566928" cy="490960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5" name="chip-hex-label"/>
          <p:cNvSpPr txBox="1"/>
          <p:nvPr/>
        </p:nvSpPr>
        <p:spPr>
          <a:xfrm>
            <a:off x="9677095" y="531760"/>
            <a:ext cx="566928" cy="490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6" name="chip-label"/>
          <p:cNvSpPr txBox="1"/>
          <p:nvPr/>
        </p:nvSpPr>
        <p:spPr>
          <a:xfrm>
            <a:off x="10317175" y="292608"/>
            <a:ext cx="132588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</a:t>
            </a:r>
            <a:endParaRPr lang="en-US" sz="1800" dirty="0"/>
          </a:p>
        </p:txBody>
      </p:sp>
      <p:sp>
        <p:nvSpPr>
          <p:cNvPr id="7" name="card"/>
          <p:cNvSpPr/>
          <p:nvPr/>
        </p:nvSpPr>
        <p:spPr>
          <a:xfrm>
            <a:off x="548640" y="1389888"/>
            <a:ext cx="3515258" cy="4754880"/>
          </a:xfrm>
          <a:prstGeom prst="roundRect">
            <a:avLst>
              <a:gd name="adj" fmla="val 1561"/>
            </a:avLst>
          </a:prstGeom>
          <a:solidFill>
            <a:srgbClr val="F7F8FA"/>
          </a:solidFill>
          <a:ln w="12700">
            <a:solidFill>
              <a:srgbClr val="BCC5DA"/>
            </a:solidFill>
            <a:prstDash val="solid"/>
          </a:ln>
        </p:spPr>
      </p:sp>
      <p:sp>
        <p:nvSpPr>
          <p:cNvPr id="8" name="card-hex"/>
          <p:cNvSpPr/>
          <p:nvPr/>
        </p:nvSpPr>
        <p:spPr>
          <a:xfrm>
            <a:off x="731520" y="1572768"/>
            <a:ext cx="640080" cy="554309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9" name="card-hex-label"/>
          <p:cNvSpPr txBox="1"/>
          <p:nvPr/>
        </p:nvSpPr>
        <p:spPr>
          <a:xfrm>
            <a:off x="731520" y="1572768"/>
            <a:ext cx="640080" cy="5543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400" dirty="0"/>
          </a:p>
        </p:txBody>
      </p:sp>
      <p:sp>
        <p:nvSpPr>
          <p:cNvPr id="10" name="card-label"/>
          <p:cNvSpPr txBox="1"/>
          <p:nvPr/>
        </p:nvSpPr>
        <p:spPr>
          <a:xfrm>
            <a:off x="1463040" y="1572768"/>
            <a:ext cx="2509418" cy="56692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it out</a:t>
            </a:r>
            <a:endParaRPr lang="en-US" sz="1800" dirty="0"/>
          </a:p>
        </p:txBody>
      </p:sp>
      <p:sp>
        <p:nvSpPr>
          <p:cNvPr id="11" name="card-body"/>
          <p:cNvSpPr txBox="1"/>
          <p:nvPr/>
        </p:nvSpPr>
        <p:spPr>
          <a:xfrm>
            <a:off x="731520" y="2355677"/>
            <a:ext cx="3149498" cy="3651931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out −6 + (−3).</a:t>
            </a:r>
            <a:endParaRPr lang="en-US" sz="2400" dirty="0"/>
          </a:p>
          <a:p>
            <a:pPr algn="l" indent="0" marL="0">
              <a:buNone/>
            </a:pPr>
            <a:r>
              <a:rPr lang="en-US" sz="24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Answer:  </a:t>
            </a:r>
            <a:pPr algn="l" indent="0" marL="0">
              <a:buNone/>
            </a:pPr>
            <a:r>
              <a:rPr lang="en-US" sz="24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________</a:t>
            </a:r>
            <a:endParaRPr lang="en-US" sz="2400" dirty="0"/>
          </a:p>
        </p:txBody>
      </p:sp>
      <p:sp>
        <p:nvSpPr>
          <p:cNvPr id="12" name="card"/>
          <p:cNvSpPr/>
          <p:nvPr/>
        </p:nvSpPr>
        <p:spPr>
          <a:xfrm>
            <a:off x="4338218" y="1389888"/>
            <a:ext cx="3515258" cy="4754880"/>
          </a:xfrm>
          <a:prstGeom prst="roundRect">
            <a:avLst>
              <a:gd name="adj" fmla="val 1561"/>
            </a:avLst>
          </a:prstGeom>
          <a:solidFill>
            <a:srgbClr val="F7F8FA"/>
          </a:solidFill>
          <a:ln w="12700">
            <a:solidFill>
              <a:srgbClr val="BCC5DA"/>
            </a:solidFill>
            <a:prstDash val="solid"/>
          </a:ln>
        </p:spPr>
      </p:sp>
      <p:sp>
        <p:nvSpPr>
          <p:cNvPr id="13" name="card-hex"/>
          <p:cNvSpPr/>
          <p:nvPr/>
        </p:nvSpPr>
        <p:spPr>
          <a:xfrm>
            <a:off x="4521098" y="1572768"/>
            <a:ext cx="640080" cy="554309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14" name="card-hex-label"/>
          <p:cNvSpPr txBox="1"/>
          <p:nvPr/>
        </p:nvSpPr>
        <p:spPr>
          <a:xfrm>
            <a:off x="4521098" y="1572768"/>
            <a:ext cx="640080" cy="5543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400" dirty="0"/>
          </a:p>
        </p:txBody>
      </p:sp>
      <p:sp>
        <p:nvSpPr>
          <p:cNvPr id="15" name="card-label"/>
          <p:cNvSpPr txBox="1"/>
          <p:nvPr/>
        </p:nvSpPr>
        <p:spPr>
          <a:xfrm>
            <a:off x="5252618" y="1572768"/>
            <a:ext cx="2509418" cy="56692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one</a:t>
            </a:r>
            <a:endParaRPr lang="en-US" sz="1800" dirty="0"/>
          </a:p>
        </p:txBody>
      </p:sp>
      <p:sp>
        <p:nvSpPr>
          <p:cNvPr id="16" name="card-body"/>
          <p:cNvSpPr txBox="1"/>
          <p:nvPr/>
        </p:nvSpPr>
        <p:spPr>
          <a:xfrm>
            <a:off x="4521098" y="2355677"/>
            <a:ext cx="3149498" cy="3651931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out 7 − 10.</a:t>
            </a:r>
            <a:endParaRPr lang="en-US" sz="2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 </a:t>
            </a:r>
            <a:pPr algn="l" indent="0" marL="0">
              <a:spcAft>
                <a:spcPts val="600"/>
              </a:spcAft>
              <a:buNone/>
            </a:pPr>
            <a:r>
              <a:rPr lang="en-US" sz="24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2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 </a:t>
            </a:r>
            <a:pPr algn="l" indent="0" marL="0">
              <a:spcAft>
                <a:spcPts val="600"/>
              </a:spcAft>
              <a:buNone/>
            </a:pPr>
            <a:r>
              <a:rPr lang="en-US" sz="24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  </a:t>
            </a:r>
            <a:pPr algn="l" indent="0" marL="0">
              <a:spcAft>
                <a:spcPts val="600"/>
              </a:spcAft>
              <a:buNone/>
            </a:pPr>
            <a:r>
              <a:rPr lang="en-US" sz="24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−3</a:t>
            </a:r>
            <a:endParaRPr lang="en-US" sz="2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  </a:t>
            </a:r>
            <a:pPr algn="l" indent="0" marL="0">
              <a:spcAft>
                <a:spcPts val="600"/>
              </a:spcAft>
              <a:buNone/>
            </a:pPr>
            <a:r>
              <a:rPr lang="en-US" sz="24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−17</a:t>
            </a:r>
            <a:endParaRPr lang="en-US" sz="2400" dirty="0"/>
          </a:p>
        </p:txBody>
      </p:sp>
      <p:sp>
        <p:nvSpPr>
          <p:cNvPr id="17" name="card"/>
          <p:cNvSpPr/>
          <p:nvPr/>
        </p:nvSpPr>
        <p:spPr>
          <a:xfrm>
            <a:off x="8127797" y="1389888"/>
            <a:ext cx="3515258" cy="4754880"/>
          </a:xfrm>
          <a:prstGeom prst="roundRect">
            <a:avLst>
              <a:gd name="adj" fmla="val 1561"/>
            </a:avLst>
          </a:prstGeom>
          <a:solidFill>
            <a:srgbClr val="F7F8FA"/>
          </a:solidFill>
          <a:ln w="12700">
            <a:solidFill>
              <a:srgbClr val="BCC5DA"/>
            </a:solidFill>
            <a:prstDash val="solid"/>
          </a:ln>
        </p:spPr>
      </p:sp>
      <p:sp>
        <p:nvSpPr>
          <p:cNvPr id="18" name="card-hex"/>
          <p:cNvSpPr/>
          <p:nvPr/>
        </p:nvSpPr>
        <p:spPr>
          <a:xfrm>
            <a:off x="8310677" y="1572768"/>
            <a:ext cx="640080" cy="554309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19" name="card-hex-label"/>
          <p:cNvSpPr txBox="1"/>
          <p:nvPr/>
        </p:nvSpPr>
        <p:spPr>
          <a:xfrm>
            <a:off x="8310677" y="1572768"/>
            <a:ext cx="640080" cy="5543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400" dirty="0"/>
          </a:p>
        </p:txBody>
      </p:sp>
      <p:sp>
        <p:nvSpPr>
          <p:cNvPr id="20" name="card-label"/>
          <p:cNvSpPr txBox="1"/>
          <p:nvPr/>
        </p:nvSpPr>
        <p:spPr>
          <a:xfrm>
            <a:off x="9042197" y="1572768"/>
            <a:ext cx="2509418" cy="56692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Fill the gap</a:t>
            </a:r>
            <a:endParaRPr lang="en-US" sz="1800" dirty="0"/>
          </a:p>
        </p:txBody>
      </p:sp>
      <p:sp>
        <p:nvSpPr>
          <p:cNvPr id="21" name="card-body"/>
          <p:cNvSpPr txBox="1"/>
          <p:nvPr/>
        </p:nvSpPr>
        <p:spPr>
          <a:xfrm>
            <a:off x="8310677" y="2355677"/>
            <a:ext cx="3149498" cy="3651931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Subtracting a negative number is the same as ___ a positive number.</a:t>
            </a:r>
            <a:endParaRPr lang="en-US" sz="2400" dirty="0"/>
          </a:p>
          <a:p>
            <a:pPr algn="l" indent="0" marL="0">
              <a:buNone/>
            </a:pPr>
            <a:r>
              <a:rPr lang="en-US" sz="24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bank:  </a:t>
            </a:r>
            <a:pPr algn="l" indent="0" marL="0">
              <a:buNone/>
            </a:pPr>
            <a:r>
              <a:rPr lang="en-US" sz="24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adding  ·  subtracting  ·  multiplying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8520" y="644652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29437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548640" y="292608"/>
            <a:ext cx="905256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Answers</a:t>
            </a:r>
            <a:endParaRPr lang="en-US" sz="3200" dirty="0"/>
          </a:p>
        </p:txBody>
      </p:sp>
      <p:sp>
        <p:nvSpPr>
          <p:cNvPr id="4" name="chip-hex"/>
          <p:cNvSpPr/>
          <p:nvPr/>
        </p:nvSpPr>
        <p:spPr>
          <a:xfrm>
            <a:off x="9677095" y="531760"/>
            <a:ext cx="566928" cy="490960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5" name="chip-hex-label"/>
          <p:cNvSpPr txBox="1"/>
          <p:nvPr/>
        </p:nvSpPr>
        <p:spPr>
          <a:xfrm>
            <a:off x="9677095" y="531760"/>
            <a:ext cx="566928" cy="490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6" name="chip-label"/>
          <p:cNvSpPr txBox="1"/>
          <p:nvPr/>
        </p:nvSpPr>
        <p:spPr>
          <a:xfrm>
            <a:off x="10317175" y="292608"/>
            <a:ext cx="132588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</a:t>
            </a:r>
            <a:endParaRPr lang="en-US" sz="1800" dirty="0"/>
          </a:p>
        </p:txBody>
      </p:sp>
      <p:sp>
        <p:nvSpPr>
          <p:cNvPr id="7" name="card"/>
          <p:cNvSpPr/>
          <p:nvPr/>
        </p:nvSpPr>
        <p:spPr>
          <a:xfrm>
            <a:off x="548640" y="1389888"/>
            <a:ext cx="3515258" cy="4754880"/>
          </a:xfrm>
          <a:prstGeom prst="roundRect">
            <a:avLst>
              <a:gd name="adj" fmla="val 1561"/>
            </a:avLst>
          </a:prstGeom>
          <a:solidFill>
            <a:srgbClr val="F7F8FA"/>
          </a:solidFill>
          <a:ln w="12700">
            <a:solidFill>
              <a:srgbClr val="BCC5DA"/>
            </a:solidFill>
            <a:prstDash val="solid"/>
          </a:ln>
        </p:spPr>
      </p:sp>
      <p:sp>
        <p:nvSpPr>
          <p:cNvPr id="8" name="card-hex"/>
          <p:cNvSpPr/>
          <p:nvPr/>
        </p:nvSpPr>
        <p:spPr>
          <a:xfrm>
            <a:off x="731520" y="1572768"/>
            <a:ext cx="640080" cy="554309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9" name="card-hex-label"/>
          <p:cNvSpPr txBox="1"/>
          <p:nvPr/>
        </p:nvSpPr>
        <p:spPr>
          <a:xfrm>
            <a:off x="731520" y="1572768"/>
            <a:ext cx="640080" cy="5543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400" dirty="0"/>
          </a:p>
        </p:txBody>
      </p:sp>
      <p:sp>
        <p:nvSpPr>
          <p:cNvPr id="10" name="card-label"/>
          <p:cNvSpPr txBox="1"/>
          <p:nvPr/>
        </p:nvSpPr>
        <p:spPr>
          <a:xfrm>
            <a:off x="1463040" y="1572768"/>
            <a:ext cx="2509418" cy="56692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800" dirty="0"/>
          </a:p>
        </p:txBody>
      </p:sp>
      <p:sp>
        <p:nvSpPr>
          <p:cNvPr id="11" name="answer-chip"/>
          <p:cNvSpPr/>
          <p:nvPr/>
        </p:nvSpPr>
        <p:spPr>
          <a:xfrm>
            <a:off x="731520" y="2355677"/>
            <a:ext cx="3149498" cy="614172"/>
          </a:xfrm>
          <a:prstGeom prst="roundRect">
            <a:avLst>
              <a:gd name="adj" fmla="val 17866"/>
            </a:avLst>
          </a:prstGeom>
          <a:solidFill>
            <a:srgbClr val="EFE4D0"/>
          </a:solidFill>
          <a:ln w="19050">
            <a:solidFill>
              <a:srgbClr val="B8862B"/>
            </a:solidFill>
            <a:prstDash val="solid"/>
          </a:ln>
        </p:spPr>
      </p:sp>
      <p:sp>
        <p:nvSpPr>
          <p:cNvPr id="12" name="answer"/>
          <p:cNvSpPr txBox="1"/>
          <p:nvPr/>
        </p:nvSpPr>
        <p:spPr>
          <a:xfrm>
            <a:off x="822960" y="2428829"/>
            <a:ext cx="2966618" cy="46786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−9</a:t>
            </a:r>
            <a:endParaRPr lang="en-US" sz="2200" dirty="0"/>
          </a:p>
        </p:txBody>
      </p:sp>
      <p:sp>
        <p:nvSpPr>
          <p:cNvPr id="13" name="card-body"/>
          <p:cNvSpPr txBox="1"/>
          <p:nvPr/>
        </p:nvSpPr>
        <p:spPr>
          <a:xfrm>
            <a:off x="731520" y="3152729"/>
            <a:ext cx="3149498" cy="2854879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2200" dirty="0">
                <a:solidFill>
                  <a:srgbClr val="4A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out −6 + (−3).</a:t>
            </a:r>
            <a:endParaRPr lang="en-US" sz="2200" dirty="0"/>
          </a:p>
          <a:p>
            <a:pPr algn="l" indent="0" marL="0">
              <a:buNone/>
            </a:pPr>
            <a:r>
              <a:rPr lang="en-US" sz="2200" i="1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numbers are negative, so there are no zero pairs: 6 + 3 = 9, and the answer is −9.</a:t>
            </a:r>
            <a:endParaRPr lang="en-US" sz="2200" dirty="0"/>
          </a:p>
        </p:txBody>
      </p:sp>
      <p:sp>
        <p:nvSpPr>
          <p:cNvPr id="14" name="card"/>
          <p:cNvSpPr/>
          <p:nvPr/>
        </p:nvSpPr>
        <p:spPr>
          <a:xfrm>
            <a:off x="4338218" y="1389888"/>
            <a:ext cx="3515258" cy="4754880"/>
          </a:xfrm>
          <a:prstGeom prst="roundRect">
            <a:avLst>
              <a:gd name="adj" fmla="val 1561"/>
            </a:avLst>
          </a:prstGeom>
          <a:solidFill>
            <a:srgbClr val="F7F8FA"/>
          </a:solidFill>
          <a:ln w="12700">
            <a:solidFill>
              <a:srgbClr val="BCC5DA"/>
            </a:solidFill>
            <a:prstDash val="solid"/>
          </a:ln>
        </p:spPr>
      </p:sp>
      <p:sp>
        <p:nvSpPr>
          <p:cNvPr id="15" name="card-hex"/>
          <p:cNvSpPr/>
          <p:nvPr/>
        </p:nvSpPr>
        <p:spPr>
          <a:xfrm>
            <a:off x="4521098" y="1572768"/>
            <a:ext cx="640080" cy="554309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16" name="card-hex-label"/>
          <p:cNvSpPr txBox="1"/>
          <p:nvPr/>
        </p:nvSpPr>
        <p:spPr>
          <a:xfrm>
            <a:off x="4521098" y="1572768"/>
            <a:ext cx="640080" cy="5543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400" dirty="0"/>
          </a:p>
        </p:txBody>
      </p:sp>
      <p:sp>
        <p:nvSpPr>
          <p:cNvPr id="17" name="card-label"/>
          <p:cNvSpPr txBox="1"/>
          <p:nvPr/>
        </p:nvSpPr>
        <p:spPr>
          <a:xfrm>
            <a:off x="5252618" y="1572768"/>
            <a:ext cx="2509418" cy="56692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800" dirty="0"/>
          </a:p>
        </p:txBody>
      </p:sp>
      <p:sp>
        <p:nvSpPr>
          <p:cNvPr id="18" name="answer-chip"/>
          <p:cNvSpPr/>
          <p:nvPr/>
        </p:nvSpPr>
        <p:spPr>
          <a:xfrm>
            <a:off x="4521098" y="2355677"/>
            <a:ext cx="3149498" cy="614172"/>
          </a:xfrm>
          <a:prstGeom prst="roundRect">
            <a:avLst>
              <a:gd name="adj" fmla="val 17866"/>
            </a:avLst>
          </a:prstGeom>
          <a:solidFill>
            <a:srgbClr val="EFE4D0"/>
          </a:solidFill>
          <a:ln w="19050">
            <a:solidFill>
              <a:srgbClr val="B8862B"/>
            </a:solidFill>
            <a:prstDash val="solid"/>
          </a:ln>
        </p:spPr>
      </p:sp>
      <p:sp>
        <p:nvSpPr>
          <p:cNvPr id="19" name="answer"/>
          <p:cNvSpPr txBox="1"/>
          <p:nvPr/>
        </p:nvSpPr>
        <p:spPr>
          <a:xfrm>
            <a:off x="4612538" y="2428829"/>
            <a:ext cx="2966618" cy="46786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  −3</a:t>
            </a:r>
            <a:endParaRPr lang="en-US" sz="2200" dirty="0"/>
          </a:p>
        </p:txBody>
      </p:sp>
      <p:sp>
        <p:nvSpPr>
          <p:cNvPr id="20" name="card-body"/>
          <p:cNvSpPr txBox="1"/>
          <p:nvPr/>
        </p:nvSpPr>
        <p:spPr>
          <a:xfrm>
            <a:off x="4521098" y="3152729"/>
            <a:ext cx="3149498" cy="2854879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2200" dirty="0">
                <a:solidFill>
                  <a:srgbClr val="4A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out 7 − 10.</a:t>
            </a:r>
            <a:endParaRPr lang="en-US" sz="2200" dirty="0"/>
          </a:p>
          <a:p>
            <a:pPr algn="l" indent="0" marL="0">
              <a:buNone/>
            </a:pPr>
            <a:r>
              <a:rPr lang="en-US" sz="2200" i="1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7 to reach zero, then 3 more. You land on −3.</a:t>
            </a:r>
            <a:endParaRPr lang="en-US" sz="2200" dirty="0"/>
          </a:p>
        </p:txBody>
      </p:sp>
      <p:sp>
        <p:nvSpPr>
          <p:cNvPr id="21" name="card"/>
          <p:cNvSpPr/>
          <p:nvPr/>
        </p:nvSpPr>
        <p:spPr>
          <a:xfrm>
            <a:off x="8127797" y="1389888"/>
            <a:ext cx="3515258" cy="4754880"/>
          </a:xfrm>
          <a:prstGeom prst="roundRect">
            <a:avLst>
              <a:gd name="adj" fmla="val 1561"/>
            </a:avLst>
          </a:prstGeom>
          <a:solidFill>
            <a:srgbClr val="F7F8FA"/>
          </a:solidFill>
          <a:ln w="12700">
            <a:solidFill>
              <a:srgbClr val="BCC5DA"/>
            </a:solidFill>
            <a:prstDash val="solid"/>
          </a:ln>
        </p:spPr>
      </p:sp>
      <p:sp>
        <p:nvSpPr>
          <p:cNvPr id="22" name="card-hex"/>
          <p:cNvSpPr/>
          <p:nvPr/>
        </p:nvSpPr>
        <p:spPr>
          <a:xfrm>
            <a:off x="8310677" y="1572768"/>
            <a:ext cx="640080" cy="554309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23" name="card-hex-label"/>
          <p:cNvSpPr txBox="1"/>
          <p:nvPr/>
        </p:nvSpPr>
        <p:spPr>
          <a:xfrm>
            <a:off x="8310677" y="1572768"/>
            <a:ext cx="640080" cy="5543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400" dirty="0"/>
          </a:p>
        </p:txBody>
      </p:sp>
      <p:sp>
        <p:nvSpPr>
          <p:cNvPr id="24" name="card-label"/>
          <p:cNvSpPr txBox="1"/>
          <p:nvPr/>
        </p:nvSpPr>
        <p:spPr>
          <a:xfrm>
            <a:off x="9042197" y="1572768"/>
            <a:ext cx="2509418" cy="56692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800" dirty="0"/>
          </a:p>
        </p:txBody>
      </p:sp>
      <p:sp>
        <p:nvSpPr>
          <p:cNvPr id="25" name="answer-chip"/>
          <p:cNvSpPr/>
          <p:nvPr/>
        </p:nvSpPr>
        <p:spPr>
          <a:xfrm>
            <a:off x="8310677" y="2355677"/>
            <a:ext cx="3149498" cy="614172"/>
          </a:xfrm>
          <a:prstGeom prst="roundRect">
            <a:avLst>
              <a:gd name="adj" fmla="val 17866"/>
            </a:avLst>
          </a:prstGeom>
          <a:solidFill>
            <a:srgbClr val="EFE4D0"/>
          </a:solidFill>
          <a:ln w="19050">
            <a:solidFill>
              <a:srgbClr val="B8862B"/>
            </a:solidFill>
            <a:prstDash val="solid"/>
          </a:ln>
        </p:spPr>
      </p:sp>
      <p:sp>
        <p:nvSpPr>
          <p:cNvPr id="26" name="answer"/>
          <p:cNvSpPr txBox="1"/>
          <p:nvPr/>
        </p:nvSpPr>
        <p:spPr>
          <a:xfrm>
            <a:off x="8402117" y="2428829"/>
            <a:ext cx="2966618" cy="46786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adding</a:t>
            </a:r>
            <a:endParaRPr lang="en-US" sz="2200" dirty="0"/>
          </a:p>
        </p:txBody>
      </p:sp>
      <p:sp>
        <p:nvSpPr>
          <p:cNvPr id="27" name="card-body"/>
          <p:cNvSpPr txBox="1"/>
          <p:nvPr/>
        </p:nvSpPr>
        <p:spPr>
          <a:xfrm>
            <a:off x="8310677" y="3152729"/>
            <a:ext cx="3149498" cy="2854879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2200" dirty="0">
                <a:solidFill>
                  <a:srgbClr val="4A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Subtracting a negative number is the same as ___ a positive number.</a:t>
            </a:r>
            <a:endParaRPr lang="en-US" sz="2200" dirty="0"/>
          </a:p>
          <a:p>
            <a:pPr algn="l" indent="0" marL="0">
              <a:buNone/>
            </a:pPr>
            <a:r>
              <a:rPr lang="en-US" sz="2200" i="1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Taking away negative counters leaves extra positive counters, so the value goes up.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8520" y="644652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29437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548640" y="292608"/>
            <a:ext cx="905256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words</a:t>
            </a:r>
            <a:endParaRPr lang="en-US" sz="3200" dirty="0"/>
          </a:p>
        </p:txBody>
      </p:sp>
      <p:sp>
        <p:nvSpPr>
          <p:cNvPr id="4" name="chip-hex"/>
          <p:cNvSpPr/>
          <p:nvPr/>
        </p:nvSpPr>
        <p:spPr>
          <a:xfrm>
            <a:off x="9677095" y="531760"/>
            <a:ext cx="566928" cy="490960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5" name="chip-hex-label"/>
          <p:cNvSpPr txBox="1"/>
          <p:nvPr/>
        </p:nvSpPr>
        <p:spPr>
          <a:xfrm>
            <a:off x="9677095" y="531760"/>
            <a:ext cx="566928" cy="490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chip-label"/>
          <p:cNvSpPr txBox="1"/>
          <p:nvPr/>
        </p:nvSpPr>
        <p:spPr>
          <a:xfrm>
            <a:off x="10317175" y="292608"/>
            <a:ext cx="132588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Pre-teach</a:t>
            </a:r>
            <a:endParaRPr lang="en-US" sz="1800" dirty="0"/>
          </a:p>
        </p:txBody>
      </p:sp>
      <p:sp>
        <p:nvSpPr>
          <p:cNvPr id="7" name="kw-head"/>
          <p:cNvSpPr/>
          <p:nvPr/>
        </p:nvSpPr>
        <p:spPr>
          <a:xfrm>
            <a:off x="548640" y="1389888"/>
            <a:ext cx="11094415" cy="457200"/>
          </a:xfrm>
          <a:prstGeom prst="roundRect">
            <a:avLst>
              <a:gd name="adj" fmla="val 16000"/>
            </a:avLst>
          </a:prstGeom>
          <a:solidFill>
            <a:srgbClr val="2E4A8C"/>
          </a:solidFill>
          <a:ln/>
        </p:spPr>
      </p:sp>
      <p:sp>
        <p:nvSpPr>
          <p:cNvPr id="8" name="kw-headtext"/>
          <p:cNvSpPr txBox="1"/>
          <p:nvPr/>
        </p:nvSpPr>
        <p:spPr>
          <a:xfrm>
            <a:off x="1143000" y="1389888"/>
            <a:ext cx="2331720" cy="45720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</a:t>
            </a:r>
            <a:endParaRPr lang="en-US" sz="1800" dirty="0"/>
          </a:p>
        </p:txBody>
      </p:sp>
      <p:sp>
        <p:nvSpPr>
          <p:cNvPr id="9" name="kw-headtext"/>
          <p:cNvSpPr txBox="1"/>
          <p:nvPr/>
        </p:nvSpPr>
        <p:spPr>
          <a:xfrm>
            <a:off x="3657600" y="1389888"/>
            <a:ext cx="3474720" cy="45720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means</a:t>
            </a:r>
            <a:endParaRPr lang="en-US" sz="1800" dirty="0"/>
          </a:p>
        </p:txBody>
      </p:sp>
      <p:sp>
        <p:nvSpPr>
          <p:cNvPr id="10" name="kw-headtext"/>
          <p:cNvSpPr txBox="1"/>
          <p:nvPr/>
        </p:nvSpPr>
        <p:spPr>
          <a:xfrm>
            <a:off x="7315200" y="1389888"/>
            <a:ext cx="4236415" cy="45720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sentence</a:t>
            </a:r>
            <a:endParaRPr lang="en-US" sz="1800" dirty="0"/>
          </a:p>
        </p:txBody>
      </p:sp>
      <p:sp>
        <p:nvSpPr>
          <p:cNvPr id="11" name="kw-row"/>
          <p:cNvSpPr/>
          <p:nvPr/>
        </p:nvSpPr>
        <p:spPr>
          <a:xfrm>
            <a:off x="548640" y="1920240"/>
            <a:ext cx="11094415" cy="615086"/>
          </a:xfrm>
          <a:prstGeom prst="roundRect">
            <a:avLst>
              <a:gd name="adj" fmla="val 8920"/>
            </a:avLst>
          </a:prstGeom>
          <a:solidFill>
            <a:srgbClr val="F5F6F9"/>
          </a:solidFill>
          <a:ln/>
        </p:spPr>
      </p:sp>
      <p:sp>
        <p:nvSpPr>
          <p:cNvPr id="12" name="kw-hex"/>
          <p:cNvSpPr/>
          <p:nvPr/>
        </p:nvSpPr>
        <p:spPr>
          <a:xfrm>
            <a:off x="658368" y="2049612"/>
            <a:ext cx="411480" cy="356342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13" name="kw-cell"/>
          <p:cNvSpPr txBox="1"/>
          <p:nvPr/>
        </p:nvSpPr>
        <p:spPr>
          <a:xfrm>
            <a:off x="1143000" y="1920240"/>
            <a:ext cx="2331720" cy="615086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E4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subtract</a:t>
            </a:r>
            <a:endParaRPr lang="en-US" sz="2400" dirty="0"/>
          </a:p>
        </p:txBody>
      </p:sp>
      <p:sp>
        <p:nvSpPr>
          <p:cNvPr id="14" name="kw-cell"/>
          <p:cNvSpPr txBox="1"/>
          <p:nvPr/>
        </p:nvSpPr>
        <p:spPr>
          <a:xfrm>
            <a:off x="3657600" y="1920240"/>
            <a:ext cx="3474720" cy="615086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take away</a:t>
            </a:r>
            <a:endParaRPr lang="en-US" sz="2200" dirty="0"/>
          </a:p>
        </p:txBody>
      </p:sp>
      <p:sp>
        <p:nvSpPr>
          <p:cNvPr id="15" name="kw-cell"/>
          <p:cNvSpPr txBox="1"/>
          <p:nvPr/>
        </p:nvSpPr>
        <p:spPr>
          <a:xfrm>
            <a:off x="7315200" y="1920240"/>
            <a:ext cx="4236415" cy="615086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4A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Subtract 3 from 10 to get 7.</a:t>
            </a:r>
            <a:endParaRPr lang="en-US" sz="2200" dirty="0"/>
          </a:p>
        </p:txBody>
      </p:sp>
      <p:sp>
        <p:nvSpPr>
          <p:cNvPr id="16" name="kw-row"/>
          <p:cNvSpPr/>
          <p:nvPr/>
        </p:nvSpPr>
        <p:spPr>
          <a:xfrm>
            <a:off x="548640" y="2608478"/>
            <a:ext cx="11094415" cy="900582"/>
          </a:xfrm>
          <a:prstGeom prst="roundRect">
            <a:avLst>
              <a:gd name="adj" fmla="val 6092"/>
            </a:avLst>
          </a:prstGeom>
          <a:solidFill>
            <a:srgbClr val="F9F4EC"/>
          </a:solidFill>
          <a:ln/>
        </p:spPr>
      </p:sp>
      <p:sp>
        <p:nvSpPr>
          <p:cNvPr id="17" name="kw-hex"/>
          <p:cNvSpPr/>
          <p:nvPr/>
        </p:nvSpPr>
        <p:spPr>
          <a:xfrm>
            <a:off x="658368" y="2880599"/>
            <a:ext cx="411480" cy="356342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18" name="kw-cell"/>
          <p:cNvSpPr txBox="1"/>
          <p:nvPr/>
        </p:nvSpPr>
        <p:spPr>
          <a:xfrm>
            <a:off x="1143000" y="2608478"/>
            <a:ext cx="2331720" cy="900582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E4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minus</a:t>
            </a:r>
            <a:endParaRPr lang="en-US" sz="2400" dirty="0"/>
          </a:p>
        </p:txBody>
      </p:sp>
      <p:sp>
        <p:nvSpPr>
          <p:cNvPr id="19" name="kw-cell"/>
          <p:cNvSpPr txBox="1"/>
          <p:nvPr/>
        </p:nvSpPr>
        <p:spPr>
          <a:xfrm>
            <a:off x="3657600" y="2608478"/>
            <a:ext cx="3474720" cy="900582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word we say for the − sign when we take away</a:t>
            </a:r>
            <a:endParaRPr lang="en-US" sz="2200" dirty="0"/>
          </a:p>
        </p:txBody>
      </p:sp>
      <p:sp>
        <p:nvSpPr>
          <p:cNvPr id="20" name="kw-cell"/>
          <p:cNvSpPr txBox="1"/>
          <p:nvPr/>
        </p:nvSpPr>
        <p:spPr>
          <a:xfrm>
            <a:off x="7315200" y="2608478"/>
            <a:ext cx="4236415" cy="900582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4A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read 5 − 2 as five minus two.</a:t>
            </a:r>
            <a:endParaRPr lang="en-US" sz="2200" dirty="0"/>
          </a:p>
        </p:txBody>
      </p:sp>
      <p:sp>
        <p:nvSpPr>
          <p:cNvPr id="21" name="kw-row"/>
          <p:cNvSpPr/>
          <p:nvPr/>
        </p:nvSpPr>
        <p:spPr>
          <a:xfrm>
            <a:off x="548640" y="3582213"/>
            <a:ext cx="11094415" cy="615086"/>
          </a:xfrm>
          <a:prstGeom prst="roundRect">
            <a:avLst>
              <a:gd name="adj" fmla="val 8920"/>
            </a:avLst>
          </a:prstGeom>
          <a:solidFill>
            <a:srgbClr val="F5F6F9"/>
          </a:solidFill>
          <a:ln/>
        </p:spPr>
      </p:sp>
      <p:sp>
        <p:nvSpPr>
          <p:cNvPr id="22" name="kw-hex"/>
          <p:cNvSpPr/>
          <p:nvPr/>
        </p:nvSpPr>
        <p:spPr>
          <a:xfrm>
            <a:off x="658368" y="3711585"/>
            <a:ext cx="411480" cy="356342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23" name="kw-cell"/>
          <p:cNvSpPr txBox="1"/>
          <p:nvPr/>
        </p:nvSpPr>
        <p:spPr>
          <a:xfrm>
            <a:off x="1143000" y="3582213"/>
            <a:ext cx="2331720" cy="615086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E4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negative</a:t>
            </a:r>
            <a:endParaRPr lang="en-US" sz="2400" dirty="0"/>
          </a:p>
        </p:txBody>
      </p:sp>
      <p:sp>
        <p:nvSpPr>
          <p:cNvPr id="24" name="kw-cell"/>
          <p:cNvSpPr txBox="1"/>
          <p:nvPr/>
        </p:nvSpPr>
        <p:spPr>
          <a:xfrm>
            <a:off x="3657600" y="3582213"/>
            <a:ext cx="3474720" cy="615086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zero</a:t>
            </a:r>
            <a:endParaRPr lang="en-US" sz="2200" dirty="0"/>
          </a:p>
        </p:txBody>
      </p:sp>
      <p:sp>
        <p:nvSpPr>
          <p:cNvPr id="25" name="kw-cell"/>
          <p:cNvSpPr txBox="1"/>
          <p:nvPr/>
        </p:nvSpPr>
        <p:spPr>
          <a:xfrm>
            <a:off x="7315200" y="3582213"/>
            <a:ext cx="4236415" cy="615086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4A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read −3 as negative three.</a:t>
            </a:r>
            <a:endParaRPr lang="en-US" sz="2200" dirty="0"/>
          </a:p>
        </p:txBody>
      </p:sp>
      <p:sp>
        <p:nvSpPr>
          <p:cNvPr id="26" name="kw-row"/>
          <p:cNvSpPr/>
          <p:nvPr/>
        </p:nvSpPr>
        <p:spPr>
          <a:xfrm>
            <a:off x="548640" y="4270451"/>
            <a:ext cx="11094415" cy="900582"/>
          </a:xfrm>
          <a:prstGeom prst="roundRect">
            <a:avLst>
              <a:gd name="adj" fmla="val 6092"/>
            </a:avLst>
          </a:prstGeom>
          <a:solidFill>
            <a:srgbClr val="F9F4EC"/>
          </a:solidFill>
          <a:ln/>
        </p:spPr>
      </p:sp>
      <p:sp>
        <p:nvSpPr>
          <p:cNvPr id="27" name="kw-hex"/>
          <p:cNvSpPr/>
          <p:nvPr/>
        </p:nvSpPr>
        <p:spPr>
          <a:xfrm>
            <a:off x="658368" y="4542572"/>
            <a:ext cx="411480" cy="356342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28" name="kw-cell"/>
          <p:cNvSpPr txBox="1"/>
          <p:nvPr/>
        </p:nvSpPr>
        <p:spPr>
          <a:xfrm>
            <a:off x="1143000" y="4270451"/>
            <a:ext cx="2331720" cy="900582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E4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opposite</a:t>
            </a:r>
            <a:endParaRPr lang="en-US" sz="2400" dirty="0"/>
          </a:p>
        </p:txBody>
      </p:sp>
      <p:sp>
        <p:nvSpPr>
          <p:cNvPr id="29" name="kw-cell"/>
          <p:cNvSpPr txBox="1"/>
          <p:nvPr/>
        </p:nvSpPr>
        <p:spPr>
          <a:xfrm>
            <a:off x="3657600" y="4270451"/>
            <a:ext cx="3474720" cy="900582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move that undoes another move</a:t>
            </a:r>
            <a:endParaRPr lang="en-US" sz="2200" dirty="0"/>
          </a:p>
        </p:txBody>
      </p:sp>
      <p:sp>
        <p:nvSpPr>
          <p:cNvPr id="30" name="kw-cell"/>
          <p:cNvSpPr txBox="1"/>
          <p:nvPr/>
        </p:nvSpPr>
        <p:spPr>
          <a:xfrm>
            <a:off x="7315200" y="4270451"/>
            <a:ext cx="4236415" cy="900582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4A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Adding is the opposite of subtracting.</a:t>
            </a:r>
            <a:endParaRPr lang="en-US" sz="2200" dirty="0"/>
          </a:p>
        </p:txBody>
      </p:sp>
      <p:sp>
        <p:nvSpPr>
          <p:cNvPr id="31" name="kw-row"/>
          <p:cNvSpPr/>
          <p:nvPr/>
        </p:nvSpPr>
        <p:spPr>
          <a:xfrm>
            <a:off x="548640" y="5244186"/>
            <a:ext cx="11094415" cy="900582"/>
          </a:xfrm>
          <a:prstGeom prst="roundRect">
            <a:avLst>
              <a:gd name="adj" fmla="val 6092"/>
            </a:avLst>
          </a:prstGeom>
          <a:solidFill>
            <a:srgbClr val="F5F6F9"/>
          </a:solidFill>
          <a:ln/>
        </p:spPr>
      </p:sp>
      <p:sp>
        <p:nvSpPr>
          <p:cNvPr id="32" name="kw-hex"/>
          <p:cNvSpPr/>
          <p:nvPr/>
        </p:nvSpPr>
        <p:spPr>
          <a:xfrm>
            <a:off x="658368" y="5516306"/>
            <a:ext cx="411480" cy="356342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33" name="kw-cell"/>
          <p:cNvSpPr txBox="1"/>
          <p:nvPr/>
        </p:nvSpPr>
        <p:spPr>
          <a:xfrm>
            <a:off x="1143000" y="5244186"/>
            <a:ext cx="2331720" cy="900582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E4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rewrite</a:t>
            </a:r>
            <a:endParaRPr lang="en-US" sz="2400" dirty="0"/>
          </a:p>
        </p:txBody>
      </p:sp>
      <p:sp>
        <p:nvSpPr>
          <p:cNvPr id="34" name="kw-cell"/>
          <p:cNvSpPr txBox="1"/>
          <p:nvPr/>
        </p:nvSpPr>
        <p:spPr>
          <a:xfrm>
            <a:off x="3657600" y="5244186"/>
            <a:ext cx="3474720" cy="900582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write a calculation again in an easier way</a:t>
            </a:r>
            <a:endParaRPr lang="en-US" sz="2200" dirty="0"/>
          </a:p>
        </p:txBody>
      </p:sp>
      <p:sp>
        <p:nvSpPr>
          <p:cNvPr id="35" name="kw-cell"/>
          <p:cNvSpPr txBox="1"/>
          <p:nvPr/>
        </p:nvSpPr>
        <p:spPr>
          <a:xfrm>
            <a:off x="7315200" y="5244186"/>
            <a:ext cx="4236415" cy="900582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4A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5 − (−2) as 5 + 2.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8520" y="644652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29437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548640" y="292608"/>
            <a:ext cx="905256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Read-along (1 of 2)</a:t>
            </a:r>
            <a:endParaRPr lang="en-US" sz="3200" dirty="0"/>
          </a:p>
        </p:txBody>
      </p:sp>
      <p:sp>
        <p:nvSpPr>
          <p:cNvPr id="4" name="chip-hex"/>
          <p:cNvSpPr/>
          <p:nvPr/>
        </p:nvSpPr>
        <p:spPr>
          <a:xfrm>
            <a:off x="9677095" y="531760"/>
            <a:ext cx="566928" cy="490960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5" name="chip-hex-label"/>
          <p:cNvSpPr txBox="1"/>
          <p:nvPr/>
        </p:nvSpPr>
        <p:spPr>
          <a:xfrm>
            <a:off x="9677095" y="531760"/>
            <a:ext cx="566928" cy="490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chip-label"/>
          <p:cNvSpPr txBox="1"/>
          <p:nvPr/>
        </p:nvSpPr>
        <p:spPr>
          <a:xfrm>
            <a:off x="10317175" y="292608"/>
            <a:ext cx="132588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Pre-teach</a:t>
            </a:r>
            <a:endParaRPr lang="en-US" sz="1800" dirty="0"/>
          </a:p>
        </p:txBody>
      </p:sp>
      <p:sp>
        <p:nvSpPr>
          <p:cNvPr id="7" name="ra-side"/>
          <p:cNvSpPr/>
          <p:nvPr/>
        </p:nvSpPr>
        <p:spPr>
          <a:xfrm>
            <a:off x="548640" y="1389888"/>
            <a:ext cx="1874520" cy="4754880"/>
          </a:xfrm>
          <a:prstGeom prst="roundRect">
            <a:avLst>
              <a:gd name="adj" fmla="val 3902"/>
            </a:avLst>
          </a:prstGeom>
          <a:solidFill>
            <a:srgbClr val="2E4A8C"/>
          </a:solidFill>
          <a:ln/>
        </p:spPr>
      </p:sp>
      <p:sp>
        <p:nvSpPr>
          <p:cNvPr id="8" name="ra-hex"/>
          <p:cNvSpPr/>
          <p:nvPr/>
        </p:nvSpPr>
        <p:spPr>
          <a:xfrm>
            <a:off x="914400" y="1709928"/>
            <a:ext cx="1143000" cy="989838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9" name="ra-hex-label"/>
          <p:cNvSpPr txBox="1"/>
          <p:nvPr/>
        </p:nvSpPr>
        <p:spPr>
          <a:xfrm>
            <a:off x="914400" y="1709928"/>
            <a:ext cx="1143000" cy="9898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</a:t>
            </a:r>
            <a:endParaRPr lang="en-US" sz="2400" dirty="0"/>
          </a:p>
        </p:txBody>
      </p:sp>
      <p:sp>
        <p:nvSpPr>
          <p:cNvPr id="10" name="ra-note"/>
          <p:cNvSpPr txBox="1"/>
          <p:nvPr/>
        </p:nvSpPr>
        <p:spPr>
          <a:xfrm>
            <a:off x="640080" y="2898648"/>
            <a:ext cx="1691640" cy="219456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ctr" indent="0" marL="0"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together;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pupils who were pre-taught lead</a:t>
            </a:r>
            <a:endParaRPr lang="en-US" sz="1800" dirty="0"/>
          </a:p>
        </p:txBody>
      </p:sp>
      <p:sp>
        <p:nvSpPr>
          <p:cNvPr id="11" name="ra-panel"/>
          <p:cNvSpPr/>
          <p:nvPr/>
        </p:nvSpPr>
        <p:spPr>
          <a:xfrm>
            <a:off x="2697480" y="1389888"/>
            <a:ext cx="8945575" cy="4754880"/>
          </a:xfrm>
          <a:prstGeom prst="roundRect">
            <a:avLst>
              <a:gd name="adj" fmla="val 769"/>
            </a:avLst>
          </a:prstGeom>
          <a:solidFill>
            <a:srgbClr val="F7F8FA"/>
          </a:solidFill>
          <a:ln w="12700">
            <a:solidFill>
              <a:srgbClr val="C7CEE0"/>
            </a:solidFill>
            <a:prstDash val="solid"/>
          </a:ln>
        </p:spPr>
      </p:sp>
      <p:sp>
        <p:nvSpPr>
          <p:cNvPr id="12" name="passage"/>
          <p:cNvSpPr txBox="1"/>
          <p:nvPr/>
        </p:nvSpPr>
        <p:spPr>
          <a:xfrm>
            <a:off x="2880360" y="1527048"/>
            <a:ext cx="8579815" cy="448056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8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</a:t>
            </a:r>
            <a:pPr algn="l" indent="0" marL="0">
              <a:spcAft>
                <a:spcPts val="600"/>
              </a:spcAft>
              <a:buNone/>
            </a:pPr>
            <a:r>
              <a:rPr lang="en-US" sz="2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Taking away a </a:t>
            </a:r>
            <a:pPr algn="l" indent="0" marL="0">
              <a:spcAft>
                <a:spcPts val="600"/>
              </a:spcAft>
              <a:buNone/>
            </a:pPr>
            <a:r>
              <a:rPr lang="en-US" sz="2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</a:t>
            </a:r>
            <a:pPr algn="l" indent="0" marL="0">
              <a:spcAft>
                <a:spcPts val="600"/>
              </a:spcAft>
              <a:buNone/>
            </a:pPr>
            <a:r>
              <a:rPr lang="en-US" sz="2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a surprise.</a:t>
            </a:r>
            <a:endParaRPr lang="en-US" sz="2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8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</a:t>
            </a:r>
            <a:pPr algn="l" indent="0" marL="0">
              <a:spcAft>
                <a:spcPts val="600"/>
              </a:spcAft>
              <a:buNone/>
            </a:pPr>
            <a:r>
              <a:rPr lang="en-US" sz="2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makes the number bigger.</a:t>
            </a:r>
            <a:endParaRPr lang="en-US" sz="2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8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</a:t>
            </a:r>
            <a:pPr algn="l" indent="0" marL="0">
              <a:spcAft>
                <a:spcPts val="600"/>
              </a:spcAft>
              <a:buNone/>
            </a:pPr>
            <a:r>
              <a:rPr lang="en-US" sz="2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of 3 − (−2).</a:t>
            </a:r>
            <a:endParaRPr lang="en-US" sz="2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8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</a:t>
            </a:r>
            <a:pPr algn="l" indent="0" marL="0">
              <a:spcAft>
                <a:spcPts val="600"/>
              </a:spcAft>
              <a:buNone/>
            </a:pPr>
            <a:r>
              <a:rPr lang="en-US" sz="2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out 3 positive counters.</a:t>
            </a:r>
            <a:endParaRPr lang="en-US" sz="2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8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</a:t>
            </a:r>
            <a:pPr algn="l" indent="0" marL="0">
              <a:spcAft>
                <a:spcPts val="600"/>
              </a:spcAft>
              <a:buNone/>
            </a:pPr>
            <a:r>
              <a:rPr lang="en-US" sz="2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are no </a:t>
            </a:r>
            <a:pPr algn="l" indent="0" marL="0">
              <a:spcAft>
                <a:spcPts val="600"/>
              </a:spcAft>
              <a:buNone/>
            </a:pPr>
            <a:r>
              <a:rPr lang="en-US" sz="2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</a:t>
            </a:r>
            <a:pPr algn="l" indent="0" marL="0">
              <a:spcAft>
                <a:spcPts val="600"/>
              </a:spcAft>
              <a:buNone/>
            </a:pPr>
            <a:r>
              <a:rPr lang="en-US" sz="2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counters to take.</a:t>
            </a:r>
            <a:endParaRPr lang="en-US" sz="2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8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 </a:t>
            </a:r>
            <a:pPr algn="l" indent="0" marL="0">
              <a:spcAft>
                <a:spcPts val="600"/>
              </a:spcAft>
              <a:buNone/>
            </a:pPr>
            <a:r>
              <a:rPr lang="en-US" sz="2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add two zero pairs.</a:t>
            </a: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8520" y="644652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29437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548640" y="292608"/>
            <a:ext cx="905256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Read-along (2 of 2)</a:t>
            </a:r>
            <a:endParaRPr lang="en-US" sz="3200" dirty="0"/>
          </a:p>
        </p:txBody>
      </p:sp>
      <p:sp>
        <p:nvSpPr>
          <p:cNvPr id="4" name="chip-hex"/>
          <p:cNvSpPr/>
          <p:nvPr/>
        </p:nvSpPr>
        <p:spPr>
          <a:xfrm>
            <a:off x="9677095" y="531760"/>
            <a:ext cx="566928" cy="490960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5" name="chip-hex-label"/>
          <p:cNvSpPr txBox="1"/>
          <p:nvPr/>
        </p:nvSpPr>
        <p:spPr>
          <a:xfrm>
            <a:off x="9677095" y="531760"/>
            <a:ext cx="566928" cy="490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chip-label"/>
          <p:cNvSpPr txBox="1"/>
          <p:nvPr/>
        </p:nvSpPr>
        <p:spPr>
          <a:xfrm>
            <a:off x="10317175" y="292608"/>
            <a:ext cx="132588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Pre-teach</a:t>
            </a:r>
            <a:endParaRPr lang="en-US" sz="1800" dirty="0"/>
          </a:p>
        </p:txBody>
      </p:sp>
      <p:sp>
        <p:nvSpPr>
          <p:cNvPr id="7" name="ra-side"/>
          <p:cNvSpPr/>
          <p:nvPr/>
        </p:nvSpPr>
        <p:spPr>
          <a:xfrm>
            <a:off x="548640" y="1389888"/>
            <a:ext cx="1874520" cy="4754880"/>
          </a:xfrm>
          <a:prstGeom prst="roundRect">
            <a:avLst>
              <a:gd name="adj" fmla="val 3902"/>
            </a:avLst>
          </a:prstGeom>
          <a:solidFill>
            <a:srgbClr val="2E4A8C"/>
          </a:solidFill>
          <a:ln/>
        </p:spPr>
      </p:sp>
      <p:sp>
        <p:nvSpPr>
          <p:cNvPr id="8" name="ra-hex"/>
          <p:cNvSpPr/>
          <p:nvPr/>
        </p:nvSpPr>
        <p:spPr>
          <a:xfrm>
            <a:off x="914400" y="1709928"/>
            <a:ext cx="1143000" cy="989838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9" name="ra-hex-label"/>
          <p:cNvSpPr txBox="1"/>
          <p:nvPr/>
        </p:nvSpPr>
        <p:spPr>
          <a:xfrm>
            <a:off x="914400" y="1709928"/>
            <a:ext cx="1143000" cy="9898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</a:t>
            </a:r>
            <a:endParaRPr lang="en-US" sz="2400" dirty="0"/>
          </a:p>
        </p:txBody>
      </p:sp>
      <p:sp>
        <p:nvSpPr>
          <p:cNvPr id="10" name="ra-note"/>
          <p:cNvSpPr txBox="1"/>
          <p:nvPr/>
        </p:nvSpPr>
        <p:spPr>
          <a:xfrm>
            <a:off x="640080" y="2898648"/>
            <a:ext cx="1691640" cy="219456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ctr" indent="0" marL="0"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together;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pupils who were pre-taught lead</a:t>
            </a:r>
            <a:endParaRPr lang="en-US" sz="1800" dirty="0"/>
          </a:p>
        </p:txBody>
      </p:sp>
      <p:sp>
        <p:nvSpPr>
          <p:cNvPr id="11" name="ra-panel"/>
          <p:cNvSpPr/>
          <p:nvPr/>
        </p:nvSpPr>
        <p:spPr>
          <a:xfrm>
            <a:off x="2697480" y="1389888"/>
            <a:ext cx="8945575" cy="4754880"/>
          </a:xfrm>
          <a:prstGeom prst="roundRect">
            <a:avLst>
              <a:gd name="adj" fmla="val 769"/>
            </a:avLst>
          </a:prstGeom>
          <a:solidFill>
            <a:srgbClr val="F7F8FA"/>
          </a:solidFill>
          <a:ln w="12700">
            <a:solidFill>
              <a:srgbClr val="C7CEE0"/>
            </a:solidFill>
            <a:prstDash val="solid"/>
          </a:ln>
        </p:spPr>
      </p:sp>
      <p:sp>
        <p:nvSpPr>
          <p:cNvPr id="12" name="passage"/>
          <p:cNvSpPr txBox="1"/>
          <p:nvPr/>
        </p:nvSpPr>
        <p:spPr>
          <a:xfrm>
            <a:off x="2880360" y="1527048"/>
            <a:ext cx="8579815" cy="448056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8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 </a:t>
            </a:r>
            <a:pPr algn="l" indent="0" marL="0">
              <a:spcAft>
                <a:spcPts val="600"/>
              </a:spcAft>
              <a:buNone/>
            </a:pPr>
            <a:r>
              <a:rPr lang="en-US" sz="2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value is still 3.</a:t>
            </a:r>
            <a:endParaRPr lang="en-US" sz="2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8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 </a:t>
            </a:r>
            <a:pPr algn="l" indent="0" marL="0">
              <a:spcAft>
                <a:spcPts val="600"/>
              </a:spcAft>
              <a:buNone/>
            </a:pPr>
            <a:r>
              <a:rPr lang="en-US" sz="2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take away the 2 </a:t>
            </a:r>
            <a:pPr algn="l" indent="0" marL="0">
              <a:spcAft>
                <a:spcPts val="600"/>
              </a:spcAft>
              <a:buNone/>
            </a:pPr>
            <a:r>
              <a:rPr lang="en-US" sz="2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</a:t>
            </a:r>
            <a:pPr algn="l" indent="0" marL="0">
              <a:spcAft>
                <a:spcPts val="600"/>
              </a:spcAft>
              <a:buNone/>
            </a:pPr>
            <a:r>
              <a:rPr lang="en-US" sz="2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counters.</a:t>
            </a:r>
            <a:endParaRPr lang="en-US" sz="2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8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 </a:t>
            </a:r>
            <a:pPr algn="l" indent="0" marL="0">
              <a:spcAft>
                <a:spcPts val="600"/>
              </a:spcAft>
              <a:buNone/>
            </a:pPr>
            <a:r>
              <a:rPr lang="en-US" sz="2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positive counters are left.</a:t>
            </a:r>
            <a:endParaRPr lang="en-US" sz="2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8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 </a:t>
            </a:r>
            <a:pPr algn="l" indent="0" marL="0">
              <a:spcAft>
                <a:spcPts val="600"/>
              </a:spcAft>
              <a:buNone/>
            </a:pPr>
            <a:r>
              <a:rPr lang="en-US" sz="2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3 − (−2) is 5.</a:t>
            </a:r>
            <a:endParaRPr lang="en-US" sz="2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8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 </a:t>
            </a:r>
            <a:pPr algn="l" indent="0" marL="0">
              <a:spcAft>
                <a:spcPts val="600"/>
              </a:spcAft>
              <a:buNone/>
            </a:pPr>
            <a:r>
              <a:rPr lang="en-US" sz="2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Taking away a </a:t>
            </a:r>
            <a:pPr algn="l" indent="0" marL="0">
              <a:spcAft>
                <a:spcPts val="600"/>
              </a:spcAft>
              <a:buNone/>
            </a:pPr>
            <a:r>
              <a:rPr lang="en-US" sz="2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</a:t>
            </a:r>
            <a:pPr algn="l" indent="0" marL="0">
              <a:spcAft>
                <a:spcPts val="600"/>
              </a:spcAft>
              <a:buNone/>
            </a:pPr>
            <a:r>
              <a:rPr lang="en-US" sz="2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the same as adding.</a:t>
            </a:r>
            <a:endParaRPr lang="en-US" sz="2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8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 </a:t>
            </a:r>
            <a:pPr algn="l" indent="0" marL="0">
              <a:spcAft>
                <a:spcPts val="600"/>
              </a:spcAft>
              <a:buNone/>
            </a:pPr>
            <a:r>
              <a:rPr lang="en-US" sz="2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it as: three </a:t>
            </a:r>
            <a:pPr algn="l" indent="0" marL="0">
              <a:spcAft>
                <a:spcPts val="600"/>
              </a:spcAft>
              <a:buNone/>
            </a:pPr>
            <a:r>
              <a:rPr lang="en-US" sz="2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minus</a:t>
            </a:r>
            <a:pPr algn="l" indent="0" marL="0">
              <a:spcAft>
                <a:spcPts val="600"/>
              </a:spcAft>
              <a:buNone/>
            </a:pPr>
            <a:r>
              <a:rPr lang="en-US" sz="2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pPr algn="l" indent="0" marL="0">
              <a:spcAft>
                <a:spcPts val="600"/>
              </a:spcAft>
              <a:buNone/>
            </a:pPr>
            <a:r>
              <a:rPr lang="en-US" sz="2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</a:t>
            </a:r>
            <a:pPr algn="l" indent="0" marL="0">
              <a:spcAft>
                <a:spcPts val="600"/>
              </a:spcAft>
              <a:buNone/>
            </a:pPr>
            <a:r>
              <a:rPr lang="en-US" sz="2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two.</a:t>
            </a: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8520" y="644652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29437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548640" y="292608"/>
            <a:ext cx="905256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Subtracting a positive number</a:t>
            </a:r>
            <a:endParaRPr lang="en-US" sz="3200" dirty="0"/>
          </a:p>
        </p:txBody>
      </p:sp>
      <p:sp>
        <p:nvSpPr>
          <p:cNvPr id="4" name="chip-hex"/>
          <p:cNvSpPr/>
          <p:nvPr/>
        </p:nvSpPr>
        <p:spPr>
          <a:xfrm>
            <a:off x="9677095" y="531760"/>
            <a:ext cx="566928" cy="490960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5" name="chip-hex-label"/>
          <p:cNvSpPr txBox="1"/>
          <p:nvPr/>
        </p:nvSpPr>
        <p:spPr>
          <a:xfrm>
            <a:off x="9677095" y="531760"/>
            <a:ext cx="566928" cy="490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2000" dirty="0"/>
          </a:p>
        </p:txBody>
      </p:sp>
      <p:sp>
        <p:nvSpPr>
          <p:cNvPr id="6" name="chip-label"/>
          <p:cNvSpPr txBox="1"/>
          <p:nvPr/>
        </p:nvSpPr>
        <p:spPr>
          <a:xfrm>
            <a:off x="10317175" y="292608"/>
            <a:ext cx="132588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8A65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</a:t>
            </a:r>
            <a:endParaRPr lang="en-US" sz="1800" dirty="0"/>
          </a:p>
        </p:txBody>
      </p:sp>
      <p:sp>
        <p:nvSpPr>
          <p:cNvPr id="7" name="tip-box"/>
          <p:cNvSpPr/>
          <p:nvPr/>
        </p:nvSpPr>
        <p:spPr>
          <a:xfrm>
            <a:off x="548640" y="5350256"/>
            <a:ext cx="5074920" cy="794512"/>
          </a:xfrm>
          <a:prstGeom prst="roundRect">
            <a:avLst>
              <a:gd name="adj" fmla="val 17263"/>
            </a:avLst>
          </a:prstGeom>
          <a:solidFill>
            <a:srgbClr val="F6F0E6"/>
          </a:solidFill>
          <a:ln w="15875">
            <a:solidFill>
              <a:srgbClr val="B8862B"/>
            </a:solidFill>
            <a:prstDash val="solid"/>
          </a:ln>
        </p:spPr>
      </p:sp>
      <p:sp>
        <p:nvSpPr>
          <p:cNvPr id="8" name="tip-hex"/>
          <p:cNvSpPr/>
          <p:nvPr/>
        </p:nvSpPr>
        <p:spPr>
          <a:xfrm>
            <a:off x="685800" y="5549544"/>
            <a:ext cx="457200" cy="395935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9" name="tip-hex-label"/>
          <p:cNvSpPr txBox="1"/>
          <p:nvPr/>
        </p:nvSpPr>
        <p:spPr>
          <a:xfrm>
            <a:off x="685800" y="5549544"/>
            <a:ext cx="457200" cy="395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2000" dirty="0"/>
          </a:p>
        </p:txBody>
      </p:sp>
      <p:sp>
        <p:nvSpPr>
          <p:cNvPr id="10" name="tip"/>
          <p:cNvSpPr txBox="1"/>
          <p:nvPr/>
        </p:nvSpPr>
        <p:spPr>
          <a:xfrm>
            <a:off x="1280160" y="5405120"/>
            <a:ext cx="4206240" cy="68478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815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  </a:t>
            </a:r>
            <a:pPr algn="l" indent="0" marL="0">
              <a:buNone/>
            </a:pPr>
            <a:r>
              <a:rPr lang="en-US" sz="1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Subtracting a positive number: move left.</a:t>
            </a:r>
            <a:endParaRPr lang="en-US" sz="1800" dirty="0"/>
          </a:p>
        </p:txBody>
      </p:sp>
      <p:sp>
        <p:nvSpPr>
          <p:cNvPr id="11" name="worked-panel"/>
          <p:cNvSpPr/>
          <p:nvPr/>
        </p:nvSpPr>
        <p:spPr>
          <a:xfrm>
            <a:off x="5989320" y="1389888"/>
            <a:ext cx="5653735" cy="4754880"/>
          </a:xfrm>
          <a:prstGeom prst="roundRect">
            <a:avLst>
              <a:gd name="adj" fmla="val 962"/>
            </a:avLst>
          </a:prstGeom>
          <a:solidFill>
            <a:srgbClr val="FFFFFF"/>
          </a:solidFill>
          <a:ln w="15875">
            <a:solidFill>
              <a:srgbClr val="9DAAC9"/>
            </a:solidFill>
            <a:prstDash val="solid"/>
          </a:ln>
        </p:spPr>
      </p:sp>
      <p:sp>
        <p:nvSpPr>
          <p:cNvPr id="12" name="worked-tab"/>
          <p:cNvSpPr/>
          <p:nvPr/>
        </p:nvSpPr>
        <p:spPr>
          <a:xfrm>
            <a:off x="6126480" y="1499616"/>
            <a:ext cx="2377440" cy="457200"/>
          </a:xfrm>
          <a:prstGeom prst="roundRect">
            <a:avLst>
              <a:gd name="adj" fmla="val 40000"/>
            </a:avLst>
          </a:prstGeom>
          <a:solidFill>
            <a:srgbClr val="2E4A8C"/>
          </a:solidFill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</a:t>
            </a:r>
            <a:endParaRPr lang="en-US" sz="1800" dirty="0"/>
          </a:p>
        </p:txBody>
      </p:sp>
      <p:sp>
        <p:nvSpPr>
          <p:cNvPr id="13" name="worked-q"/>
          <p:cNvSpPr txBox="1"/>
          <p:nvPr/>
        </p:nvSpPr>
        <p:spPr>
          <a:xfrm>
            <a:off x="6126480" y="2066544"/>
            <a:ext cx="5379415" cy="405892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out −4 − 7.</a:t>
            </a:r>
            <a:endParaRPr lang="en-US" sz="1800" dirty="0"/>
          </a:p>
        </p:txBody>
      </p:sp>
      <p:sp>
        <p:nvSpPr>
          <p:cNvPr id="14" name="step-box"/>
          <p:cNvSpPr/>
          <p:nvPr/>
        </p:nvSpPr>
        <p:spPr>
          <a:xfrm>
            <a:off x="6126480" y="2609596"/>
            <a:ext cx="5379415" cy="566928"/>
          </a:xfrm>
          <a:prstGeom prst="roundRect">
            <a:avLst>
              <a:gd name="adj" fmla="val 16129"/>
            </a:avLst>
          </a:prstGeom>
          <a:solidFill>
            <a:srgbClr val="F0F2F7"/>
          </a:solidFill>
          <a:ln/>
        </p:spPr>
      </p:sp>
      <p:sp>
        <p:nvSpPr>
          <p:cNvPr id="15" name="step-hex"/>
          <p:cNvSpPr/>
          <p:nvPr/>
        </p:nvSpPr>
        <p:spPr>
          <a:xfrm>
            <a:off x="6217920" y="2710930"/>
            <a:ext cx="420624" cy="364260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16" name="step-hex-label"/>
          <p:cNvSpPr txBox="1"/>
          <p:nvPr/>
        </p:nvSpPr>
        <p:spPr>
          <a:xfrm>
            <a:off x="6217920" y="2710930"/>
            <a:ext cx="420624" cy="36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17" name="step"/>
          <p:cNvSpPr txBox="1"/>
          <p:nvPr/>
        </p:nvSpPr>
        <p:spPr>
          <a:xfrm>
            <a:off x="6766560" y="2609596"/>
            <a:ext cx="4739335" cy="56692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at −4.</a:t>
            </a:r>
            <a:endParaRPr lang="en-US" sz="1800" dirty="0"/>
          </a:p>
        </p:txBody>
      </p:sp>
      <p:sp>
        <p:nvSpPr>
          <p:cNvPr id="18" name="step-box"/>
          <p:cNvSpPr/>
          <p:nvPr/>
        </p:nvSpPr>
        <p:spPr>
          <a:xfrm>
            <a:off x="6126480" y="3267964"/>
            <a:ext cx="5379415" cy="566928"/>
          </a:xfrm>
          <a:prstGeom prst="roundRect">
            <a:avLst>
              <a:gd name="adj" fmla="val 16129"/>
            </a:avLst>
          </a:prstGeom>
          <a:solidFill>
            <a:srgbClr val="F0F2F7"/>
          </a:solidFill>
          <a:ln/>
        </p:spPr>
      </p:sp>
      <p:sp>
        <p:nvSpPr>
          <p:cNvPr id="19" name="step-hex"/>
          <p:cNvSpPr/>
          <p:nvPr/>
        </p:nvSpPr>
        <p:spPr>
          <a:xfrm>
            <a:off x="6217920" y="3369298"/>
            <a:ext cx="420624" cy="364260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20" name="step-hex-label"/>
          <p:cNvSpPr txBox="1"/>
          <p:nvPr/>
        </p:nvSpPr>
        <p:spPr>
          <a:xfrm>
            <a:off x="6217920" y="3369298"/>
            <a:ext cx="420624" cy="36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21" name="step"/>
          <p:cNvSpPr txBox="1"/>
          <p:nvPr/>
        </p:nvSpPr>
        <p:spPr>
          <a:xfrm>
            <a:off x="6766560" y="3267964"/>
            <a:ext cx="4739335" cy="56692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Subtract 7: move 7 to the left.</a:t>
            </a:r>
            <a:endParaRPr lang="en-US" sz="1800" dirty="0"/>
          </a:p>
        </p:txBody>
      </p:sp>
      <p:sp>
        <p:nvSpPr>
          <p:cNvPr id="22" name="step-box"/>
          <p:cNvSpPr/>
          <p:nvPr/>
        </p:nvSpPr>
        <p:spPr>
          <a:xfrm>
            <a:off x="6126480" y="3926332"/>
            <a:ext cx="5379415" cy="566928"/>
          </a:xfrm>
          <a:prstGeom prst="roundRect">
            <a:avLst>
              <a:gd name="adj" fmla="val 16129"/>
            </a:avLst>
          </a:prstGeom>
          <a:solidFill>
            <a:srgbClr val="F0F2F7"/>
          </a:solidFill>
          <a:ln/>
        </p:spPr>
      </p:sp>
      <p:sp>
        <p:nvSpPr>
          <p:cNvPr id="23" name="step-hex"/>
          <p:cNvSpPr/>
          <p:nvPr/>
        </p:nvSpPr>
        <p:spPr>
          <a:xfrm>
            <a:off x="6217920" y="4027666"/>
            <a:ext cx="420624" cy="364260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24" name="step-hex-label"/>
          <p:cNvSpPr txBox="1"/>
          <p:nvPr/>
        </p:nvSpPr>
        <p:spPr>
          <a:xfrm>
            <a:off x="6217920" y="4027666"/>
            <a:ext cx="420624" cy="36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25" name="step"/>
          <p:cNvSpPr txBox="1"/>
          <p:nvPr/>
        </p:nvSpPr>
        <p:spPr>
          <a:xfrm>
            <a:off x="6766560" y="3926332"/>
            <a:ext cx="4739335" cy="56692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+ 7 = 11, so you end up 11 below zero.</a:t>
            </a:r>
            <a:endParaRPr lang="en-US" sz="1800" dirty="0"/>
          </a:p>
        </p:txBody>
      </p:sp>
      <p:sp>
        <p:nvSpPr>
          <p:cNvPr id="26" name="step-box"/>
          <p:cNvSpPr/>
          <p:nvPr/>
        </p:nvSpPr>
        <p:spPr>
          <a:xfrm>
            <a:off x="6126480" y="4584700"/>
            <a:ext cx="5379415" cy="566928"/>
          </a:xfrm>
          <a:prstGeom prst="roundRect">
            <a:avLst>
              <a:gd name="adj" fmla="val 16129"/>
            </a:avLst>
          </a:prstGeom>
          <a:solidFill>
            <a:srgbClr val="F0F2F7"/>
          </a:solidFill>
          <a:ln/>
        </p:spPr>
      </p:sp>
      <p:sp>
        <p:nvSpPr>
          <p:cNvPr id="27" name="step-hex"/>
          <p:cNvSpPr/>
          <p:nvPr/>
        </p:nvSpPr>
        <p:spPr>
          <a:xfrm>
            <a:off x="6217920" y="4686034"/>
            <a:ext cx="420624" cy="364260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28" name="step-hex-label"/>
          <p:cNvSpPr txBox="1"/>
          <p:nvPr/>
        </p:nvSpPr>
        <p:spPr>
          <a:xfrm>
            <a:off x="6217920" y="4686034"/>
            <a:ext cx="420624" cy="36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29" name="step"/>
          <p:cNvSpPr txBox="1"/>
          <p:nvPr/>
        </p:nvSpPr>
        <p:spPr>
          <a:xfrm>
            <a:off x="6766560" y="4584700"/>
            <a:ext cx="4739335" cy="56692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−4 − 7 = −11.</a:t>
            </a:r>
            <a:endParaRPr lang="en-US" sz="1800" dirty="0"/>
          </a:p>
        </p:txBody>
      </p:sp>
      <p:sp>
        <p:nvSpPr>
          <p:cNvPr id="30" name="worked-answer"/>
          <p:cNvSpPr/>
          <p:nvPr/>
        </p:nvSpPr>
        <p:spPr>
          <a:xfrm>
            <a:off x="6126480" y="5288788"/>
            <a:ext cx="5379415" cy="552196"/>
          </a:xfrm>
          <a:prstGeom prst="roundRect">
            <a:avLst>
              <a:gd name="adj" fmla="val 33119"/>
            </a:avLst>
          </a:prstGeom>
          <a:solidFill>
            <a:srgbClr val="EFE4D0"/>
          </a:solidFill>
          <a:ln w="19050">
            <a:solidFill>
              <a:srgbClr val="B8862B"/>
            </a:solidFill>
          </a:ln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815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algn="l" indent="0" marL="0">
              <a:buNone/>
            </a:pPr>
            <a:r>
              <a:rPr lang="en-US" sz="1800" b="1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−11</a:t>
            </a:r>
            <a:endParaRPr lang="en-US" sz="1800" dirty="0"/>
          </a:p>
        </p:txBody>
      </p:sp>
      <p:sp>
        <p:nvSpPr>
          <p:cNvPr id="31" name="bullet-card"/>
          <p:cNvSpPr/>
          <p:nvPr/>
        </p:nvSpPr>
        <p:spPr>
          <a:xfrm>
            <a:off x="548640" y="1389888"/>
            <a:ext cx="5074920" cy="1131147"/>
          </a:xfrm>
          <a:prstGeom prst="roundRect">
            <a:avLst>
              <a:gd name="adj" fmla="val 6467"/>
            </a:avLst>
          </a:prstGeom>
          <a:solidFill>
            <a:srgbClr val="F5F6F9"/>
          </a:solidFill>
          <a:ln/>
        </p:spPr>
      </p:sp>
      <p:sp>
        <p:nvSpPr>
          <p:cNvPr id="32" name="bullet-hex"/>
          <p:cNvSpPr/>
          <p:nvPr/>
        </p:nvSpPr>
        <p:spPr>
          <a:xfrm>
            <a:off x="676656" y="1789169"/>
            <a:ext cx="384048" cy="332586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33" name="bullet"/>
          <p:cNvSpPr txBox="1"/>
          <p:nvPr/>
        </p:nvSpPr>
        <p:spPr>
          <a:xfrm>
            <a:off x="1143000" y="1389888"/>
            <a:ext cx="4389120" cy="1131147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Subtracting a positive number moves you left on the number line.</a:t>
            </a:r>
            <a:endParaRPr lang="en-US" sz="2200" dirty="0"/>
          </a:p>
        </p:txBody>
      </p:sp>
      <p:sp>
        <p:nvSpPr>
          <p:cNvPr id="34" name="bullet-card"/>
          <p:cNvSpPr/>
          <p:nvPr/>
        </p:nvSpPr>
        <p:spPr>
          <a:xfrm>
            <a:off x="548640" y="2667339"/>
            <a:ext cx="5074920" cy="1131147"/>
          </a:xfrm>
          <a:prstGeom prst="roundRect">
            <a:avLst>
              <a:gd name="adj" fmla="val 6467"/>
            </a:avLst>
          </a:prstGeom>
          <a:solidFill>
            <a:srgbClr val="F5F6F9"/>
          </a:solidFill>
          <a:ln/>
        </p:spPr>
      </p:sp>
      <p:sp>
        <p:nvSpPr>
          <p:cNvPr id="35" name="bullet-hex"/>
          <p:cNvSpPr/>
          <p:nvPr/>
        </p:nvSpPr>
        <p:spPr>
          <a:xfrm>
            <a:off x="676656" y="3066619"/>
            <a:ext cx="384048" cy="332586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36" name="bullet"/>
          <p:cNvSpPr txBox="1"/>
          <p:nvPr/>
        </p:nvSpPr>
        <p:spPr>
          <a:xfrm>
            <a:off x="1143000" y="2667339"/>
            <a:ext cx="4389120" cy="1131147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start below zero, you move further left. −3 − 5 = −8.</a:t>
            </a:r>
            <a:endParaRPr lang="en-US" sz="2200" dirty="0"/>
          </a:p>
        </p:txBody>
      </p:sp>
      <p:sp>
        <p:nvSpPr>
          <p:cNvPr id="37" name="bullet-card"/>
          <p:cNvSpPr/>
          <p:nvPr/>
        </p:nvSpPr>
        <p:spPr>
          <a:xfrm>
            <a:off x="548640" y="3944789"/>
            <a:ext cx="5074920" cy="1131147"/>
          </a:xfrm>
          <a:prstGeom prst="roundRect">
            <a:avLst>
              <a:gd name="adj" fmla="val 6467"/>
            </a:avLst>
          </a:prstGeom>
          <a:solidFill>
            <a:srgbClr val="F5F6F9"/>
          </a:solidFill>
          <a:ln/>
        </p:spPr>
      </p:sp>
      <p:sp>
        <p:nvSpPr>
          <p:cNvPr id="38" name="bullet-hex"/>
          <p:cNvSpPr/>
          <p:nvPr/>
        </p:nvSpPr>
        <p:spPr>
          <a:xfrm>
            <a:off x="676656" y="4344070"/>
            <a:ext cx="384048" cy="332586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39" name="bullet"/>
          <p:cNvSpPr txBox="1"/>
          <p:nvPr/>
        </p:nvSpPr>
        <p:spPr>
          <a:xfrm>
            <a:off x="1143000" y="3944789"/>
            <a:ext cx="4389120" cy="1131147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pupils think 'two minus signs make a positive' here.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8520" y="644652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29437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548640" y="292608"/>
            <a:ext cx="905256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Subtracting a negative number</a:t>
            </a:r>
            <a:endParaRPr lang="en-US" sz="3200" dirty="0"/>
          </a:p>
        </p:txBody>
      </p:sp>
      <p:sp>
        <p:nvSpPr>
          <p:cNvPr id="4" name="chip-hex"/>
          <p:cNvSpPr/>
          <p:nvPr/>
        </p:nvSpPr>
        <p:spPr>
          <a:xfrm>
            <a:off x="9677095" y="531760"/>
            <a:ext cx="566928" cy="490960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5" name="chip-hex-label"/>
          <p:cNvSpPr txBox="1"/>
          <p:nvPr/>
        </p:nvSpPr>
        <p:spPr>
          <a:xfrm>
            <a:off x="9677095" y="531760"/>
            <a:ext cx="566928" cy="490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2000" dirty="0"/>
          </a:p>
        </p:txBody>
      </p:sp>
      <p:sp>
        <p:nvSpPr>
          <p:cNvPr id="6" name="chip-label"/>
          <p:cNvSpPr txBox="1"/>
          <p:nvPr/>
        </p:nvSpPr>
        <p:spPr>
          <a:xfrm>
            <a:off x="10317175" y="292608"/>
            <a:ext cx="132588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8A65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</a:t>
            </a:r>
            <a:endParaRPr lang="en-US" sz="1800" dirty="0"/>
          </a:p>
        </p:txBody>
      </p:sp>
      <p:sp>
        <p:nvSpPr>
          <p:cNvPr id="7" name="tip-box"/>
          <p:cNvSpPr/>
          <p:nvPr/>
        </p:nvSpPr>
        <p:spPr>
          <a:xfrm>
            <a:off x="548640" y="5350256"/>
            <a:ext cx="5074920" cy="794512"/>
          </a:xfrm>
          <a:prstGeom prst="roundRect">
            <a:avLst>
              <a:gd name="adj" fmla="val 17263"/>
            </a:avLst>
          </a:prstGeom>
          <a:solidFill>
            <a:srgbClr val="F6F0E6"/>
          </a:solidFill>
          <a:ln w="15875">
            <a:solidFill>
              <a:srgbClr val="B8862B"/>
            </a:solidFill>
            <a:prstDash val="solid"/>
          </a:ln>
        </p:spPr>
      </p:sp>
      <p:sp>
        <p:nvSpPr>
          <p:cNvPr id="8" name="tip-hex"/>
          <p:cNvSpPr/>
          <p:nvPr/>
        </p:nvSpPr>
        <p:spPr>
          <a:xfrm>
            <a:off x="685800" y="5549544"/>
            <a:ext cx="457200" cy="395935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9" name="tip-hex-label"/>
          <p:cNvSpPr txBox="1"/>
          <p:nvPr/>
        </p:nvSpPr>
        <p:spPr>
          <a:xfrm>
            <a:off x="685800" y="5549544"/>
            <a:ext cx="457200" cy="395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2000" dirty="0"/>
          </a:p>
        </p:txBody>
      </p:sp>
      <p:sp>
        <p:nvSpPr>
          <p:cNvPr id="10" name="tip"/>
          <p:cNvSpPr txBox="1"/>
          <p:nvPr/>
        </p:nvSpPr>
        <p:spPr>
          <a:xfrm>
            <a:off x="1280160" y="5405120"/>
            <a:ext cx="4206240" cy="68478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815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  </a:t>
            </a:r>
            <a:pPr algn="l" indent="0" marL="0">
              <a:buNone/>
            </a:pPr>
            <a:r>
              <a:rPr lang="en-US" sz="1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signs side by side, − (−), become +.</a:t>
            </a:r>
            <a:endParaRPr lang="en-US" sz="1800" dirty="0"/>
          </a:p>
        </p:txBody>
      </p:sp>
      <p:sp>
        <p:nvSpPr>
          <p:cNvPr id="11" name="worked-panel"/>
          <p:cNvSpPr/>
          <p:nvPr/>
        </p:nvSpPr>
        <p:spPr>
          <a:xfrm>
            <a:off x="5989320" y="1389888"/>
            <a:ext cx="5653735" cy="4754880"/>
          </a:xfrm>
          <a:prstGeom prst="roundRect">
            <a:avLst>
              <a:gd name="adj" fmla="val 962"/>
            </a:avLst>
          </a:prstGeom>
          <a:solidFill>
            <a:srgbClr val="FFFFFF"/>
          </a:solidFill>
          <a:ln w="15875">
            <a:solidFill>
              <a:srgbClr val="9DAAC9"/>
            </a:solidFill>
            <a:prstDash val="solid"/>
          </a:ln>
        </p:spPr>
      </p:sp>
      <p:sp>
        <p:nvSpPr>
          <p:cNvPr id="12" name="worked-tab"/>
          <p:cNvSpPr/>
          <p:nvPr/>
        </p:nvSpPr>
        <p:spPr>
          <a:xfrm>
            <a:off x="6126480" y="1499616"/>
            <a:ext cx="2377440" cy="457200"/>
          </a:xfrm>
          <a:prstGeom prst="roundRect">
            <a:avLst>
              <a:gd name="adj" fmla="val 40000"/>
            </a:avLst>
          </a:prstGeom>
          <a:solidFill>
            <a:srgbClr val="2E4A8C"/>
          </a:solidFill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</a:t>
            </a:r>
            <a:endParaRPr lang="en-US" sz="1800" dirty="0"/>
          </a:p>
        </p:txBody>
      </p:sp>
      <p:sp>
        <p:nvSpPr>
          <p:cNvPr id="13" name="worked-q"/>
          <p:cNvSpPr txBox="1"/>
          <p:nvPr/>
        </p:nvSpPr>
        <p:spPr>
          <a:xfrm>
            <a:off x="6126480" y="2066544"/>
            <a:ext cx="5379415" cy="405892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out 6 − (−5).</a:t>
            </a:r>
            <a:endParaRPr lang="en-US" sz="1800" dirty="0"/>
          </a:p>
        </p:txBody>
      </p:sp>
      <p:sp>
        <p:nvSpPr>
          <p:cNvPr id="14" name="step-box"/>
          <p:cNvSpPr/>
          <p:nvPr/>
        </p:nvSpPr>
        <p:spPr>
          <a:xfrm>
            <a:off x="6126480" y="2609596"/>
            <a:ext cx="5379415" cy="566928"/>
          </a:xfrm>
          <a:prstGeom prst="roundRect">
            <a:avLst>
              <a:gd name="adj" fmla="val 16129"/>
            </a:avLst>
          </a:prstGeom>
          <a:solidFill>
            <a:srgbClr val="F0F2F7"/>
          </a:solidFill>
          <a:ln/>
        </p:spPr>
      </p:sp>
      <p:sp>
        <p:nvSpPr>
          <p:cNvPr id="15" name="step-hex"/>
          <p:cNvSpPr/>
          <p:nvPr/>
        </p:nvSpPr>
        <p:spPr>
          <a:xfrm>
            <a:off x="6217920" y="2710930"/>
            <a:ext cx="420624" cy="364260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16" name="step-hex-label"/>
          <p:cNvSpPr txBox="1"/>
          <p:nvPr/>
        </p:nvSpPr>
        <p:spPr>
          <a:xfrm>
            <a:off x="6217920" y="2710930"/>
            <a:ext cx="420624" cy="36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17" name="step"/>
          <p:cNvSpPr txBox="1"/>
          <p:nvPr/>
        </p:nvSpPr>
        <p:spPr>
          <a:xfrm>
            <a:off x="6766560" y="2609596"/>
            <a:ext cx="4739335" cy="56692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Subtracting a negative is the same as adding.</a:t>
            </a:r>
            <a:endParaRPr lang="en-US" sz="1800" dirty="0"/>
          </a:p>
        </p:txBody>
      </p:sp>
      <p:sp>
        <p:nvSpPr>
          <p:cNvPr id="18" name="step-box"/>
          <p:cNvSpPr/>
          <p:nvPr/>
        </p:nvSpPr>
        <p:spPr>
          <a:xfrm>
            <a:off x="6126480" y="3267964"/>
            <a:ext cx="5379415" cy="566928"/>
          </a:xfrm>
          <a:prstGeom prst="roundRect">
            <a:avLst>
              <a:gd name="adj" fmla="val 16129"/>
            </a:avLst>
          </a:prstGeom>
          <a:solidFill>
            <a:srgbClr val="F0F2F7"/>
          </a:solidFill>
          <a:ln/>
        </p:spPr>
      </p:sp>
      <p:sp>
        <p:nvSpPr>
          <p:cNvPr id="19" name="step-hex"/>
          <p:cNvSpPr/>
          <p:nvPr/>
        </p:nvSpPr>
        <p:spPr>
          <a:xfrm>
            <a:off x="6217920" y="3369298"/>
            <a:ext cx="420624" cy="364260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20" name="step-hex-label"/>
          <p:cNvSpPr txBox="1"/>
          <p:nvPr/>
        </p:nvSpPr>
        <p:spPr>
          <a:xfrm>
            <a:off x="6217920" y="3369298"/>
            <a:ext cx="420624" cy="36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21" name="step"/>
          <p:cNvSpPr txBox="1"/>
          <p:nvPr/>
        </p:nvSpPr>
        <p:spPr>
          <a:xfrm>
            <a:off x="6766560" y="3267964"/>
            <a:ext cx="4739335" cy="56692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Rewrite: 6 − (−5) = 6 + 5.</a:t>
            </a:r>
            <a:endParaRPr lang="en-US" sz="1800" dirty="0"/>
          </a:p>
        </p:txBody>
      </p:sp>
      <p:sp>
        <p:nvSpPr>
          <p:cNvPr id="22" name="step-box"/>
          <p:cNvSpPr/>
          <p:nvPr/>
        </p:nvSpPr>
        <p:spPr>
          <a:xfrm>
            <a:off x="6126480" y="3926332"/>
            <a:ext cx="5379415" cy="566928"/>
          </a:xfrm>
          <a:prstGeom prst="roundRect">
            <a:avLst>
              <a:gd name="adj" fmla="val 16129"/>
            </a:avLst>
          </a:prstGeom>
          <a:solidFill>
            <a:srgbClr val="F0F2F7"/>
          </a:solidFill>
          <a:ln/>
        </p:spPr>
      </p:sp>
      <p:sp>
        <p:nvSpPr>
          <p:cNvPr id="23" name="step-hex"/>
          <p:cNvSpPr/>
          <p:nvPr/>
        </p:nvSpPr>
        <p:spPr>
          <a:xfrm>
            <a:off x="6217920" y="4027666"/>
            <a:ext cx="420624" cy="364260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24" name="step-hex-label"/>
          <p:cNvSpPr txBox="1"/>
          <p:nvPr/>
        </p:nvSpPr>
        <p:spPr>
          <a:xfrm>
            <a:off x="6217920" y="4027666"/>
            <a:ext cx="420624" cy="36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25" name="step"/>
          <p:cNvSpPr txBox="1"/>
          <p:nvPr/>
        </p:nvSpPr>
        <p:spPr>
          <a:xfrm>
            <a:off x="6766560" y="3926332"/>
            <a:ext cx="4739335" cy="56692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+ 5 = 11.</a:t>
            </a:r>
            <a:endParaRPr lang="en-US" sz="1800" dirty="0"/>
          </a:p>
        </p:txBody>
      </p:sp>
      <p:sp>
        <p:nvSpPr>
          <p:cNvPr id="26" name="worked-answer"/>
          <p:cNvSpPr/>
          <p:nvPr/>
        </p:nvSpPr>
        <p:spPr>
          <a:xfrm>
            <a:off x="6126480" y="4630420"/>
            <a:ext cx="5379415" cy="552196"/>
          </a:xfrm>
          <a:prstGeom prst="roundRect">
            <a:avLst>
              <a:gd name="adj" fmla="val 33119"/>
            </a:avLst>
          </a:prstGeom>
          <a:solidFill>
            <a:srgbClr val="EFE4D0"/>
          </a:solidFill>
          <a:ln w="19050">
            <a:solidFill>
              <a:srgbClr val="B8862B"/>
            </a:solidFill>
          </a:ln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815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algn="l" indent="0" marL="0">
              <a:buNone/>
            </a:pPr>
            <a:r>
              <a:rPr lang="en-US" sz="1800" b="1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800" dirty="0"/>
          </a:p>
        </p:txBody>
      </p:sp>
      <p:sp>
        <p:nvSpPr>
          <p:cNvPr id="27" name="bullet-card"/>
          <p:cNvSpPr/>
          <p:nvPr/>
        </p:nvSpPr>
        <p:spPr>
          <a:xfrm>
            <a:off x="548640" y="1389888"/>
            <a:ext cx="5074920" cy="1131147"/>
          </a:xfrm>
          <a:prstGeom prst="roundRect">
            <a:avLst>
              <a:gd name="adj" fmla="val 6467"/>
            </a:avLst>
          </a:prstGeom>
          <a:solidFill>
            <a:srgbClr val="F5F6F9"/>
          </a:solidFill>
          <a:ln/>
        </p:spPr>
      </p:sp>
      <p:sp>
        <p:nvSpPr>
          <p:cNvPr id="28" name="bullet-hex"/>
          <p:cNvSpPr/>
          <p:nvPr/>
        </p:nvSpPr>
        <p:spPr>
          <a:xfrm>
            <a:off x="676656" y="1789169"/>
            <a:ext cx="384048" cy="332586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29" name="bullet"/>
          <p:cNvSpPr txBox="1"/>
          <p:nvPr/>
        </p:nvSpPr>
        <p:spPr>
          <a:xfrm>
            <a:off x="1143000" y="1389888"/>
            <a:ext cx="4389120" cy="1131147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take away negative counters, you need some to take.</a:t>
            </a:r>
            <a:endParaRPr lang="en-US" sz="2200" dirty="0"/>
          </a:p>
        </p:txBody>
      </p:sp>
      <p:sp>
        <p:nvSpPr>
          <p:cNvPr id="30" name="bullet-card"/>
          <p:cNvSpPr/>
          <p:nvPr/>
        </p:nvSpPr>
        <p:spPr>
          <a:xfrm>
            <a:off x="548640" y="2667339"/>
            <a:ext cx="5074920" cy="1131147"/>
          </a:xfrm>
          <a:prstGeom prst="roundRect">
            <a:avLst>
              <a:gd name="adj" fmla="val 6467"/>
            </a:avLst>
          </a:prstGeom>
          <a:solidFill>
            <a:srgbClr val="F5F6F9"/>
          </a:solidFill>
          <a:ln/>
        </p:spPr>
      </p:sp>
      <p:sp>
        <p:nvSpPr>
          <p:cNvPr id="31" name="bullet-hex"/>
          <p:cNvSpPr/>
          <p:nvPr/>
        </p:nvSpPr>
        <p:spPr>
          <a:xfrm>
            <a:off x="676656" y="3066619"/>
            <a:ext cx="384048" cy="332586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32" name="bullet"/>
          <p:cNvSpPr txBox="1"/>
          <p:nvPr/>
        </p:nvSpPr>
        <p:spPr>
          <a:xfrm>
            <a:off x="1143000" y="2667339"/>
            <a:ext cx="4389120" cy="1131147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4 − (−3), start with 4 positive counters. Add 3 zero pairs.</a:t>
            </a:r>
            <a:endParaRPr lang="en-US" sz="2200" dirty="0"/>
          </a:p>
        </p:txBody>
      </p:sp>
      <p:sp>
        <p:nvSpPr>
          <p:cNvPr id="33" name="bullet-card"/>
          <p:cNvSpPr/>
          <p:nvPr/>
        </p:nvSpPr>
        <p:spPr>
          <a:xfrm>
            <a:off x="548640" y="3944789"/>
            <a:ext cx="5074920" cy="1131147"/>
          </a:xfrm>
          <a:prstGeom prst="roundRect">
            <a:avLst>
              <a:gd name="adj" fmla="val 6467"/>
            </a:avLst>
          </a:prstGeom>
          <a:solidFill>
            <a:srgbClr val="F5F6F9"/>
          </a:solidFill>
          <a:ln/>
        </p:spPr>
      </p:sp>
      <p:sp>
        <p:nvSpPr>
          <p:cNvPr id="34" name="bullet-hex"/>
          <p:cNvSpPr/>
          <p:nvPr/>
        </p:nvSpPr>
        <p:spPr>
          <a:xfrm>
            <a:off x="676656" y="4344070"/>
            <a:ext cx="384048" cy="332586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35" name="bullet"/>
          <p:cNvSpPr txBox="1"/>
          <p:nvPr/>
        </p:nvSpPr>
        <p:spPr>
          <a:xfrm>
            <a:off x="1143000" y="3944789"/>
            <a:ext cx="4389120" cy="1131147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number line, subtracting a negative moves you right.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8520" y="644652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29437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548640" y="292608"/>
            <a:ext cx="905256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Starting from a negative number</a:t>
            </a:r>
            <a:endParaRPr lang="en-US" sz="3200" dirty="0"/>
          </a:p>
        </p:txBody>
      </p:sp>
      <p:sp>
        <p:nvSpPr>
          <p:cNvPr id="4" name="chip-hex"/>
          <p:cNvSpPr/>
          <p:nvPr/>
        </p:nvSpPr>
        <p:spPr>
          <a:xfrm>
            <a:off x="9677095" y="531760"/>
            <a:ext cx="566928" cy="490960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5" name="chip-hex-label"/>
          <p:cNvSpPr txBox="1"/>
          <p:nvPr/>
        </p:nvSpPr>
        <p:spPr>
          <a:xfrm>
            <a:off x="9677095" y="531760"/>
            <a:ext cx="566928" cy="490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2000" dirty="0"/>
          </a:p>
        </p:txBody>
      </p:sp>
      <p:sp>
        <p:nvSpPr>
          <p:cNvPr id="6" name="chip-label"/>
          <p:cNvSpPr txBox="1"/>
          <p:nvPr/>
        </p:nvSpPr>
        <p:spPr>
          <a:xfrm>
            <a:off x="10317175" y="292608"/>
            <a:ext cx="132588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8A65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</a:t>
            </a:r>
            <a:endParaRPr lang="en-US" sz="1800" dirty="0"/>
          </a:p>
        </p:txBody>
      </p:sp>
      <p:sp>
        <p:nvSpPr>
          <p:cNvPr id="7" name="tip-box"/>
          <p:cNvSpPr/>
          <p:nvPr/>
        </p:nvSpPr>
        <p:spPr>
          <a:xfrm>
            <a:off x="548640" y="5629148"/>
            <a:ext cx="5074920" cy="515620"/>
          </a:xfrm>
          <a:prstGeom prst="roundRect">
            <a:avLst>
              <a:gd name="adj" fmla="val 26601"/>
            </a:avLst>
          </a:prstGeom>
          <a:solidFill>
            <a:srgbClr val="F6F0E6"/>
          </a:solidFill>
          <a:ln w="15875">
            <a:solidFill>
              <a:srgbClr val="B8862B"/>
            </a:solidFill>
            <a:prstDash val="solid"/>
          </a:ln>
        </p:spPr>
      </p:sp>
      <p:sp>
        <p:nvSpPr>
          <p:cNvPr id="8" name="tip-hex"/>
          <p:cNvSpPr/>
          <p:nvPr/>
        </p:nvSpPr>
        <p:spPr>
          <a:xfrm>
            <a:off x="685800" y="5688990"/>
            <a:ext cx="457200" cy="395935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9" name="tip-hex-label"/>
          <p:cNvSpPr txBox="1"/>
          <p:nvPr/>
        </p:nvSpPr>
        <p:spPr>
          <a:xfrm>
            <a:off x="685800" y="5688990"/>
            <a:ext cx="457200" cy="395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2000" dirty="0"/>
          </a:p>
        </p:txBody>
      </p:sp>
      <p:sp>
        <p:nvSpPr>
          <p:cNvPr id="10" name="tip"/>
          <p:cNvSpPr txBox="1"/>
          <p:nvPr/>
        </p:nvSpPr>
        <p:spPr>
          <a:xfrm>
            <a:off x="1280160" y="5684012"/>
            <a:ext cx="4206240" cy="405892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815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  </a:t>
            </a:r>
            <a:pPr algn="l" indent="0" marL="0">
              <a:buNone/>
            </a:pPr>
            <a:r>
              <a:rPr lang="en-US" sz="1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first, then use a number line.</a:t>
            </a:r>
            <a:endParaRPr lang="en-US" sz="1800" dirty="0"/>
          </a:p>
        </p:txBody>
      </p:sp>
      <p:sp>
        <p:nvSpPr>
          <p:cNvPr id="11" name="worked-panel"/>
          <p:cNvSpPr/>
          <p:nvPr/>
        </p:nvSpPr>
        <p:spPr>
          <a:xfrm>
            <a:off x="5989320" y="1389888"/>
            <a:ext cx="5653735" cy="4754880"/>
          </a:xfrm>
          <a:prstGeom prst="roundRect">
            <a:avLst>
              <a:gd name="adj" fmla="val 962"/>
            </a:avLst>
          </a:prstGeom>
          <a:solidFill>
            <a:srgbClr val="FFFFFF"/>
          </a:solidFill>
          <a:ln w="15875">
            <a:solidFill>
              <a:srgbClr val="9DAAC9"/>
            </a:solidFill>
            <a:prstDash val="solid"/>
          </a:ln>
        </p:spPr>
      </p:sp>
      <p:sp>
        <p:nvSpPr>
          <p:cNvPr id="12" name="worked-tab"/>
          <p:cNvSpPr/>
          <p:nvPr/>
        </p:nvSpPr>
        <p:spPr>
          <a:xfrm>
            <a:off x="6126480" y="1499616"/>
            <a:ext cx="2377440" cy="457200"/>
          </a:xfrm>
          <a:prstGeom prst="roundRect">
            <a:avLst>
              <a:gd name="adj" fmla="val 40000"/>
            </a:avLst>
          </a:prstGeom>
          <a:solidFill>
            <a:srgbClr val="2E4A8C"/>
          </a:solidFill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</a:t>
            </a:r>
            <a:endParaRPr lang="en-US" sz="1800" dirty="0"/>
          </a:p>
        </p:txBody>
      </p:sp>
      <p:sp>
        <p:nvSpPr>
          <p:cNvPr id="13" name="worked-q"/>
          <p:cNvSpPr txBox="1"/>
          <p:nvPr/>
        </p:nvSpPr>
        <p:spPr>
          <a:xfrm>
            <a:off x="6126480" y="2066544"/>
            <a:ext cx="5379415" cy="405892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out −8 − (−10).</a:t>
            </a:r>
            <a:endParaRPr lang="en-US" sz="1800" dirty="0"/>
          </a:p>
        </p:txBody>
      </p:sp>
      <p:sp>
        <p:nvSpPr>
          <p:cNvPr id="14" name="step-box"/>
          <p:cNvSpPr/>
          <p:nvPr/>
        </p:nvSpPr>
        <p:spPr>
          <a:xfrm>
            <a:off x="6126480" y="2609596"/>
            <a:ext cx="5379415" cy="566928"/>
          </a:xfrm>
          <a:prstGeom prst="roundRect">
            <a:avLst>
              <a:gd name="adj" fmla="val 16129"/>
            </a:avLst>
          </a:prstGeom>
          <a:solidFill>
            <a:srgbClr val="F0F2F7"/>
          </a:solidFill>
          <a:ln/>
        </p:spPr>
      </p:sp>
      <p:sp>
        <p:nvSpPr>
          <p:cNvPr id="15" name="step-hex"/>
          <p:cNvSpPr/>
          <p:nvPr/>
        </p:nvSpPr>
        <p:spPr>
          <a:xfrm>
            <a:off x="6217920" y="2710930"/>
            <a:ext cx="420624" cy="364260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16" name="step-hex-label"/>
          <p:cNvSpPr txBox="1"/>
          <p:nvPr/>
        </p:nvSpPr>
        <p:spPr>
          <a:xfrm>
            <a:off x="6217920" y="2710930"/>
            <a:ext cx="420624" cy="36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17" name="step"/>
          <p:cNvSpPr txBox="1"/>
          <p:nvPr/>
        </p:nvSpPr>
        <p:spPr>
          <a:xfrm>
            <a:off x="6766560" y="2609596"/>
            <a:ext cx="4739335" cy="56692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Rewrite: −8 − (−10) = −8 + 10.</a:t>
            </a:r>
            <a:endParaRPr lang="en-US" sz="1800" dirty="0"/>
          </a:p>
        </p:txBody>
      </p:sp>
      <p:sp>
        <p:nvSpPr>
          <p:cNvPr id="18" name="step-box"/>
          <p:cNvSpPr/>
          <p:nvPr/>
        </p:nvSpPr>
        <p:spPr>
          <a:xfrm>
            <a:off x="6126480" y="3267964"/>
            <a:ext cx="5379415" cy="566928"/>
          </a:xfrm>
          <a:prstGeom prst="roundRect">
            <a:avLst>
              <a:gd name="adj" fmla="val 16129"/>
            </a:avLst>
          </a:prstGeom>
          <a:solidFill>
            <a:srgbClr val="F0F2F7"/>
          </a:solidFill>
          <a:ln/>
        </p:spPr>
      </p:sp>
      <p:sp>
        <p:nvSpPr>
          <p:cNvPr id="19" name="step-hex"/>
          <p:cNvSpPr/>
          <p:nvPr/>
        </p:nvSpPr>
        <p:spPr>
          <a:xfrm>
            <a:off x="6217920" y="3369298"/>
            <a:ext cx="420624" cy="364260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20" name="step-hex-label"/>
          <p:cNvSpPr txBox="1"/>
          <p:nvPr/>
        </p:nvSpPr>
        <p:spPr>
          <a:xfrm>
            <a:off x="6217920" y="3369298"/>
            <a:ext cx="420624" cy="36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21" name="step"/>
          <p:cNvSpPr txBox="1"/>
          <p:nvPr/>
        </p:nvSpPr>
        <p:spPr>
          <a:xfrm>
            <a:off x="6766560" y="3267964"/>
            <a:ext cx="4739335" cy="56692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8 right to reach zero.</a:t>
            </a:r>
            <a:endParaRPr lang="en-US" sz="1800" dirty="0"/>
          </a:p>
        </p:txBody>
      </p:sp>
      <p:sp>
        <p:nvSpPr>
          <p:cNvPr id="22" name="step-box"/>
          <p:cNvSpPr/>
          <p:nvPr/>
        </p:nvSpPr>
        <p:spPr>
          <a:xfrm>
            <a:off x="6126480" y="3926332"/>
            <a:ext cx="5379415" cy="566928"/>
          </a:xfrm>
          <a:prstGeom prst="roundRect">
            <a:avLst>
              <a:gd name="adj" fmla="val 16129"/>
            </a:avLst>
          </a:prstGeom>
          <a:solidFill>
            <a:srgbClr val="F0F2F7"/>
          </a:solidFill>
          <a:ln/>
        </p:spPr>
      </p:sp>
      <p:sp>
        <p:nvSpPr>
          <p:cNvPr id="23" name="step-hex"/>
          <p:cNvSpPr/>
          <p:nvPr/>
        </p:nvSpPr>
        <p:spPr>
          <a:xfrm>
            <a:off x="6217920" y="4027666"/>
            <a:ext cx="420624" cy="364260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24" name="step-hex-label"/>
          <p:cNvSpPr txBox="1"/>
          <p:nvPr/>
        </p:nvSpPr>
        <p:spPr>
          <a:xfrm>
            <a:off x="6217920" y="4027666"/>
            <a:ext cx="420624" cy="36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25" name="step"/>
          <p:cNvSpPr txBox="1"/>
          <p:nvPr/>
        </p:nvSpPr>
        <p:spPr>
          <a:xfrm>
            <a:off x="6766560" y="3926332"/>
            <a:ext cx="4739335" cy="56692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10 − 8 = 2, so move 2 more.</a:t>
            </a:r>
            <a:endParaRPr lang="en-US" sz="1800" dirty="0"/>
          </a:p>
        </p:txBody>
      </p:sp>
      <p:sp>
        <p:nvSpPr>
          <p:cNvPr id="26" name="step-box"/>
          <p:cNvSpPr/>
          <p:nvPr/>
        </p:nvSpPr>
        <p:spPr>
          <a:xfrm>
            <a:off x="6126480" y="4584700"/>
            <a:ext cx="5379415" cy="566928"/>
          </a:xfrm>
          <a:prstGeom prst="roundRect">
            <a:avLst>
              <a:gd name="adj" fmla="val 16129"/>
            </a:avLst>
          </a:prstGeom>
          <a:solidFill>
            <a:srgbClr val="F0F2F7"/>
          </a:solidFill>
          <a:ln/>
        </p:spPr>
      </p:sp>
      <p:sp>
        <p:nvSpPr>
          <p:cNvPr id="27" name="step-hex"/>
          <p:cNvSpPr/>
          <p:nvPr/>
        </p:nvSpPr>
        <p:spPr>
          <a:xfrm>
            <a:off x="6217920" y="4686034"/>
            <a:ext cx="420624" cy="364260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28" name="step-hex-label"/>
          <p:cNvSpPr txBox="1"/>
          <p:nvPr/>
        </p:nvSpPr>
        <p:spPr>
          <a:xfrm>
            <a:off x="6217920" y="4686034"/>
            <a:ext cx="420624" cy="36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29" name="step"/>
          <p:cNvSpPr txBox="1"/>
          <p:nvPr/>
        </p:nvSpPr>
        <p:spPr>
          <a:xfrm>
            <a:off x="6766560" y="4584700"/>
            <a:ext cx="4739335" cy="56692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−8 + 10 = 2.</a:t>
            </a:r>
            <a:endParaRPr lang="en-US" sz="1800" dirty="0"/>
          </a:p>
        </p:txBody>
      </p:sp>
      <p:sp>
        <p:nvSpPr>
          <p:cNvPr id="30" name="worked-answer"/>
          <p:cNvSpPr/>
          <p:nvPr/>
        </p:nvSpPr>
        <p:spPr>
          <a:xfrm>
            <a:off x="6126480" y="5288788"/>
            <a:ext cx="5379415" cy="552196"/>
          </a:xfrm>
          <a:prstGeom prst="roundRect">
            <a:avLst>
              <a:gd name="adj" fmla="val 33119"/>
            </a:avLst>
          </a:prstGeom>
          <a:solidFill>
            <a:srgbClr val="EFE4D0"/>
          </a:solidFill>
          <a:ln w="19050">
            <a:solidFill>
              <a:srgbClr val="B8862B"/>
            </a:solidFill>
          </a:ln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815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algn="l" indent="0" marL="0">
              <a:buNone/>
            </a:pPr>
            <a:r>
              <a:rPr lang="en-US" sz="1800" b="1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31" name="bullet-card"/>
          <p:cNvSpPr/>
          <p:nvPr/>
        </p:nvSpPr>
        <p:spPr>
          <a:xfrm>
            <a:off x="548640" y="1389888"/>
            <a:ext cx="5074920" cy="1451356"/>
          </a:xfrm>
          <a:prstGeom prst="roundRect">
            <a:avLst>
              <a:gd name="adj" fmla="val 5040"/>
            </a:avLst>
          </a:prstGeom>
          <a:solidFill>
            <a:srgbClr val="F5F6F9"/>
          </a:solidFill>
          <a:ln/>
        </p:spPr>
      </p:sp>
      <p:sp>
        <p:nvSpPr>
          <p:cNvPr id="32" name="bullet-hex"/>
          <p:cNvSpPr/>
          <p:nvPr/>
        </p:nvSpPr>
        <p:spPr>
          <a:xfrm>
            <a:off x="676656" y="1949273"/>
            <a:ext cx="384048" cy="332586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33" name="bullet"/>
          <p:cNvSpPr txBox="1"/>
          <p:nvPr/>
        </p:nvSpPr>
        <p:spPr>
          <a:xfrm>
            <a:off x="1143000" y="1389888"/>
            <a:ext cx="4389120" cy="1451356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rule works when you start below zero. −5 − (−3) = −5 + 3 = −2.</a:t>
            </a:r>
            <a:endParaRPr lang="en-US" sz="2200" dirty="0"/>
          </a:p>
        </p:txBody>
      </p:sp>
      <p:sp>
        <p:nvSpPr>
          <p:cNvPr id="34" name="bullet-card"/>
          <p:cNvSpPr/>
          <p:nvPr/>
        </p:nvSpPr>
        <p:spPr>
          <a:xfrm>
            <a:off x="548640" y="2987548"/>
            <a:ext cx="5074920" cy="1110488"/>
          </a:xfrm>
          <a:prstGeom prst="roundRect">
            <a:avLst>
              <a:gd name="adj" fmla="val 6587"/>
            </a:avLst>
          </a:prstGeom>
          <a:solidFill>
            <a:srgbClr val="F5F6F9"/>
          </a:solidFill>
          <a:ln/>
        </p:spPr>
      </p:sp>
      <p:sp>
        <p:nvSpPr>
          <p:cNvPr id="35" name="bullet-hex"/>
          <p:cNvSpPr/>
          <p:nvPr/>
        </p:nvSpPr>
        <p:spPr>
          <a:xfrm>
            <a:off x="676656" y="3376499"/>
            <a:ext cx="384048" cy="332586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36" name="bullet"/>
          <p:cNvSpPr txBox="1"/>
          <p:nvPr/>
        </p:nvSpPr>
        <p:spPr>
          <a:xfrm>
            <a:off x="1143000" y="2987548"/>
            <a:ext cx="4389120" cy="111048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−2 − (−6) = −2 + 6 = 4. This time the answer crosses zero.</a:t>
            </a:r>
            <a:endParaRPr lang="en-US" sz="2200" dirty="0"/>
          </a:p>
        </p:txBody>
      </p:sp>
      <p:sp>
        <p:nvSpPr>
          <p:cNvPr id="37" name="bullet-card"/>
          <p:cNvSpPr/>
          <p:nvPr/>
        </p:nvSpPr>
        <p:spPr>
          <a:xfrm>
            <a:off x="548640" y="4244340"/>
            <a:ext cx="5074920" cy="1110488"/>
          </a:xfrm>
          <a:prstGeom prst="roundRect">
            <a:avLst>
              <a:gd name="adj" fmla="val 6587"/>
            </a:avLst>
          </a:prstGeom>
          <a:solidFill>
            <a:srgbClr val="F5F6F9"/>
          </a:solidFill>
          <a:ln/>
        </p:spPr>
      </p:sp>
      <p:sp>
        <p:nvSpPr>
          <p:cNvPr id="38" name="bullet-hex"/>
          <p:cNvSpPr/>
          <p:nvPr/>
        </p:nvSpPr>
        <p:spPr>
          <a:xfrm>
            <a:off x="676656" y="4633291"/>
            <a:ext cx="384048" cy="332586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39" name="bullet"/>
          <p:cNvSpPr txBox="1"/>
          <p:nvPr/>
        </p:nvSpPr>
        <p:spPr>
          <a:xfrm>
            <a:off x="1143000" y="4244340"/>
            <a:ext cx="4389120" cy="111048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yourself with −9 − (−5). Rewrite it as −9 + 5.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8520" y="644652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29437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548640" y="292608"/>
            <a:ext cx="905256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E4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task, three ways in: Subtract a negative number</a:t>
            </a:r>
            <a:endParaRPr lang="en-US" sz="2800" dirty="0"/>
          </a:p>
        </p:txBody>
      </p:sp>
      <p:sp>
        <p:nvSpPr>
          <p:cNvPr id="4" name="chip-hex"/>
          <p:cNvSpPr/>
          <p:nvPr/>
        </p:nvSpPr>
        <p:spPr>
          <a:xfrm>
            <a:off x="9677095" y="531760"/>
            <a:ext cx="566928" cy="490960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5" name="chip-hex-label"/>
          <p:cNvSpPr txBox="1"/>
          <p:nvPr/>
        </p:nvSpPr>
        <p:spPr>
          <a:xfrm>
            <a:off x="9677095" y="531760"/>
            <a:ext cx="566928" cy="490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6" name="chip-label"/>
          <p:cNvSpPr txBox="1"/>
          <p:nvPr/>
        </p:nvSpPr>
        <p:spPr>
          <a:xfrm>
            <a:off x="10317175" y="292608"/>
            <a:ext cx="132588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Routes</a:t>
            </a:r>
            <a:endParaRPr lang="en-US" sz="1800" dirty="0"/>
          </a:p>
        </p:txBody>
      </p:sp>
      <p:sp>
        <p:nvSpPr>
          <p:cNvPr id="7" name="task-box"/>
          <p:cNvSpPr/>
          <p:nvPr/>
        </p:nvSpPr>
        <p:spPr>
          <a:xfrm>
            <a:off x="548640" y="1389888"/>
            <a:ext cx="11094415" cy="974852"/>
          </a:xfrm>
          <a:prstGeom prst="roundRect">
            <a:avLst>
              <a:gd name="adj" fmla="val 9380"/>
            </a:avLst>
          </a:prstGeom>
          <a:solidFill>
            <a:srgbClr val="FFFFFF"/>
          </a:solidFill>
          <a:ln w="31750">
            <a:solidFill>
              <a:srgbClr val="B8862B"/>
            </a:solidFill>
            <a:prstDash val="solid"/>
          </a:ln>
        </p:spPr>
      </p:sp>
      <p:sp>
        <p:nvSpPr>
          <p:cNvPr id="8" name="task-hex"/>
          <p:cNvSpPr/>
          <p:nvPr/>
        </p:nvSpPr>
        <p:spPr>
          <a:xfrm>
            <a:off x="777240" y="1560566"/>
            <a:ext cx="731520" cy="633496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9" name="task-hex-label"/>
          <p:cNvSpPr txBox="1"/>
          <p:nvPr/>
        </p:nvSpPr>
        <p:spPr>
          <a:xfrm>
            <a:off x="777240" y="1560566"/>
            <a:ext cx="731520" cy="633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400" dirty="0"/>
          </a:p>
        </p:txBody>
      </p:sp>
      <p:sp>
        <p:nvSpPr>
          <p:cNvPr id="10" name="task-everyone"/>
          <p:cNvSpPr txBox="1"/>
          <p:nvPr/>
        </p:nvSpPr>
        <p:spPr>
          <a:xfrm>
            <a:off x="10362895" y="1602994"/>
            <a:ext cx="1188720" cy="54864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815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Everyone</a:t>
            </a:r>
            <a:endParaRPr lang="en-US" sz="1800" dirty="0"/>
          </a:p>
        </p:txBody>
      </p:sp>
      <p:sp>
        <p:nvSpPr>
          <p:cNvPr id="11" name="task"/>
          <p:cNvSpPr txBox="1"/>
          <p:nvPr/>
        </p:nvSpPr>
        <p:spPr>
          <a:xfrm>
            <a:off x="1645920" y="1481328"/>
            <a:ext cx="8579815" cy="791972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out 5 − (−9).</a:t>
            </a:r>
            <a:endParaRPr lang="en-US" sz="20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pPr algn="ctr" indent="0" marL="0">
              <a:buNone/>
            </a:pPr>
            <a:r>
              <a:rPr lang="en-US" sz="1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    </a:t>
            </a:r>
            <a:pPr algn="ctr" indent="0" marL="0">
              <a:buNone/>
            </a:pPr>
            <a:r>
              <a:rPr lang="en-US" sz="18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</a:t>
            </a:r>
            <a:pPr algn="ctr" indent="0" marL="0">
              <a:buNone/>
            </a:pPr>
            <a:r>
              <a:rPr lang="en-US" sz="1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     </a:t>
            </a:r>
            <a:pPr algn="ctr" indent="0" marL="0">
              <a:buNone/>
            </a:pPr>
            <a:r>
              <a:rPr lang="en-US" sz="18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 </a:t>
            </a:r>
            <a:pPr algn="ctr" indent="0" marL="0">
              <a:buNone/>
            </a:pPr>
            <a:r>
              <a:rPr lang="en-US" sz="1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−4      </a:t>
            </a:r>
            <a:pPr algn="ctr" indent="0" marL="0">
              <a:buNone/>
            </a:pPr>
            <a:r>
              <a:rPr lang="en-US" sz="18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 </a:t>
            </a:r>
            <a:pPr algn="ctr" indent="0" marL="0">
              <a:buNone/>
            </a:pPr>
            <a:r>
              <a:rPr lang="en-US" sz="1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−14</a:t>
            </a:r>
            <a:endParaRPr lang="en-US" sz="2000" dirty="0"/>
          </a:p>
        </p:txBody>
      </p:sp>
      <p:sp>
        <p:nvSpPr>
          <p:cNvPr id="12" name="col-Support"/>
          <p:cNvSpPr/>
          <p:nvPr/>
        </p:nvSpPr>
        <p:spPr>
          <a:xfrm>
            <a:off x="548640" y="2639060"/>
            <a:ext cx="3515258" cy="3505708"/>
          </a:xfrm>
          <a:prstGeom prst="roundRect">
            <a:avLst>
              <a:gd name="adj" fmla="val 1565"/>
            </a:avLst>
          </a:prstGeom>
          <a:solidFill>
            <a:srgbClr val="F0F2F7"/>
          </a:solidFill>
          <a:ln/>
        </p:spPr>
      </p:sp>
      <p:sp>
        <p:nvSpPr>
          <p:cNvPr id="13" name="col-hex"/>
          <p:cNvSpPr/>
          <p:nvPr/>
        </p:nvSpPr>
        <p:spPr>
          <a:xfrm>
            <a:off x="658368" y="2712212"/>
            <a:ext cx="475488" cy="411773"/>
          </a:xfrm>
          <a:prstGeom prst="hexagon">
            <a:avLst/>
          </a:prstGeom>
          <a:solidFill>
            <a:srgbClr val="B886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col-hex-label"/>
          <p:cNvSpPr txBox="1"/>
          <p:nvPr/>
        </p:nvSpPr>
        <p:spPr>
          <a:xfrm>
            <a:off x="658368" y="2712212"/>
            <a:ext cx="475488" cy="4117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15" name="col-head"/>
          <p:cNvSpPr txBox="1"/>
          <p:nvPr/>
        </p:nvSpPr>
        <p:spPr>
          <a:xfrm>
            <a:off x="1188720" y="2675636"/>
            <a:ext cx="2783738" cy="56692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034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</a:t>
            </a:r>
            <a:endParaRPr lang="en-US" sz="2000" dirty="0"/>
          </a:p>
        </p:txBody>
      </p:sp>
      <p:sp>
        <p:nvSpPr>
          <p:cNvPr id="16" name="col-body"/>
          <p:cNvSpPr txBox="1"/>
          <p:nvPr/>
        </p:nvSpPr>
        <p:spPr>
          <a:xfrm>
            <a:off x="685800" y="3279140"/>
            <a:ext cx="3240938" cy="275590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</a:t>
            </a:r>
            <a:pPr algn="l" indent="0" marL="0">
              <a:spcAft>
                <a:spcPts val="600"/>
              </a:spcAft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Spot the two signs side by side: − (−).</a:t>
            </a:r>
            <a:endParaRPr lang="en-US" sz="22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</a:t>
            </a:r>
            <a:pPr algn="l" indent="0" marL="0">
              <a:spcAft>
                <a:spcPts val="600"/>
              </a:spcAft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them to +.</a:t>
            </a:r>
            <a:endParaRPr lang="en-US" sz="22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</a:t>
            </a:r>
            <a:pPr algn="l" indent="0" marL="0">
              <a:spcAft>
                <a:spcPts val="600"/>
              </a:spcAft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out the addition.</a:t>
            </a:r>
            <a:endParaRPr lang="en-US" sz="2200" dirty="0"/>
          </a:p>
        </p:txBody>
      </p:sp>
      <p:sp>
        <p:nvSpPr>
          <p:cNvPr id="17" name="col-Core"/>
          <p:cNvSpPr/>
          <p:nvPr/>
        </p:nvSpPr>
        <p:spPr>
          <a:xfrm>
            <a:off x="4338218" y="2639060"/>
            <a:ext cx="3515258" cy="3505708"/>
          </a:xfrm>
          <a:prstGeom prst="roundRect">
            <a:avLst>
              <a:gd name="adj" fmla="val 1565"/>
            </a:avLst>
          </a:prstGeom>
          <a:solidFill>
            <a:srgbClr val="D7DDE9"/>
          </a:solidFill>
          <a:ln/>
        </p:spPr>
      </p:sp>
      <p:sp>
        <p:nvSpPr>
          <p:cNvPr id="18" name="col-hex"/>
          <p:cNvSpPr/>
          <p:nvPr/>
        </p:nvSpPr>
        <p:spPr>
          <a:xfrm>
            <a:off x="4447946" y="2712212"/>
            <a:ext cx="475488" cy="411773"/>
          </a:xfrm>
          <a:prstGeom prst="hexagon">
            <a:avLst/>
          </a:prstGeom>
          <a:solidFill>
            <a:srgbClr val="B886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col-hex-label"/>
          <p:cNvSpPr txBox="1"/>
          <p:nvPr/>
        </p:nvSpPr>
        <p:spPr>
          <a:xfrm>
            <a:off x="4447946" y="2712212"/>
            <a:ext cx="475488" cy="4117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20" name="col-head"/>
          <p:cNvSpPr txBox="1"/>
          <p:nvPr/>
        </p:nvSpPr>
        <p:spPr>
          <a:xfrm>
            <a:off x="4978298" y="2675636"/>
            <a:ext cx="2783738" cy="56692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034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</a:t>
            </a:r>
            <a:endParaRPr lang="en-US" sz="2000" dirty="0"/>
          </a:p>
        </p:txBody>
      </p:sp>
      <p:sp>
        <p:nvSpPr>
          <p:cNvPr id="21" name="col-body"/>
          <p:cNvSpPr txBox="1"/>
          <p:nvPr/>
        </p:nvSpPr>
        <p:spPr>
          <a:xfrm>
            <a:off x="4475378" y="3279140"/>
            <a:ext cx="3240938" cy="275590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53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Hint:  </a:t>
            </a:r>
            <a:pPr algn="l" indent="0" marL="0"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5 − (−9) is the same as 5 + 9.</a:t>
            </a:r>
            <a:endParaRPr lang="en-US" sz="2200" dirty="0"/>
          </a:p>
        </p:txBody>
      </p:sp>
      <p:sp>
        <p:nvSpPr>
          <p:cNvPr id="22" name="col-Stretch"/>
          <p:cNvSpPr/>
          <p:nvPr/>
        </p:nvSpPr>
        <p:spPr>
          <a:xfrm>
            <a:off x="8127797" y="2639060"/>
            <a:ext cx="3515258" cy="3505708"/>
          </a:xfrm>
          <a:prstGeom prst="roundRect">
            <a:avLst>
              <a:gd name="adj" fmla="val 1565"/>
            </a:avLst>
          </a:prstGeom>
          <a:solidFill>
            <a:srgbClr val="2E4A8C"/>
          </a:solidFill>
          <a:ln/>
        </p:spPr>
      </p:sp>
      <p:sp>
        <p:nvSpPr>
          <p:cNvPr id="23" name="col-hex"/>
          <p:cNvSpPr/>
          <p:nvPr/>
        </p:nvSpPr>
        <p:spPr>
          <a:xfrm>
            <a:off x="8237525" y="2712212"/>
            <a:ext cx="475488" cy="411773"/>
          </a:xfrm>
          <a:prstGeom prst="hexagon">
            <a:avLst/>
          </a:prstGeom>
          <a:solidFill>
            <a:srgbClr val="B886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col-hex-label"/>
          <p:cNvSpPr txBox="1"/>
          <p:nvPr/>
        </p:nvSpPr>
        <p:spPr>
          <a:xfrm>
            <a:off x="8237525" y="2712212"/>
            <a:ext cx="475488" cy="4117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25" name="col-head"/>
          <p:cNvSpPr txBox="1"/>
          <p:nvPr/>
        </p:nvSpPr>
        <p:spPr>
          <a:xfrm>
            <a:off x="8767877" y="2675636"/>
            <a:ext cx="2783738" cy="56692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Stretch</a:t>
            </a:r>
            <a:endParaRPr lang="en-US" sz="2000" dirty="0"/>
          </a:p>
        </p:txBody>
      </p:sp>
      <p:sp>
        <p:nvSpPr>
          <p:cNvPr id="26" name="col-body"/>
          <p:cNvSpPr txBox="1"/>
          <p:nvPr/>
        </p:nvSpPr>
        <p:spPr>
          <a:xfrm>
            <a:off x="8264957" y="3279140"/>
            <a:ext cx="3240938" cy="275590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D4B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Then:  </a:t>
            </a:r>
            <a:pPr algn="l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counters and zero pairs to explain why 5 − (−9) gives an answer bigger than 5.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8520" y="644652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29437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548640" y="292608"/>
            <a:ext cx="905256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E4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task, three ways in: A negative minus a positive</a:t>
            </a:r>
            <a:endParaRPr lang="en-US" sz="2800" dirty="0"/>
          </a:p>
        </p:txBody>
      </p:sp>
      <p:sp>
        <p:nvSpPr>
          <p:cNvPr id="4" name="chip-hex"/>
          <p:cNvSpPr/>
          <p:nvPr/>
        </p:nvSpPr>
        <p:spPr>
          <a:xfrm>
            <a:off x="9677095" y="531760"/>
            <a:ext cx="566928" cy="490960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5" name="chip-hex-label"/>
          <p:cNvSpPr txBox="1"/>
          <p:nvPr/>
        </p:nvSpPr>
        <p:spPr>
          <a:xfrm>
            <a:off x="9677095" y="531760"/>
            <a:ext cx="566928" cy="490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6" name="chip-label"/>
          <p:cNvSpPr txBox="1"/>
          <p:nvPr/>
        </p:nvSpPr>
        <p:spPr>
          <a:xfrm>
            <a:off x="10317175" y="292608"/>
            <a:ext cx="132588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Routes</a:t>
            </a:r>
            <a:endParaRPr lang="en-US" sz="1800" dirty="0"/>
          </a:p>
        </p:txBody>
      </p:sp>
      <p:sp>
        <p:nvSpPr>
          <p:cNvPr id="7" name="task-box"/>
          <p:cNvSpPr/>
          <p:nvPr/>
        </p:nvSpPr>
        <p:spPr>
          <a:xfrm>
            <a:off x="548640" y="1389888"/>
            <a:ext cx="11094415" cy="974852"/>
          </a:xfrm>
          <a:prstGeom prst="roundRect">
            <a:avLst>
              <a:gd name="adj" fmla="val 9380"/>
            </a:avLst>
          </a:prstGeom>
          <a:solidFill>
            <a:srgbClr val="FFFFFF"/>
          </a:solidFill>
          <a:ln w="31750">
            <a:solidFill>
              <a:srgbClr val="B8862B"/>
            </a:solidFill>
            <a:prstDash val="solid"/>
          </a:ln>
        </p:spPr>
      </p:sp>
      <p:sp>
        <p:nvSpPr>
          <p:cNvPr id="8" name="task-hex"/>
          <p:cNvSpPr/>
          <p:nvPr/>
        </p:nvSpPr>
        <p:spPr>
          <a:xfrm>
            <a:off x="777240" y="1560566"/>
            <a:ext cx="731520" cy="633496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9" name="task-hex-label"/>
          <p:cNvSpPr txBox="1"/>
          <p:nvPr/>
        </p:nvSpPr>
        <p:spPr>
          <a:xfrm>
            <a:off x="777240" y="1560566"/>
            <a:ext cx="731520" cy="633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400" dirty="0"/>
          </a:p>
        </p:txBody>
      </p:sp>
      <p:sp>
        <p:nvSpPr>
          <p:cNvPr id="10" name="task-everyone"/>
          <p:cNvSpPr txBox="1"/>
          <p:nvPr/>
        </p:nvSpPr>
        <p:spPr>
          <a:xfrm>
            <a:off x="10362895" y="1602994"/>
            <a:ext cx="1188720" cy="54864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815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Everyone</a:t>
            </a:r>
            <a:endParaRPr lang="en-US" sz="1800" dirty="0"/>
          </a:p>
        </p:txBody>
      </p:sp>
      <p:sp>
        <p:nvSpPr>
          <p:cNvPr id="11" name="task"/>
          <p:cNvSpPr txBox="1"/>
          <p:nvPr/>
        </p:nvSpPr>
        <p:spPr>
          <a:xfrm>
            <a:off x="1645920" y="1481328"/>
            <a:ext cx="8579815" cy="791972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out −12 − 9.</a:t>
            </a:r>
            <a:endParaRPr lang="en-US" sz="20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Answer:  </a:t>
            </a:r>
            <a:pPr algn="ctr" indent="0" marL="0">
              <a:buNone/>
            </a:pPr>
            <a:r>
              <a:rPr lang="en-US" sz="1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__________</a:t>
            </a:r>
            <a:endParaRPr lang="en-US" sz="2000" dirty="0"/>
          </a:p>
        </p:txBody>
      </p:sp>
      <p:sp>
        <p:nvSpPr>
          <p:cNvPr id="12" name="col-Support"/>
          <p:cNvSpPr/>
          <p:nvPr/>
        </p:nvSpPr>
        <p:spPr>
          <a:xfrm>
            <a:off x="548640" y="2639060"/>
            <a:ext cx="3515258" cy="3505708"/>
          </a:xfrm>
          <a:prstGeom prst="roundRect">
            <a:avLst>
              <a:gd name="adj" fmla="val 1565"/>
            </a:avLst>
          </a:prstGeom>
          <a:solidFill>
            <a:srgbClr val="F0F2F7"/>
          </a:solidFill>
          <a:ln/>
        </p:spPr>
      </p:sp>
      <p:sp>
        <p:nvSpPr>
          <p:cNvPr id="13" name="col-hex"/>
          <p:cNvSpPr/>
          <p:nvPr/>
        </p:nvSpPr>
        <p:spPr>
          <a:xfrm>
            <a:off x="658368" y="2712212"/>
            <a:ext cx="475488" cy="411773"/>
          </a:xfrm>
          <a:prstGeom prst="hexagon">
            <a:avLst/>
          </a:prstGeom>
          <a:solidFill>
            <a:srgbClr val="B886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col-hex-label"/>
          <p:cNvSpPr txBox="1"/>
          <p:nvPr/>
        </p:nvSpPr>
        <p:spPr>
          <a:xfrm>
            <a:off x="658368" y="2712212"/>
            <a:ext cx="475488" cy="4117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15" name="col-head"/>
          <p:cNvSpPr txBox="1"/>
          <p:nvPr/>
        </p:nvSpPr>
        <p:spPr>
          <a:xfrm>
            <a:off x="1188720" y="2675636"/>
            <a:ext cx="2783738" cy="56692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034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</a:t>
            </a:r>
            <a:endParaRPr lang="en-US" sz="2000" dirty="0"/>
          </a:p>
        </p:txBody>
      </p:sp>
      <p:sp>
        <p:nvSpPr>
          <p:cNvPr id="16" name="col-body"/>
          <p:cNvSpPr txBox="1"/>
          <p:nvPr/>
        </p:nvSpPr>
        <p:spPr>
          <a:xfrm>
            <a:off x="685800" y="3279140"/>
            <a:ext cx="3240938" cy="275590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</a:t>
            </a:r>
            <a:pPr algn="l" indent="0" marL="0">
              <a:spcAft>
                <a:spcPts val="600"/>
              </a:spcAft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at the first number.</a:t>
            </a:r>
            <a:endParaRPr lang="en-US" sz="22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</a:t>
            </a:r>
            <a:pPr algn="l" indent="0" marL="0">
              <a:spcAft>
                <a:spcPts val="600"/>
              </a:spcAft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Subtracting a positive number means moving left.</a:t>
            </a:r>
            <a:endParaRPr lang="en-US" sz="22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</a:t>
            </a:r>
            <a:pPr algn="l" indent="0" marL="0">
              <a:spcAft>
                <a:spcPts val="600"/>
              </a:spcAft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the two digits: you go further below zero.</a:t>
            </a:r>
            <a:endParaRPr lang="en-US" sz="2200" dirty="0"/>
          </a:p>
        </p:txBody>
      </p:sp>
      <p:sp>
        <p:nvSpPr>
          <p:cNvPr id="17" name="col-Core"/>
          <p:cNvSpPr/>
          <p:nvPr/>
        </p:nvSpPr>
        <p:spPr>
          <a:xfrm>
            <a:off x="4338218" y="2639060"/>
            <a:ext cx="3515258" cy="3505708"/>
          </a:xfrm>
          <a:prstGeom prst="roundRect">
            <a:avLst>
              <a:gd name="adj" fmla="val 1565"/>
            </a:avLst>
          </a:prstGeom>
          <a:solidFill>
            <a:srgbClr val="D7DDE9"/>
          </a:solidFill>
          <a:ln/>
        </p:spPr>
      </p:sp>
      <p:sp>
        <p:nvSpPr>
          <p:cNvPr id="18" name="col-hex"/>
          <p:cNvSpPr/>
          <p:nvPr/>
        </p:nvSpPr>
        <p:spPr>
          <a:xfrm>
            <a:off x="4447946" y="2712212"/>
            <a:ext cx="475488" cy="411773"/>
          </a:xfrm>
          <a:prstGeom prst="hexagon">
            <a:avLst/>
          </a:prstGeom>
          <a:solidFill>
            <a:srgbClr val="B886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col-hex-label"/>
          <p:cNvSpPr txBox="1"/>
          <p:nvPr/>
        </p:nvSpPr>
        <p:spPr>
          <a:xfrm>
            <a:off x="4447946" y="2712212"/>
            <a:ext cx="475488" cy="4117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20" name="col-head"/>
          <p:cNvSpPr txBox="1"/>
          <p:nvPr/>
        </p:nvSpPr>
        <p:spPr>
          <a:xfrm>
            <a:off x="4978298" y="2675636"/>
            <a:ext cx="2783738" cy="56692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034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</a:t>
            </a:r>
            <a:endParaRPr lang="en-US" sz="2000" dirty="0"/>
          </a:p>
        </p:txBody>
      </p:sp>
      <p:sp>
        <p:nvSpPr>
          <p:cNvPr id="21" name="col-body"/>
          <p:cNvSpPr txBox="1"/>
          <p:nvPr/>
        </p:nvSpPr>
        <p:spPr>
          <a:xfrm>
            <a:off x="4475378" y="3279140"/>
            <a:ext cx="3240938" cy="275590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53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Hint:  </a:t>
            </a:r>
            <a:pPr algn="l" indent="0" marL="0"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start 12 below zero and go 9 further down.</a:t>
            </a:r>
            <a:endParaRPr lang="en-US" sz="2200" dirty="0"/>
          </a:p>
        </p:txBody>
      </p:sp>
      <p:sp>
        <p:nvSpPr>
          <p:cNvPr id="22" name="col-Stretch"/>
          <p:cNvSpPr/>
          <p:nvPr/>
        </p:nvSpPr>
        <p:spPr>
          <a:xfrm>
            <a:off x="8127797" y="2639060"/>
            <a:ext cx="3515258" cy="3505708"/>
          </a:xfrm>
          <a:prstGeom prst="roundRect">
            <a:avLst>
              <a:gd name="adj" fmla="val 1565"/>
            </a:avLst>
          </a:prstGeom>
          <a:solidFill>
            <a:srgbClr val="2E4A8C"/>
          </a:solidFill>
          <a:ln/>
        </p:spPr>
      </p:sp>
      <p:sp>
        <p:nvSpPr>
          <p:cNvPr id="23" name="col-hex"/>
          <p:cNvSpPr/>
          <p:nvPr/>
        </p:nvSpPr>
        <p:spPr>
          <a:xfrm>
            <a:off x="8237525" y="2712212"/>
            <a:ext cx="475488" cy="411773"/>
          </a:xfrm>
          <a:prstGeom prst="hexagon">
            <a:avLst/>
          </a:prstGeom>
          <a:solidFill>
            <a:srgbClr val="B886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col-hex-label"/>
          <p:cNvSpPr txBox="1"/>
          <p:nvPr/>
        </p:nvSpPr>
        <p:spPr>
          <a:xfrm>
            <a:off x="8237525" y="2712212"/>
            <a:ext cx="475488" cy="4117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25" name="col-head"/>
          <p:cNvSpPr txBox="1"/>
          <p:nvPr/>
        </p:nvSpPr>
        <p:spPr>
          <a:xfrm>
            <a:off x="8767877" y="2675636"/>
            <a:ext cx="2783738" cy="56692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Stretch</a:t>
            </a:r>
            <a:endParaRPr lang="en-US" sz="2000" dirty="0"/>
          </a:p>
        </p:txBody>
      </p:sp>
      <p:sp>
        <p:nvSpPr>
          <p:cNvPr id="26" name="col-body"/>
          <p:cNvSpPr txBox="1"/>
          <p:nvPr/>
        </p:nvSpPr>
        <p:spPr>
          <a:xfrm>
            <a:off x="8264957" y="3279140"/>
            <a:ext cx="3240938" cy="275590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D4B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Then:  </a:t>
            </a:r>
            <a:pPr algn="l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 works out −2 − 4 and gets 2. She says she took away four negative counters. Explain her mistake, and give the correct answer.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8520" y="644652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29437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548640" y="292608"/>
            <a:ext cx="905256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Exit ticket</a:t>
            </a:r>
            <a:endParaRPr lang="en-US" sz="3200" dirty="0"/>
          </a:p>
        </p:txBody>
      </p:sp>
      <p:sp>
        <p:nvSpPr>
          <p:cNvPr id="4" name="chip-hex"/>
          <p:cNvSpPr/>
          <p:nvPr/>
        </p:nvSpPr>
        <p:spPr>
          <a:xfrm>
            <a:off x="9677095" y="531760"/>
            <a:ext cx="566928" cy="490960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5" name="chip-hex-label"/>
          <p:cNvSpPr txBox="1"/>
          <p:nvPr/>
        </p:nvSpPr>
        <p:spPr>
          <a:xfrm>
            <a:off x="9677095" y="531760"/>
            <a:ext cx="566928" cy="490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2000" dirty="0"/>
          </a:p>
        </p:txBody>
      </p:sp>
      <p:sp>
        <p:nvSpPr>
          <p:cNvPr id="6" name="chip-label"/>
          <p:cNvSpPr txBox="1"/>
          <p:nvPr/>
        </p:nvSpPr>
        <p:spPr>
          <a:xfrm>
            <a:off x="10317175" y="292608"/>
            <a:ext cx="132588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8A65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Exit</a:t>
            </a:r>
            <a:endParaRPr lang="en-US" sz="1800" dirty="0"/>
          </a:p>
        </p:txBody>
      </p:sp>
      <p:sp>
        <p:nvSpPr>
          <p:cNvPr id="7" name="exit-card"/>
          <p:cNvSpPr/>
          <p:nvPr/>
        </p:nvSpPr>
        <p:spPr>
          <a:xfrm>
            <a:off x="1645920" y="1389888"/>
            <a:ext cx="8899855" cy="4754880"/>
          </a:xfrm>
          <a:prstGeom prst="roundRect">
            <a:avLst>
              <a:gd name="adj" fmla="val 962"/>
            </a:avLst>
          </a:prstGeom>
          <a:solidFill>
            <a:srgbClr val="FFFFFF"/>
          </a:solidFill>
          <a:ln w="31750">
            <a:solidFill>
              <a:srgbClr val="2E4A8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exit-hex"/>
          <p:cNvSpPr/>
          <p:nvPr/>
        </p:nvSpPr>
        <p:spPr>
          <a:xfrm>
            <a:off x="1143000" y="1618488"/>
            <a:ext cx="1005840" cy="871057"/>
          </a:xfrm>
          <a:prstGeom prst="hexagon">
            <a:avLst/>
          </a:prstGeom>
          <a:solidFill>
            <a:srgbClr val="2E4A8C"/>
          </a:solidFill>
          <a:ln w="25400">
            <a:solidFill>
              <a:srgbClr val="B8862B"/>
            </a:solidFill>
            <a:prstDash val="solid"/>
          </a:ln>
        </p:spPr>
      </p:sp>
      <p:sp>
        <p:nvSpPr>
          <p:cNvPr id="9" name="exit-hex-label"/>
          <p:cNvSpPr txBox="1"/>
          <p:nvPr/>
        </p:nvSpPr>
        <p:spPr>
          <a:xfrm>
            <a:off x="1143000" y="1618488"/>
            <a:ext cx="1005840" cy="8710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Exit</a:t>
            </a:r>
            <a:endParaRPr lang="en-US" sz="2000" dirty="0"/>
          </a:p>
        </p:txBody>
      </p:sp>
      <p:sp>
        <p:nvSpPr>
          <p:cNvPr id="10" name="exit-q"/>
          <p:cNvSpPr txBox="1"/>
          <p:nvPr/>
        </p:nvSpPr>
        <p:spPr>
          <a:xfrm>
            <a:off x="2286000" y="1664208"/>
            <a:ext cx="7802575" cy="261518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400" b="1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these calculations in order, smallest answer first: 4 + (−5), −3 − 6, −1 − (−8), −7 − (−2).</a:t>
            </a:r>
            <a:endParaRPr lang="en-US" sz="2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 </a:t>
            </a:r>
            <a:pPr algn="l" indent="0" marL="0">
              <a:spcAft>
                <a:spcPts val="600"/>
              </a:spcAft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−1 − (−8)</a:t>
            </a:r>
            <a:endParaRPr lang="en-US" sz="2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 </a:t>
            </a:r>
            <a:pPr algn="l" indent="0" marL="0">
              <a:spcAft>
                <a:spcPts val="600"/>
              </a:spcAft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−3 − 6</a:t>
            </a:r>
            <a:endParaRPr lang="en-US" sz="2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  </a:t>
            </a:r>
            <a:pPr algn="l" indent="0" marL="0">
              <a:spcAft>
                <a:spcPts val="600"/>
              </a:spcAft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−7 − (−2)</a:t>
            </a:r>
            <a:endParaRPr lang="en-US" sz="2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  </a:t>
            </a:r>
            <a:pPr algn="l" indent="0" marL="0">
              <a:spcAft>
                <a:spcPts val="600"/>
              </a:spcAft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+ (−5)</a:t>
            </a:r>
            <a:endParaRPr lang="en-US" sz="2400" dirty="0"/>
          </a:p>
        </p:txBody>
      </p:sp>
      <p:sp>
        <p:nvSpPr>
          <p:cNvPr id="11" name="exit-answer-box"/>
          <p:cNvSpPr/>
          <p:nvPr/>
        </p:nvSpPr>
        <p:spPr>
          <a:xfrm>
            <a:off x="2286000" y="5184648"/>
            <a:ext cx="7619695" cy="685800"/>
          </a:xfrm>
          <a:prstGeom prst="roundRect">
            <a:avLst>
              <a:gd name="adj" fmla="val 13333"/>
            </a:avLst>
          </a:prstGeom>
          <a:solidFill>
            <a:srgbClr val="F7F8FA"/>
          </a:solidFill>
          <a:ln w="12700">
            <a:solidFill>
              <a:srgbClr val="9DAAC9"/>
            </a:solidFill>
            <a:prstDash val="solid"/>
          </a:ln>
        </p:spPr>
      </p:sp>
      <p:sp>
        <p:nvSpPr>
          <p:cNvPr id="12" name="exit-answer-label"/>
          <p:cNvSpPr txBox="1"/>
          <p:nvPr/>
        </p:nvSpPr>
        <p:spPr>
          <a:xfrm>
            <a:off x="2423160" y="5184648"/>
            <a:ext cx="2926080" cy="68580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answer: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8520" y="644652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29437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548640" y="292608"/>
            <a:ext cx="905256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Answers: Subtract a negative number</a:t>
            </a:r>
            <a:endParaRPr lang="en-US" sz="3200" dirty="0"/>
          </a:p>
        </p:txBody>
      </p:sp>
      <p:sp>
        <p:nvSpPr>
          <p:cNvPr id="4" name="chip-hex"/>
          <p:cNvSpPr/>
          <p:nvPr/>
        </p:nvSpPr>
        <p:spPr>
          <a:xfrm>
            <a:off x="9677095" y="531760"/>
            <a:ext cx="566928" cy="490960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5" name="chip-hex-label"/>
          <p:cNvSpPr txBox="1"/>
          <p:nvPr/>
        </p:nvSpPr>
        <p:spPr>
          <a:xfrm>
            <a:off x="9677095" y="531760"/>
            <a:ext cx="566928" cy="490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6" name="chip-label"/>
          <p:cNvSpPr txBox="1"/>
          <p:nvPr/>
        </p:nvSpPr>
        <p:spPr>
          <a:xfrm>
            <a:off x="10317175" y="292608"/>
            <a:ext cx="132588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</a:t>
            </a:r>
            <a:endParaRPr lang="en-US" sz="1800" dirty="0"/>
          </a:p>
        </p:txBody>
      </p:sp>
      <p:sp>
        <p:nvSpPr>
          <p:cNvPr id="7" name="ans-panel"/>
          <p:cNvSpPr/>
          <p:nvPr/>
        </p:nvSpPr>
        <p:spPr>
          <a:xfrm>
            <a:off x="548640" y="1389888"/>
            <a:ext cx="6400800" cy="4754880"/>
          </a:xfrm>
          <a:prstGeom prst="roundRect">
            <a:avLst>
              <a:gd name="adj" fmla="val 962"/>
            </a:avLst>
          </a:prstGeom>
          <a:solidFill>
            <a:srgbClr val="F9F4EC"/>
          </a:solidFill>
          <a:ln w="19050">
            <a:solidFill>
              <a:srgbClr val="B8862B"/>
            </a:solidFill>
            <a:prstDash val="solid"/>
          </a:ln>
        </p:spPr>
      </p:sp>
      <p:sp>
        <p:nvSpPr>
          <p:cNvPr id="8" name="ans-tab"/>
          <p:cNvSpPr/>
          <p:nvPr/>
        </p:nvSpPr>
        <p:spPr>
          <a:xfrm>
            <a:off x="731520" y="1554480"/>
            <a:ext cx="1463040" cy="457200"/>
          </a:xfrm>
          <a:prstGeom prst="roundRect">
            <a:avLst>
              <a:gd name="adj" fmla="val 40000"/>
            </a:avLst>
          </a:prstGeom>
          <a:solidFill>
            <a:srgbClr val="9C7225"/>
          </a:solidFill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800" dirty="0"/>
          </a:p>
        </p:txBody>
      </p:sp>
      <p:sp>
        <p:nvSpPr>
          <p:cNvPr id="9" name="ans"/>
          <p:cNvSpPr txBox="1"/>
          <p:nvPr/>
        </p:nvSpPr>
        <p:spPr>
          <a:xfrm>
            <a:off x="777240" y="2167128"/>
            <a:ext cx="5943600" cy="384048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spcAft>
                <a:spcPts val="1400"/>
              </a:spcAft>
              <a:buNone/>
            </a:pPr>
            <a:r>
              <a:rPr lang="en-US" sz="1800" dirty="0">
                <a:solidFill>
                  <a:srgbClr val="4A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out 5 − (−9).</a:t>
            </a:r>
            <a:endParaRPr lang="en-US" sz="1800" dirty="0"/>
          </a:p>
          <a:p>
            <a:pPr algn="l" indent="0" marL="0">
              <a:buNone/>
            </a:pPr>
            <a:r>
              <a:rPr lang="en-US" sz="3200" b="1" dirty="0">
                <a:solidFill>
                  <a:srgbClr val="1E22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   14</a:t>
            </a:r>
            <a:endParaRPr lang="en-US" sz="1800" dirty="0"/>
          </a:p>
        </p:txBody>
      </p:sp>
      <p:sp>
        <p:nvSpPr>
          <p:cNvPr id="10" name="why-panel"/>
          <p:cNvSpPr/>
          <p:nvPr/>
        </p:nvSpPr>
        <p:spPr>
          <a:xfrm>
            <a:off x="7223760" y="1389888"/>
            <a:ext cx="4419295" cy="4754880"/>
          </a:xfrm>
          <a:prstGeom prst="roundRect">
            <a:avLst>
              <a:gd name="adj" fmla="val 1035"/>
            </a:avLst>
          </a:prstGeom>
          <a:solidFill>
            <a:srgbClr val="F0F2F7"/>
          </a:solidFill>
          <a:ln/>
        </p:spPr>
      </p:sp>
      <p:sp>
        <p:nvSpPr>
          <p:cNvPr id="11" name="why-hex"/>
          <p:cNvSpPr/>
          <p:nvPr/>
        </p:nvSpPr>
        <p:spPr>
          <a:xfrm>
            <a:off x="7406640" y="1572768"/>
            <a:ext cx="685800" cy="593903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12" name="why-hex-label"/>
          <p:cNvSpPr txBox="1"/>
          <p:nvPr/>
        </p:nvSpPr>
        <p:spPr>
          <a:xfrm>
            <a:off x="7406640" y="1572768"/>
            <a:ext cx="685800" cy="5939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</a:t>
            </a:r>
            <a:endParaRPr lang="en-US" sz="1800" dirty="0"/>
          </a:p>
        </p:txBody>
      </p:sp>
      <p:sp>
        <p:nvSpPr>
          <p:cNvPr id="13" name="why"/>
          <p:cNvSpPr txBox="1"/>
          <p:nvPr/>
        </p:nvSpPr>
        <p:spPr>
          <a:xfrm>
            <a:off x="7406640" y="2304288"/>
            <a:ext cx="4053535" cy="370332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Subtracting a negative is the same as adding: 5 − (−9) = 5 + 9 = 14.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8520" y="644652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29437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548640" y="292608"/>
            <a:ext cx="905256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Answers: A negative minus a positive</a:t>
            </a:r>
            <a:endParaRPr lang="en-US" sz="3200" dirty="0"/>
          </a:p>
        </p:txBody>
      </p:sp>
      <p:sp>
        <p:nvSpPr>
          <p:cNvPr id="4" name="chip-hex"/>
          <p:cNvSpPr/>
          <p:nvPr/>
        </p:nvSpPr>
        <p:spPr>
          <a:xfrm>
            <a:off x="9677095" y="531760"/>
            <a:ext cx="566928" cy="490960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5" name="chip-hex-label"/>
          <p:cNvSpPr txBox="1"/>
          <p:nvPr/>
        </p:nvSpPr>
        <p:spPr>
          <a:xfrm>
            <a:off x="9677095" y="531760"/>
            <a:ext cx="566928" cy="490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6" name="chip-label"/>
          <p:cNvSpPr txBox="1"/>
          <p:nvPr/>
        </p:nvSpPr>
        <p:spPr>
          <a:xfrm>
            <a:off x="10317175" y="292608"/>
            <a:ext cx="132588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</a:t>
            </a:r>
            <a:endParaRPr lang="en-US" sz="1800" dirty="0"/>
          </a:p>
        </p:txBody>
      </p:sp>
      <p:sp>
        <p:nvSpPr>
          <p:cNvPr id="7" name="ans-panel"/>
          <p:cNvSpPr/>
          <p:nvPr/>
        </p:nvSpPr>
        <p:spPr>
          <a:xfrm>
            <a:off x="548640" y="1389888"/>
            <a:ext cx="6400800" cy="4754880"/>
          </a:xfrm>
          <a:prstGeom prst="roundRect">
            <a:avLst>
              <a:gd name="adj" fmla="val 962"/>
            </a:avLst>
          </a:prstGeom>
          <a:solidFill>
            <a:srgbClr val="F9F4EC"/>
          </a:solidFill>
          <a:ln w="19050">
            <a:solidFill>
              <a:srgbClr val="B8862B"/>
            </a:solidFill>
            <a:prstDash val="solid"/>
          </a:ln>
        </p:spPr>
      </p:sp>
      <p:sp>
        <p:nvSpPr>
          <p:cNvPr id="8" name="ans-tab"/>
          <p:cNvSpPr/>
          <p:nvPr/>
        </p:nvSpPr>
        <p:spPr>
          <a:xfrm>
            <a:off x="731520" y="1554480"/>
            <a:ext cx="1463040" cy="457200"/>
          </a:xfrm>
          <a:prstGeom prst="roundRect">
            <a:avLst>
              <a:gd name="adj" fmla="val 40000"/>
            </a:avLst>
          </a:prstGeom>
          <a:solidFill>
            <a:srgbClr val="9C7225"/>
          </a:solidFill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800" dirty="0"/>
          </a:p>
        </p:txBody>
      </p:sp>
      <p:sp>
        <p:nvSpPr>
          <p:cNvPr id="9" name="ans"/>
          <p:cNvSpPr txBox="1"/>
          <p:nvPr/>
        </p:nvSpPr>
        <p:spPr>
          <a:xfrm>
            <a:off x="777240" y="2167128"/>
            <a:ext cx="5943600" cy="384048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spcAft>
                <a:spcPts val="1400"/>
              </a:spcAft>
              <a:buNone/>
            </a:pPr>
            <a:r>
              <a:rPr lang="en-US" sz="1800" dirty="0">
                <a:solidFill>
                  <a:srgbClr val="4A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out −12 − 9.</a:t>
            </a:r>
            <a:endParaRPr lang="en-US" sz="18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1E22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−21</a:t>
            </a:r>
            <a:endParaRPr lang="en-US" sz="1800" dirty="0"/>
          </a:p>
        </p:txBody>
      </p:sp>
      <p:sp>
        <p:nvSpPr>
          <p:cNvPr id="10" name="why-panel"/>
          <p:cNvSpPr/>
          <p:nvPr/>
        </p:nvSpPr>
        <p:spPr>
          <a:xfrm>
            <a:off x="7223760" y="1389888"/>
            <a:ext cx="4419295" cy="4754880"/>
          </a:xfrm>
          <a:prstGeom prst="roundRect">
            <a:avLst>
              <a:gd name="adj" fmla="val 1035"/>
            </a:avLst>
          </a:prstGeom>
          <a:solidFill>
            <a:srgbClr val="F0F2F7"/>
          </a:solidFill>
          <a:ln/>
        </p:spPr>
      </p:sp>
      <p:sp>
        <p:nvSpPr>
          <p:cNvPr id="11" name="why-hex"/>
          <p:cNvSpPr/>
          <p:nvPr/>
        </p:nvSpPr>
        <p:spPr>
          <a:xfrm>
            <a:off x="7406640" y="1572768"/>
            <a:ext cx="685800" cy="593903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12" name="why-hex-label"/>
          <p:cNvSpPr txBox="1"/>
          <p:nvPr/>
        </p:nvSpPr>
        <p:spPr>
          <a:xfrm>
            <a:off x="7406640" y="1572768"/>
            <a:ext cx="685800" cy="5939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</a:t>
            </a:r>
            <a:endParaRPr lang="en-US" sz="1800" dirty="0"/>
          </a:p>
        </p:txBody>
      </p:sp>
      <p:sp>
        <p:nvSpPr>
          <p:cNvPr id="13" name="why"/>
          <p:cNvSpPr txBox="1"/>
          <p:nvPr/>
        </p:nvSpPr>
        <p:spPr>
          <a:xfrm>
            <a:off x="7406640" y="2304288"/>
            <a:ext cx="4053535" cy="370332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start at −12 and move 9 more to the left: −12 − 9 = −21.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8520" y="644652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29437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548640" y="292608"/>
            <a:ext cx="905256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Answers: Exit ticket</a:t>
            </a:r>
            <a:endParaRPr lang="en-US" sz="3200" dirty="0"/>
          </a:p>
        </p:txBody>
      </p:sp>
      <p:sp>
        <p:nvSpPr>
          <p:cNvPr id="4" name="chip-hex"/>
          <p:cNvSpPr/>
          <p:nvPr/>
        </p:nvSpPr>
        <p:spPr>
          <a:xfrm>
            <a:off x="9677095" y="531760"/>
            <a:ext cx="566928" cy="490960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5" name="chip-hex-label"/>
          <p:cNvSpPr txBox="1"/>
          <p:nvPr/>
        </p:nvSpPr>
        <p:spPr>
          <a:xfrm>
            <a:off x="9677095" y="531760"/>
            <a:ext cx="566928" cy="490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6" name="chip-label"/>
          <p:cNvSpPr txBox="1"/>
          <p:nvPr/>
        </p:nvSpPr>
        <p:spPr>
          <a:xfrm>
            <a:off x="10317175" y="292608"/>
            <a:ext cx="132588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</a:t>
            </a:r>
            <a:endParaRPr lang="en-US" sz="1800" dirty="0"/>
          </a:p>
        </p:txBody>
      </p:sp>
      <p:sp>
        <p:nvSpPr>
          <p:cNvPr id="7" name="ans-panel"/>
          <p:cNvSpPr/>
          <p:nvPr/>
        </p:nvSpPr>
        <p:spPr>
          <a:xfrm>
            <a:off x="548640" y="1389888"/>
            <a:ext cx="6400800" cy="4754880"/>
          </a:xfrm>
          <a:prstGeom prst="roundRect">
            <a:avLst>
              <a:gd name="adj" fmla="val 962"/>
            </a:avLst>
          </a:prstGeom>
          <a:solidFill>
            <a:srgbClr val="F9F4EC"/>
          </a:solidFill>
          <a:ln w="19050">
            <a:solidFill>
              <a:srgbClr val="B8862B"/>
            </a:solidFill>
            <a:prstDash val="solid"/>
          </a:ln>
        </p:spPr>
      </p:sp>
      <p:sp>
        <p:nvSpPr>
          <p:cNvPr id="8" name="ans-tab"/>
          <p:cNvSpPr/>
          <p:nvPr/>
        </p:nvSpPr>
        <p:spPr>
          <a:xfrm>
            <a:off x="731520" y="1554480"/>
            <a:ext cx="1463040" cy="457200"/>
          </a:xfrm>
          <a:prstGeom prst="roundRect">
            <a:avLst>
              <a:gd name="adj" fmla="val 40000"/>
            </a:avLst>
          </a:prstGeom>
          <a:solidFill>
            <a:srgbClr val="9C7225"/>
          </a:solidFill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800" dirty="0"/>
          </a:p>
        </p:txBody>
      </p:sp>
      <p:sp>
        <p:nvSpPr>
          <p:cNvPr id="9" name="ans"/>
          <p:cNvSpPr txBox="1"/>
          <p:nvPr/>
        </p:nvSpPr>
        <p:spPr>
          <a:xfrm>
            <a:off x="777240" y="2167128"/>
            <a:ext cx="5943600" cy="384048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15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</a:t>
            </a:r>
            <a:pPr algn="l" indent="0" marL="0">
              <a:spcAft>
                <a:spcPts val="1000"/>
              </a:spcAft>
              <a:buNone/>
            </a:pPr>
            <a:r>
              <a:rPr lang="en-US" sz="24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−3 − 6  (B)</a:t>
            </a:r>
            <a:endParaRPr lang="en-US" sz="24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15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</a:t>
            </a:r>
            <a:pPr algn="l" indent="0" marL="0">
              <a:spcAft>
                <a:spcPts val="1000"/>
              </a:spcAft>
              <a:buNone/>
            </a:pPr>
            <a:r>
              <a:rPr lang="en-US" sz="24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−7 − (−2)  (C)</a:t>
            </a:r>
            <a:endParaRPr lang="en-US" sz="24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15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</a:t>
            </a:r>
            <a:pPr algn="l" indent="0" marL="0">
              <a:spcAft>
                <a:spcPts val="1000"/>
              </a:spcAft>
              <a:buNone/>
            </a:pPr>
            <a:r>
              <a:rPr lang="en-US" sz="24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+ (−5)  (D)</a:t>
            </a:r>
            <a:endParaRPr lang="en-US" sz="24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15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</a:t>
            </a:r>
            <a:pPr algn="l" indent="0" marL="0">
              <a:spcAft>
                <a:spcPts val="1000"/>
              </a:spcAft>
              <a:buNone/>
            </a:pPr>
            <a:r>
              <a:rPr lang="en-US" sz="24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−1 − (−8)  (A)</a:t>
            </a:r>
            <a:endParaRPr lang="en-US" sz="2400" dirty="0"/>
          </a:p>
        </p:txBody>
      </p:sp>
      <p:sp>
        <p:nvSpPr>
          <p:cNvPr id="10" name="why-panel"/>
          <p:cNvSpPr/>
          <p:nvPr/>
        </p:nvSpPr>
        <p:spPr>
          <a:xfrm>
            <a:off x="7223760" y="1389888"/>
            <a:ext cx="4419295" cy="4754880"/>
          </a:xfrm>
          <a:prstGeom prst="roundRect">
            <a:avLst>
              <a:gd name="adj" fmla="val 1035"/>
            </a:avLst>
          </a:prstGeom>
          <a:solidFill>
            <a:srgbClr val="F0F2F7"/>
          </a:solidFill>
          <a:ln/>
        </p:spPr>
      </p:sp>
      <p:sp>
        <p:nvSpPr>
          <p:cNvPr id="11" name="why-hex"/>
          <p:cNvSpPr/>
          <p:nvPr/>
        </p:nvSpPr>
        <p:spPr>
          <a:xfrm>
            <a:off x="7406640" y="1572768"/>
            <a:ext cx="685800" cy="593903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12" name="why-hex-label"/>
          <p:cNvSpPr txBox="1"/>
          <p:nvPr/>
        </p:nvSpPr>
        <p:spPr>
          <a:xfrm>
            <a:off x="7406640" y="1572768"/>
            <a:ext cx="685800" cy="5939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</a:t>
            </a:r>
            <a:endParaRPr lang="en-US" sz="1800" dirty="0"/>
          </a:p>
        </p:txBody>
      </p:sp>
      <p:sp>
        <p:nvSpPr>
          <p:cNvPr id="13" name="why"/>
          <p:cNvSpPr txBox="1"/>
          <p:nvPr/>
        </p:nvSpPr>
        <p:spPr>
          <a:xfrm>
            <a:off x="7406640" y="2304288"/>
            <a:ext cx="4053535" cy="370332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answers are −9, −5, −1 and 7, so that is the order.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8520" y="644652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29437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d Astra maths">
  <a:themeElements>
    <a:clrScheme name="Ad Astra maths">
      <a:dk1>
        <a:srgbClr val="1E2229"/>
      </a:dk1>
      <a:lt1>
        <a:srgbClr val="FFFFFF"/>
      </a:lt1>
      <a:dk2>
        <a:srgbClr val="253B70"/>
      </a:dk2>
      <a:lt2>
        <a:srgbClr val="F0F2F7"/>
      </a:lt2>
      <a:accent1>
        <a:srgbClr val="2E4A8C"/>
      </a:accent1>
      <a:accent2>
        <a:srgbClr val="B8862B"/>
      </a:accent2>
      <a:accent3>
        <a:srgbClr val="8292BA"/>
      </a:accent3>
      <a:accent4>
        <a:srgbClr val="815E1E"/>
      </a:accent4>
      <a:accent5>
        <a:srgbClr val="4A505C"/>
      </a:accent5>
      <a:accent6>
        <a:srgbClr val="DEC69B"/>
      </a:accent6>
      <a:hlink>
        <a:srgbClr val="2E4A8C"/>
      </a:hlink>
      <a:folHlink>
        <a:srgbClr val="203462"/>
      </a:folHlink>
    </a:clrScheme>
    <a:fontScheme name="Ad Astra maths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Edu.Ai SV Digital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Directed Number · Chapter 4: Subtracting directed numbers</dc:title>
  <dc:subject>Mathematics · Year 7</dc:subject>
  <dc:creator>Dr Vitor Merissi de Carvalho</dc:creator>
  <cp:lastModifiedBy>Dr Vitor Merissi de Carvalho</cp:lastModifiedBy>
  <cp:revision>1</cp:revision>
  <dcterms:created xsi:type="dcterms:W3CDTF">2026-10-19T06:08:10Z</dcterms:created>
  <dcterms:modified xsi:type="dcterms:W3CDTF">2026-10-19T06:08:10Z</dcterms:modified>
</cp:coreProperties>
</file>