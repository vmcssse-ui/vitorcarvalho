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6f66af4-fb2a-3c0d-d9e8-07536fde6396}">
          <p14:sldIdLst>
            <p14:sldId id="256"/>
          </p14:sldIdLst>
        </p14:section>
        <p14:section name="Gate" id="{2ceaaf33-a43f-178e-d96e-2543238f3caf}">
          <p14:sldIdLst>
            <p14:sldId id="257"/>
            <p14:sldId id="258"/>
          </p14:sldIdLst>
        </p14:section>
        <p14:section name="Pre-teach" id="{fe60ec24-47f8-5320-4990-4e2d3d355b7a}">
          <p14:sldIdLst>
            <p14:sldId id="259"/>
          </p14:sldIdLst>
        </p14:section>
        <p14:section name="Read-along" id="{b2f1c6e5-798a-4c6e-940a-b8eba80d4618}">
          <p14:sldIdLst>
            <p14:sldId id="260"/>
            <p14:sldId id="261"/>
          </p14:sldIdLst>
        </p14:section>
        <p14:section name="Teach" id="{45164dfc-a666-04ff-b1db-593b14f54226}">
          <p14:sldIdLst>
            <p14:sldId id="262"/>
            <p14:sldId id="263"/>
            <p14:sldId id="264"/>
          </p14:sldIdLst>
        </p14:section>
        <p14:section name="Routes" id="{200b5da0-93e3-8186-12ba-561287aa0378}">
          <p14:sldIdLst>
            <p14:sldId id="265"/>
            <p14:sldId id="266"/>
            <p14:sldId id="267"/>
          </p14:sldIdLst>
        </p14:section>
        <p14:section name="Close" id="{fb067dab-c3f8-648c-56a4-ce7fb456e647}">
          <p14:sldIdLst>
            <p14:sldId id="268"/>
          </p14:sldIdLst>
        </p14:section>
        <p14:section name="Answers" id="{38c05601-8b00-85f2-f8ae-955aeaaaf262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5 of 6: Multiplying and dividing. Learn the sign rules for multiplying and dividing, and see where they come from.
This deck covers the department's lesson: 7 (Multiply and divide directed numbers: What are the sign rules for multiplying and dividing directed numbers?).
Read the big question aloud: "What happens to numbers below zero, and how do we calculate with them?" We come back to it at the exit ticket.
Before this lesson the pre-teach group has heard the read-along and met the key words; today they lead the reading. Lesson shape: do now (recall before any help), key words, read-along, teach, then the same task three ways in (Support, Core, Stretch), exit ticket, answers. Every pupil works towards the same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retrieval. Silent, no notes, no help: recall comes before any support. Give about four minutes.
1. Work out 4 × (−3).  →  −12
2. Work out (−5) × (−6).  →  A   30
3. Work out 24 ÷ (−8).  →  D   −3
Circulate: who gets 3/3 (Stretch route), 2/3 (Core), 0–1 (Support)? Use this to route pupils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pupils mark their own in a different colour, then hands up for 3/3, 2/3, 1/3.
1. −12. 4 × 3 = 12, and different signs give a negative answer.
2. A   30. 5 × 6 = 30, and two negatives multiplied give a positive.
3. D   −3. 24 ÷ 8 = 3, and different signs give a negative answer.
Say the route each score points to: 3/3 Stretch, 2/3 Core, 0–1 Support. Pupils may choose to move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product: the answer when you multiply. Example: "The product of −3 and 4 is −12."
• quotient: the answer when you divide. Example: "The quotient of −20 and 5 is −4."
• fact family: multiplication and division facts that use the same three numbers. Example: "4 × 5 = 20 and 20 ÷ 5 = 4 are in the same fact family."
• sign: the + or − that shows if a number is positive or negative. Example: "The sign of −7 is negative."
• pattern: something that changes in the same way each time. Example: "The pattern goes up by 3 each time."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1–7 of 13:
1. You know that 3 × 4 is 12.
2. What is 3 lots of −4?
3. It is −4, −4 and −4.
4. Together that makes −12.
5. A positive times a negative gives a negative.
6. Now look at a pattern.
7. −3 × 2 is −6.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8–13 of 13:
8. −3 × 1 is −3.
9. −3 × 0 is 0.
10. Each answer goes up by 3.
11. So −3 × −1 must be 3.
12. A negative times a negative gives a positive.
13. Dividing follows the same rules.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Multiplying a positive and a negative. Say it in your own words, then check understanding with a quick question: ask a pupil from the pre-teach group first, since they met these words and ideas before the lesson. Pupils try to recall before you re-explain.
3 × (−4) means three lots of −4. That is (−4) + (−4) + (−4) = −12. A positive number times a negative number gives a negative answer.
The order does not matter: (−4) × 3 = −12 as well. You can picture it as an array of 3 rows of −4.
First multiply the digits as normal. Then decide the sign.
Worked example — model it step by step, thinking aloud: Work out 7 × (−6). (1) Multiply the digits: 7 × 6 = 42. (2) One number is positive and one is negative. (3) So the answer is negative: 7 × (−6) = −42. Answer: −42.
Tip: Multiply the digits first. Sort out the sign last.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Multiplying two negatives. Say it in your own words, then check understanding with a quick question: ask a pupil from the pre-teach group first, since they met these words and ideas before the lesson. Pupils try to recall before you re-explain.
Look at this pattern: (−3) × 2 = −6, (−3) × 1 = −3, (−3) × 0 = 0. Each time we multiply by one less, the answer goes up by 3.
Carry the pattern on: (−3) × (−1) = 3, and (−3) × (−2) = 6. A negative times a negative gives a positive.
So 'two negatives make a positive' is true here, but only when you multiply or divide.
Worked example — model it step by step, thinking aloud: Work out (−8) × (−5). (1) 8 × 5 = 40. (2) Both numbers are negative. (3) Same signs give a positive: (−8) × (−5) = 40. Answer: 40.
Tip: Same signs: positive. Different signs: negative.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Dividing directed numbers. Say it in your own words, then check understanding with a quick question: ask a pupil from the pre-teach group first, since they met these words and ideas before the lesson. Pupils try to recall before you re-explain.
Division is the inverse of multiplication, so it uses the same sign rules. Use a fact family: 4 × (−5) = −20, so −20 ÷ (−5) = 4 and −20 ÷ 4 = −5.
Same signs give a positive answer: (−36) ÷ (−9) = 4. Different signs give a negative answer: 36 ÷ (−9) = −4.
When there are three numbers, work from left to right. For (−2) × (−3) × (−4), first (−2) × (−3) = 6, then 6 × (−4) = −24.
Worked example — model it step by step, thinking aloud: Work out (−48) ÷ 6. (1) 48 ÷ 6 = 8. (2) One number is negative and one is positive: different signs. (3) So (−48) ÷ 6 = −8. Answer: −8.
Tip: When you multiply, an even number of negatives gives a positive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Multiply directed numbers.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Work out (−9) × (−7).
Support — work through the steps with the group: (1) Multiply the digits as normal. (2) Look at the signs of the two numbers. (3) Same signs: positive. Different signs: negative.
Parallel worked example for Support (model it, do not give the task answer): Work out (−6) × (−4). 6 × 4 = 24.; Both numbers are negative: same signs.; (−6) × (−4) = 24.. Answer: 24.
Core — reveal the hint only on request: Both numbers are negative. What does that tell you about the sign?
Stretch — no help; when finished: Amir lists 1 × (−12), 2 × (−6) and 3 × (−4) as ways to make −12. Find at least three more pairs of integers that multiply to give −12, and explain the sign rule each one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Divide directed numbers.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Match each calculation to its answer.
Support — work through the steps with the group: (1) Work out the digits as normal. (2) Look at the signs of the two numbers. (3) Same signs: positive. Different signs: negative.
Parallel worked example for Support (model it, do not give the task answer): Work out (−45) ÷ (−5). 45 ÷ 5 = 9.; Both numbers are negative: same signs.; (−45) ÷ (−5) = 9.. Answer: 9.
Core — reveal the hint only on request: Two of the answers are positive. Look for the calculations where the signs are the same.
Stretch — no help; when finished: Write the full fact family for (−56) ÷ (−7). Explain how each fact in it follows the sign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Divide directed numbers.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Match each calculation to its answer.
Support — work through the steps with the group: (1) Work out the digits as normal. (2) Look at the signs of the two numbers. (3) Same signs: positive. Different signs: negative.
Parallel worked example for Support (model it, do not give the task answer): Work out (−45) ÷ (−5). 45 ÷ 5 = 9.; Both numbers are negative: same signs.; (−45) ÷ (−5) = 9.. Answer: 9.
Core — reveal the hint only on request: Two of the answers are positive. Look for the calculations where the signs are the same.
Stretch — no help; when finished: Write the full fact family for (−56) ÷ (−7). Explain how each fact in it follows the sign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— individual, silent, on a slip or mini-whiteboard. Recall before help: no notes, no lanes, no hints. Collect before pupils leave.
Question: Work out (−2) × 5 × (−3).
Answer: 30. (−2) × 5 = −10, then −10 × (−3) = 30.
Source of this question: module 3 task ("Three numbers") from the manifest.
Sort the slips: correct → ready to move on; incorrect → start next lesson in the pre-teach group, with the read-along and the Support lane. Same destination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1: Multiply directed numbers. Reveal the answer; pupils mark their own work in a different colour, then read the "why" together. Same destination for every lane, so one answer serves the whole class.
Answer: 63
Why: 9 × 7 = 63, and two negatives give a positive, so (−9) × (−7) = 63.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Divide directed numbers. Reveal the answer; pupils mark their own work in a different colour, then read the "why" together. Same destination for every lane, so one answer serves the whole class.
Answer: (−56) ÷ (−7)  →  B  8; 56 ÷ (−7)  →  D  −8; (−6) × 4  →  C  −24; (−6) × (−4)  →  A  24
Why: 56 ÷ 7 = 8 and 6 × 4 = 24. Same signs give a positive answer, and different signs give a negative answer.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exit ticket: Exit ticket. Reveal the answer; pupils mark their own work in a different colour, then read the "why" together. Same destination for every lane, so one answer serves the whole class.
Answer: 30
Why: (−2) × 5 = −10, then −10 × (−3) = 30.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Directed Number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CONTEN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Directed Number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nd-hue"/>
          <p:cNvSpPr/>
          <p:nvPr/>
        </p:nvSpPr>
        <p:spPr>
          <a:xfrm>
            <a:off x="0" y="5989320"/>
            <a:ext cx="12191695" cy="164592"/>
          </a:xfrm>
          <a:prstGeom prst="rect">
            <a:avLst/>
          </a:prstGeom>
          <a:solidFill>
            <a:srgbClr val="2E4A8C"/>
          </a:solidFill>
          <a:ln/>
        </p:spPr>
      </p:sp>
      <p:sp>
        <p:nvSpPr>
          <p:cNvPr id="4" name="band-gold"/>
          <p:cNvSpPr/>
          <p:nvPr/>
        </p:nvSpPr>
        <p:spPr>
          <a:xfrm>
            <a:off x="0" y="6208776"/>
            <a:ext cx="12191695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5" name="hex-deco1"/>
          <p:cNvSpPr/>
          <p:nvPr/>
        </p:nvSpPr>
        <p:spPr>
          <a:xfrm>
            <a:off x="1373886" y="276195"/>
            <a:ext cx="525780" cy="455325"/>
          </a:xfrm>
          <a:prstGeom prst="hexagon">
            <a:avLst/>
          </a:prstGeom>
          <a:solidFill>
            <a:srgbClr val="DBE0EB"/>
          </a:solidFill>
          <a:ln/>
        </p:spPr>
      </p:sp>
      <p:sp>
        <p:nvSpPr>
          <p:cNvPr id="6" name="hex-deco2"/>
          <p:cNvSpPr/>
          <p:nvPr/>
        </p:nvSpPr>
        <p:spPr>
          <a:xfrm>
            <a:off x="1373886" y="1168557"/>
            <a:ext cx="525780" cy="455325"/>
          </a:xfrm>
          <a:prstGeom prst="hexagon">
            <a:avLst/>
          </a:prstGeom>
          <a:ln w="19050">
            <a:solidFill>
              <a:srgbClr val="B8862B"/>
            </a:solidFill>
            <a:prstDash val="solid"/>
          </a:ln>
        </p:spPr>
      </p:sp>
      <p:sp>
        <p:nvSpPr>
          <p:cNvPr id="7" name="hex-chapter"/>
          <p:cNvSpPr/>
          <p:nvPr/>
        </p:nvSpPr>
        <p:spPr>
          <a:xfrm>
            <a:off x="548640" y="457200"/>
            <a:ext cx="1051560" cy="910651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8" name="hex-chapter-label"/>
          <p:cNvSpPr txBox="1"/>
          <p:nvPr/>
        </p:nvSpPr>
        <p:spPr>
          <a:xfrm>
            <a:off x="548640" y="457200"/>
            <a:ext cx="1051560" cy="910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kicker"/>
          <p:cNvSpPr txBox="1"/>
          <p:nvPr/>
        </p:nvSpPr>
        <p:spPr>
          <a:xfrm>
            <a:off x="2331720" y="256032"/>
            <a:ext cx="3504895" cy="12984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</a:t>
            </a:r>
            <a:endParaRPr lang="en-US" sz="18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936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5/6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Number</a:t>
            </a:r>
            <a:endParaRPr lang="en-US" sz="1800" dirty="0"/>
          </a:p>
        </p:txBody>
      </p:sp>
      <p:sp>
        <p:nvSpPr>
          <p:cNvPr id="10" name="deck-title"/>
          <p:cNvSpPr txBox="1"/>
          <p:nvPr/>
        </p:nvSpPr>
        <p:spPr>
          <a:xfrm>
            <a:off x="548640" y="2393188"/>
            <a:ext cx="5287975" cy="1447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and dividing</a:t>
            </a:r>
            <a:endParaRPr lang="en-US" sz="4000" dirty="0"/>
          </a:p>
        </p:txBody>
      </p:sp>
      <p:sp>
        <p:nvSpPr>
          <p:cNvPr id="11" name="lessons-card"/>
          <p:cNvSpPr/>
          <p:nvPr/>
        </p:nvSpPr>
        <p:spPr>
          <a:xfrm>
            <a:off x="548640" y="4069588"/>
            <a:ext cx="5287975" cy="980440"/>
          </a:xfrm>
          <a:prstGeom prst="roundRect">
            <a:avLst>
              <a:gd name="adj" fmla="val 7461"/>
            </a:avLst>
          </a:prstGeom>
          <a:solidFill>
            <a:srgbClr val="F0F2F7"/>
          </a:solidFill>
          <a:ln/>
        </p:spPr>
      </p:sp>
      <p:sp>
        <p:nvSpPr>
          <p:cNvPr id="12" name="lessons"/>
          <p:cNvSpPr txBox="1"/>
          <p:nvPr/>
        </p:nvSpPr>
        <p:spPr>
          <a:xfrm>
            <a:off x="685800" y="4161028"/>
            <a:ext cx="5013655" cy="797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covered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and divide directed numbers</a:t>
            </a:r>
            <a:endParaRPr lang="en-US" sz="2000" dirty="0"/>
          </a:p>
        </p:txBody>
      </p:sp>
      <p:sp>
        <p:nvSpPr>
          <p:cNvPr id="13" name="plate-frame"/>
          <p:cNvSpPr/>
          <p:nvPr/>
        </p:nvSpPr>
        <p:spPr>
          <a:xfrm>
            <a:off x="6248095" y="411480"/>
            <a:ext cx="5394960" cy="3130677"/>
          </a:xfrm>
          <a:prstGeom prst="rect">
            <a:avLst/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plate" descr="Ad Astra engraved plate for Mathematics, Year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823" y="521208"/>
            <a:ext cx="5175504" cy="2911221"/>
          </a:xfrm>
          <a:prstGeom prst="rect">
            <a:avLst/>
          </a:prstGeom>
        </p:spPr>
      </p:pic>
      <p:sp>
        <p:nvSpPr>
          <p:cNvPr id="15" name="plate-inner"/>
          <p:cNvSpPr/>
          <p:nvPr/>
        </p:nvSpPr>
        <p:spPr>
          <a:xfrm>
            <a:off x="6357823" y="521208"/>
            <a:ext cx="5175504" cy="2911221"/>
          </a:xfrm>
          <a:prstGeom prst="rect">
            <a:avLst/>
          </a:prstGeom>
          <a:ln w="9525">
            <a:solidFill>
              <a:srgbClr val="B8862B"/>
            </a:solidFill>
            <a:prstDash val="solid"/>
          </a:ln>
        </p:spPr>
      </p:sp>
      <p:sp>
        <p:nvSpPr>
          <p:cNvPr id="16" name="stud0"/>
          <p:cNvSpPr/>
          <p:nvPr/>
        </p:nvSpPr>
        <p:spPr>
          <a:xfrm>
            <a:off x="613836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tud1"/>
          <p:cNvSpPr/>
          <p:nvPr/>
        </p:nvSpPr>
        <p:spPr>
          <a:xfrm>
            <a:off x="1153332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ud2"/>
          <p:cNvSpPr/>
          <p:nvPr/>
        </p:nvSpPr>
        <p:spPr>
          <a:xfrm>
            <a:off x="613836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ud3"/>
          <p:cNvSpPr/>
          <p:nvPr/>
        </p:nvSpPr>
        <p:spPr>
          <a:xfrm>
            <a:off x="1153332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q-card"/>
          <p:cNvSpPr/>
          <p:nvPr/>
        </p:nvSpPr>
        <p:spPr>
          <a:xfrm>
            <a:off x="6248095" y="3816477"/>
            <a:ext cx="5394960" cy="2053971"/>
          </a:xfrm>
          <a:prstGeom prst="roundRect">
            <a:avLst>
              <a:gd name="adj" fmla="val 3561"/>
            </a:avLst>
          </a:prstGeom>
          <a:solidFill>
            <a:srgbClr val="F0F2F7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21" name="bq-hex"/>
          <p:cNvSpPr/>
          <p:nvPr/>
        </p:nvSpPr>
        <p:spPr>
          <a:xfrm>
            <a:off x="6412687" y="3999357"/>
            <a:ext cx="621792" cy="53847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2" name="bq-hex-label"/>
          <p:cNvSpPr txBox="1"/>
          <p:nvPr/>
        </p:nvSpPr>
        <p:spPr>
          <a:xfrm>
            <a:off x="6412687" y="3999357"/>
            <a:ext cx="621792" cy="538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23" name="bq"/>
          <p:cNvSpPr txBox="1"/>
          <p:nvPr/>
        </p:nvSpPr>
        <p:spPr>
          <a:xfrm>
            <a:off x="7144207" y="3907917"/>
            <a:ext cx="4389120" cy="18710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800" dirty="0"/>
          </a:p>
          <a:p>
            <a:pPr algn="l" indent="0" marL="0">
              <a:buNone/>
            </a:pPr>
            <a:r>
              <a:rPr lang="en-US" sz="24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to numbers below zero, and how do we calculate with them?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now: three from memory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11" name="card-body"/>
          <p:cNvSpPr txBox="1"/>
          <p:nvPr/>
        </p:nvSpPr>
        <p:spPr>
          <a:xfrm>
            <a:off x="731520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4 × (−3).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12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3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4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6" name="card-body"/>
          <p:cNvSpPr txBox="1"/>
          <p:nvPr/>
        </p:nvSpPr>
        <p:spPr>
          <a:xfrm>
            <a:off x="4521098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(−5) × (−6).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</a:t>
            </a:r>
            <a:endParaRPr lang="en-US" sz="2400" dirty="0"/>
          </a:p>
        </p:txBody>
      </p:sp>
      <p:sp>
        <p:nvSpPr>
          <p:cNvPr id="17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8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9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21" name="card-body"/>
          <p:cNvSpPr txBox="1"/>
          <p:nvPr/>
        </p:nvSpPr>
        <p:spPr>
          <a:xfrm>
            <a:off x="8310677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24 ÷ (−8).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−16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answer-chip"/>
          <p:cNvSpPr/>
          <p:nvPr/>
        </p:nvSpPr>
        <p:spPr>
          <a:xfrm>
            <a:off x="731520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2" name="answer"/>
          <p:cNvSpPr txBox="1"/>
          <p:nvPr/>
        </p:nvSpPr>
        <p:spPr>
          <a:xfrm>
            <a:off x="822960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−12</a:t>
            </a:r>
            <a:endParaRPr lang="en-US" sz="2200" dirty="0"/>
          </a:p>
        </p:txBody>
      </p:sp>
      <p:sp>
        <p:nvSpPr>
          <p:cNvPr id="13" name="card-body"/>
          <p:cNvSpPr txBox="1"/>
          <p:nvPr/>
        </p:nvSpPr>
        <p:spPr>
          <a:xfrm>
            <a:off x="731520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4 × (−3).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3 = 12, and different signs give a negative answer.</a:t>
            </a:r>
            <a:endParaRPr lang="en-US" sz="2200" dirty="0"/>
          </a:p>
        </p:txBody>
      </p:sp>
      <p:sp>
        <p:nvSpPr>
          <p:cNvPr id="14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5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8" name="answer-chip"/>
          <p:cNvSpPr/>
          <p:nvPr/>
        </p:nvSpPr>
        <p:spPr>
          <a:xfrm>
            <a:off x="4521098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9" name="answer"/>
          <p:cNvSpPr txBox="1"/>
          <p:nvPr/>
        </p:nvSpPr>
        <p:spPr>
          <a:xfrm>
            <a:off x="4612538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30</a:t>
            </a:r>
            <a:endParaRPr lang="en-US" sz="2200" dirty="0"/>
          </a:p>
        </p:txBody>
      </p:sp>
      <p:sp>
        <p:nvSpPr>
          <p:cNvPr id="20" name="card-body"/>
          <p:cNvSpPr txBox="1"/>
          <p:nvPr/>
        </p:nvSpPr>
        <p:spPr>
          <a:xfrm>
            <a:off x="4521098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(−5) × (−6).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× 6 = 30, and two negatives multiplied give a positive.</a:t>
            </a:r>
            <a:endParaRPr lang="en-US" sz="2200" dirty="0"/>
          </a:p>
        </p:txBody>
      </p:sp>
      <p:sp>
        <p:nvSpPr>
          <p:cNvPr id="21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22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25" name="answer-chip"/>
          <p:cNvSpPr/>
          <p:nvPr/>
        </p:nvSpPr>
        <p:spPr>
          <a:xfrm>
            <a:off x="8310677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6" name="answer"/>
          <p:cNvSpPr txBox="1"/>
          <p:nvPr/>
        </p:nvSpPr>
        <p:spPr>
          <a:xfrm>
            <a:off x="8402117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−3</a:t>
            </a:r>
            <a:endParaRPr lang="en-US" sz="2200" dirty="0"/>
          </a:p>
        </p:txBody>
      </p:sp>
      <p:sp>
        <p:nvSpPr>
          <p:cNvPr id="27" name="card-body"/>
          <p:cNvSpPr txBox="1"/>
          <p:nvPr/>
        </p:nvSpPr>
        <p:spPr>
          <a:xfrm>
            <a:off x="8310677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24 ÷ (−8).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÷ 8 = 3, and different signs give a negative answer.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kw-head"/>
          <p:cNvSpPr/>
          <p:nvPr/>
        </p:nvSpPr>
        <p:spPr>
          <a:xfrm>
            <a:off x="548640" y="1389888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2E4A8C"/>
          </a:solidFill>
          <a:ln/>
        </p:spPr>
      </p:sp>
      <p:sp>
        <p:nvSpPr>
          <p:cNvPr id="8" name="kw-headtext"/>
          <p:cNvSpPr txBox="1"/>
          <p:nvPr/>
        </p:nvSpPr>
        <p:spPr>
          <a:xfrm>
            <a:off x="1143000" y="1389888"/>
            <a:ext cx="2331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800" dirty="0"/>
          </a:p>
        </p:txBody>
      </p:sp>
      <p:sp>
        <p:nvSpPr>
          <p:cNvPr id="9" name="kw-headtext"/>
          <p:cNvSpPr txBox="1"/>
          <p:nvPr/>
        </p:nvSpPr>
        <p:spPr>
          <a:xfrm>
            <a:off x="3657600" y="1389888"/>
            <a:ext cx="3474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800" dirty="0"/>
          </a:p>
        </p:txBody>
      </p:sp>
      <p:sp>
        <p:nvSpPr>
          <p:cNvPr id="10" name="kw-headtext"/>
          <p:cNvSpPr txBox="1"/>
          <p:nvPr/>
        </p:nvSpPr>
        <p:spPr>
          <a:xfrm>
            <a:off x="7315200" y="1389888"/>
            <a:ext cx="4236415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sentence</a:t>
            </a:r>
            <a:endParaRPr lang="en-US" sz="1800" dirty="0"/>
          </a:p>
        </p:txBody>
      </p:sp>
      <p:sp>
        <p:nvSpPr>
          <p:cNvPr id="11" name="kw-row"/>
          <p:cNvSpPr/>
          <p:nvPr/>
        </p:nvSpPr>
        <p:spPr>
          <a:xfrm>
            <a:off x="548640" y="1920240"/>
            <a:ext cx="11094415" cy="570484"/>
          </a:xfrm>
          <a:prstGeom prst="roundRect">
            <a:avLst>
              <a:gd name="adj" fmla="val 9617"/>
            </a:avLst>
          </a:prstGeom>
          <a:solidFill>
            <a:srgbClr val="F5F6F9"/>
          </a:solidFill>
          <a:ln/>
        </p:spPr>
      </p:sp>
      <p:sp>
        <p:nvSpPr>
          <p:cNvPr id="12" name="kw-hex"/>
          <p:cNvSpPr/>
          <p:nvPr/>
        </p:nvSpPr>
        <p:spPr>
          <a:xfrm>
            <a:off x="658368" y="2027311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3" name="kw-cell"/>
          <p:cNvSpPr txBox="1"/>
          <p:nvPr/>
        </p:nvSpPr>
        <p:spPr>
          <a:xfrm>
            <a:off x="1143000" y="1920240"/>
            <a:ext cx="2331720" cy="5704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2200" dirty="0"/>
          </a:p>
        </p:txBody>
      </p:sp>
      <p:sp>
        <p:nvSpPr>
          <p:cNvPr id="14" name="kw-cell"/>
          <p:cNvSpPr txBox="1"/>
          <p:nvPr/>
        </p:nvSpPr>
        <p:spPr>
          <a:xfrm>
            <a:off x="3657600" y="1920240"/>
            <a:ext cx="3474720" cy="5704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when you multiply</a:t>
            </a:r>
            <a:endParaRPr lang="en-US" sz="2000" dirty="0"/>
          </a:p>
        </p:txBody>
      </p:sp>
      <p:sp>
        <p:nvSpPr>
          <p:cNvPr id="15" name="kw-cell"/>
          <p:cNvSpPr txBox="1"/>
          <p:nvPr/>
        </p:nvSpPr>
        <p:spPr>
          <a:xfrm>
            <a:off x="7315200" y="1920240"/>
            <a:ext cx="4236415" cy="5704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of −3 and 4 is −12.</a:t>
            </a:r>
            <a:endParaRPr lang="en-US" sz="2000" dirty="0"/>
          </a:p>
        </p:txBody>
      </p:sp>
      <p:sp>
        <p:nvSpPr>
          <p:cNvPr id="16" name="kw-row"/>
          <p:cNvSpPr/>
          <p:nvPr/>
        </p:nvSpPr>
        <p:spPr>
          <a:xfrm>
            <a:off x="548640" y="2563876"/>
            <a:ext cx="11094415" cy="570484"/>
          </a:xfrm>
          <a:prstGeom prst="roundRect">
            <a:avLst>
              <a:gd name="adj" fmla="val 9617"/>
            </a:avLst>
          </a:prstGeom>
          <a:solidFill>
            <a:srgbClr val="F9F4EC"/>
          </a:solidFill>
          <a:ln/>
        </p:spPr>
      </p:sp>
      <p:sp>
        <p:nvSpPr>
          <p:cNvPr id="17" name="kw-hex"/>
          <p:cNvSpPr/>
          <p:nvPr/>
        </p:nvSpPr>
        <p:spPr>
          <a:xfrm>
            <a:off x="658368" y="2670947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8" name="kw-cell"/>
          <p:cNvSpPr txBox="1"/>
          <p:nvPr/>
        </p:nvSpPr>
        <p:spPr>
          <a:xfrm>
            <a:off x="1143000" y="2563876"/>
            <a:ext cx="2331720" cy="5704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quotient</a:t>
            </a:r>
            <a:endParaRPr lang="en-US" sz="2200" dirty="0"/>
          </a:p>
        </p:txBody>
      </p:sp>
      <p:sp>
        <p:nvSpPr>
          <p:cNvPr id="19" name="kw-cell"/>
          <p:cNvSpPr txBox="1"/>
          <p:nvPr/>
        </p:nvSpPr>
        <p:spPr>
          <a:xfrm>
            <a:off x="3657600" y="2563876"/>
            <a:ext cx="3474720" cy="5704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when you divide</a:t>
            </a:r>
            <a:endParaRPr lang="en-US" sz="2000" dirty="0"/>
          </a:p>
        </p:txBody>
      </p:sp>
      <p:sp>
        <p:nvSpPr>
          <p:cNvPr id="20" name="kw-cell"/>
          <p:cNvSpPr txBox="1"/>
          <p:nvPr/>
        </p:nvSpPr>
        <p:spPr>
          <a:xfrm>
            <a:off x="7315200" y="2563876"/>
            <a:ext cx="4236415" cy="5704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quotient of −20 and 5 is −4.</a:t>
            </a:r>
            <a:endParaRPr lang="en-US" sz="2000" dirty="0"/>
          </a:p>
        </p:txBody>
      </p:sp>
      <p:sp>
        <p:nvSpPr>
          <p:cNvPr id="21" name="kw-row"/>
          <p:cNvSpPr/>
          <p:nvPr/>
        </p:nvSpPr>
        <p:spPr>
          <a:xfrm>
            <a:off x="548640" y="3207512"/>
            <a:ext cx="11094415" cy="1136904"/>
          </a:xfrm>
          <a:prstGeom prst="roundRect">
            <a:avLst>
              <a:gd name="adj" fmla="val 4826"/>
            </a:avLst>
          </a:prstGeom>
          <a:solidFill>
            <a:srgbClr val="F5F6F9"/>
          </a:solidFill>
          <a:ln/>
        </p:spPr>
      </p:sp>
      <p:sp>
        <p:nvSpPr>
          <p:cNvPr id="22" name="kw-hex"/>
          <p:cNvSpPr/>
          <p:nvPr/>
        </p:nvSpPr>
        <p:spPr>
          <a:xfrm>
            <a:off x="658368" y="3597793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kw-cell"/>
          <p:cNvSpPr txBox="1"/>
          <p:nvPr/>
        </p:nvSpPr>
        <p:spPr>
          <a:xfrm>
            <a:off x="1143000" y="3207512"/>
            <a:ext cx="2331720" cy="113690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 family</a:t>
            </a:r>
            <a:endParaRPr lang="en-US" sz="2200" dirty="0"/>
          </a:p>
        </p:txBody>
      </p:sp>
      <p:sp>
        <p:nvSpPr>
          <p:cNvPr id="24" name="kw-cell"/>
          <p:cNvSpPr txBox="1"/>
          <p:nvPr/>
        </p:nvSpPr>
        <p:spPr>
          <a:xfrm>
            <a:off x="3657600" y="3207512"/>
            <a:ext cx="3474720" cy="113690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 and division facts that use the same three numbers</a:t>
            </a:r>
            <a:endParaRPr lang="en-US" sz="2000" dirty="0"/>
          </a:p>
        </p:txBody>
      </p:sp>
      <p:sp>
        <p:nvSpPr>
          <p:cNvPr id="25" name="kw-cell"/>
          <p:cNvSpPr txBox="1"/>
          <p:nvPr/>
        </p:nvSpPr>
        <p:spPr>
          <a:xfrm>
            <a:off x="7315200" y="3207512"/>
            <a:ext cx="4236415" cy="113690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5 = 20 and 20 ÷ 5 = 4 are in the same fact family.</a:t>
            </a:r>
            <a:endParaRPr lang="en-US" sz="2000" dirty="0"/>
          </a:p>
        </p:txBody>
      </p:sp>
      <p:sp>
        <p:nvSpPr>
          <p:cNvPr id="26" name="kw-row"/>
          <p:cNvSpPr/>
          <p:nvPr/>
        </p:nvSpPr>
        <p:spPr>
          <a:xfrm>
            <a:off x="548640" y="4417568"/>
            <a:ext cx="11094415" cy="827024"/>
          </a:xfrm>
          <a:prstGeom prst="roundRect">
            <a:avLst>
              <a:gd name="adj" fmla="val 6634"/>
            </a:avLst>
          </a:prstGeom>
          <a:solidFill>
            <a:srgbClr val="F9F4EC"/>
          </a:solidFill>
          <a:ln/>
        </p:spPr>
      </p:sp>
      <p:sp>
        <p:nvSpPr>
          <p:cNvPr id="27" name="kw-hex"/>
          <p:cNvSpPr/>
          <p:nvPr/>
        </p:nvSpPr>
        <p:spPr>
          <a:xfrm>
            <a:off x="658368" y="4652909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8" name="kw-cell"/>
          <p:cNvSpPr txBox="1"/>
          <p:nvPr/>
        </p:nvSpPr>
        <p:spPr>
          <a:xfrm>
            <a:off x="1143000" y="4417568"/>
            <a:ext cx="2331720" cy="8270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</a:t>
            </a:r>
            <a:endParaRPr lang="en-US" sz="2200" dirty="0"/>
          </a:p>
        </p:txBody>
      </p:sp>
      <p:sp>
        <p:nvSpPr>
          <p:cNvPr id="29" name="kw-cell"/>
          <p:cNvSpPr txBox="1"/>
          <p:nvPr/>
        </p:nvSpPr>
        <p:spPr>
          <a:xfrm>
            <a:off x="3657600" y="4417568"/>
            <a:ext cx="3474720" cy="8270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+ or − that shows if a number is positive or negative</a:t>
            </a:r>
            <a:endParaRPr lang="en-US" sz="2000" dirty="0"/>
          </a:p>
        </p:txBody>
      </p:sp>
      <p:sp>
        <p:nvSpPr>
          <p:cNvPr id="30" name="kw-cell"/>
          <p:cNvSpPr txBox="1"/>
          <p:nvPr/>
        </p:nvSpPr>
        <p:spPr>
          <a:xfrm>
            <a:off x="7315200" y="4417568"/>
            <a:ext cx="4236415" cy="8270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 of −7 is negative.</a:t>
            </a:r>
            <a:endParaRPr lang="en-US" sz="2000" dirty="0"/>
          </a:p>
        </p:txBody>
      </p:sp>
      <p:sp>
        <p:nvSpPr>
          <p:cNvPr id="31" name="kw-row"/>
          <p:cNvSpPr/>
          <p:nvPr/>
        </p:nvSpPr>
        <p:spPr>
          <a:xfrm>
            <a:off x="548640" y="5317744"/>
            <a:ext cx="11094415" cy="827024"/>
          </a:xfrm>
          <a:prstGeom prst="roundRect">
            <a:avLst>
              <a:gd name="adj" fmla="val 6634"/>
            </a:avLst>
          </a:prstGeom>
          <a:solidFill>
            <a:srgbClr val="F5F6F9"/>
          </a:solidFill>
          <a:ln/>
        </p:spPr>
      </p:sp>
      <p:sp>
        <p:nvSpPr>
          <p:cNvPr id="32" name="kw-hex"/>
          <p:cNvSpPr/>
          <p:nvPr/>
        </p:nvSpPr>
        <p:spPr>
          <a:xfrm>
            <a:off x="658368" y="5553085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3" name="kw-cell"/>
          <p:cNvSpPr txBox="1"/>
          <p:nvPr/>
        </p:nvSpPr>
        <p:spPr>
          <a:xfrm>
            <a:off x="1143000" y="5317744"/>
            <a:ext cx="2331720" cy="8270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</a:t>
            </a:r>
            <a:endParaRPr lang="en-US" sz="2200" dirty="0"/>
          </a:p>
        </p:txBody>
      </p:sp>
      <p:sp>
        <p:nvSpPr>
          <p:cNvPr id="34" name="kw-cell"/>
          <p:cNvSpPr txBox="1"/>
          <p:nvPr/>
        </p:nvSpPr>
        <p:spPr>
          <a:xfrm>
            <a:off x="3657600" y="5317744"/>
            <a:ext cx="3474720" cy="8270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changes in the same way each time</a:t>
            </a:r>
            <a:endParaRPr lang="en-US" sz="2000" dirty="0"/>
          </a:p>
        </p:txBody>
      </p:sp>
      <p:sp>
        <p:nvSpPr>
          <p:cNvPr id="35" name="kw-cell"/>
          <p:cNvSpPr txBox="1"/>
          <p:nvPr/>
        </p:nvSpPr>
        <p:spPr>
          <a:xfrm>
            <a:off x="7315200" y="5317744"/>
            <a:ext cx="4236415" cy="8270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goes up by 3 each time.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that 3 × 4 is 12.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3 lots of −4?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−4, −4 and −4.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that makes −12.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times a negative gives a negative.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look at a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 × 2 is −6.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 × 1 is −3.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 × 0 is 0.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answer goes up by 3.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−3 × −1 must be 3.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times a negative gives a positive.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 follows the same rules.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a positive and a negative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 digits first. Sort out the sign last.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7 × (−6).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 digits: 7 × 6 = 42.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is positive and one is negative.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answer is negative: 7 × (−6) = −42.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−42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78916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(−4) means three lots of −4. That is (−4) + (−4) + (−4) = −12.</a:t>
            </a:r>
            <a:endParaRPr lang="en-US" sz="22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66733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66733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does not matter: (−4) × 3 = −12 as well.</a:t>
            </a:r>
            <a:endParaRPr lang="en-US" sz="22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94478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344070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94478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multiply the digits as normal. Then decide the sign.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two negatives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signs: positive. Different signs: negative.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(−8) × (−5).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5 = 40.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numbers are negative.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 give a positive: (−8) × (−5) = 40.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017524"/>
          </a:xfrm>
          <a:prstGeom prst="roundRect">
            <a:avLst>
              <a:gd name="adj" fmla="val 7189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732357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0175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pattern: (−3) × 2 = −6, (−3) × 1 = −3, (−3) × 0 = 0.</a:t>
            </a:r>
            <a:endParaRPr lang="en-US" sz="22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553716"/>
            <a:ext cx="5074920" cy="1017524"/>
          </a:xfrm>
          <a:prstGeom prst="roundRect">
            <a:avLst>
              <a:gd name="adj" fmla="val 7189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2896185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553716"/>
            <a:ext cx="4389120" cy="10175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the pattern on: (−3) × (−1) = 3, and (−3) × (−2) = 6.</a:t>
            </a:r>
            <a:endParaRPr lang="en-US" sz="22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717544"/>
            <a:ext cx="5074920" cy="1358392"/>
          </a:xfrm>
          <a:prstGeom prst="roundRect">
            <a:avLst>
              <a:gd name="adj" fmla="val 5385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230447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717544"/>
            <a:ext cx="4389120" cy="13583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'two negatives make a positive' is true here, but only when you multiply or divide.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Dividing directed numbers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multiply, an even number of negatives gives a positive answer.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(−48) ÷ 6.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÷ 6 = 8.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794512"/>
          </a:xfrm>
          <a:prstGeom prst="roundRect">
            <a:avLst>
              <a:gd name="adj" fmla="val 1150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48309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48309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7945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is negative and one is positive: different signs.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415391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25525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25525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415391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(−48) ÷ 6 = −8.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858004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358392"/>
          </a:xfrm>
          <a:prstGeom prst="roundRect">
            <a:avLst>
              <a:gd name="adj" fmla="val 5385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90279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3583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is the inverse of multiplication, so it uses the same sign rules.</a:t>
            </a:r>
            <a:endParaRPr lang="en-US" sz="22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894584"/>
            <a:ext cx="5074920" cy="1017524"/>
          </a:xfrm>
          <a:prstGeom prst="roundRect">
            <a:avLst>
              <a:gd name="adj" fmla="val 7189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237053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894584"/>
            <a:ext cx="4389120" cy="10175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 give a positive answer: (−36) ÷ (−9) = 4.</a:t>
            </a:r>
            <a:endParaRPr lang="en-US" sz="2200" dirty="0"/>
          </a:p>
        </p:txBody>
      </p:sp>
      <p:sp>
        <p:nvSpPr>
          <p:cNvPr id="33" name="bullet-card"/>
          <p:cNvSpPr/>
          <p:nvPr/>
        </p:nvSpPr>
        <p:spPr>
          <a:xfrm>
            <a:off x="548640" y="4058412"/>
            <a:ext cx="5074920" cy="1017524"/>
          </a:xfrm>
          <a:prstGeom prst="roundRect">
            <a:avLst>
              <a:gd name="adj" fmla="val 7189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40088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4058412"/>
            <a:ext cx="4389120" cy="10175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there are three numbers, work from left to right.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Multiply directed numbers</a:t>
            </a:r>
            <a:endParaRPr lang="en-US" sz="28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(−9) × (−7).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 digits as normal.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signs of the two numbers.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signs: positive. Different signs: negative.</a:t>
            </a:r>
            <a:endParaRPr lang="en-US" sz="22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numbers are negative. What does that tell you about the sign?</a:t>
            </a:r>
            <a:endParaRPr lang="en-US" sz="22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Amir lists 1 × (−12), 2 × (−6) and 3 × (−4) as ways to make −12. Find at least three more pairs of integers that multiply to give −12, and explain the sign rule each one uses.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task: Divide directed numbers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822960" y="1664208"/>
            <a:ext cx="822960" cy="712683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822960" y="1664208"/>
            <a:ext cx="822960" cy="712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ask"/>
          <p:cNvSpPr txBox="1"/>
          <p:nvPr/>
        </p:nvSpPr>
        <p:spPr>
          <a:xfrm>
            <a:off x="1828800" y="1618488"/>
            <a:ext cx="8534095" cy="4988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calculation to its answer.</a:t>
            </a:r>
            <a:endParaRPr lang="en-US" sz="2400" dirty="0"/>
          </a:p>
        </p:txBody>
      </p:sp>
      <p:sp>
        <p:nvSpPr>
          <p:cNvPr id="11" name="match-card"/>
          <p:cNvSpPr/>
          <p:nvPr/>
        </p:nvSpPr>
        <p:spPr>
          <a:xfrm>
            <a:off x="777240" y="2468331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12" name="match-hex"/>
          <p:cNvSpPr/>
          <p:nvPr/>
        </p:nvSpPr>
        <p:spPr>
          <a:xfrm>
            <a:off x="850392" y="2704443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3" name="match-hex-label"/>
          <p:cNvSpPr txBox="1"/>
          <p:nvPr/>
        </p:nvSpPr>
        <p:spPr>
          <a:xfrm>
            <a:off x="850392" y="2704443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match-text"/>
          <p:cNvSpPr txBox="1"/>
          <p:nvPr/>
        </p:nvSpPr>
        <p:spPr>
          <a:xfrm>
            <a:off x="1298448" y="2468331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(−56) ÷ (−7)</a:t>
            </a:r>
            <a:endParaRPr lang="en-US" sz="2200" dirty="0"/>
          </a:p>
        </p:txBody>
      </p:sp>
      <p:sp>
        <p:nvSpPr>
          <p:cNvPr id="15" name="match-card"/>
          <p:cNvSpPr/>
          <p:nvPr/>
        </p:nvSpPr>
        <p:spPr>
          <a:xfrm>
            <a:off x="6278728" y="2468331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16" name="match-hex"/>
          <p:cNvSpPr/>
          <p:nvPr/>
        </p:nvSpPr>
        <p:spPr>
          <a:xfrm>
            <a:off x="6351880" y="2704443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7" name="match-hex-label"/>
          <p:cNvSpPr txBox="1"/>
          <p:nvPr/>
        </p:nvSpPr>
        <p:spPr>
          <a:xfrm>
            <a:off x="6351880" y="2704443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match-text"/>
          <p:cNvSpPr txBox="1"/>
          <p:nvPr/>
        </p:nvSpPr>
        <p:spPr>
          <a:xfrm>
            <a:off x="6799936" y="2468331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200" dirty="0"/>
          </a:p>
        </p:txBody>
      </p:sp>
      <p:sp>
        <p:nvSpPr>
          <p:cNvPr id="19" name="match-card"/>
          <p:cNvSpPr/>
          <p:nvPr/>
        </p:nvSpPr>
        <p:spPr>
          <a:xfrm>
            <a:off x="777240" y="3364581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20" name="match-hex"/>
          <p:cNvSpPr/>
          <p:nvPr/>
        </p:nvSpPr>
        <p:spPr>
          <a:xfrm>
            <a:off x="850392" y="3600692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1" name="match-hex-label"/>
          <p:cNvSpPr txBox="1"/>
          <p:nvPr/>
        </p:nvSpPr>
        <p:spPr>
          <a:xfrm>
            <a:off x="850392" y="360069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match-text"/>
          <p:cNvSpPr txBox="1"/>
          <p:nvPr/>
        </p:nvSpPr>
        <p:spPr>
          <a:xfrm>
            <a:off x="1298448" y="3364581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÷ (−7)</a:t>
            </a:r>
            <a:endParaRPr lang="en-US" sz="2200" dirty="0"/>
          </a:p>
        </p:txBody>
      </p:sp>
      <p:sp>
        <p:nvSpPr>
          <p:cNvPr id="23" name="match-card"/>
          <p:cNvSpPr/>
          <p:nvPr/>
        </p:nvSpPr>
        <p:spPr>
          <a:xfrm>
            <a:off x="6278728" y="3364581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24" name="match-hex"/>
          <p:cNvSpPr/>
          <p:nvPr/>
        </p:nvSpPr>
        <p:spPr>
          <a:xfrm>
            <a:off x="6351880" y="3600692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5" name="match-hex-label"/>
          <p:cNvSpPr txBox="1"/>
          <p:nvPr/>
        </p:nvSpPr>
        <p:spPr>
          <a:xfrm>
            <a:off x="6351880" y="360069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26" name="match-text"/>
          <p:cNvSpPr txBox="1"/>
          <p:nvPr/>
        </p:nvSpPr>
        <p:spPr>
          <a:xfrm>
            <a:off x="6799936" y="3364581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27" name="match-card"/>
          <p:cNvSpPr/>
          <p:nvPr/>
        </p:nvSpPr>
        <p:spPr>
          <a:xfrm>
            <a:off x="777240" y="4260830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28" name="match-hex"/>
          <p:cNvSpPr/>
          <p:nvPr/>
        </p:nvSpPr>
        <p:spPr>
          <a:xfrm>
            <a:off x="850392" y="449694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match-hex-label"/>
          <p:cNvSpPr txBox="1"/>
          <p:nvPr/>
        </p:nvSpPr>
        <p:spPr>
          <a:xfrm>
            <a:off x="850392" y="449694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match-text"/>
          <p:cNvSpPr txBox="1"/>
          <p:nvPr/>
        </p:nvSpPr>
        <p:spPr>
          <a:xfrm>
            <a:off x="1298448" y="4260830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(−6) × 4</a:t>
            </a:r>
            <a:endParaRPr lang="en-US" sz="2200" dirty="0"/>
          </a:p>
        </p:txBody>
      </p:sp>
      <p:sp>
        <p:nvSpPr>
          <p:cNvPr id="31" name="match-card"/>
          <p:cNvSpPr/>
          <p:nvPr/>
        </p:nvSpPr>
        <p:spPr>
          <a:xfrm>
            <a:off x="6278728" y="4260830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32" name="match-hex"/>
          <p:cNvSpPr/>
          <p:nvPr/>
        </p:nvSpPr>
        <p:spPr>
          <a:xfrm>
            <a:off x="6351880" y="4496941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3" name="match-hex-label"/>
          <p:cNvSpPr txBox="1"/>
          <p:nvPr/>
        </p:nvSpPr>
        <p:spPr>
          <a:xfrm>
            <a:off x="6351880" y="449694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34" name="match-text"/>
          <p:cNvSpPr txBox="1"/>
          <p:nvPr/>
        </p:nvSpPr>
        <p:spPr>
          <a:xfrm>
            <a:off x="6799936" y="4260830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−24</a:t>
            </a:r>
            <a:endParaRPr lang="en-US" sz="2200" dirty="0"/>
          </a:p>
        </p:txBody>
      </p:sp>
      <p:sp>
        <p:nvSpPr>
          <p:cNvPr id="35" name="match-card"/>
          <p:cNvSpPr/>
          <p:nvPr/>
        </p:nvSpPr>
        <p:spPr>
          <a:xfrm>
            <a:off x="777240" y="5157079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36" name="match-hex"/>
          <p:cNvSpPr/>
          <p:nvPr/>
        </p:nvSpPr>
        <p:spPr>
          <a:xfrm>
            <a:off x="850392" y="539319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7" name="match-hex-label"/>
          <p:cNvSpPr txBox="1"/>
          <p:nvPr/>
        </p:nvSpPr>
        <p:spPr>
          <a:xfrm>
            <a:off x="850392" y="539319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8" name="match-text"/>
          <p:cNvSpPr txBox="1"/>
          <p:nvPr/>
        </p:nvSpPr>
        <p:spPr>
          <a:xfrm>
            <a:off x="1298448" y="5157079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(−6) × (−4)</a:t>
            </a:r>
            <a:endParaRPr lang="en-US" sz="2200" dirty="0"/>
          </a:p>
        </p:txBody>
      </p:sp>
      <p:sp>
        <p:nvSpPr>
          <p:cNvPr id="39" name="match-card"/>
          <p:cNvSpPr/>
          <p:nvPr/>
        </p:nvSpPr>
        <p:spPr>
          <a:xfrm>
            <a:off x="6278728" y="5157079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40" name="match-hex"/>
          <p:cNvSpPr/>
          <p:nvPr/>
        </p:nvSpPr>
        <p:spPr>
          <a:xfrm>
            <a:off x="6351880" y="5393191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41" name="match-hex-label"/>
          <p:cNvSpPr txBox="1"/>
          <p:nvPr/>
        </p:nvSpPr>
        <p:spPr>
          <a:xfrm>
            <a:off x="6351880" y="539319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42" name="match-text"/>
          <p:cNvSpPr txBox="1"/>
          <p:nvPr/>
        </p:nvSpPr>
        <p:spPr>
          <a:xfrm>
            <a:off x="6799936" y="5157079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Divide directed numbers</a:t>
            </a:r>
            <a:endParaRPr lang="en-US" sz="28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30340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30340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572768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315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calculation to its answer.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578608"/>
            <a:ext cx="3515258" cy="3566160"/>
          </a:xfrm>
          <a:prstGeom prst="roundRect">
            <a:avLst>
              <a:gd name="adj" fmla="val 1561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65176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65176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15184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18688"/>
            <a:ext cx="3240938" cy="2816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the digits as normal.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signs of the two numbers.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signs: positive. Different signs: negative.</a:t>
            </a:r>
            <a:endParaRPr lang="en-US" sz="2200" dirty="0"/>
          </a:p>
        </p:txBody>
      </p:sp>
      <p:sp>
        <p:nvSpPr>
          <p:cNvPr id="17" name="col-Core"/>
          <p:cNvSpPr/>
          <p:nvPr/>
        </p:nvSpPr>
        <p:spPr>
          <a:xfrm>
            <a:off x="4338218" y="2578608"/>
            <a:ext cx="3515258" cy="3566160"/>
          </a:xfrm>
          <a:prstGeom prst="roundRect">
            <a:avLst>
              <a:gd name="adj" fmla="val 1561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65176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65176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15184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18688"/>
            <a:ext cx="3240938" cy="2816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 answers are positive. Look for the calculations where the signs are the same.</a:t>
            </a:r>
            <a:endParaRPr lang="en-US" sz="22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578608"/>
            <a:ext cx="3515258" cy="3566160"/>
          </a:xfrm>
          <a:prstGeom prst="roundRect">
            <a:avLst>
              <a:gd name="adj" fmla="val 1561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65176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65176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15184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18688"/>
            <a:ext cx="3240938" cy="2816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full fact family for (−56) ÷ (−7). Explain how each fact in it follows the sign rules.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800" dirty="0"/>
          </a:p>
        </p:txBody>
      </p:sp>
      <p:sp>
        <p:nvSpPr>
          <p:cNvPr id="7" name="exit-card"/>
          <p:cNvSpPr/>
          <p:nvPr/>
        </p:nvSpPr>
        <p:spPr>
          <a:xfrm>
            <a:off x="1645920" y="1389888"/>
            <a:ext cx="889985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2E4A8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xit-hex"/>
          <p:cNvSpPr/>
          <p:nvPr/>
        </p:nvSpPr>
        <p:spPr>
          <a:xfrm>
            <a:off x="1143000" y="1618488"/>
            <a:ext cx="1005840" cy="871057"/>
          </a:xfrm>
          <a:prstGeom prst="hexagon">
            <a:avLst/>
          </a:prstGeom>
          <a:solidFill>
            <a:srgbClr val="2E4A8C"/>
          </a:solidFill>
          <a:ln w="25400">
            <a:solidFill>
              <a:srgbClr val="B8862B"/>
            </a:solidFill>
            <a:prstDash val="solid"/>
          </a:ln>
        </p:spPr>
      </p:sp>
      <p:sp>
        <p:nvSpPr>
          <p:cNvPr id="9" name="exit-hex-label"/>
          <p:cNvSpPr txBox="1"/>
          <p:nvPr/>
        </p:nvSpPr>
        <p:spPr>
          <a:xfrm>
            <a:off x="1143000" y="1618488"/>
            <a:ext cx="1005840" cy="871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2000" dirty="0"/>
          </a:p>
        </p:txBody>
      </p:sp>
      <p:sp>
        <p:nvSpPr>
          <p:cNvPr id="10" name="exit-q"/>
          <p:cNvSpPr txBox="1"/>
          <p:nvPr/>
        </p:nvSpPr>
        <p:spPr>
          <a:xfrm>
            <a:off x="2286000" y="1664208"/>
            <a:ext cx="7802575" cy="4988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(−2) × 5 × (−3).</a:t>
            </a:r>
            <a:endParaRPr lang="en-US" sz="2400" dirty="0"/>
          </a:p>
        </p:txBody>
      </p:sp>
      <p:sp>
        <p:nvSpPr>
          <p:cNvPr id="11" name="exit-answer-box"/>
          <p:cNvSpPr/>
          <p:nvPr/>
        </p:nvSpPr>
        <p:spPr>
          <a:xfrm>
            <a:off x="2286000" y="5047488"/>
            <a:ext cx="7619695" cy="82296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12700">
            <a:solidFill>
              <a:srgbClr val="9DAAC9"/>
            </a:solidFill>
            <a:prstDash val="solid"/>
          </a:ln>
        </p:spPr>
      </p:sp>
      <p:sp>
        <p:nvSpPr>
          <p:cNvPr id="12" name="exit-answer-label"/>
          <p:cNvSpPr txBox="1"/>
          <p:nvPr/>
        </p:nvSpPr>
        <p:spPr>
          <a:xfrm>
            <a:off x="2423160" y="5047488"/>
            <a:ext cx="2926080" cy="8229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Multiply directed numbers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(−9) × (−7).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× 7 = 63, and two negatives give a positive, so (−9) × (−7) = 63.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Divide directed numbers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(−56) ÷ (−7)  →  B  8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÷ (−7)  →  D  −8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(−6) × 4  →  C  −24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(−6) × (−4)  →  A  24</a:t>
            </a:r>
            <a:endParaRPr lang="en-US" sz="24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÷ 7 = 8 and 6 × 4 = 24. Same signs give a positive answer, and different signs give a negative answer.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(−2) × 5 × (−3).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(−2) × 5 = −10, then −10 × (−3) = 30.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 Astra maths">
  <a:themeElements>
    <a:clrScheme name="Ad Astra maths">
      <a:dk1>
        <a:srgbClr val="1E2229"/>
      </a:dk1>
      <a:lt1>
        <a:srgbClr val="FFFFFF"/>
      </a:lt1>
      <a:dk2>
        <a:srgbClr val="253B70"/>
      </a:dk2>
      <a:lt2>
        <a:srgbClr val="F0F2F7"/>
      </a:lt2>
      <a:accent1>
        <a:srgbClr val="2E4A8C"/>
      </a:accent1>
      <a:accent2>
        <a:srgbClr val="B8862B"/>
      </a:accent2>
      <a:accent3>
        <a:srgbClr val="8292BA"/>
      </a:accent3>
      <a:accent4>
        <a:srgbClr val="815E1E"/>
      </a:accent4>
      <a:accent5>
        <a:srgbClr val="4A505C"/>
      </a:accent5>
      <a:accent6>
        <a:srgbClr val="DEC69B"/>
      </a:accent6>
      <a:hlink>
        <a:srgbClr val="2E4A8C"/>
      </a:hlink>
      <a:folHlink>
        <a:srgbClr val="203462"/>
      </a:folHlink>
    </a:clrScheme>
    <a:fontScheme name="Ad Astra math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Edu.Ai SV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Directed Number · Chapter 5: Multiplying and dividing</dc:title>
  <dc:subject>Mathematics · Year 7</dc:subject>
  <dc:creator>Dr Vitor Merissi de Carvalho</dc:creator>
  <cp:lastModifiedBy>Dr Vitor Merissi de Carvalho</cp:lastModifiedBy>
  <cp:revision>1</cp:revision>
  <dcterms:created xsi:type="dcterms:W3CDTF">2026-10-19T16:23:21Z</dcterms:created>
  <dcterms:modified xsi:type="dcterms:W3CDTF">2026-10-19T16:23:21Z</dcterms:modified>
</cp:coreProperties>
</file>