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358dae4c-cffb-ad92-00b8-776a2f7ebe2b}">
          <p14:sldIdLst>
            <p14:sldId id="256"/>
          </p14:sldIdLst>
        </p14:section>
        <p14:section name="Gate" id="{978dccb9-9adc-b14b-5989-d0d803ac5a17}">
          <p14:sldIdLst>
            <p14:sldId id="257"/>
            <p14:sldId id="258"/>
          </p14:sldIdLst>
        </p14:section>
        <p14:section name="Pre-teach" id="{3fe6eed6-612a-f15f-2725-f9e1bbaeb685}">
          <p14:sldIdLst>
            <p14:sldId id="259"/>
          </p14:sldIdLst>
        </p14:section>
        <p14:section name="Read-along" id="{a0f80de6-69db-d4d1-c32c-92da55ed4d85}">
          <p14:sldIdLst>
            <p14:sldId id="260"/>
            <p14:sldId id="261"/>
          </p14:sldIdLst>
        </p14:section>
        <p14:section name="Teach" id="{31f0f699-10b8-2c4d-49ea-71d33337f862}">
          <p14:sldIdLst>
            <p14:sldId id="262"/>
            <p14:sldId id="263"/>
            <p14:sldId id="264"/>
          </p14:sldIdLst>
        </p14:section>
        <p14:section name="Routes" id="{d13050cc-6e05-cbaa-4be5-72ba346b4ecd}">
          <p14:sldIdLst>
            <p14:sldId id="265"/>
            <p14:sldId id="266"/>
            <p14:sldId id="267"/>
          </p14:sldIdLst>
        </p14:section>
        <p14:section name="Close" id="{472ba978-8420-d95f-4c6d-55a95a204dd8}">
          <p14:sldIdLst>
            <p14:sldId id="268"/>
          </p14:sldIdLst>
        </p14:section>
        <p14:section name="Answers" id="{ccbc57a1-04c0-dd0a-20b2-25321cb9233d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5 of 6: Multiplying and dividing. Learn the sign rules for multiplying and dividing, and see where they come from.
This deck covers the department's lesson: 7 (Multiply and divide directed numbers: What are the sign rules for multiplying and dividing directed numbers?).
Read the big question aloud: "What happens to numbers below zero, and how do we calculate with them?" We come back to it at the exit ticket.
Before this lesson the pre-teach group has heard the read-along and met the key words; today they lead the reading. Lesson shape: do now (recall before any help), key words, read-along, teach, then the same task three ways in (Support, Core, Stretch), exit ticket, answers. Every pupil works towards the same destination.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now — retrieval. Silent, no notes, no help: recall comes before any support. Give about four minutes.
1. Work out 4 × (−3).  →  −12
2. Work out (−5) × (−6).  →  A   30
3. Work out 24 ÷ (−8).  →  D   −3
Circulate: who gets 3/3 (Stretch route), 2/3 (Core), 0–1 (Support)? Use this to route pupils later in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pupils mark their own in a different colour, then hands up for 3/3, 2/3, 1/3.
1. −12. 4 × 3 = 12, and different signs give a negative answer.
2. A   30. 5 × 6 = 30, and two negatives multiplied give a positive.
3. D   −3. 24 ÷ 8 = 3, and different signs give a negative answer.
Say the route each score points to: 3/3 Stretch, 2/3 Core, 0–1 Support. Pupils may choose to move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words. Ask the pre-teach group first: they met these words before the lesson, so they give the meaning before anyone else.
For each word: say it, pupils repeat it, read the meaning, then read the example sentence together.
• product: the answer when you multiply. Example: "The product of −3 and 4 is −12."
• quotient: the answer when you divide. Example: "The quotient of −20 and 5 is −4."
• fact family: multiplication and division facts that use the same three numbers. Example: "4 × 5 = 20 and 20 ÷ 5 = 4 are in the same fact family."
• sign: the + or − that shows if a number is positive or negative. Example: "The sign of −7 is negative."
• pattern: something that changes in the same way each time. Example: "The pattern goes up by 3 each time."
Recall before help: cover the meanings and ask pupils to define one word from memory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together; pupils who were pre-taught lead. The pre-teach group heard this passage (with highlighted audio in the ebook) before the lesson, so invite them to read each sentence aloud first; everyone else follows with a finger, then echo-reads it.
Key words are in bold: pause on each and ask for its meaning.
Sentences 1–7 of 13:
1. You know that 3 × 4 is 12.
2. What is 3 lots of −4?
3. It is −4, −4 and −4.
4. Together that makes −12.
5. A positive times a negative gives a negative.
6. Now look at a pattern.
7. −3 × 2 is −6.
In the ebook the audio highlights each sentence as it is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together; pupils who were pre-taught lead. The pre-teach group heard this passage (with highlighted audio in the ebook) before the lesson, so invite them to read each sentence aloud first; everyone else follows with a finger, then echo-reads it.
Key words are in bold: pause on each and ask for its meaning.
Sentences 8–13 of 13:
8. −3 × 1 is −3.
9. −3 × 0 is 0.
10. Each answer goes up by 3.
11. So −3 × −1 must be 3.
12. A negative times a negative gives a positive.
13. Dividing follows the same rules.
In the ebook the audio highlights each sentence as it is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— Multiplying a positive and a negative. Say it in your own words, then check understanding with a quick question: ask a pupil from the pre-teach group first, since they met these words and ideas before the lesson. Pupils try to recall before you re-explain.
3 × (−4) means three lots of −4. That is (−4) + (−4) + (−4) = −12. A positive number times a negative number gives a negative answer.
The order does not matter: (−4) × 3 = −12 as well. You can picture it as an array of 3 rows of −4.
First multiply the digits as normal. Then decide the sign.
Worked example — model it step by step, thinking aloud: Work out 7 × (−6). (1) Multiply the digits: 7 × 6 = 42. (2) One number is positive and one is negative. (3) So the answer is negative: 7 × (−6) = −42. Answer: −42.
Tip: Multiply the digits first. Sort out the sign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— Multiplying two negatives. Say it in your own words, then check understanding with a quick question: ask a pupil from the pre-teach group first, since they met these words and ideas before the lesson. Pupils try to recall before you re-explain.
Look at this pattern: (−3) × 2 = −6, (−3) × 1 = −3, (−3) × 0 = 0. Each time we multiply by one less, the answer goes up by 3.
Carry the pattern on: (−3) × (−1) = 3, and (−3) × (−2) = 6. A negative times a negative gives a positive.
So 'two negatives make a positive' is true here, but only when you multiply or divide.
Worked example — model it step by step, thinking aloud: Work out (−8) × (−5). (1) 8 × 5 = 40. (2) Both numbers are negative. (3) Same signs give a positive: (−8) × (−5) = 40. Answer: 40.
Tip: Same signs: positive. Different signs: negative.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— Dividing directed numbers. Say it in your own words, then check understanding with a quick question: ask a pupil from the pre-teach group first, since they met these words and ideas before the lesson. Pupils try to recall before you re-explain.
Division is the inverse of multiplication, so it uses the same sign rules. Use a fact family: 4 × (−5) = −20, so −20 ÷ (−5) = 4 and −20 ÷ 4 = −5.
Same signs give a positive answer: (−36) ÷ (−9) = 4. Different signs give a negative answer: 36 ÷ (−9) = −4.
When there are three numbers, work from left to right. For (−2) × (−3) × (−4), first (−2) × (−3) = 6, then 6 × (−4) = −24.
Worked example — model it step by step, thinking aloud: Work out (−48) ÷ 6. (1) 48 ÷ 6 = 8. (2) One number is negative and one is positive: different signs. (3) So (−48) ÷ 6 = −8. Answer: −8.
Tip: When you multiply, an even number of negatives gives a positive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1: Multiply directed numbers. Same task, three ways in: one destination for everyone; only the scaffold changes. Pupils take the lane their do-now score pointed to (3/3 Stretch, 2/3 Core, 0–1 Support) and may move up at any time.
Start the pre-teach group first: they know the words and the passage, so set them going on the task before you turn to the rest. Recall before help: every pupil tries from memory before opening a lane.
The task: Work out (−9) × (−7).
Support — work through the steps with the group: (1) Multiply the digits as normal. (2) Look at the signs of the two numbers. (3) Same signs: positive. Different signs: negative.
Parallel worked example for Support (model it, do not give the task answer): Work out (−6) × (−4). 6 × 4 = 24.; Both numbers are negative: same signs.; (−6) × (−4) = 24.. Answer: 24.
Core — reveal the hint only on request: Both numbers are negative. What does that tell you about the sign?
Stretch — no help; when finished: Amir lists 1 × (−12), 2 × (−6) and 3 × (−4) as ways to make −12. Find at least three more pairs of integers that multiply to give −12, and explain the sign rule each one 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2: Divide directed numbers. Same task, three ways in: one destination for everyone; only the scaffold changes. Pupils take the lane their do-now score pointed to (3/3 Stretch, 2/3 Core, 0–1 Support) and may move up at any time.
Start the pre-teach group first: they know the words and the passage, so set them going on the task before you turn to the rest. Recall before help: every pupil tries from memory before opening a lane.
The task: Match each calculation to its answer.
Support — work through the steps with the group: (1) Work out the digits as normal. (2) Look at the signs of the two numbers. (3) Same signs: positive. Different signs: negative.
Parallel worked example for Support (model it, do not give the task answer): Work out (−45) ÷ (−5). 45 ÷ 5 = 9.; Both numbers are negative: same signs.; (−45) ÷ (−5) = 9.. Answer: 9.
Core — reveal the hint only on request: Two of the answers are positive. Look for the calculations where the signs are the same.
Stretch — no help; when finished: Write the full fact family for (−56) ÷ (−7). Explain how each fact in it follows the sign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Task 2: Divide directed numbers. Same task, three ways in: one destination for everyone; only the scaffold changes. Pupils take the lane their do-now score pointed to (3/3 Stretch, 2/3 Core, 0–1 Support) and may move up at any time.
Start the pre-teach group first: they know the words and the passage, so set them going on the task before you turn to the rest. Recall before help: every pupil tries from memory before opening a lane.
The task: Match each calculation to its answer.
Support — work through the steps with the group: (1) Work out the digits as normal. (2) Look at the signs of the two numbers. (3) Same signs: positive. Different signs: negative.
Parallel worked example for Support (model it, do not give the task answer): Work out (−45) ÷ (−5). 45 ÷ 5 = 9.; Both numbers are negative: same signs.; (−45) ÷ (−5) = 9.. Answer: 9.
Core — reveal the hint only on request: Two of the answers are positive. Look for the calculations where the signs are the same.
Stretch — no help; when finished: Write the full fact family for (−56) ÷ (−7). Explain how each fact in it follows the sign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ticket — individual, silent, on a slip or mini-whiteboard. Recall before help: no notes, no lanes, no hints. Collect before pupils leave.
Question: Work out (−2) × 5 × (−3).
Answer: 30. (−2) × 5 = −10, then −10 × (−3) = 30.
Source of this question: module 3 task ("Three numbers") from the manifest.
Sort the slips: correct → ready to move on; incorrect → start next lesson in the pre-teach group, with the read-along and the Support lane. Same destination next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task 1: Multiply directed numbers. Reveal the answer; pupils mark their own work in a different colour, then read the "why" together. Same destination for every lane, so one answer serves the whole class.
Answer: 63
Why: 9 × 7 = 63, and two negatives give a positive, so (−9) × (−7) = 63.
Ask a Support pupil to explain one step, and a Stretch pupil to share their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task 2: Divide directed numbers. Reveal the answer; pupils mark their own work in a different colour, then read the "why" together. Same destination for every lane, so one answer serves the whole class.
Answer: (−56) ÷ (−7)  →  B  8; 56 ÷ (−7)  →  D  −8; (−6) × 4  →  C  −24; (−6) × (−4)  →  A  24
Why: 56 ÷ 7 = 8 and 6 × 4 = 24. Same signs give a positive answer, and different signs give a negative answer.
Ask a Support pupil to explain one step, and a Stretch pupil to share their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— exit ticket: Exit ticket. Reveal the answer; pupils mark their own work in a different colour, then read the "why" together. Same destination for every lane, so one answer serves the whole class.
Answer: 30
Why: (−2) × 5 = −10, then −10 × (−3) = 30.
Ask a Support pupil to explain one step, and a Stretch pupil to share their extension.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TRA_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2F7"/>
          </a:solidFill>
          <a:ln w="12700">
            <a:solidFill>
              <a:srgbClr val="F0F2F7"/>
            </a:solidFill>
            <a:prstDash val="solid"/>
          </a:ln>
        </p:spPr>
      </p:sp>
      <p:pic>
        <p:nvPicPr>
          <p:cNvPr id="3" name="Image 0" descr="Edu.AI hexagon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6437376"/>
            <a:ext cx="438912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6446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· Year 7 · Directed Number · Ad Astra pilot exemplar — awaiting department review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915400" y="6446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Edu.Ai SV Digital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STRA_CONTENT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0F2F7"/>
          </a:solidFill>
          <a:ln w="12700">
            <a:solidFill>
              <a:srgbClr val="F0F2F7"/>
            </a:solidFill>
            <a:prstDash val="solid"/>
          </a:ln>
        </p:spPr>
      </p:sp>
      <p:pic>
        <p:nvPicPr>
          <p:cNvPr id="3" name="Image 0" descr="Edu.AI hexagon mot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6437376"/>
            <a:ext cx="438912" cy="3840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3232" y="644652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· Year 7 · Directed Number · Ad Astra pilot exemplar — awaiting department review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915400" y="6446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Edu.Ai SV Digital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nd-hue"/>
          <p:cNvSpPr/>
          <p:nvPr/>
        </p:nvSpPr>
        <p:spPr>
          <a:xfrm>
            <a:off x="0" y="5989320"/>
            <a:ext cx="12191695" cy="164592"/>
          </a:xfrm>
          <a:prstGeom prst="rect">
            <a:avLst/>
          </a:prstGeom>
          <a:solidFill>
            <a:srgbClr val="2E4A8C"/>
          </a:solidFill>
          <a:ln/>
        </p:spPr>
      </p:sp>
      <p:sp>
        <p:nvSpPr>
          <p:cNvPr id="4" name="band-gold"/>
          <p:cNvSpPr/>
          <p:nvPr/>
        </p:nvSpPr>
        <p:spPr>
          <a:xfrm>
            <a:off x="0" y="6208776"/>
            <a:ext cx="12191695" cy="64008"/>
          </a:xfrm>
          <a:prstGeom prst="rect">
            <a:avLst/>
          </a:prstGeom>
          <a:solidFill>
            <a:srgbClr val="B8862B"/>
          </a:solidFill>
          <a:ln/>
        </p:spPr>
      </p:sp>
      <p:sp>
        <p:nvSpPr>
          <p:cNvPr id="5" name="hex-deco1"/>
          <p:cNvSpPr/>
          <p:nvPr/>
        </p:nvSpPr>
        <p:spPr>
          <a:xfrm>
            <a:off x="1373886" y="276195"/>
            <a:ext cx="525780" cy="455325"/>
          </a:xfrm>
          <a:prstGeom prst="hexagon">
            <a:avLst/>
          </a:prstGeom>
          <a:solidFill>
            <a:srgbClr val="DBE0EB"/>
          </a:solidFill>
          <a:ln/>
        </p:spPr>
      </p:sp>
      <p:sp>
        <p:nvSpPr>
          <p:cNvPr id="6" name="hex-deco2"/>
          <p:cNvSpPr/>
          <p:nvPr/>
        </p:nvSpPr>
        <p:spPr>
          <a:xfrm>
            <a:off x="1373886" y="1168557"/>
            <a:ext cx="525780" cy="455325"/>
          </a:xfrm>
          <a:prstGeom prst="hexagon">
            <a:avLst/>
          </a:prstGeom>
          <a:ln w="19050">
            <a:solidFill>
              <a:srgbClr val="B8862B"/>
            </a:solidFill>
            <a:prstDash val="solid"/>
          </a:ln>
        </p:spPr>
      </p:sp>
      <p:sp>
        <p:nvSpPr>
          <p:cNvPr id="7" name="hex-chapter"/>
          <p:cNvSpPr/>
          <p:nvPr/>
        </p:nvSpPr>
        <p:spPr>
          <a:xfrm>
            <a:off x="548640" y="457200"/>
            <a:ext cx="1051560" cy="910651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8" name="hex-chapter-label"/>
          <p:cNvSpPr txBox="1"/>
          <p:nvPr/>
        </p:nvSpPr>
        <p:spPr>
          <a:xfrm>
            <a:off x="548640" y="457200"/>
            <a:ext cx="1051560" cy="910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9" name="kicker"/>
          <p:cNvSpPr txBox="1"/>
          <p:nvPr/>
        </p:nvSpPr>
        <p:spPr>
          <a:xfrm>
            <a:off x="2331720" y="256032"/>
            <a:ext cx="3504895" cy="129844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 · Year 7</a:t>
            </a:r>
            <a:endParaRPr lang="en-US" sz="18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936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5/6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Number</a:t>
            </a:r>
            <a:endParaRPr lang="en-US" sz="1800" dirty="0"/>
          </a:p>
        </p:txBody>
      </p:sp>
      <p:sp>
        <p:nvSpPr>
          <p:cNvPr id="10" name="deck-title"/>
          <p:cNvSpPr txBox="1"/>
          <p:nvPr/>
        </p:nvSpPr>
        <p:spPr>
          <a:xfrm>
            <a:off x="548640" y="2393188"/>
            <a:ext cx="5287975" cy="14478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Multiplying and dividing</a:t>
            </a:r>
            <a:endParaRPr lang="en-US" sz="4000" dirty="0"/>
          </a:p>
        </p:txBody>
      </p:sp>
      <p:sp>
        <p:nvSpPr>
          <p:cNvPr id="11" name="lessons-card"/>
          <p:cNvSpPr/>
          <p:nvPr/>
        </p:nvSpPr>
        <p:spPr>
          <a:xfrm>
            <a:off x="548640" y="4069588"/>
            <a:ext cx="5287975" cy="980440"/>
          </a:xfrm>
          <a:prstGeom prst="roundRect">
            <a:avLst>
              <a:gd name="adj" fmla="val 7461"/>
            </a:avLst>
          </a:prstGeom>
          <a:solidFill>
            <a:srgbClr val="F0F2F7"/>
          </a:solidFill>
          <a:ln/>
        </p:spPr>
      </p:sp>
      <p:sp>
        <p:nvSpPr>
          <p:cNvPr id="12" name="lessons"/>
          <p:cNvSpPr txBox="1"/>
          <p:nvPr/>
        </p:nvSpPr>
        <p:spPr>
          <a:xfrm>
            <a:off x="685800" y="4161028"/>
            <a:ext cx="5013655" cy="797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covered</a:t>
            </a:r>
            <a:endParaRPr lang="en-US" sz="200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9C7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algn="l"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and divide directed numbers</a:t>
            </a:r>
            <a:endParaRPr lang="en-US" sz="2000" dirty="0"/>
          </a:p>
        </p:txBody>
      </p:sp>
      <p:sp>
        <p:nvSpPr>
          <p:cNvPr id="13" name="plate-frame"/>
          <p:cNvSpPr/>
          <p:nvPr/>
        </p:nvSpPr>
        <p:spPr>
          <a:xfrm>
            <a:off x="6248095" y="411480"/>
            <a:ext cx="5394960" cy="3130677"/>
          </a:xfrm>
          <a:prstGeom prst="rect">
            <a:avLst/>
          </a:prstGeom>
          <a:solidFill>
            <a:srgbClr val="F4EDDF"/>
          </a:solidFill>
          <a:ln w="19050">
            <a:solidFill>
              <a:srgbClr val="B8862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4" name="plate" descr="Ad Astra engraved plate for Mathematics, Year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7823" y="521208"/>
            <a:ext cx="5175504" cy="2911221"/>
          </a:xfrm>
          <a:prstGeom prst="rect">
            <a:avLst/>
          </a:prstGeom>
        </p:spPr>
      </p:pic>
      <p:sp>
        <p:nvSpPr>
          <p:cNvPr id="15" name="plate-inner"/>
          <p:cNvSpPr/>
          <p:nvPr/>
        </p:nvSpPr>
        <p:spPr>
          <a:xfrm>
            <a:off x="6357823" y="521208"/>
            <a:ext cx="5175504" cy="2911221"/>
          </a:xfrm>
          <a:prstGeom prst="rect">
            <a:avLst/>
          </a:prstGeom>
          <a:ln w="9525">
            <a:solidFill>
              <a:srgbClr val="B8862B"/>
            </a:solidFill>
            <a:prstDash val="solid"/>
          </a:ln>
        </p:spPr>
      </p:sp>
      <p:sp>
        <p:nvSpPr>
          <p:cNvPr id="16" name="stud0"/>
          <p:cNvSpPr/>
          <p:nvPr/>
        </p:nvSpPr>
        <p:spPr>
          <a:xfrm>
            <a:off x="6138367" y="316456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tud1"/>
          <p:cNvSpPr/>
          <p:nvPr/>
        </p:nvSpPr>
        <p:spPr>
          <a:xfrm>
            <a:off x="11533327" y="316456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tud2"/>
          <p:cNvSpPr/>
          <p:nvPr/>
        </p:nvSpPr>
        <p:spPr>
          <a:xfrm>
            <a:off x="6138367" y="3447133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tud3"/>
          <p:cNvSpPr/>
          <p:nvPr/>
        </p:nvSpPr>
        <p:spPr>
          <a:xfrm>
            <a:off x="11533327" y="3447133"/>
            <a:ext cx="219456" cy="190049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bq-card"/>
          <p:cNvSpPr/>
          <p:nvPr/>
        </p:nvSpPr>
        <p:spPr>
          <a:xfrm>
            <a:off x="6248095" y="3816477"/>
            <a:ext cx="5394960" cy="2053971"/>
          </a:xfrm>
          <a:prstGeom prst="roundRect">
            <a:avLst>
              <a:gd name="adj" fmla="val 3561"/>
            </a:avLst>
          </a:prstGeom>
          <a:solidFill>
            <a:srgbClr val="F0F2F7"/>
          </a:solidFill>
          <a:ln w="12700">
            <a:solidFill>
              <a:srgbClr val="B2BCD4"/>
            </a:solidFill>
            <a:prstDash val="solid"/>
          </a:ln>
        </p:spPr>
      </p:sp>
      <p:sp>
        <p:nvSpPr>
          <p:cNvPr id="21" name="bq-hex"/>
          <p:cNvSpPr/>
          <p:nvPr/>
        </p:nvSpPr>
        <p:spPr>
          <a:xfrm>
            <a:off x="6412687" y="3999357"/>
            <a:ext cx="621792" cy="538472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22" name="bq-hex-label"/>
          <p:cNvSpPr txBox="1"/>
          <p:nvPr/>
        </p:nvSpPr>
        <p:spPr>
          <a:xfrm>
            <a:off x="6412687" y="3999357"/>
            <a:ext cx="621792" cy="53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600" dirty="0"/>
          </a:p>
        </p:txBody>
      </p:sp>
      <p:sp>
        <p:nvSpPr>
          <p:cNvPr id="23" name="bq"/>
          <p:cNvSpPr txBox="1"/>
          <p:nvPr/>
        </p:nvSpPr>
        <p:spPr>
          <a:xfrm>
            <a:off x="7144207" y="3907917"/>
            <a:ext cx="4389120" cy="187109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800" dirty="0"/>
          </a:p>
          <a:p>
            <a:pPr algn="l" indent="0" marL="0">
              <a:buNone/>
            </a:pPr>
            <a:r>
              <a:rPr lang="en-US" sz="2400" i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to numbers below zero, and how do we calculate with them?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now: three from memory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548640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8" name="card-hex"/>
          <p:cNvSpPr/>
          <p:nvPr/>
        </p:nvSpPr>
        <p:spPr>
          <a:xfrm>
            <a:off x="731520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9" name="card-hex-label"/>
          <p:cNvSpPr txBox="1"/>
          <p:nvPr/>
        </p:nvSpPr>
        <p:spPr>
          <a:xfrm>
            <a:off x="731520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card-label"/>
          <p:cNvSpPr txBox="1"/>
          <p:nvPr/>
        </p:nvSpPr>
        <p:spPr>
          <a:xfrm>
            <a:off x="1463040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 out</a:t>
            </a:r>
            <a:endParaRPr lang="en-US" sz="1800" dirty="0"/>
          </a:p>
        </p:txBody>
      </p:sp>
      <p:sp>
        <p:nvSpPr>
          <p:cNvPr id="11" name="card-body"/>
          <p:cNvSpPr txBox="1"/>
          <p:nvPr/>
        </p:nvSpPr>
        <p:spPr>
          <a:xfrm>
            <a:off x="731520" y="2355677"/>
            <a:ext cx="3149498" cy="365193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4 × (−3).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400" dirty="0"/>
          </a:p>
        </p:txBody>
      </p:sp>
      <p:sp>
        <p:nvSpPr>
          <p:cNvPr id="12" name="card"/>
          <p:cNvSpPr/>
          <p:nvPr/>
        </p:nvSpPr>
        <p:spPr>
          <a:xfrm>
            <a:off x="4338218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13" name="card-hex"/>
          <p:cNvSpPr/>
          <p:nvPr/>
        </p:nvSpPr>
        <p:spPr>
          <a:xfrm>
            <a:off x="4521098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4" name="card-hex-label"/>
          <p:cNvSpPr txBox="1"/>
          <p:nvPr/>
        </p:nvSpPr>
        <p:spPr>
          <a:xfrm>
            <a:off x="4521098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card-label"/>
          <p:cNvSpPr txBox="1"/>
          <p:nvPr/>
        </p:nvSpPr>
        <p:spPr>
          <a:xfrm>
            <a:off x="5252618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</a:t>
            </a:r>
            <a:endParaRPr lang="en-US" sz="1800" dirty="0"/>
          </a:p>
        </p:txBody>
      </p:sp>
      <p:sp>
        <p:nvSpPr>
          <p:cNvPr id="16" name="card-body"/>
          <p:cNvSpPr txBox="1"/>
          <p:nvPr/>
        </p:nvSpPr>
        <p:spPr>
          <a:xfrm>
            <a:off x="4521098" y="2355677"/>
            <a:ext cx="3149498" cy="365193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(−5) × (−6).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−11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</a:t>
            </a:r>
            <a:endParaRPr lang="en-US" sz="2400" dirty="0"/>
          </a:p>
        </p:txBody>
      </p:sp>
      <p:sp>
        <p:nvSpPr>
          <p:cNvPr id="17" name="card"/>
          <p:cNvSpPr/>
          <p:nvPr/>
        </p:nvSpPr>
        <p:spPr>
          <a:xfrm>
            <a:off x="8127797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18" name="card-hex"/>
          <p:cNvSpPr/>
          <p:nvPr/>
        </p:nvSpPr>
        <p:spPr>
          <a:xfrm>
            <a:off x="8310677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9" name="card-hex-label"/>
          <p:cNvSpPr txBox="1"/>
          <p:nvPr/>
        </p:nvSpPr>
        <p:spPr>
          <a:xfrm>
            <a:off x="8310677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card-label"/>
          <p:cNvSpPr txBox="1"/>
          <p:nvPr/>
        </p:nvSpPr>
        <p:spPr>
          <a:xfrm>
            <a:off x="9042197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</a:t>
            </a:r>
            <a:endParaRPr lang="en-US" sz="1800" dirty="0"/>
          </a:p>
        </p:txBody>
      </p:sp>
      <p:sp>
        <p:nvSpPr>
          <p:cNvPr id="21" name="card-body"/>
          <p:cNvSpPr txBox="1"/>
          <p:nvPr/>
        </p:nvSpPr>
        <p:spPr>
          <a:xfrm>
            <a:off x="8310677" y="2355677"/>
            <a:ext cx="3149498" cy="3651931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24 ÷ (−8).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−16</a:t>
            </a:r>
            <a:endParaRPr lang="en-US" sz="24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4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</a:t>
            </a:r>
            <a:pPr algn="l" indent="0" marL="0">
              <a:spcAft>
                <a:spcPts val="6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548640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8" name="card-hex"/>
          <p:cNvSpPr/>
          <p:nvPr/>
        </p:nvSpPr>
        <p:spPr>
          <a:xfrm>
            <a:off x="731520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9" name="card-hex-label"/>
          <p:cNvSpPr txBox="1"/>
          <p:nvPr/>
        </p:nvSpPr>
        <p:spPr>
          <a:xfrm>
            <a:off x="731520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card-label"/>
          <p:cNvSpPr txBox="1"/>
          <p:nvPr/>
        </p:nvSpPr>
        <p:spPr>
          <a:xfrm>
            <a:off x="1463040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11" name="answer-chip"/>
          <p:cNvSpPr/>
          <p:nvPr/>
        </p:nvSpPr>
        <p:spPr>
          <a:xfrm>
            <a:off x="731520" y="2355677"/>
            <a:ext cx="3149498" cy="614172"/>
          </a:xfrm>
          <a:prstGeom prst="roundRect">
            <a:avLst>
              <a:gd name="adj" fmla="val 17866"/>
            </a:avLst>
          </a:prstGeom>
          <a:solidFill>
            <a:srgbClr val="EFE4D0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12" name="answer"/>
          <p:cNvSpPr txBox="1"/>
          <p:nvPr/>
        </p:nvSpPr>
        <p:spPr>
          <a:xfrm>
            <a:off x="822960" y="2428829"/>
            <a:ext cx="2966618" cy="4678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</a:t>
            </a:r>
            <a:endParaRPr lang="en-US" sz="2200" dirty="0"/>
          </a:p>
        </p:txBody>
      </p:sp>
      <p:sp>
        <p:nvSpPr>
          <p:cNvPr id="13" name="card-body"/>
          <p:cNvSpPr txBox="1"/>
          <p:nvPr/>
        </p:nvSpPr>
        <p:spPr>
          <a:xfrm>
            <a:off x="731520" y="3152729"/>
            <a:ext cx="3149498" cy="285487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4 × (−3).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3 = 12, and different signs give a negative answer.</a:t>
            </a:r>
            <a:endParaRPr lang="en-US" sz="2200" dirty="0"/>
          </a:p>
        </p:txBody>
      </p:sp>
      <p:sp>
        <p:nvSpPr>
          <p:cNvPr id="14" name="card"/>
          <p:cNvSpPr/>
          <p:nvPr/>
        </p:nvSpPr>
        <p:spPr>
          <a:xfrm>
            <a:off x="4338218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15" name="card-hex"/>
          <p:cNvSpPr/>
          <p:nvPr/>
        </p:nvSpPr>
        <p:spPr>
          <a:xfrm>
            <a:off x="4521098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6" name="card-hex-label"/>
          <p:cNvSpPr txBox="1"/>
          <p:nvPr/>
        </p:nvSpPr>
        <p:spPr>
          <a:xfrm>
            <a:off x="4521098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card-label"/>
          <p:cNvSpPr txBox="1"/>
          <p:nvPr/>
        </p:nvSpPr>
        <p:spPr>
          <a:xfrm>
            <a:off x="5252618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18" name="answer-chip"/>
          <p:cNvSpPr/>
          <p:nvPr/>
        </p:nvSpPr>
        <p:spPr>
          <a:xfrm>
            <a:off x="4521098" y="2355677"/>
            <a:ext cx="3149498" cy="614172"/>
          </a:xfrm>
          <a:prstGeom prst="roundRect">
            <a:avLst>
              <a:gd name="adj" fmla="val 17866"/>
            </a:avLst>
          </a:prstGeom>
          <a:solidFill>
            <a:srgbClr val="EFE4D0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19" name="answer"/>
          <p:cNvSpPr txBox="1"/>
          <p:nvPr/>
        </p:nvSpPr>
        <p:spPr>
          <a:xfrm>
            <a:off x="4612538" y="2428829"/>
            <a:ext cx="2966618" cy="4678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30</a:t>
            </a:r>
            <a:endParaRPr lang="en-US" sz="2200" dirty="0"/>
          </a:p>
        </p:txBody>
      </p:sp>
      <p:sp>
        <p:nvSpPr>
          <p:cNvPr id="20" name="card-body"/>
          <p:cNvSpPr txBox="1"/>
          <p:nvPr/>
        </p:nvSpPr>
        <p:spPr>
          <a:xfrm>
            <a:off x="4521098" y="3152729"/>
            <a:ext cx="3149498" cy="285487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(−5) × (−6).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6 = 30, and two negatives multiplied give a positive.</a:t>
            </a:r>
            <a:endParaRPr lang="en-US" sz="2200" dirty="0"/>
          </a:p>
        </p:txBody>
      </p:sp>
      <p:sp>
        <p:nvSpPr>
          <p:cNvPr id="21" name="card"/>
          <p:cNvSpPr/>
          <p:nvPr/>
        </p:nvSpPr>
        <p:spPr>
          <a:xfrm>
            <a:off x="8127797" y="1389888"/>
            <a:ext cx="3515258" cy="4754880"/>
          </a:xfrm>
          <a:prstGeom prst="roundRect">
            <a:avLst>
              <a:gd name="adj" fmla="val 1561"/>
            </a:avLst>
          </a:prstGeom>
          <a:solidFill>
            <a:srgbClr val="F7F8FA"/>
          </a:solidFill>
          <a:ln w="12700">
            <a:solidFill>
              <a:srgbClr val="BCC5DA"/>
            </a:solidFill>
            <a:prstDash val="solid"/>
          </a:ln>
        </p:spPr>
      </p:sp>
      <p:sp>
        <p:nvSpPr>
          <p:cNvPr id="22" name="card-hex"/>
          <p:cNvSpPr/>
          <p:nvPr/>
        </p:nvSpPr>
        <p:spPr>
          <a:xfrm>
            <a:off x="8310677" y="1572768"/>
            <a:ext cx="640080" cy="554309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3" name="card-hex-label"/>
          <p:cNvSpPr txBox="1"/>
          <p:nvPr/>
        </p:nvSpPr>
        <p:spPr>
          <a:xfrm>
            <a:off x="8310677" y="1572768"/>
            <a:ext cx="640080" cy="554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card-label"/>
          <p:cNvSpPr txBox="1"/>
          <p:nvPr/>
        </p:nvSpPr>
        <p:spPr>
          <a:xfrm>
            <a:off x="9042197" y="1572768"/>
            <a:ext cx="250941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25" name="answer-chip"/>
          <p:cNvSpPr/>
          <p:nvPr/>
        </p:nvSpPr>
        <p:spPr>
          <a:xfrm>
            <a:off x="8310677" y="2355677"/>
            <a:ext cx="3149498" cy="614172"/>
          </a:xfrm>
          <a:prstGeom prst="roundRect">
            <a:avLst>
              <a:gd name="adj" fmla="val 17866"/>
            </a:avLst>
          </a:prstGeom>
          <a:solidFill>
            <a:srgbClr val="EFE4D0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26" name="answer"/>
          <p:cNvSpPr txBox="1"/>
          <p:nvPr/>
        </p:nvSpPr>
        <p:spPr>
          <a:xfrm>
            <a:off x="8402117" y="2428829"/>
            <a:ext cx="2966618" cy="46786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−3</a:t>
            </a:r>
            <a:endParaRPr lang="en-US" sz="2200" dirty="0"/>
          </a:p>
        </p:txBody>
      </p:sp>
      <p:sp>
        <p:nvSpPr>
          <p:cNvPr id="27" name="card-body"/>
          <p:cNvSpPr txBox="1"/>
          <p:nvPr/>
        </p:nvSpPr>
        <p:spPr>
          <a:xfrm>
            <a:off x="8310677" y="3152729"/>
            <a:ext cx="3149498" cy="285487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24 ÷ (−8).</a:t>
            </a:r>
            <a:endParaRPr lang="en-US" sz="2200" dirty="0"/>
          </a:p>
          <a:p>
            <a:pPr algn="l" indent="0" marL="0">
              <a:buNone/>
            </a:pPr>
            <a:r>
              <a:rPr lang="en-US" sz="2200" i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÷ 8 = 3, and different signs give a negative answer.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Pre-teach</a:t>
            </a:r>
            <a:endParaRPr lang="en-US" sz="1800" dirty="0"/>
          </a:p>
        </p:txBody>
      </p:sp>
      <p:sp>
        <p:nvSpPr>
          <p:cNvPr id="7" name="kw-head"/>
          <p:cNvSpPr/>
          <p:nvPr/>
        </p:nvSpPr>
        <p:spPr>
          <a:xfrm>
            <a:off x="548640" y="1389888"/>
            <a:ext cx="11094415" cy="457200"/>
          </a:xfrm>
          <a:prstGeom prst="roundRect">
            <a:avLst>
              <a:gd name="adj" fmla="val 16000"/>
            </a:avLst>
          </a:prstGeom>
          <a:solidFill>
            <a:srgbClr val="2E4A8C"/>
          </a:solidFill>
          <a:ln/>
        </p:spPr>
      </p:sp>
      <p:sp>
        <p:nvSpPr>
          <p:cNvPr id="8" name="kw-headtext"/>
          <p:cNvSpPr txBox="1"/>
          <p:nvPr/>
        </p:nvSpPr>
        <p:spPr>
          <a:xfrm>
            <a:off x="1143000" y="1389888"/>
            <a:ext cx="23317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800" dirty="0"/>
          </a:p>
        </p:txBody>
      </p:sp>
      <p:sp>
        <p:nvSpPr>
          <p:cNvPr id="9" name="kw-headtext"/>
          <p:cNvSpPr txBox="1"/>
          <p:nvPr/>
        </p:nvSpPr>
        <p:spPr>
          <a:xfrm>
            <a:off x="3657600" y="1389888"/>
            <a:ext cx="3474720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800" dirty="0"/>
          </a:p>
        </p:txBody>
      </p:sp>
      <p:sp>
        <p:nvSpPr>
          <p:cNvPr id="10" name="kw-headtext"/>
          <p:cNvSpPr txBox="1"/>
          <p:nvPr/>
        </p:nvSpPr>
        <p:spPr>
          <a:xfrm>
            <a:off x="7315200" y="1389888"/>
            <a:ext cx="4236415" cy="4572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sentence</a:t>
            </a:r>
            <a:endParaRPr lang="en-US" sz="1800" dirty="0"/>
          </a:p>
        </p:txBody>
      </p:sp>
      <p:sp>
        <p:nvSpPr>
          <p:cNvPr id="11" name="kw-row"/>
          <p:cNvSpPr/>
          <p:nvPr/>
        </p:nvSpPr>
        <p:spPr>
          <a:xfrm>
            <a:off x="548640" y="1920240"/>
            <a:ext cx="11094415" cy="570484"/>
          </a:xfrm>
          <a:prstGeom prst="roundRect">
            <a:avLst>
              <a:gd name="adj" fmla="val 9617"/>
            </a:avLst>
          </a:prstGeom>
          <a:solidFill>
            <a:srgbClr val="F5F6F9"/>
          </a:solidFill>
          <a:ln/>
        </p:spPr>
      </p:sp>
      <p:sp>
        <p:nvSpPr>
          <p:cNvPr id="12" name="kw-hex"/>
          <p:cNvSpPr/>
          <p:nvPr/>
        </p:nvSpPr>
        <p:spPr>
          <a:xfrm>
            <a:off x="658368" y="2027311"/>
            <a:ext cx="411480" cy="356342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3" name="kw-cell"/>
          <p:cNvSpPr txBox="1"/>
          <p:nvPr/>
        </p:nvSpPr>
        <p:spPr>
          <a:xfrm>
            <a:off x="1143000" y="1920240"/>
            <a:ext cx="2331720" cy="5704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</a:t>
            </a:r>
            <a:endParaRPr lang="en-US" sz="2200" dirty="0"/>
          </a:p>
        </p:txBody>
      </p:sp>
      <p:sp>
        <p:nvSpPr>
          <p:cNvPr id="14" name="kw-cell"/>
          <p:cNvSpPr txBox="1"/>
          <p:nvPr/>
        </p:nvSpPr>
        <p:spPr>
          <a:xfrm>
            <a:off x="3657600" y="1920240"/>
            <a:ext cx="3474720" cy="5704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when you multiply</a:t>
            </a:r>
            <a:endParaRPr lang="en-US" sz="2000" dirty="0"/>
          </a:p>
        </p:txBody>
      </p:sp>
      <p:sp>
        <p:nvSpPr>
          <p:cNvPr id="15" name="kw-cell"/>
          <p:cNvSpPr txBox="1"/>
          <p:nvPr/>
        </p:nvSpPr>
        <p:spPr>
          <a:xfrm>
            <a:off x="7315200" y="1920240"/>
            <a:ext cx="4236415" cy="5704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 of −3 and 4 is −12.</a:t>
            </a:r>
            <a:endParaRPr lang="en-US" sz="2000" dirty="0"/>
          </a:p>
        </p:txBody>
      </p:sp>
      <p:sp>
        <p:nvSpPr>
          <p:cNvPr id="16" name="kw-row"/>
          <p:cNvSpPr/>
          <p:nvPr/>
        </p:nvSpPr>
        <p:spPr>
          <a:xfrm>
            <a:off x="548640" y="2563876"/>
            <a:ext cx="11094415" cy="570484"/>
          </a:xfrm>
          <a:prstGeom prst="roundRect">
            <a:avLst>
              <a:gd name="adj" fmla="val 9617"/>
            </a:avLst>
          </a:prstGeom>
          <a:solidFill>
            <a:srgbClr val="F9F4EC"/>
          </a:solidFill>
          <a:ln/>
        </p:spPr>
      </p:sp>
      <p:sp>
        <p:nvSpPr>
          <p:cNvPr id="17" name="kw-hex"/>
          <p:cNvSpPr/>
          <p:nvPr/>
        </p:nvSpPr>
        <p:spPr>
          <a:xfrm>
            <a:off x="658368" y="2670947"/>
            <a:ext cx="411480" cy="356342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18" name="kw-cell"/>
          <p:cNvSpPr txBox="1"/>
          <p:nvPr/>
        </p:nvSpPr>
        <p:spPr>
          <a:xfrm>
            <a:off x="1143000" y="2563876"/>
            <a:ext cx="2331720" cy="5704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quotient</a:t>
            </a:r>
            <a:endParaRPr lang="en-US" sz="2200" dirty="0"/>
          </a:p>
        </p:txBody>
      </p:sp>
      <p:sp>
        <p:nvSpPr>
          <p:cNvPr id="19" name="kw-cell"/>
          <p:cNvSpPr txBox="1"/>
          <p:nvPr/>
        </p:nvSpPr>
        <p:spPr>
          <a:xfrm>
            <a:off x="3657600" y="2563876"/>
            <a:ext cx="3474720" cy="5704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 when you divide</a:t>
            </a:r>
            <a:endParaRPr lang="en-US" sz="2000" dirty="0"/>
          </a:p>
        </p:txBody>
      </p:sp>
      <p:sp>
        <p:nvSpPr>
          <p:cNvPr id="20" name="kw-cell"/>
          <p:cNvSpPr txBox="1"/>
          <p:nvPr/>
        </p:nvSpPr>
        <p:spPr>
          <a:xfrm>
            <a:off x="7315200" y="2563876"/>
            <a:ext cx="4236415" cy="5704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quotient of −20 and 5 is −4.</a:t>
            </a:r>
            <a:endParaRPr lang="en-US" sz="2000" dirty="0"/>
          </a:p>
        </p:txBody>
      </p:sp>
      <p:sp>
        <p:nvSpPr>
          <p:cNvPr id="21" name="kw-row"/>
          <p:cNvSpPr/>
          <p:nvPr/>
        </p:nvSpPr>
        <p:spPr>
          <a:xfrm>
            <a:off x="548640" y="3207512"/>
            <a:ext cx="11094415" cy="1136904"/>
          </a:xfrm>
          <a:prstGeom prst="roundRect">
            <a:avLst>
              <a:gd name="adj" fmla="val 4826"/>
            </a:avLst>
          </a:prstGeom>
          <a:solidFill>
            <a:srgbClr val="F5F6F9"/>
          </a:solidFill>
          <a:ln/>
        </p:spPr>
      </p:sp>
      <p:sp>
        <p:nvSpPr>
          <p:cNvPr id="22" name="kw-hex"/>
          <p:cNvSpPr/>
          <p:nvPr/>
        </p:nvSpPr>
        <p:spPr>
          <a:xfrm>
            <a:off x="658368" y="3597793"/>
            <a:ext cx="411480" cy="356342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3" name="kw-cell"/>
          <p:cNvSpPr txBox="1"/>
          <p:nvPr/>
        </p:nvSpPr>
        <p:spPr>
          <a:xfrm>
            <a:off x="1143000" y="3207512"/>
            <a:ext cx="2331720" cy="113690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 family</a:t>
            </a:r>
            <a:endParaRPr lang="en-US" sz="2200" dirty="0"/>
          </a:p>
        </p:txBody>
      </p:sp>
      <p:sp>
        <p:nvSpPr>
          <p:cNvPr id="24" name="kw-cell"/>
          <p:cNvSpPr txBox="1"/>
          <p:nvPr/>
        </p:nvSpPr>
        <p:spPr>
          <a:xfrm>
            <a:off x="3657600" y="3207512"/>
            <a:ext cx="3474720" cy="113690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multiplication and division facts that use the same three numbers</a:t>
            </a:r>
            <a:endParaRPr lang="en-US" sz="2000" dirty="0"/>
          </a:p>
        </p:txBody>
      </p:sp>
      <p:sp>
        <p:nvSpPr>
          <p:cNvPr id="25" name="kw-cell"/>
          <p:cNvSpPr txBox="1"/>
          <p:nvPr/>
        </p:nvSpPr>
        <p:spPr>
          <a:xfrm>
            <a:off x="7315200" y="3207512"/>
            <a:ext cx="4236415" cy="113690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5 = 20 and 20 ÷ 5 = 4 are in the same fact family.</a:t>
            </a:r>
            <a:endParaRPr lang="en-US" sz="2000" dirty="0"/>
          </a:p>
        </p:txBody>
      </p:sp>
      <p:sp>
        <p:nvSpPr>
          <p:cNvPr id="26" name="kw-row"/>
          <p:cNvSpPr/>
          <p:nvPr/>
        </p:nvSpPr>
        <p:spPr>
          <a:xfrm>
            <a:off x="548640" y="4417568"/>
            <a:ext cx="11094415" cy="827024"/>
          </a:xfrm>
          <a:prstGeom prst="roundRect">
            <a:avLst>
              <a:gd name="adj" fmla="val 6634"/>
            </a:avLst>
          </a:prstGeom>
          <a:solidFill>
            <a:srgbClr val="F9F4EC"/>
          </a:solidFill>
          <a:ln/>
        </p:spPr>
      </p:sp>
      <p:sp>
        <p:nvSpPr>
          <p:cNvPr id="27" name="kw-hex"/>
          <p:cNvSpPr/>
          <p:nvPr/>
        </p:nvSpPr>
        <p:spPr>
          <a:xfrm>
            <a:off x="658368" y="4652909"/>
            <a:ext cx="411480" cy="356342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28" name="kw-cell"/>
          <p:cNvSpPr txBox="1"/>
          <p:nvPr/>
        </p:nvSpPr>
        <p:spPr>
          <a:xfrm>
            <a:off x="1143000" y="4417568"/>
            <a:ext cx="2331720" cy="8270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</a:t>
            </a:r>
            <a:endParaRPr lang="en-US" sz="2200" dirty="0"/>
          </a:p>
        </p:txBody>
      </p:sp>
      <p:sp>
        <p:nvSpPr>
          <p:cNvPr id="29" name="kw-cell"/>
          <p:cNvSpPr txBox="1"/>
          <p:nvPr/>
        </p:nvSpPr>
        <p:spPr>
          <a:xfrm>
            <a:off x="3657600" y="4417568"/>
            <a:ext cx="3474720" cy="8270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+ or − that shows if a number is positive or negative</a:t>
            </a:r>
            <a:endParaRPr lang="en-US" sz="2000" dirty="0"/>
          </a:p>
        </p:txBody>
      </p:sp>
      <p:sp>
        <p:nvSpPr>
          <p:cNvPr id="30" name="kw-cell"/>
          <p:cNvSpPr txBox="1"/>
          <p:nvPr/>
        </p:nvSpPr>
        <p:spPr>
          <a:xfrm>
            <a:off x="7315200" y="4417568"/>
            <a:ext cx="4236415" cy="8270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 of −7 is negative.</a:t>
            </a:r>
            <a:endParaRPr lang="en-US" sz="2000" dirty="0"/>
          </a:p>
        </p:txBody>
      </p:sp>
      <p:sp>
        <p:nvSpPr>
          <p:cNvPr id="31" name="kw-row"/>
          <p:cNvSpPr/>
          <p:nvPr/>
        </p:nvSpPr>
        <p:spPr>
          <a:xfrm>
            <a:off x="548640" y="5317744"/>
            <a:ext cx="11094415" cy="827024"/>
          </a:xfrm>
          <a:prstGeom prst="roundRect">
            <a:avLst>
              <a:gd name="adj" fmla="val 6634"/>
            </a:avLst>
          </a:prstGeom>
          <a:solidFill>
            <a:srgbClr val="F5F6F9"/>
          </a:solidFill>
          <a:ln/>
        </p:spPr>
      </p:sp>
      <p:sp>
        <p:nvSpPr>
          <p:cNvPr id="32" name="kw-hex"/>
          <p:cNvSpPr/>
          <p:nvPr/>
        </p:nvSpPr>
        <p:spPr>
          <a:xfrm>
            <a:off x="658368" y="5553085"/>
            <a:ext cx="411480" cy="356342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33" name="kw-cell"/>
          <p:cNvSpPr txBox="1"/>
          <p:nvPr/>
        </p:nvSpPr>
        <p:spPr>
          <a:xfrm>
            <a:off x="1143000" y="5317744"/>
            <a:ext cx="2331720" cy="8270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</a:t>
            </a:r>
            <a:endParaRPr lang="en-US" sz="2200" dirty="0"/>
          </a:p>
        </p:txBody>
      </p:sp>
      <p:sp>
        <p:nvSpPr>
          <p:cNvPr id="34" name="kw-cell"/>
          <p:cNvSpPr txBox="1"/>
          <p:nvPr/>
        </p:nvSpPr>
        <p:spPr>
          <a:xfrm>
            <a:off x="3657600" y="5317744"/>
            <a:ext cx="3474720" cy="8270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changes in the same way each time</a:t>
            </a:r>
            <a:endParaRPr lang="en-US" sz="2000" dirty="0"/>
          </a:p>
        </p:txBody>
      </p:sp>
      <p:sp>
        <p:nvSpPr>
          <p:cNvPr id="35" name="kw-cell"/>
          <p:cNvSpPr txBox="1"/>
          <p:nvPr/>
        </p:nvSpPr>
        <p:spPr>
          <a:xfrm>
            <a:off x="7315200" y="5317744"/>
            <a:ext cx="4236415" cy="8270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goes up by 3 each time.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Read-along (1 of 2)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Pre-teach</a:t>
            </a:r>
            <a:endParaRPr lang="en-US" sz="1800" dirty="0"/>
          </a:p>
        </p:txBody>
      </p:sp>
      <p:sp>
        <p:nvSpPr>
          <p:cNvPr id="7" name="ra-side"/>
          <p:cNvSpPr/>
          <p:nvPr/>
        </p:nvSpPr>
        <p:spPr>
          <a:xfrm>
            <a:off x="548640" y="1389888"/>
            <a:ext cx="1874520" cy="4754880"/>
          </a:xfrm>
          <a:prstGeom prst="roundRect">
            <a:avLst>
              <a:gd name="adj" fmla="val 3902"/>
            </a:avLst>
          </a:prstGeom>
          <a:solidFill>
            <a:srgbClr val="2E4A8C"/>
          </a:solidFill>
          <a:ln/>
        </p:spPr>
      </p:sp>
      <p:sp>
        <p:nvSpPr>
          <p:cNvPr id="8" name="ra-hex"/>
          <p:cNvSpPr/>
          <p:nvPr/>
        </p:nvSpPr>
        <p:spPr>
          <a:xfrm>
            <a:off x="914400" y="1709928"/>
            <a:ext cx="1143000" cy="989838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ra-hex-label"/>
          <p:cNvSpPr txBox="1"/>
          <p:nvPr/>
        </p:nvSpPr>
        <p:spPr>
          <a:xfrm>
            <a:off x="914400" y="1709928"/>
            <a:ext cx="1143000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2400" dirty="0"/>
          </a:p>
        </p:txBody>
      </p:sp>
      <p:sp>
        <p:nvSpPr>
          <p:cNvPr id="10" name="ra-note"/>
          <p:cNvSpPr txBox="1"/>
          <p:nvPr/>
        </p:nvSpPr>
        <p:spPr>
          <a:xfrm>
            <a:off x="640080" y="2898648"/>
            <a:ext cx="1691640" cy="2194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together;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pupils who were pre-taught lead</a:t>
            </a:r>
            <a:endParaRPr lang="en-US" sz="1800" dirty="0"/>
          </a:p>
        </p:txBody>
      </p:sp>
      <p:sp>
        <p:nvSpPr>
          <p:cNvPr id="11" name="ra-panel"/>
          <p:cNvSpPr/>
          <p:nvPr/>
        </p:nvSpPr>
        <p:spPr>
          <a:xfrm>
            <a:off x="2697480" y="1389888"/>
            <a:ext cx="8945575" cy="4754880"/>
          </a:xfrm>
          <a:prstGeom prst="roundRect">
            <a:avLst>
              <a:gd name="adj" fmla="val 769"/>
            </a:avLst>
          </a:prstGeom>
          <a:solidFill>
            <a:srgbClr val="F7F8FA"/>
          </a:solidFill>
          <a:ln w="12700">
            <a:solidFill>
              <a:srgbClr val="C7CEE0"/>
            </a:solidFill>
            <a:prstDash val="solid"/>
          </a:ln>
        </p:spPr>
      </p:sp>
      <p:sp>
        <p:nvSpPr>
          <p:cNvPr id="12" name="passage"/>
          <p:cNvSpPr txBox="1"/>
          <p:nvPr/>
        </p:nvSpPr>
        <p:spPr>
          <a:xfrm>
            <a:off x="2880360" y="1527048"/>
            <a:ext cx="8579815" cy="4480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that 3 × 4 is 12.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3 lots of −4?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−4, −4 and −4.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that makes −12.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times a negative gives a negative.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look at a </a:t>
            </a:r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 × 2 is −6.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Read-along (2 of 2)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Pre-teach</a:t>
            </a:r>
            <a:endParaRPr lang="en-US" sz="1800" dirty="0"/>
          </a:p>
        </p:txBody>
      </p:sp>
      <p:sp>
        <p:nvSpPr>
          <p:cNvPr id="7" name="ra-side"/>
          <p:cNvSpPr/>
          <p:nvPr/>
        </p:nvSpPr>
        <p:spPr>
          <a:xfrm>
            <a:off x="548640" y="1389888"/>
            <a:ext cx="1874520" cy="4754880"/>
          </a:xfrm>
          <a:prstGeom prst="roundRect">
            <a:avLst>
              <a:gd name="adj" fmla="val 3902"/>
            </a:avLst>
          </a:prstGeom>
          <a:solidFill>
            <a:srgbClr val="2E4A8C"/>
          </a:solidFill>
          <a:ln/>
        </p:spPr>
      </p:sp>
      <p:sp>
        <p:nvSpPr>
          <p:cNvPr id="8" name="ra-hex"/>
          <p:cNvSpPr/>
          <p:nvPr/>
        </p:nvSpPr>
        <p:spPr>
          <a:xfrm>
            <a:off x="914400" y="1709928"/>
            <a:ext cx="1143000" cy="989838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ra-hex-label"/>
          <p:cNvSpPr txBox="1"/>
          <p:nvPr/>
        </p:nvSpPr>
        <p:spPr>
          <a:xfrm>
            <a:off x="914400" y="1709928"/>
            <a:ext cx="1143000" cy="9898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2400" dirty="0"/>
          </a:p>
        </p:txBody>
      </p:sp>
      <p:sp>
        <p:nvSpPr>
          <p:cNvPr id="10" name="ra-note"/>
          <p:cNvSpPr txBox="1"/>
          <p:nvPr/>
        </p:nvSpPr>
        <p:spPr>
          <a:xfrm>
            <a:off x="640080" y="2898648"/>
            <a:ext cx="1691640" cy="2194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together;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pupils who were pre-taught lead</a:t>
            </a:r>
            <a:endParaRPr lang="en-US" sz="1800" dirty="0"/>
          </a:p>
        </p:txBody>
      </p:sp>
      <p:sp>
        <p:nvSpPr>
          <p:cNvPr id="11" name="ra-panel"/>
          <p:cNvSpPr/>
          <p:nvPr/>
        </p:nvSpPr>
        <p:spPr>
          <a:xfrm>
            <a:off x="2697480" y="1389888"/>
            <a:ext cx="8945575" cy="4754880"/>
          </a:xfrm>
          <a:prstGeom prst="roundRect">
            <a:avLst>
              <a:gd name="adj" fmla="val 769"/>
            </a:avLst>
          </a:prstGeom>
          <a:solidFill>
            <a:srgbClr val="F7F8FA"/>
          </a:solidFill>
          <a:ln w="12700">
            <a:solidFill>
              <a:srgbClr val="C7CEE0"/>
            </a:solidFill>
            <a:prstDash val="solid"/>
          </a:ln>
        </p:spPr>
      </p:sp>
      <p:sp>
        <p:nvSpPr>
          <p:cNvPr id="12" name="passage"/>
          <p:cNvSpPr txBox="1"/>
          <p:nvPr/>
        </p:nvSpPr>
        <p:spPr>
          <a:xfrm>
            <a:off x="2880360" y="1527048"/>
            <a:ext cx="8579815" cy="44805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 × 1 is −3.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 × 0 is 0.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answer goes up by 3.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−3 × −1 must be 3.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 times a negative gives a positive.</a:t>
            </a:r>
            <a:endParaRPr lang="en-US" sz="28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B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</a:t>
            </a:r>
            <a:pPr algn="l"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follows the same rules.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Multiplying a positive and a negative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800" dirty="0"/>
          </a:p>
        </p:txBody>
      </p:sp>
      <p:sp>
        <p:nvSpPr>
          <p:cNvPr id="7" name="tip-box"/>
          <p:cNvSpPr/>
          <p:nvPr/>
        </p:nvSpPr>
        <p:spPr>
          <a:xfrm>
            <a:off x="548640" y="5350256"/>
            <a:ext cx="5074920" cy="794512"/>
          </a:xfrm>
          <a:prstGeom prst="roundRect">
            <a:avLst>
              <a:gd name="adj" fmla="val 17263"/>
            </a:avLst>
          </a:prstGeom>
          <a:solidFill>
            <a:srgbClr val="F6F0E6"/>
          </a:solidFill>
          <a:ln w="15875">
            <a:solidFill>
              <a:srgbClr val="B8862B"/>
            </a:solidFill>
            <a:prstDash val="solid"/>
          </a:ln>
        </p:spPr>
      </p:sp>
      <p:sp>
        <p:nvSpPr>
          <p:cNvPr id="8" name="tip-hex"/>
          <p:cNvSpPr/>
          <p:nvPr/>
        </p:nvSpPr>
        <p:spPr>
          <a:xfrm>
            <a:off x="685800" y="5549544"/>
            <a:ext cx="457200" cy="395935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ip-hex-label"/>
          <p:cNvSpPr txBox="1"/>
          <p:nvPr/>
        </p:nvSpPr>
        <p:spPr>
          <a:xfrm>
            <a:off x="685800" y="5549544"/>
            <a:ext cx="45720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ip"/>
          <p:cNvSpPr txBox="1"/>
          <p:nvPr/>
        </p:nvSpPr>
        <p:spPr>
          <a:xfrm>
            <a:off x="1280160" y="5405120"/>
            <a:ext cx="4206240" cy="6847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the digits first. Sort out the sign last.</a:t>
            </a:r>
            <a:endParaRPr lang="en-US" sz="1800" dirty="0"/>
          </a:p>
        </p:txBody>
      </p:sp>
      <p:sp>
        <p:nvSpPr>
          <p:cNvPr id="11" name="worked-panel"/>
          <p:cNvSpPr/>
          <p:nvPr/>
        </p:nvSpPr>
        <p:spPr>
          <a:xfrm>
            <a:off x="5989320" y="1389888"/>
            <a:ext cx="565373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5875">
            <a:solidFill>
              <a:srgbClr val="9DAAC9"/>
            </a:solidFill>
            <a:prstDash val="solid"/>
          </a:ln>
        </p:spPr>
      </p:sp>
      <p:sp>
        <p:nvSpPr>
          <p:cNvPr id="12" name="worked-tab"/>
          <p:cNvSpPr/>
          <p:nvPr/>
        </p:nvSpPr>
        <p:spPr>
          <a:xfrm>
            <a:off x="6126480" y="1499616"/>
            <a:ext cx="2377440" cy="457200"/>
          </a:xfrm>
          <a:prstGeom prst="roundRect">
            <a:avLst>
              <a:gd name="adj" fmla="val 40000"/>
            </a:avLst>
          </a:prstGeom>
          <a:solidFill>
            <a:srgbClr val="2E4A8C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worked-q"/>
          <p:cNvSpPr txBox="1"/>
          <p:nvPr/>
        </p:nvSpPr>
        <p:spPr>
          <a:xfrm>
            <a:off x="6126480" y="2066544"/>
            <a:ext cx="5379415" cy="4058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7 × (−6).</a:t>
            </a:r>
            <a:endParaRPr lang="en-US" sz="1800" dirty="0"/>
          </a:p>
        </p:txBody>
      </p:sp>
      <p:sp>
        <p:nvSpPr>
          <p:cNvPr id="14" name="step-box"/>
          <p:cNvSpPr/>
          <p:nvPr/>
        </p:nvSpPr>
        <p:spPr>
          <a:xfrm>
            <a:off x="6126480" y="2609596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5" name="step-hex"/>
          <p:cNvSpPr/>
          <p:nvPr/>
        </p:nvSpPr>
        <p:spPr>
          <a:xfrm>
            <a:off x="6217920" y="2710930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6" name="step-hex-label"/>
          <p:cNvSpPr txBox="1"/>
          <p:nvPr/>
        </p:nvSpPr>
        <p:spPr>
          <a:xfrm>
            <a:off x="6217920" y="2710930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tep"/>
          <p:cNvSpPr txBox="1"/>
          <p:nvPr/>
        </p:nvSpPr>
        <p:spPr>
          <a:xfrm>
            <a:off x="6766560" y="2609596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the digits: 7 × 6 = 42.</a:t>
            </a:r>
            <a:endParaRPr lang="en-US" sz="1800" dirty="0"/>
          </a:p>
        </p:txBody>
      </p:sp>
      <p:sp>
        <p:nvSpPr>
          <p:cNvPr id="18" name="step-box"/>
          <p:cNvSpPr/>
          <p:nvPr/>
        </p:nvSpPr>
        <p:spPr>
          <a:xfrm>
            <a:off x="6126480" y="3267964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9" name="step-hex"/>
          <p:cNvSpPr/>
          <p:nvPr/>
        </p:nvSpPr>
        <p:spPr>
          <a:xfrm>
            <a:off x="6217920" y="3369298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0" name="step-hex-label"/>
          <p:cNvSpPr txBox="1"/>
          <p:nvPr/>
        </p:nvSpPr>
        <p:spPr>
          <a:xfrm>
            <a:off x="6217920" y="3369298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tep"/>
          <p:cNvSpPr txBox="1"/>
          <p:nvPr/>
        </p:nvSpPr>
        <p:spPr>
          <a:xfrm>
            <a:off x="6766560" y="3267964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is positive and one is negative.</a:t>
            </a:r>
            <a:endParaRPr lang="en-US" sz="1800" dirty="0"/>
          </a:p>
        </p:txBody>
      </p:sp>
      <p:sp>
        <p:nvSpPr>
          <p:cNvPr id="22" name="step-box"/>
          <p:cNvSpPr/>
          <p:nvPr/>
        </p:nvSpPr>
        <p:spPr>
          <a:xfrm>
            <a:off x="6126480" y="3926332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23" name="step-hex"/>
          <p:cNvSpPr/>
          <p:nvPr/>
        </p:nvSpPr>
        <p:spPr>
          <a:xfrm>
            <a:off x="6217920" y="4027666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4" name="step-hex-label"/>
          <p:cNvSpPr txBox="1"/>
          <p:nvPr/>
        </p:nvSpPr>
        <p:spPr>
          <a:xfrm>
            <a:off x="6217920" y="4027666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tep"/>
          <p:cNvSpPr txBox="1"/>
          <p:nvPr/>
        </p:nvSpPr>
        <p:spPr>
          <a:xfrm>
            <a:off x="6766560" y="3926332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answer is negative: 7 × (−6) = −42.</a:t>
            </a:r>
            <a:endParaRPr lang="en-US" sz="1800" dirty="0"/>
          </a:p>
        </p:txBody>
      </p:sp>
      <p:sp>
        <p:nvSpPr>
          <p:cNvPr id="26" name="worked-answer"/>
          <p:cNvSpPr/>
          <p:nvPr/>
        </p:nvSpPr>
        <p:spPr>
          <a:xfrm>
            <a:off x="6126480" y="4630420"/>
            <a:ext cx="5379415" cy="552196"/>
          </a:xfrm>
          <a:prstGeom prst="roundRect">
            <a:avLst>
              <a:gd name="adj" fmla="val 33119"/>
            </a:avLst>
          </a:prstGeom>
          <a:solidFill>
            <a:srgbClr val="EFE4D0"/>
          </a:solidFill>
          <a:ln w="19050">
            <a:solidFill>
              <a:srgbClr val="B8862B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−42</a:t>
            </a:r>
            <a:endParaRPr lang="en-US" sz="1800" dirty="0"/>
          </a:p>
        </p:txBody>
      </p:sp>
      <p:sp>
        <p:nvSpPr>
          <p:cNvPr id="27" name="bullet-card"/>
          <p:cNvSpPr/>
          <p:nvPr/>
        </p:nvSpPr>
        <p:spPr>
          <a:xfrm>
            <a:off x="548640" y="1389888"/>
            <a:ext cx="5074920" cy="1131147"/>
          </a:xfrm>
          <a:prstGeom prst="roundRect">
            <a:avLst>
              <a:gd name="adj" fmla="val 6467"/>
            </a:avLst>
          </a:prstGeom>
          <a:solidFill>
            <a:srgbClr val="F5F6F9"/>
          </a:solidFill>
          <a:ln/>
        </p:spPr>
      </p:sp>
      <p:sp>
        <p:nvSpPr>
          <p:cNvPr id="28" name="bullet-hex"/>
          <p:cNvSpPr/>
          <p:nvPr/>
        </p:nvSpPr>
        <p:spPr>
          <a:xfrm>
            <a:off x="676656" y="1789169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9" name="bullet"/>
          <p:cNvSpPr txBox="1"/>
          <p:nvPr/>
        </p:nvSpPr>
        <p:spPr>
          <a:xfrm>
            <a:off x="1143000" y="1389888"/>
            <a:ext cx="4389120" cy="113114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(−4) means three lots of −4. That is (−4) + (−4) + (−4) = −12.</a:t>
            </a:r>
            <a:endParaRPr lang="en-US" sz="2200" dirty="0"/>
          </a:p>
        </p:txBody>
      </p:sp>
      <p:sp>
        <p:nvSpPr>
          <p:cNvPr id="30" name="bullet-card"/>
          <p:cNvSpPr/>
          <p:nvPr/>
        </p:nvSpPr>
        <p:spPr>
          <a:xfrm>
            <a:off x="548640" y="2667339"/>
            <a:ext cx="5074920" cy="1131147"/>
          </a:xfrm>
          <a:prstGeom prst="roundRect">
            <a:avLst>
              <a:gd name="adj" fmla="val 6467"/>
            </a:avLst>
          </a:prstGeom>
          <a:solidFill>
            <a:srgbClr val="F5F6F9"/>
          </a:solidFill>
          <a:ln/>
        </p:spPr>
      </p:sp>
      <p:sp>
        <p:nvSpPr>
          <p:cNvPr id="31" name="bullet-hex"/>
          <p:cNvSpPr/>
          <p:nvPr/>
        </p:nvSpPr>
        <p:spPr>
          <a:xfrm>
            <a:off x="676656" y="3066619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32" name="bullet"/>
          <p:cNvSpPr txBox="1"/>
          <p:nvPr/>
        </p:nvSpPr>
        <p:spPr>
          <a:xfrm>
            <a:off x="1143000" y="2667339"/>
            <a:ext cx="4389120" cy="113114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does not matter: (−4) × 3 = −12 as well.</a:t>
            </a:r>
            <a:endParaRPr lang="en-US" sz="2200" dirty="0"/>
          </a:p>
        </p:txBody>
      </p:sp>
      <p:sp>
        <p:nvSpPr>
          <p:cNvPr id="33" name="bullet-card"/>
          <p:cNvSpPr/>
          <p:nvPr/>
        </p:nvSpPr>
        <p:spPr>
          <a:xfrm>
            <a:off x="548640" y="3944789"/>
            <a:ext cx="5074920" cy="1131147"/>
          </a:xfrm>
          <a:prstGeom prst="roundRect">
            <a:avLst>
              <a:gd name="adj" fmla="val 6467"/>
            </a:avLst>
          </a:prstGeom>
          <a:solidFill>
            <a:srgbClr val="F5F6F9"/>
          </a:solidFill>
          <a:ln/>
        </p:spPr>
      </p:sp>
      <p:sp>
        <p:nvSpPr>
          <p:cNvPr id="34" name="bullet-hex"/>
          <p:cNvSpPr/>
          <p:nvPr/>
        </p:nvSpPr>
        <p:spPr>
          <a:xfrm>
            <a:off x="676656" y="4344070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35" name="bullet"/>
          <p:cNvSpPr txBox="1"/>
          <p:nvPr/>
        </p:nvSpPr>
        <p:spPr>
          <a:xfrm>
            <a:off x="1143000" y="3944789"/>
            <a:ext cx="4389120" cy="1131147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multiply the digits as normal. Then decide the sign.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Multiplying two negatives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800" dirty="0"/>
          </a:p>
        </p:txBody>
      </p:sp>
      <p:sp>
        <p:nvSpPr>
          <p:cNvPr id="7" name="tip-box"/>
          <p:cNvSpPr/>
          <p:nvPr/>
        </p:nvSpPr>
        <p:spPr>
          <a:xfrm>
            <a:off x="548640" y="5350256"/>
            <a:ext cx="5074920" cy="794512"/>
          </a:xfrm>
          <a:prstGeom prst="roundRect">
            <a:avLst>
              <a:gd name="adj" fmla="val 17263"/>
            </a:avLst>
          </a:prstGeom>
          <a:solidFill>
            <a:srgbClr val="F6F0E6"/>
          </a:solidFill>
          <a:ln w="15875">
            <a:solidFill>
              <a:srgbClr val="B8862B"/>
            </a:solidFill>
            <a:prstDash val="solid"/>
          </a:ln>
        </p:spPr>
      </p:sp>
      <p:sp>
        <p:nvSpPr>
          <p:cNvPr id="8" name="tip-hex"/>
          <p:cNvSpPr/>
          <p:nvPr/>
        </p:nvSpPr>
        <p:spPr>
          <a:xfrm>
            <a:off x="685800" y="5549544"/>
            <a:ext cx="457200" cy="395935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ip-hex-label"/>
          <p:cNvSpPr txBox="1"/>
          <p:nvPr/>
        </p:nvSpPr>
        <p:spPr>
          <a:xfrm>
            <a:off x="685800" y="5549544"/>
            <a:ext cx="45720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ip"/>
          <p:cNvSpPr txBox="1"/>
          <p:nvPr/>
        </p:nvSpPr>
        <p:spPr>
          <a:xfrm>
            <a:off x="1280160" y="5405120"/>
            <a:ext cx="4206240" cy="6847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signs: positive. Different signs: negative.</a:t>
            </a:r>
            <a:endParaRPr lang="en-US" sz="1800" dirty="0"/>
          </a:p>
        </p:txBody>
      </p:sp>
      <p:sp>
        <p:nvSpPr>
          <p:cNvPr id="11" name="worked-panel"/>
          <p:cNvSpPr/>
          <p:nvPr/>
        </p:nvSpPr>
        <p:spPr>
          <a:xfrm>
            <a:off x="5989320" y="1389888"/>
            <a:ext cx="565373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5875">
            <a:solidFill>
              <a:srgbClr val="9DAAC9"/>
            </a:solidFill>
            <a:prstDash val="solid"/>
          </a:ln>
        </p:spPr>
      </p:sp>
      <p:sp>
        <p:nvSpPr>
          <p:cNvPr id="12" name="worked-tab"/>
          <p:cNvSpPr/>
          <p:nvPr/>
        </p:nvSpPr>
        <p:spPr>
          <a:xfrm>
            <a:off x="6126480" y="1499616"/>
            <a:ext cx="2377440" cy="457200"/>
          </a:xfrm>
          <a:prstGeom prst="roundRect">
            <a:avLst>
              <a:gd name="adj" fmla="val 40000"/>
            </a:avLst>
          </a:prstGeom>
          <a:solidFill>
            <a:srgbClr val="2E4A8C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worked-q"/>
          <p:cNvSpPr txBox="1"/>
          <p:nvPr/>
        </p:nvSpPr>
        <p:spPr>
          <a:xfrm>
            <a:off x="6126480" y="2066544"/>
            <a:ext cx="5379415" cy="4058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(−8) × (−5).</a:t>
            </a:r>
            <a:endParaRPr lang="en-US" sz="1800" dirty="0"/>
          </a:p>
        </p:txBody>
      </p:sp>
      <p:sp>
        <p:nvSpPr>
          <p:cNvPr id="14" name="step-box"/>
          <p:cNvSpPr/>
          <p:nvPr/>
        </p:nvSpPr>
        <p:spPr>
          <a:xfrm>
            <a:off x="6126480" y="2609596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5" name="step-hex"/>
          <p:cNvSpPr/>
          <p:nvPr/>
        </p:nvSpPr>
        <p:spPr>
          <a:xfrm>
            <a:off x="6217920" y="2710930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6" name="step-hex-label"/>
          <p:cNvSpPr txBox="1"/>
          <p:nvPr/>
        </p:nvSpPr>
        <p:spPr>
          <a:xfrm>
            <a:off x="6217920" y="2710930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tep"/>
          <p:cNvSpPr txBox="1"/>
          <p:nvPr/>
        </p:nvSpPr>
        <p:spPr>
          <a:xfrm>
            <a:off x="6766560" y="2609596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× 5 = 40.</a:t>
            </a:r>
            <a:endParaRPr lang="en-US" sz="1800" dirty="0"/>
          </a:p>
        </p:txBody>
      </p:sp>
      <p:sp>
        <p:nvSpPr>
          <p:cNvPr id="18" name="step-box"/>
          <p:cNvSpPr/>
          <p:nvPr/>
        </p:nvSpPr>
        <p:spPr>
          <a:xfrm>
            <a:off x="6126480" y="3267964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9" name="step-hex"/>
          <p:cNvSpPr/>
          <p:nvPr/>
        </p:nvSpPr>
        <p:spPr>
          <a:xfrm>
            <a:off x="6217920" y="3369298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0" name="step-hex-label"/>
          <p:cNvSpPr txBox="1"/>
          <p:nvPr/>
        </p:nvSpPr>
        <p:spPr>
          <a:xfrm>
            <a:off x="6217920" y="3369298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tep"/>
          <p:cNvSpPr txBox="1"/>
          <p:nvPr/>
        </p:nvSpPr>
        <p:spPr>
          <a:xfrm>
            <a:off x="6766560" y="3267964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numbers are negative.</a:t>
            </a:r>
            <a:endParaRPr lang="en-US" sz="1800" dirty="0"/>
          </a:p>
        </p:txBody>
      </p:sp>
      <p:sp>
        <p:nvSpPr>
          <p:cNvPr id="22" name="step-box"/>
          <p:cNvSpPr/>
          <p:nvPr/>
        </p:nvSpPr>
        <p:spPr>
          <a:xfrm>
            <a:off x="6126480" y="3926332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23" name="step-hex"/>
          <p:cNvSpPr/>
          <p:nvPr/>
        </p:nvSpPr>
        <p:spPr>
          <a:xfrm>
            <a:off x="6217920" y="4027666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4" name="step-hex-label"/>
          <p:cNvSpPr txBox="1"/>
          <p:nvPr/>
        </p:nvSpPr>
        <p:spPr>
          <a:xfrm>
            <a:off x="6217920" y="4027666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tep"/>
          <p:cNvSpPr txBox="1"/>
          <p:nvPr/>
        </p:nvSpPr>
        <p:spPr>
          <a:xfrm>
            <a:off x="6766560" y="3926332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signs give a positive: (−8) × (−5) = 40.</a:t>
            </a:r>
            <a:endParaRPr lang="en-US" sz="1800" dirty="0"/>
          </a:p>
        </p:txBody>
      </p:sp>
      <p:sp>
        <p:nvSpPr>
          <p:cNvPr id="26" name="worked-answer"/>
          <p:cNvSpPr/>
          <p:nvPr/>
        </p:nvSpPr>
        <p:spPr>
          <a:xfrm>
            <a:off x="6126480" y="4630420"/>
            <a:ext cx="5379415" cy="552196"/>
          </a:xfrm>
          <a:prstGeom prst="roundRect">
            <a:avLst>
              <a:gd name="adj" fmla="val 33119"/>
            </a:avLst>
          </a:prstGeom>
          <a:solidFill>
            <a:srgbClr val="EFE4D0"/>
          </a:solidFill>
          <a:ln w="19050">
            <a:solidFill>
              <a:srgbClr val="B8862B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800" dirty="0"/>
          </a:p>
        </p:txBody>
      </p:sp>
      <p:sp>
        <p:nvSpPr>
          <p:cNvPr id="27" name="bullet-card"/>
          <p:cNvSpPr/>
          <p:nvPr/>
        </p:nvSpPr>
        <p:spPr>
          <a:xfrm>
            <a:off x="548640" y="1389888"/>
            <a:ext cx="5074920" cy="1017524"/>
          </a:xfrm>
          <a:prstGeom prst="roundRect">
            <a:avLst>
              <a:gd name="adj" fmla="val 7189"/>
            </a:avLst>
          </a:prstGeom>
          <a:solidFill>
            <a:srgbClr val="F5F6F9"/>
          </a:solidFill>
          <a:ln/>
        </p:spPr>
      </p:sp>
      <p:sp>
        <p:nvSpPr>
          <p:cNvPr id="28" name="bullet-hex"/>
          <p:cNvSpPr/>
          <p:nvPr/>
        </p:nvSpPr>
        <p:spPr>
          <a:xfrm>
            <a:off x="676656" y="1732357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9" name="bullet"/>
          <p:cNvSpPr txBox="1"/>
          <p:nvPr/>
        </p:nvSpPr>
        <p:spPr>
          <a:xfrm>
            <a:off x="1143000" y="1389888"/>
            <a:ext cx="4389120" cy="10175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this pattern: (−3) × 2 = −6, (−3) × 1 = −3, (−3) × 0 = 0.</a:t>
            </a:r>
            <a:endParaRPr lang="en-US" sz="2200" dirty="0"/>
          </a:p>
        </p:txBody>
      </p:sp>
      <p:sp>
        <p:nvSpPr>
          <p:cNvPr id="30" name="bullet-card"/>
          <p:cNvSpPr/>
          <p:nvPr/>
        </p:nvSpPr>
        <p:spPr>
          <a:xfrm>
            <a:off x="548640" y="2553716"/>
            <a:ext cx="5074920" cy="1017524"/>
          </a:xfrm>
          <a:prstGeom prst="roundRect">
            <a:avLst>
              <a:gd name="adj" fmla="val 7189"/>
            </a:avLst>
          </a:prstGeom>
          <a:solidFill>
            <a:srgbClr val="F5F6F9"/>
          </a:solidFill>
          <a:ln/>
        </p:spPr>
      </p:sp>
      <p:sp>
        <p:nvSpPr>
          <p:cNvPr id="31" name="bullet-hex"/>
          <p:cNvSpPr/>
          <p:nvPr/>
        </p:nvSpPr>
        <p:spPr>
          <a:xfrm>
            <a:off x="676656" y="2896185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32" name="bullet"/>
          <p:cNvSpPr txBox="1"/>
          <p:nvPr/>
        </p:nvSpPr>
        <p:spPr>
          <a:xfrm>
            <a:off x="1143000" y="2553716"/>
            <a:ext cx="4389120" cy="10175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the pattern on: (−3) × (−1) = 3, and (−3) × (−2) = 6.</a:t>
            </a:r>
            <a:endParaRPr lang="en-US" sz="2200" dirty="0"/>
          </a:p>
        </p:txBody>
      </p:sp>
      <p:sp>
        <p:nvSpPr>
          <p:cNvPr id="33" name="bullet-card"/>
          <p:cNvSpPr/>
          <p:nvPr/>
        </p:nvSpPr>
        <p:spPr>
          <a:xfrm>
            <a:off x="548640" y="3717544"/>
            <a:ext cx="5074920" cy="1358392"/>
          </a:xfrm>
          <a:prstGeom prst="roundRect">
            <a:avLst>
              <a:gd name="adj" fmla="val 5385"/>
            </a:avLst>
          </a:prstGeom>
          <a:solidFill>
            <a:srgbClr val="F5F6F9"/>
          </a:solidFill>
          <a:ln/>
        </p:spPr>
      </p:sp>
      <p:sp>
        <p:nvSpPr>
          <p:cNvPr id="34" name="bullet-hex"/>
          <p:cNvSpPr/>
          <p:nvPr/>
        </p:nvSpPr>
        <p:spPr>
          <a:xfrm>
            <a:off x="676656" y="4230447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35" name="bullet"/>
          <p:cNvSpPr txBox="1"/>
          <p:nvPr/>
        </p:nvSpPr>
        <p:spPr>
          <a:xfrm>
            <a:off x="1143000" y="3717544"/>
            <a:ext cx="4389120" cy="13583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'two negatives make a positive' is true here, but only when you multiply or divide.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Dividing directed numbers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1800" dirty="0"/>
          </a:p>
        </p:txBody>
      </p:sp>
      <p:sp>
        <p:nvSpPr>
          <p:cNvPr id="7" name="tip-box"/>
          <p:cNvSpPr/>
          <p:nvPr/>
        </p:nvSpPr>
        <p:spPr>
          <a:xfrm>
            <a:off x="548640" y="5350256"/>
            <a:ext cx="5074920" cy="794512"/>
          </a:xfrm>
          <a:prstGeom prst="roundRect">
            <a:avLst>
              <a:gd name="adj" fmla="val 17263"/>
            </a:avLst>
          </a:prstGeom>
          <a:solidFill>
            <a:srgbClr val="F6F0E6"/>
          </a:solidFill>
          <a:ln w="15875">
            <a:solidFill>
              <a:srgbClr val="B8862B"/>
            </a:solidFill>
            <a:prstDash val="solid"/>
          </a:ln>
        </p:spPr>
      </p:sp>
      <p:sp>
        <p:nvSpPr>
          <p:cNvPr id="8" name="tip-hex"/>
          <p:cNvSpPr/>
          <p:nvPr/>
        </p:nvSpPr>
        <p:spPr>
          <a:xfrm>
            <a:off x="685800" y="5549544"/>
            <a:ext cx="457200" cy="395935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ip-hex-label"/>
          <p:cNvSpPr txBox="1"/>
          <p:nvPr/>
        </p:nvSpPr>
        <p:spPr>
          <a:xfrm>
            <a:off x="685800" y="5549544"/>
            <a:ext cx="457200" cy="3959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ip"/>
          <p:cNvSpPr txBox="1"/>
          <p:nvPr/>
        </p:nvSpPr>
        <p:spPr>
          <a:xfrm>
            <a:off x="1280160" y="5405120"/>
            <a:ext cx="4206240" cy="68478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multiply, an even number of negatives gives a positive answer.</a:t>
            </a:r>
            <a:endParaRPr lang="en-US" sz="1800" dirty="0"/>
          </a:p>
        </p:txBody>
      </p:sp>
      <p:sp>
        <p:nvSpPr>
          <p:cNvPr id="11" name="worked-panel"/>
          <p:cNvSpPr/>
          <p:nvPr/>
        </p:nvSpPr>
        <p:spPr>
          <a:xfrm>
            <a:off x="5989320" y="1389888"/>
            <a:ext cx="565373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5875">
            <a:solidFill>
              <a:srgbClr val="9DAAC9"/>
            </a:solidFill>
            <a:prstDash val="solid"/>
          </a:ln>
        </p:spPr>
      </p:sp>
      <p:sp>
        <p:nvSpPr>
          <p:cNvPr id="12" name="worked-tab"/>
          <p:cNvSpPr/>
          <p:nvPr/>
        </p:nvSpPr>
        <p:spPr>
          <a:xfrm>
            <a:off x="6126480" y="1499616"/>
            <a:ext cx="2377440" cy="457200"/>
          </a:xfrm>
          <a:prstGeom prst="roundRect">
            <a:avLst>
              <a:gd name="adj" fmla="val 40000"/>
            </a:avLst>
          </a:prstGeom>
          <a:solidFill>
            <a:srgbClr val="2E4A8C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800" dirty="0"/>
          </a:p>
        </p:txBody>
      </p:sp>
      <p:sp>
        <p:nvSpPr>
          <p:cNvPr id="13" name="worked-q"/>
          <p:cNvSpPr txBox="1"/>
          <p:nvPr/>
        </p:nvSpPr>
        <p:spPr>
          <a:xfrm>
            <a:off x="6126480" y="2066544"/>
            <a:ext cx="5379415" cy="4058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(−48) ÷ 6.</a:t>
            </a:r>
            <a:endParaRPr lang="en-US" sz="1800" dirty="0"/>
          </a:p>
        </p:txBody>
      </p:sp>
      <p:sp>
        <p:nvSpPr>
          <p:cNvPr id="14" name="step-box"/>
          <p:cNvSpPr/>
          <p:nvPr/>
        </p:nvSpPr>
        <p:spPr>
          <a:xfrm>
            <a:off x="6126480" y="2609596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15" name="step-hex"/>
          <p:cNvSpPr/>
          <p:nvPr/>
        </p:nvSpPr>
        <p:spPr>
          <a:xfrm>
            <a:off x="6217920" y="2710930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6" name="step-hex-label"/>
          <p:cNvSpPr txBox="1"/>
          <p:nvPr/>
        </p:nvSpPr>
        <p:spPr>
          <a:xfrm>
            <a:off x="6217920" y="2710930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tep"/>
          <p:cNvSpPr txBox="1"/>
          <p:nvPr/>
        </p:nvSpPr>
        <p:spPr>
          <a:xfrm>
            <a:off x="6766560" y="2609596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÷ 6 = 8.</a:t>
            </a:r>
            <a:endParaRPr lang="en-US" sz="1800" dirty="0"/>
          </a:p>
        </p:txBody>
      </p:sp>
      <p:sp>
        <p:nvSpPr>
          <p:cNvPr id="18" name="step-box"/>
          <p:cNvSpPr/>
          <p:nvPr/>
        </p:nvSpPr>
        <p:spPr>
          <a:xfrm>
            <a:off x="6126480" y="3267964"/>
            <a:ext cx="5379415" cy="794512"/>
          </a:xfrm>
          <a:prstGeom prst="roundRect">
            <a:avLst>
              <a:gd name="adj" fmla="val 11509"/>
            </a:avLst>
          </a:prstGeom>
          <a:solidFill>
            <a:srgbClr val="F0F2F7"/>
          </a:solidFill>
          <a:ln/>
        </p:spPr>
      </p:sp>
      <p:sp>
        <p:nvSpPr>
          <p:cNvPr id="19" name="step-hex"/>
          <p:cNvSpPr/>
          <p:nvPr/>
        </p:nvSpPr>
        <p:spPr>
          <a:xfrm>
            <a:off x="6217920" y="3483090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0" name="step-hex-label"/>
          <p:cNvSpPr txBox="1"/>
          <p:nvPr/>
        </p:nvSpPr>
        <p:spPr>
          <a:xfrm>
            <a:off x="6217920" y="3483090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step"/>
          <p:cNvSpPr txBox="1"/>
          <p:nvPr/>
        </p:nvSpPr>
        <p:spPr>
          <a:xfrm>
            <a:off x="6766560" y="3267964"/>
            <a:ext cx="4739335" cy="79451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is negative and one is positive: different signs.</a:t>
            </a:r>
            <a:endParaRPr lang="en-US" sz="1800" dirty="0"/>
          </a:p>
        </p:txBody>
      </p:sp>
      <p:sp>
        <p:nvSpPr>
          <p:cNvPr id="22" name="step-box"/>
          <p:cNvSpPr/>
          <p:nvPr/>
        </p:nvSpPr>
        <p:spPr>
          <a:xfrm>
            <a:off x="6126480" y="4153916"/>
            <a:ext cx="5379415" cy="566928"/>
          </a:xfrm>
          <a:prstGeom prst="roundRect">
            <a:avLst>
              <a:gd name="adj" fmla="val 16129"/>
            </a:avLst>
          </a:prstGeom>
          <a:solidFill>
            <a:srgbClr val="F0F2F7"/>
          </a:solidFill>
          <a:ln/>
        </p:spPr>
      </p:sp>
      <p:sp>
        <p:nvSpPr>
          <p:cNvPr id="23" name="step-hex"/>
          <p:cNvSpPr/>
          <p:nvPr/>
        </p:nvSpPr>
        <p:spPr>
          <a:xfrm>
            <a:off x="6217920" y="4255250"/>
            <a:ext cx="420624" cy="3642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4" name="step-hex-label"/>
          <p:cNvSpPr txBox="1"/>
          <p:nvPr/>
        </p:nvSpPr>
        <p:spPr>
          <a:xfrm>
            <a:off x="6217920" y="4255250"/>
            <a:ext cx="420624" cy="364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step"/>
          <p:cNvSpPr txBox="1"/>
          <p:nvPr/>
        </p:nvSpPr>
        <p:spPr>
          <a:xfrm>
            <a:off x="6766560" y="4153916"/>
            <a:ext cx="4739335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(−48) ÷ 6 = −8.</a:t>
            </a:r>
            <a:endParaRPr lang="en-US" sz="1800" dirty="0"/>
          </a:p>
        </p:txBody>
      </p:sp>
      <p:sp>
        <p:nvSpPr>
          <p:cNvPr id="26" name="worked-answer"/>
          <p:cNvSpPr/>
          <p:nvPr/>
        </p:nvSpPr>
        <p:spPr>
          <a:xfrm>
            <a:off x="6126480" y="4858004"/>
            <a:ext cx="5379415" cy="552196"/>
          </a:xfrm>
          <a:prstGeom prst="roundRect">
            <a:avLst>
              <a:gd name="adj" fmla="val 33119"/>
            </a:avLst>
          </a:prstGeom>
          <a:solidFill>
            <a:srgbClr val="EFE4D0"/>
          </a:solidFill>
          <a:ln w="19050">
            <a:solidFill>
              <a:srgbClr val="B8862B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algn="l" indent="0" marL="0">
              <a:buNone/>
            </a:pPr>
            <a:r>
              <a:rPr lang="en-US" sz="18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</a:t>
            </a:r>
            <a:endParaRPr lang="en-US" sz="1800" dirty="0"/>
          </a:p>
        </p:txBody>
      </p:sp>
      <p:sp>
        <p:nvSpPr>
          <p:cNvPr id="27" name="bullet-card"/>
          <p:cNvSpPr/>
          <p:nvPr/>
        </p:nvSpPr>
        <p:spPr>
          <a:xfrm>
            <a:off x="548640" y="1389888"/>
            <a:ext cx="5074920" cy="1358392"/>
          </a:xfrm>
          <a:prstGeom prst="roundRect">
            <a:avLst>
              <a:gd name="adj" fmla="val 5385"/>
            </a:avLst>
          </a:prstGeom>
          <a:solidFill>
            <a:srgbClr val="F5F6F9"/>
          </a:solidFill>
          <a:ln/>
        </p:spPr>
      </p:sp>
      <p:sp>
        <p:nvSpPr>
          <p:cNvPr id="28" name="bullet-hex"/>
          <p:cNvSpPr/>
          <p:nvPr/>
        </p:nvSpPr>
        <p:spPr>
          <a:xfrm>
            <a:off x="676656" y="1902791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9" name="bullet"/>
          <p:cNvSpPr txBox="1"/>
          <p:nvPr/>
        </p:nvSpPr>
        <p:spPr>
          <a:xfrm>
            <a:off x="1143000" y="1389888"/>
            <a:ext cx="4389120" cy="135839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is the inverse of multiplication, so it uses the same sign rules.</a:t>
            </a:r>
            <a:endParaRPr lang="en-US" sz="2200" dirty="0"/>
          </a:p>
        </p:txBody>
      </p:sp>
      <p:sp>
        <p:nvSpPr>
          <p:cNvPr id="30" name="bullet-card"/>
          <p:cNvSpPr/>
          <p:nvPr/>
        </p:nvSpPr>
        <p:spPr>
          <a:xfrm>
            <a:off x="548640" y="2894584"/>
            <a:ext cx="5074920" cy="1017524"/>
          </a:xfrm>
          <a:prstGeom prst="roundRect">
            <a:avLst>
              <a:gd name="adj" fmla="val 7189"/>
            </a:avLst>
          </a:prstGeom>
          <a:solidFill>
            <a:srgbClr val="F5F6F9"/>
          </a:solidFill>
          <a:ln/>
        </p:spPr>
      </p:sp>
      <p:sp>
        <p:nvSpPr>
          <p:cNvPr id="31" name="bullet-hex"/>
          <p:cNvSpPr/>
          <p:nvPr/>
        </p:nvSpPr>
        <p:spPr>
          <a:xfrm>
            <a:off x="676656" y="3237053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32" name="bullet"/>
          <p:cNvSpPr txBox="1"/>
          <p:nvPr/>
        </p:nvSpPr>
        <p:spPr>
          <a:xfrm>
            <a:off x="1143000" y="2894584"/>
            <a:ext cx="4389120" cy="10175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signs give a positive answer: (−36) ÷ (−9) = 4.</a:t>
            </a:r>
            <a:endParaRPr lang="en-US" sz="2200" dirty="0"/>
          </a:p>
        </p:txBody>
      </p:sp>
      <p:sp>
        <p:nvSpPr>
          <p:cNvPr id="33" name="bullet-card"/>
          <p:cNvSpPr/>
          <p:nvPr/>
        </p:nvSpPr>
        <p:spPr>
          <a:xfrm>
            <a:off x="548640" y="4058412"/>
            <a:ext cx="5074920" cy="1017524"/>
          </a:xfrm>
          <a:prstGeom prst="roundRect">
            <a:avLst>
              <a:gd name="adj" fmla="val 7189"/>
            </a:avLst>
          </a:prstGeom>
          <a:solidFill>
            <a:srgbClr val="F5F6F9"/>
          </a:solidFill>
          <a:ln/>
        </p:spPr>
      </p:sp>
      <p:sp>
        <p:nvSpPr>
          <p:cNvPr id="34" name="bullet-hex"/>
          <p:cNvSpPr/>
          <p:nvPr/>
        </p:nvSpPr>
        <p:spPr>
          <a:xfrm>
            <a:off x="676656" y="4400881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35" name="bullet"/>
          <p:cNvSpPr txBox="1"/>
          <p:nvPr/>
        </p:nvSpPr>
        <p:spPr>
          <a:xfrm>
            <a:off x="1143000" y="4058412"/>
            <a:ext cx="4389120" cy="101752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there are three numbers, work from left to right.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task, three ways in: Multiply directed numbers</a:t>
            </a:r>
            <a:endParaRPr lang="en-US" sz="28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800" dirty="0"/>
          </a:p>
        </p:txBody>
      </p:sp>
      <p:sp>
        <p:nvSpPr>
          <p:cNvPr id="7" name="task-box"/>
          <p:cNvSpPr/>
          <p:nvPr/>
        </p:nvSpPr>
        <p:spPr>
          <a:xfrm>
            <a:off x="548640" y="1389888"/>
            <a:ext cx="11094415" cy="974852"/>
          </a:xfrm>
          <a:prstGeom prst="roundRect">
            <a:avLst>
              <a:gd name="adj" fmla="val 9380"/>
            </a:avLst>
          </a:prstGeom>
          <a:solidFill>
            <a:srgbClr val="FFFFFF"/>
          </a:solidFill>
          <a:ln w="31750">
            <a:solidFill>
              <a:srgbClr val="B8862B"/>
            </a:solidFill>
            <a:prstDash val="solid"/>
          </a:ln>
        </p:spPr>
      </p:sp>
      <p:sp>
        <p:nvSpPr>
          <p:cNvPr id="8" name="task-hex"/>
          <p:cNvSpPr/>
          <p:nvPr/>
        </p:nvSpPr>
        <p:spPr>
          <a:xfrm>
            <a:off x="777240" y="1560566"/>
            <a:ext cx="731520" cy="63349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ask-hex-label"/>
          <p:cNvSpPr txBox="1"/>
          <p:nvPr/>
        </p:nvSpPr>
        <p:spPr>
          <a:xfrm>
            <a:off x="777240" y="1560566"/>
            <a:ext cx="731520" cy="633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ask-everyone"/>
          <p:cNvSpPr txBox="1"/>
          <p:nvPr/>
        </p:nvSpPr>
        <p:spPr>
          <a:xfrm>
            <a:off x="10362895" y="1602994"/>
            <a:ext cx="118872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800" dirty="0"/>
          </a:p>
        </p:txBody>
      </p:sp>
      <p:sp>
        <p:nvSpPr>
          <p:cNvPr id="11" name="task"/>
          <p:cNvSpPr txBox="1"/>
          <p:nvPr/>
        </p:nvSpPr>
        <p:spPr>
          <a:xfrm>
            <a:off x="1645920" y="1481328"/>
            <a:ext cx="8579815" cy="7919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(−9) × (−7).</a:t>
            </a:r>
            <a:endParaRPr lang="en-US" sz="20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 </a:t>
            </a:r>
            <a:pPr algn="ctr" indent="0" marL="0">
              <a:buNone/>
            </a:pPr>
            <a:r>
              <a:rPr lang="en-US" sz="18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</a:t>
            </a:r>
            <a:endParaRPr lang="en-US" sz="2000" dirty="0"/>
          </a:p>
        </p:txBody>
      </p:sp>
      <p:sp>
        <p:nvSpPr>
          <p:cNvPr id="12" name="col-Support"/>
          <p:cNvSpPr/>
          <p:nvPr/>
        </p:nvSpPr>
        <p:spPr>
          <a:xfrm>
            <a:off x="548640" y="2639060"/>
            <a:ext cx="3515258" cy="3505708"/>
          </a:xfrm>
          <a:prstGeom prst="roundRect">
            <a:avLst>
              <a:gd name="adj" fmla="val 1565"/>
            </a:avLst>
          </a:prstGeom>
          <a:solidFill>
            <a:srgbClr val="F0F2F7"/>
          </a:solidFill>
          <a:ln/>
        </p:spPr>
      </p:sp>
      <p:sp>
        <p:nvSpPr>
          <p:cNvPr id="13" name="col-hex"/>
          <p:cNvSpPr/>
          <p:nvPr/>
        </p:nvSpPr>
        <p:spPr>
          <a:xfrm>
            <a:off x="658368" y="271221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col-hex-label"/>
          <p:cNvSpPr txBox="1"/>
          <p:nvPr/>
        </p:nvSpPr>
        <p:spPr>
          <a:xfrm>
            <a:off x="658368" y="271221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col-head"/>
          <p:cNvSpPr txBox="1"/>
          <p:nvPr/>
        </p:nvSpPr>
        <p:spPr>
          <a:xfrm>
            <a:off x="1188720" y="2675636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3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2000" dirty="0"/>
          </a:p>
        </p:txBody>
      </p:sp>
      <p:sp>
        <p:nvSpPr>
          <p:cNvPr id="16" name="col-body"/>
          <p:cNvSpPr txBox="1"/>
          <p:nvPr/>
        </p:nvSpPr>
        <p:spPr>
          <a:xfrm>
            <a:off x="685800" y="3279140"/>
            <a:ext cx="3240938" cy="2755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the digits as normal.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signs of the two numbers.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signs: positive. Different signs: negative.</a:t>
            </a:r>
            <a:endParaRPr lang="en-US" sz="2200" dirty="0"/>
          </a:p>
        </p:txBody>
      </p:sp>
      <p:sp>
        <p:nvSpPr>
          <p:cNvPr id="17" name="col-Core"/>
          <p:cNvSpPr/>
          <p:nvPr/>
        </p:nvSpPr>
        <p:spPr>
          <a:xfrm>
            <a:off x="4338218" y="2639060"/>
            <a:ext cx="3515258" cy="3505708"/>
          </a:xfrm>
          <a:prstGeom prst="roundRect">
            <a:avLst>
              <a:gd name="adj" fmla="val 1565"/>
            </a:avLst>
          </a:prstGeom>
          <a:solidFill>
            <a:srgbClr val="D7DDE9"/>
          </a:solidFill>
          <a:ln/>
        </p:spPr>
      </p:sp>
      <p:sp>
        <p:nvSpPr>
          <p:cNvPr id="18" name="col-hex"/>
          <p:cNvSpPr/>
          <p:nvPr/>
        </p:nvSpPr>
        <p:spPr>
          <a:xfrm>
            <a:off x="4447946" y="271221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col-hex-label"/>
          <p:cNvSpPr txBox="1"/>
          <p:nvPr/>
        </p:nvSpPr>
        <p:spPr>
          <a:xfrm>
            <a:off x="4447946" y="271221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col-head"/>
          <p:cNvSpPr txBox="1"/>
          <p:nvPr/>
        </p:nvSpPr>
        <p:spPr>
          <a:xfrm>
            <a:off x="4978298" y="2675636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3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2000" dirty="0"/>
          </a:p>
        </p:txBody>
      </p:sp>
      <p:sp>
        <p:nvSpPr>
          <p:cNvPr id="21" name="col-body"/>
          <p:cNvSpPr txBox="1"/>
          <p:nvPr/>
        </p:nvSpPr>
        <p:spPr>
          <a:xfrm>
            <a:off x="4475378" y="3279140"/>
            <a:ext cx="3240938" cy="2755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numbers are negative. What does that tell you about the sign?</a:t>
            </a:r>
            <a:endParaRPr lang="en-US" sz="2200" dirty="0"/>
          </a:p>
        </p:txBody>
      </p:sp>
      <p:sp>
        <p:nvSpPr>
          <p:cNvPr id="22" name="col-Stretch"/>
          <p:cNvSpPr/>
          <p:nvPr/>
        </p:nvSpPr>
        <p:spPr>
          <a:xfrm>
            <a:off x="8127797" y="2639060"/>
            <a:ext cx="3515258" cy="3505708"/>
          </a:xfrm>
          <a:prstGeom prst="roundRect">
            <a:avLst>
              <a:gd name="adj" fmla="val 1565"/>
            </a:avLst>
          </a:prstGeom>
          <a:solidFill>
            <a:srgbClr val="2E4A8C"/>
          </a:solidFill>
          <a:ln/>
        </p:spPr>
      </p:sp>
      <p:sp>
        <p:nvSpPr>
          <p:cNvPr id="23" name="col-hex"/>
          <p:cNvSpPr/>
          <p:nvPr/>
        </p:nvSpPr>
        <p:spPr>
          <a:xfrm>
            <a:off x="8237525" y="2712212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col-hex-label"/>
          <p:cNvSpPr txBox="1"/>
          <p:nvPr/>
        </p:nvSpPr>
        <p:spPr>
          <a:xfrm>
            <a:off x="8237525" y="2712212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col-head"/>
          <p:cNvSpPr txBox="1"/>
          <p:nvPr/>
        </p:nvSpPr>
        <p:spPr>
          <a:xfrm>
            <a:off x="8767877" y="2675636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2000" dirty="0"/>
          </a:p>
        </p:txBody>
      </p:sp>
      <p:sp>
        <p:nvSpPr>
          <p:cNvPr id="26" name="col-body"/>
          <p:cNvSpPr txBox="1"/>
          <p:nvPr/>
        </p:nvSpPr>
        <p:spPr>
          <a:xfrm>
            <a:off x="8264957" y="3279140"/>
            <a:ext cx="3240938" cy="275590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B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 </a:t>
            </a:r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 lists 1 × (−12), 2 × (−6) and 3 × (−4) as ways to make −12. Find at least three more pairs of integers that multiply to give −12, and explain the sign rule each one uses.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task: Divide directed numbers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</a:t>
            </a:r>
            <a:endParaRPr lang="en-US" sz="1800" dirty="0"/>
          </a:p>
        </p:txBody>
      </p:sp>
      <p:sp>
        <p:nvSpPr>
          <p:cNvPr id="7" name="task-box"/>
          <p:cNvSpPr/>
          <p:nvPr/>
        </p:nvSpPr>
        <p:spPr>
          <a:xfrm>
            <a:off x="548640" y="1389888"/>
            <a:ext cx="1109441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31750">
            <a:solidFill>
              <a:srgbClr val="B8862B"/>
            </a:solidFill>
            <a:prstDash val="solid"/>
          </a:ln>
        </p:spPr>
      </p:sp>
      <p:sp>
        <p:nvSpPr>
          <p:cNvPr id="8" name="task-hex"/>
          <p:cNvSpPr/>
          <p:nvPr/>
        </p:nvSpPr>
        <p:spPr>
          <a:xfrm>
            <a:off x="822960" y="1664208"/>
            <a:ext cx="822960" cy="712683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ask-hex-label"/>
          <p:cNvSpPr txBox="1"/>
          <p:nvPr/>
        </p:nvSpPr>
        <p:spPr>
          <a:xfrm>
            <a:off x="822960" y="1664208"/>
            <a:ext cx="822960" cy="712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ask"/>
          <p:cNvSpPr txBox="1"/>
          <p:nvPr/>
        </p:nvSpPr>
        <p:spPr>
          <a:xfrm>
            <a:off x="1828800" y="1618488"/>
            <a:ext cx="8534095" cy="4988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calculation to its answer.</a:t>
            </a:r>
            <a:endParaRPr lang="en-US" sz="2400" dirty="0"/>
          </a:p>
        </p:txBody>
      </p:sp>
      <p:sp>
        <p:nvSpPr>
          <p:cNvPr id="11" name="match-card"/>
          <p:cNvSpPr/>
          <p:nvPr/>
        </p:nvSpPr>
        <p:spPr>
          <a:xfrm>
            <a:off x="777240" y="2468331"/>
            <a:ext cx="5135728" cy="804809"/>
          </a:xfrm>
          <a:prstGeom prst="roundRect">
            <a:avLst>
              <a:gd name="adj" fmla="val 9089"/>
            </a:avLst>
          </a:prstGeom>
          <a:solidFill>
            <a:srgbClr val="F5F6F9"/>
          </a:solidFill>
          <a:ln/>
        </p:spPr>
      </p:sp>
      <p:sp>
        <p:nvSpPr>
          <p:cNvPr id="12" name="match-hex"/>
          <p:cNvSpPr/>
          <p:nvPr/>
        </p:nvSpPr>
        <p:spPr>
          <a:xfrm>
            <a:off x="850392" y="2704443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3" name="match-hex-label"/>
          <p:cNvSpPr txBox="1"/>
          <p:nvPr/>
        </p:nvSpPr>
        <p:spPr>
          <a:xfrm>
            <a:off x="850392" y="2704443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match-text"/>
          <p:cNvSpPr txBox="1"/>
          <p:nvPr/>
        </p:nvSpPr>
        <p:spPr>
          <a:xfrm>
            <a:off x="1298448" y="2468331"/>
            <a:ext cx="4541368" cy="80480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(−56) ÷ (−7)</a:t>
            </a:r>
            <a:endParaRPr lang="en-US" sz="2200" dirty="0"/>
          </a:p>
        </p:txBody>
      </p:sp>
      <p:sp>
        <p:nvSpPr>
          <p:cNvPr id="15" name="match-card"/>
          <p:cNvSpPr/>
          <p:nvPr/>
        </p:nvSpPr>
        <p:spPr>
          <a:xfrm>
            <a:off x="6278728" y="2468331"/>
            <a:ext cx="5135728" cy="804809"/>
          </a:xfrm>
          <a:prstGeom prst="roundRect">
            <a:avLst>
              <a:gd name="adj" fmla="val 9089"/>
            </a:avLst>
          </a:prstGeom>
          <a:solidFill>
            <a:srgbClr val="F9F4EC"/>
          </a:solidFill>
          <a:ln/>
        </p:spPr>
      </p:sp>
      <p:sp>
        <p:nvSpPr>
          <p:cNvPr id="16" name="match-hex"/>
          <p:cNvSpPr/>
          <p:nvPr/>
        </p:nvSpPr>
        <p:spPr>
          <a:xfrm>
            <a:off x="6351880" y="2704443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17" name="match-hex-label"/>
          <p:cNvSpPr txBox="1"/>
          <p:nvPr/>
        </p:nvSpPr>
        <p:spPr>
          <a:xfrm>
            <a:off x="6351880" y="2704443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8" name="match-text"/>
          <p:cNvSpPr txBox="1"/>
          <p:nvPr/>
        </p:nvSpPr>
        <p:spPr>
          <a:xfrm>
            <a:off x="6799936" y="2468331"/>
            <a:ext cx="4541368" cy="80480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200" dirty="0"/>
          </a:p>
        </p:txBody>
      </p:sp>
      <p:sp>
        <p:nvSpPr>
          <p:cNvPr id="19" name="match-card"/>
          <p:cNvSpPr/>
          <p:nvPr/>
        </p:nvSpPr>
        <p:spPr>
          <a:xfrm>
            <a:off x="777240" y="3364581"/>
            <a:ext cx="5135728" cy="804809"/>
          </a:xfrm>
          <a:prstGeom prst="roundRect">
            <a:avLst>
              <a:gd name="adj" fmla="val 9089"/>
            </a:avLst>
          </a:prstGeom>
          <a:solidFill>
            <a:srgbClr val="F5F6F9"/>
          </a:solidFill>
          <a:ln/>
        </p:spPr>
      </p:sp>
      <p:sp>
        <p:nvSpPr>
          <p:cNvPr id="20" name="match-hex"/>
          <p:cNvSpPr/>
          <p:nvPr/>
        </p:nvSpPr>
        <p:spPr>
          <a:xfrm>
            <a:off x="850392" y="3600692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1" name="match-hex-label"/>
          <p:cNvSpPr txBox="1"/>
          <p:nvPr/>
        </p:nvSpPr>
        <p:spPr>
          <a:xfrm>
            <a:off x="850392" y="3600692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2" name="match-text"/>
          <p:cNvSpPr txBox="1"/>
          <p:nvPr/>
        </p:nvSpPr>
        <p:spPr>
          <a:xfrm>
            <a:off x="1298448" y="3364581"/>
            <a:ext cx="4541368" cy="80480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÷ (−7)</a:t>
            </a:r>
            <a:endParaRPr lang="en-US" sz="2200" dirty="0"/>
          </a:p>
        </p:txBody>
      </p:sp>
      <p:sp>
        <p:nvSpPr>
          <p:cNvPr id="23" name="match-card"/>
          <p:cNvSpPr/>
          <p:nvPr/>
        </p:nvSpPr>
        <p:spPr>
          <a:xfrm>
            <a:off x="6278728" y="3364581"/>
            <a:ext cx="5135728" cy="804809"/>
          </a:xfrm>
          <a:prstGeom prst="roundRect">
            <a:avLst>
              <a:gd name="adj" fmla="val 9089"/>
            </a:avLst>
          </a:prstGeom>
          <a:solidFill>
            <a:srgbClr val="F9F4EC"/>
          </a:solidFill>
          <a:ln/>
        </p:spPr>
      </p:sp>
      <p:sp>
        <p:nvSpPr>
          <p:cNvPr id="24" name="match-hex"/>
          <p:cNvSpPr/>
          <p:nvPr/>
        </p:nvSpPr>
        <p:spPr>
          <a:xfrm>
            <a:off x="6351880" y="3600692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25" name="match-hex-label"/>
          <p:cNvSpPr txBox="1"/>
          <p:nvPr/>
        </p:nvSpPr>
        <p:spPr>
          <a:xfrm>
            <a:off x="6351880" y="3600692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26" name="match-text"/>
          <p:cNvSpPr txBox="1"/>
          <p:nvPr/>
        </p:nvSpPr>
        <p:spPr>
          <a:xfrm>
            <a:off x="6799936" y="3364581"/>
            <a:ext cx="4541368" cy="80480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27" name="match-card"/>
          <p:cNvSpPr/>
          <p:nvPr/>
        </p:nvSpPr>
        <p:spPr>
          <a:xfrm>
            <a:off x="777240" y="4260830"/>
            <a:ext cx="5135728" cy="804809"/>
          </a:xfrm>
          <a:prstGeom prst="roundRect">
            <a:avLst>
              <a:gd name="adj" fmla="val 9089"/>
            </a:avLst>
          </a:prstGeom>
          <a:solidFill>
            <a:srgbClr val="F5F6F9"/>
          </a:solidFill>
          <a:ln/>
        </p:spPr>
      </p:sp>
      <p:sp>
        <p:nvSpPr>
          <p:cNvPr id="28" name="match-hex"/>
          <p:cNvSpPr/>
          <p:nvPr/>
        </p:nvSpPr>
        <p:spPr>
          <a:xfrm>
            <a:off x="850392" y="4496941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29" name="match-hex-label"/>
          <p:cNvSpPr txBox="1"/>
          <p:nvPr/>
        </p:nvSpPr>
        <p:spPr>
          <a:xfrm>
            <a:off x="850392" y="4496941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match-text"/>
          <p:cNvSpPr txBox="1"/>
          <p:nvPr/>
        </p:nvSpPr>
        <p:spPr>
          <a:xfrm>
            <a:off x="1298448" y="4260830"/>
            <a:ext cx="4541368" cy="80480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(−6) × 4</a:t>
            </a:r>
            <a:endParaRPr lang="en-US" sz="2200" dirty="0"/>
          </a:p>
        </p:txBody>
      </p:sp>
      <p:sp>
        <p:nvSpPr>
          <p:cNvPr id="31" name="match-card"/>
          <p:cNvSpPr/>
          <p:nvPr/>
        </p:nvSpPr>
        <p:spPr>
          <a:xfrm>
            <a:off x="6278728" y="4260830"/>
            <a:ext cx="5135728" cy="804809"/>
          </a:xfrm>
          <a:prstGeom prst="roundRect">
            <a:avLst>
              <a:gd name="adj" fmla="val 9089"/>
            </a:avLst>
          </a:prstGeom>
          <a:solidFill>
            <a:srgbClr val="F9F4EC"/>
          </a:solidFill>
          <a:ln/>
        </p:spPr>
      </p:sp>
      <p:sp>
        <p:nvSpPr>
          <p:cNvPr id="32" name="match-hex"/>
          <p:cNvSpPr/>
          <p:nvPr/>
        </p:nvSpPr>
        <p:spPr>
          <a:xfrm>
            <a:off x="6351880" y="4496941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33" name="match-hex-label"/>
          <p:cNvSpPr txBox="1"/>
          <p:nvPr/>
        </p:nvSpPr>
        <p:spPr>
          <a:xfrm>
            <a:off x="6351880" y="4496941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34" name="match-text"/>
          <p:cNvSpPr txBox="1"/>
          <p:nvPr/>
        </p:nvSpPr>
        <p:spPr>
          <a:xfrm>
            <a:off x="6799936" y="4260830"/>
            <a:ext cx="4541368" cy="80480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−24</a:t>
            </a:r>
            <a:endParaRPr lang="en-US" sz="2200" dirty="0"/>
          </a:p>
        </p:txBody>
      </p:sp>
      <p:sp>
        <p:nvSpPr>
          <p:cNvPr id="35" name="match-card"/>
          <p:cNvSpPr/>
          <p:nvPr/>
        </p:nvSpPr>
        <p:spPr>
          <a:xfrm>
            <a:off x="777240" y="5157079"/>
            <a:ext cx="5135728" cy="804809"/>
          </a:xfrm>
          <a:prstGeom prst="roundRect">
            <a:avLst>
              <a:gd name="adj" fmla="val 9089"/>
            </a:avLst>
          </a:prstGeom>
          <a:solidFill>
            <a:srgbClr val="F5F6F9"/>
          </a:solidFill>
          <a:ln/>
        </p:spPr>
      </p:sp>
      <p:sp>
        <p:nvSpPr>
          <p:cNvPr id="36" name="match-hex"/>
          <p:cNvSpPr/>
          <p:nvPr/>
        </p:nvSpPr>
        <p:spPr>
          <a:xfrm>
            <a:off x="850392" y="5393191"/>
            <a:ext cx="384048" cy="332586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37" name="match-hex-label"/>
          <p:cNvSpPr txBox="1"/>
          <p:nvPr/>
        </p:nvSpPr>
        <p:spPr>
          <a:xfrm>
            <a:off x="850392" y="5393191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8" name="match-text"/>
          <p:cNvSpPr txBox="1"/>
          <p:nvPr/>
        </p:nvSpPr>
        <p:spPr>
          <a:xfrm>
            <a:off x="1298448" y="5157079"/>
            <a:ext cx="4541368" cy="80480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(−6) × (−4)</a:t>
            </a:r>
            <a:endParaRPr lang="en-US" sz="2200" dirty="0"/>
          </a:p>
        </p:txBody>
      </p:sp>
      <p:sp>
        <p:nvSpPr>
          <p:cNvPr id="39" name="match-card"/>
          <p:cNvSpPr/>
          <p:nvPr/>
        </p:nvSpPr>
        <p:spPr>
          <a:xfrm>
            <a:off x="6278728" y="5157079"/>
            <a:ext cx="5135728" cy="804809"/>
          </a:xfrm>
          <a:prstGeom prst="roundRect">
            <a:avLst>
              <a:gd name="adj" fmla="val 9089"/>
            </a:avLst>
          </a:prstGeom>
          <a:solidFill>
            <a:srgbClr val="F9F4EC"/>
          </a:solidFill>
          <a:ln/>
        </p:spPr>
      </p:sp>
      <p:sp>
        <p:nvSpPr>
          <p:cNvPr id="40" name="match-hex"/>
          <p:cNvSpPr/>
          <p:nvPr/>
        </p:nvSpPr>
        <p:spPr>
          <a:xfrm>
            <a:off x="6351880" y="5393191"/>
            <a:ext cx="384048" cy="33258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41" name="match-hex-label"/>
          <p:cNvSpPr txBox="1"/>
          <p:nvPr/>
        </p:nvSpPr>
        <p:spPr>
          <a:xfrm>
            <a:off x="6351880" y="5393191"/>
            <a:ext cx="384048" cy="332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42" name="match-text"/>
          <p:cNvSpPr txBox="1"/>
          <p:nvPr/>
        </p:nvSpPr>
        <p:spPr>
          <a:xfrm>
            <a:off x="6799936" y="5157079"/>
            <a:ext cx="4541368" cy="804809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task, three ways in: Divide directed numbers</a:t>
            </a:r>
            <a:endParaRPr lang="en-US" sz="28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800" dirty="0"/>
          </a:p>
        </p:txBody>
      </p:sp>
      <p:sp>
        <p:nvSpPr>
          <p:cNvPr id="7" name="task-box"/>
          <p:cNvSpPr/>
          <p:nvPr/>
        </p:nvSpPr>
        <p:spPr>
          <a:xfrm>
            <a:off x="548640" y="1389888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0">
            <a:solidFill>
              <a:srgbClr val="B8862B"/>
            </a:solidFill>
            <a:prstDash val="solid"/>
          </a:ln>
        </p:spPr>
      </p:sp>
      <p:sp>
        <p:nvSpPr>
          <p:cNvPr id="8" name="task-hex"/>
          <p:cNvSpPr/>
          <p:nvPr/>
        </p:nvSpPr>
        <p:spPr>
          <a:xfrm>
            <a:off x="777240" y="1530340"/>
            <a:ext cx="731520" cy="633496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9" name="task-hex-label"/>
          <p:cNvSpPr txBox="1"/>
          <p:nvPr/>
        </p:nvSpPr>
        <p:spPr>
          <a:xfrm>
            <a:off x="777240" y="1530340"/>
            <a:ext cx="731520" cy="633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ask-everyone"/>
          <p:cNvSpPr txBox="1"/>
          <p:nvPr/>
        </p:nvSpPr>
        <p:spPr>
          <a:xfrm>
            <a:off x="10362895" y="1572768"/>
            <a:ext cx="118872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</a:t>
            </a:r>
            <a:endParaRPr lang="en-US" sz="1800" dirty="0"/>
          </a:p>
        </p:txBody>
      </p:sp>
      <p:sp>
        <p:nvSpPr>
          <p:cNvPr id="11" name="task"/>
          <p:cNvSpPr txBox="1"/>
          <p:nvPr/>
        </p:nvSpPr>
        <p:spPr>
          <a:xfrm>
            <a:off x="1645920" y="1481328"/>
            <a:ext cx="8579815" cy="7315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calculation to its answer.</a:t>
            </a:r>
            <a:endParaRPr lang="en-US" sz="2000" dirty="0"/>
          </a:p>
        </p:txBody>
      </p:sp>
      <p:sp>
        <p:nvSpPr>
          <p:cNvPr id="12" name="col-Support"/>
          <p:cNvSpPr/>
          <p:nvPr/>
        </p:nvSpPr>
        <p:spPr>
          <a:xfrm>
            <a:off x="548640" y="2578608"/>
            <a:ext cx="3515258" cy="3566160"/>
          </a:xfrm>
          <a:prstGeom prst="roundRect">
            <a:avLst>
              <a:gd name="adj" fmla="val 1561"/>
            </a:avLst>
          </a:prstGeom>
          <a:solidFill>
            <a:srgbClr val="F0F2F7"/>
          </a:solidFill>
          <a:ln/>
        </p:spPr>
      </p:sp>
      <p:sp>
        <p:nvSpPr>
          <p:cNvPr id="13" name="col-hex"/>
          <p:cNvSpPr/>
          <p:nvPr/>
        </p:nvSpPr>
        <p:spPr>
          <a:xfrm>
            <a:off x="658368" y="2651760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col-hex-label"/>
          <p:cNvSpPr txBox="1"/>
          <p:nvPr/>
        </p:nvSpPr>
        <p:spPr>
          <a:xfrm>
            <a:off x="658368" y="2651760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col-head"/>
          <p:cNvSpPr txBox="1"/>
          <p:nvPr/>
        </p:nvSpPr>
        <p:spPr>
          <a:xfrm>
            <a:off x="1188720" y="2615184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3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2000" dirty="0"/>
          </a:p>
        </p:txBody>
      </p:sp>
      <p:sp>
        <p:nvSpPr>
          <p:cNvPr id="16" name="col-body"/>
          <p:cNvSpPr txBox="1"/>
          <p:nvPr/>
        </p:nvSpPr>
        <p:spPr>
          <a:xfrm>
            <a:off x="685800" y="3218688"/>
            <a:ext cx="3240938" cy="2816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the digits as normal.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signs of the two numbers.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600"/>
              </a:spcAft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signs: positive. Different signs: negative.</a:t>
            </a:r>
            <a:endParaRPr lang="en-US" sz="2200" dirty="0"/>
          </a:p>
        </p:txBody>
      </p:sp>
      <p:sp>
        <p:nvSpPr>
          <p:cNvPr id="17" name="col-Core"/>
          <p:cNvSpPr/>
          <p:nvPr/>
        </p:nvSpPr>
        <p:spPr>
          <a:xfrm>
            <a:off x="4338218" y="2578608"/>
            <a:ext cx="3515258" cy="3566160"/>
          </a:xfrm>
          <a:prstGeom prst="roundRect">
            <a:avLst>
              <a:gd name="adj" fmla="val 1561"/>
            </a:avLst>
          </a:prstGeom>
          <a:solidFill>
            <a:srgbClr val="D7DDE9"/>
          </a:solidFill>
          <a:ln/>
        </p:spPr>
      </p:sp>
      <p:sp>
        <p:nvSpPr>
          <p:cNvPr id="18" name="col-hex"/>
          <p:cNvSpPr/>
          <p:nvPr/>
        </p:nvSpPr>
        <p:spPr>
          <a:xfrm>
            <a:off x="4447946" y="2651760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col-hex-label"/>
          <p:cNvSpPr txBox="1"/>
          <p:nvPr/>
        </p:nvSpPr>
        <p:spPr>
          <a:xfrm>
            <a:off x="4447946" y="2651760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col-head"/>
          <p:cNvSpPr txBox="1"/>
          <p:nvPr/>
        </p:nvSpPr>
        <p:spPr>
          <a:xfrm>
            <a:off x="4978298" y="2615184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034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2000" dirty="0"/>
          </a:p>
        </p:txBody>
      </p:sp>
      <p:sp>
        <p:nvSpPr>
          <p:cNvPr id="21" name="col-body"/>
          <p:cNvSpPr txBox="1"/>
          <p:nvPr/>
        </p:nvSpPr>
        <p:spPr>
          <a:xfrm>
            <a:off x="4475378" y="3218688"/>
            <a:ext cx="3240938" cy="2816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53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algn="l" indent="0" marL="0">
              <a:buNone/>
            </a:pPr>
            <a:r>
              <a:rPr lang="en-US" sz="22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of the answers are positive. Look for the calculations where the signs are the same.</a:t>
            </a:r>
            <a:endParaRPr lang="en-US" sz="2200" dirty="0"/>
          </a:p>
        </p:txBody>
      </p:sp>
      <p:sp>
        <p:nvSpPr>
          <p:cNvPr id="22" name="col-Stretch"/>
          <p:cNvSpPr/>
          <p:nvPr/>
        </p:nvSpPr>
        <p:spPr>
          <a:xfrm>
            <a:off x="8127797" y="2578608"/>
            <a:ext cx="3515258" cy="3566160"/>
          </a:xfrm>
          <a:prstGeom prst="roundRect">
            <a:avLst>
              <a:gd name="adj" fmla="val 1561"/>
            </a:avLst>
          </a:prstGeom>
          <a:solidFill>
            <a:srgbClr val="2E4A8C"/>
          </a:solidFill>
          <a:ln/>
        </p:spPr>
      </p:sp>
      <p:sp>
        <p:nvSpPr>
          <p:cNvPr id="23" name="col-hex"/>
          <p:cNvSpPr/>
          <p:nvPr/>
        </p:nvSpPr>
        <p:spPr>
          <a:xfrm>
            <a:off x="8237525" y="2651760"/>
            <a:ext cx="475488" cy="411773"/>
          </a:xfrm>
          <a:prstGeom prst="hexagon">
            <a:avLst/>
          </a:prstGeom>
          <a:solidFill>
            <a:srgbClr val="B886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col-hex-label"/>
          <p:cNvSpPr txBox="1"/>
          <p:nvPr/>
        </p:nvSpPr>
        <p:spPr>
          <a:xfrm>
            <a:off x="8237525" y="2651760"/>
            <a:ext cx="475488" cy="4117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col-head"/>
          <p:cNvSpPr txBox="1"/>
          <p:nvPr/>
        </p:nvSpPr>
        <p:spPr>
          <a:xfrm>
            <a:off x="8767877" y="2615184"/>
            <a:ext cx="2783738" cy="566928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2000" dirty="0"/>
          </a:p>
        </p:txBody>
      </p:sp>
      <p:sp>
        <p:nvSpPr>
          <p:cNvPr id="26" name="col-body"/>
          <p:cNvSpPr txBox="1"/>
          <p:nvPr/>
        </p:nvSpPr>
        <p:spPr>
          <a:xfrm>
            <a:off x="8264957" y="3218688"/>
            <a:ext cx="3240938" cy="281635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B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 </a:t>
            </a:r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full fact family for (−56) ÷ (−7). Explain how each fact in it follows the sign rules.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Exit ticket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B8862B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A6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1800" dirty="0"/>
          </a:p>
        </p:txBody>
      </p:sp>
      <p:sp>
        <p:nvSpPr>
          <p:cNvPr id="7" name="exit-card"/>
          <p:cNvSpPr/>
          <p:nvPr/>
        </p:nvSpPr>
        <p:spPr>
          <a:xfrm>
            <a:off x="1645920" y="1389888"/>
            <a:ext cx="8899855" cy="4754880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31750">
            <a:solidFill>
              <a:srgbClr val="2E4A8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exit-hex"/>
          <p:cNvSpPr/>
          <p:nvPr/>
        </p:nvSpPr>
        <p:spPr>
          <a:xfrm>
            <a:off x="1143000" y="1618488"/>
            <a:ext cx="1005840" cy="871057"/>
          </a:xfrm>
          <a:prstGeom prst="hexagon">
            <a:avLst/>
          </a:prstGeom>
          <a:solidFill>
            <a:srgbClr val="2E4A8C"/>
          </a:solidFill>
          <a:ln w="25400">
            <a:solidFill>
              <a:srgbClr val="B8862B"/>
            </a:solidFill>
            <a:prstDash val="solid"/>
          </a:ln>
        </p:spPr>
      </p:sp>
      <p:sp>
        <p:nvSpPr>
          <p:cNvPr id="9" name="exit-hex-label"/>
          <p:cNvSpPr txBox="1"/>
          <p:nvPr/>
        </p:nvSpPr>
        <p:spPr>
          <a:xfrm>
            <a:off x="1143000" y="1618488"/>
            <a:ext cx="1005840" cy="871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2000" dirty="0"/>
          </a:p>
        </p:txBody>
      </p:sp>
      <p:sp>
        <p:nvSpPr>
          <p:cNvPr id="10" name="exit-q"/>
          <p:cNvSpPr txBox="1"/>
          <p:nvPr/>
        </p:nvSpPr>
        <p:spPr>
          <a:xfrm>
            <a:off x="2286000" y="1664208"/>
            <a:ext cx="7802575" cy="498856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(−2) × 5 × (−3).</a:t>
            </a:r>
            <a:endParaRPr lang="en-US" sz="2400" dirty="0"/>
          </a:p>
        </p:txBody>
      </p:sp>
      <p:sp>
        <p:nvSpPr>
          <p:cNvPr id="11" name="exit-answer-box"/>
          <p:cNvSpPr/>
          <p:nvPr/>
        </p:nvSpPr>
        <p:spPr>
          <a:xfrm>
            <a:off x="2286000" y="5047488"/>
            <a:ext cx="7619695" cy="822960"/>
          </a:xfrm>
          <a:prstGeom prst="roundRect">
            <a:avLst>
              <a:gd name="adj" fmla="val 11111"/>
            </a:avLst>
          </a:prstGeom>
          <a:solidFill>
            <a:srgbClr val="F7F8FA"/>
          </a:solidFill>
          <a:ln w="12700">
            <a:solidFill>
              <a:srgbClr val="9DAAC9"/>
            </a:solidFill>
            <a:prstDash val="solid"/>
          </a:ln>
        </p:spPr>
      </p:sp>
      <p:sp>
        <p:nvSpPr>
          <p:cNvPr id="12" name="exit-answer-label"/>
          <p:cNvSpPr txBox="1"/>
          <p:nvPr/>
        </p:nvSpPr>
        <p:spPr>
          <a:xfrm>
            <a:off x="2423160" y="5047488"/>
            <a:ext cx="2926080" cy="82296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answer: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Multiply directed numbers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7" name="ans-panel"/>
          <p:cNvSpPr/>
          <p:nvPr/>
        </p:nvSpPr>
        <p:spPr>
          <a:xfrm>
            <a:off x="548640" y="1389888"/>
            <a:ext cx="6400800" cy="4754880"/>
          </a:xfrm>
          <a:prstGeom prst="roundRect">
            <a:avLst>
              <a:gd name="adj" fmla="val 962"/>
            </a:avLst>
          </a:prstGeom>
          <a:solidFill>
            <a:srgbClr val="F9F4EC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8" name="ans-tab"/>
          <p:cNvSpPr/>
          <p:nvPr/>
        </p:nvSpPr>
        <p:spPr>
          <a:xfrm>
            <a:off x="731520" y="155448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9C7225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9" name="ans"/>
          <p:cNvSpPr txBox="1"/>
          <p:nvPr/>
        </p:nvSpPr>
        <p:spPr>
          <a:xfrm>
            <a:off x="777240" y="2167128"/>
            <a:ext cx="5943600" cy="3840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(−9) × (−7).</a:t>
            </a:r>
            <a:endParaRPr lang="en-US" sz="18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800" dirty="0"/>
          </a:p>
        </p:txBody>
      </p:sp>
      <p:sp>
        <p:nvSpPr>
          <p:cNvPr id="10" name="why-panel"/>
          <p:cNvSpPr/>
          <p:nvPr/>
        </p:nvSpPr>
        <p:spPr>
          <a:xfrm>
            <a:off x="7223760" y="1389888"/>
            <a:ext cx="4419295" cy="4754880"/>
          </a:xfrm>
          <a:prstGeom prst="roundRect">
            <a:avLst>
              <a:gd name="adj" fmla="val 1035"/>
            </a:avLst>
          </a:prstGeom>
          <a:solidFill>
            <a:srgbClr val="F0F2F7"/>
          </a:solidFill>
          <a:ln/>
        </p:spPr>
      </p:sp>
      <p:sp>
        <p:nvSpPr>
          <p:cNvPr id="11" name="why-hex"/>
          <p:cNvSpPr/>
          <p:nvPr/>
        </p:nvSpPr>
        <p:spPr>
          <a:xfrm>
            <a:off x="7406640" y="1572768"/>
            <a:ext cx="685800" cy="593903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2" name="why-hex-label"/>
          <p:cNvSpPr txBox="1"/>
          <p:nvPr/>
        </p:nvSpPr>
        <p:spPr>
          <a:xfrm>
            <a:off x="7406640" y="1572768"/>
            <a:ext cx="685800" cy="593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800" dirty="0"/>
          </a:p>
        </p:txBody>
      </p:sp>
      <p:sp>
        <p:nvSpPr>
          <p:cNvPr id="13" name="why"/>
          <p:cNvSpPr txBox="1"/>
          <p:nvPr/>
        </p:nvSpPr>
        <p:spPr>
          <a:xfrm>
            <a:off x="7406640" y="2304288"/>
            <a:ext cx="4053535" cy="3703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× 7 = 63, and two negatives give a positive, so (−9) × (−7) = 63.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Divide directed numbers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7" name="ans-panel"/>
          <p:cNvSpPr/>
          <p:nvPr/>
        </p:nvSpPr>
        <p:spPr>
          <a:xfrm>
            <a:off x="548640" y="1389888"/>
            <a:ext cx="6400800" cy="4754880"/>
          </a:xfrm>
          <a:prstGeom prst="roundRect">
            <a:avLst>
              <a:gd name="adj" fmla="val 962"/>
            </a:avLst>
          </a:prstGeom>
          <a:solidFill>
            <a:srgbClr val="F9F4EC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8" name="ans-tab"/>
          <p:cNvSpPr/>
          <p:nvPr/>
        </p:nvSpPr>
        <p:spPr>
          <a:xfrm>
            <a:off x="731520" y="155448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9C7225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9" name="ans"/>
          <p:cNvSpPr txBox="1"/>
          <p:nvPr/>
        </p:nvSpPr>
        <p:spPr>
          <a:xfrm>
            <a:off x="777240" y="2167128"/>
            <a:ext cx="5943600" cy="3840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algn="l"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(−56) ÷ (−7)  →  B  8</a:t>
            </a:r>
            <a:endParaRPr lang="en-US" sz="2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algn="l"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÷ (−7)  →  D  −8</a:t>
            </a:r>
            <a:endParaRPr lang="en-US" sz="2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algn="l"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(−6) × 4  →  C  −24</a:t>
            </a:r>
            <a:endParaRPr lang="en-US" sz="24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15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algn="l"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(−6) × (−4)  →  A  24</a:t>
            </a:r>
            <a:endParaRPr lang="en-US" sz="2400" dirty="0"/>
          </a:p>
        </p:txBody>
      </p:sp>
      <p:sp>
        <p:nvSpPr>
          <p:cNvPr id="10" name="why-panel"/>
          <p:cNvSpPr/>
          <p:nvPr/>
        </p:nvSpPr>
        <p:spPr>
          <a:xfrm>
            <a:off x="7223760" y="1389888"/>
            <a:ext cx="4419295" cy="4754880"/>
          </a:xfrm>
          <a:prstGeom prst="roundRect">
            <a:avLst>
              <a:gd name="adj" fmla="val 1035"/>
            </a:avLst>
          </a:prstGeom>
          <a:solidFill>
            <a:srgbClr val="F0F2F7"/>
          </a:solidFill>
          <a:ln/>
        </p:spPr>
      </p:sp>
      <p:sp>
        <p:nvSpPr>
          <p:cNvPr id="11" name="why-hex"/>
          <p:cNvSpPr/>
          <p:nvPr/>
        </p:nvSpPr>
        <p:spPr>
          <a:xfrm>
            <a:off x="7406640" y="1572768"/>
            <a:ext cx="685800" cy="593903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2" name="why-hex-label"/>
          <p:cNvSpPr txBox="1"/>
          <p:nvPr/>
        </p:nvSpPr>
        <p:spPr>
          <a:xfrm>
            <a:off x="7406640" y="1572768"/>
            <a:ext cx="685800" cy="593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800" dirty="0"/>
          </a:p>
        </p:txBody>
      </p:sp>
      <p:sp>
        <p:nvSpPr>
          <p:cNvPr id="13" name="why"/>
          <p:cNvSpPr txBox="1"/>
          <p:nvPr/>
        </p:nvSpPr>
        <p:spPr>
          <a:xfrm>
            <a:off x="7406640" y="2304288"/>
            <a:ext cx="4053535" cy="3703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÷ 7 = 8 and 6 × 4 = 24. Same signs give a positive answer, and different signs give a negative answer.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 txBox="1"/>
          <p:nvPr/>
        </p:nvSpPr>
        <p:spPr>
          <a:xfrm>
            <a:off x="548640" y="292608"/>
            <a:ext cx="905256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Answers: Exit ticket</a:t>
            </a:r>
            <a:endParaRPr lang="en-US" sz="3200" dirty="0"/>
          </a:p>
        </p:txBody>
      </p:sp>
      <p:sp>
        <p:nvSpPr>
          <p:cNvPr id="4" name="chip-hex"/>
          <p:cNvSpPr/>
          <p:nvPr/>
        </p:nvSpPr>
        <p:spPr>
          <a:xfrm>
            <a:off x="9677095" y="531760"/>
            <a:ext cx="566928" cy="490960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5" name="chip-hex-label"/>
          <p:cNvSpPr txBox="1"/>
          <p:nvPr/>
        </p:nvSpPr>
        <p:spPr>
          <a:xfrm>
            <a:off x="9677095" y="531760"/>
            <a:ext cx="566928" cy="490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6" name="chip-label"/>
          <p:cNvSpPr txBox="1"/>
          <p:nvPr/>
        </p:nvSpPr>
        <p:spPr>
          <a:xfrm>
            <a:off x="10317175" y="292608"/>
            <a:ext cx="1325880" cy="969264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7" name="ans-panel"/>
          <p:cNvSpPr/>
          <p:nvPr/>
        </p:nvSpPr>
        <p:spPr>
          <a:xfrm>
            <a:off x="548640" y="1389888"/>
            <a:ext cx="6400800" cy="4754880"/>
          </a:xfrm>
          <a:prstGeom prst="roundRect">
            <a:avLst>
              <a:gd name="adj" fmla="val 962"/>
            </a:avLst>
          </a:prstGeom>
          <a:solidFill>
            <a:srgbClr val="F9F4EC"/>
          </a:solidFill>
          <a:ln w="19050">
            <a:solidFill>
              <a:srgbClr val="B8862B"/>
            </a:solidFill>
            <a:prstDash val="solid"/>
          </a:ln>
        </p:spPr>
      </p:sp>
      <p:sp>
        <p:nvSpPr>
          <p:cNvPr id="8" name="ans-tab"/>
          <p:cNvSpPr/>
          <p:nvPr/>
        </p:nvSpPr>
        <p:spPr>
          <a:xfrm>
            <a:off x="731520" y="1554480"/>
            <a:ext cx="1463040" cy="457200"/>
          </a:xfrm>
          <a:prstGeom prst="roundRect">
            <a:avLst>
              <a:gd name="adj" fmla="val 40000"/>
            </a:avLst>
          </a:prstGeom>
          <a:solidFill>
            <a:srgbClr val="9C7225"/>
          </a:solidFill>
          <a:ln/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800" dirty="0"/>
          </a:p>
        </p:txBody>
      </p:sp>
      <p:sp>
        <p:nvSpPr>
          <p:cNvPr id="9" name="ans"/>
          <p:cNvSpPr txBox="1"/>
          <p:nvPr/>
        </p:nvSpPr>
        <p:spPr>
          <a:xfrm>
            <a:off x="777240" y="2167128"/>
            <a:ext cx="5943600" cy="384048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rgbClr val="4A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(−2) × 5 × (−3).</a:t>
            </a:r>
            <a:endParaRPr lang="en-US" sz="18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1E22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800" dirty="0"/>
          </a:p>
        </p:txBody>
      </p:sp>
      <p:sp>
        <p:nvSpPr>
          <p:cNvPr id="10" name="why-panel"/>
          <p:cNvSpPr/>
          <p:nvPr/>
        </p:nvSpPr>
        <p:spPr>
          <a:xfrm>
            <a:off x="7223760" y="1389888"/>
            <a:ext cx="4419295" cy="4754880"/>
          </a:xfrm>
          <a:prstGeom prst="roundRect">
            <a:avLst>
              <a:gd name="adj" fmla="val 1035"/>
            </a:avLst>
          </a:prstGeom>
          <a:solidFill>
            <a:srgbClr val="F0F2F7"/>
          </a:solidFill>
          <a:ln/>
        </p:spPr>
      </p:sp>
      <p:sp>
        <p:nvSpPr>
          <p:cNvPr id="11" name="why-hex"/>
          <p:cNvSpPr/>
          <p:nvPr/>
        </p:nvSpPr>
        <p:spPr>
          <a:xfrm>
            <a:off x="7406640" y="1572768"/>
            <a:ext cx="685800" cy="593903"/>
          </a:xfrm>
          <a:prstGeom prst="hexagon">
            <a:avLst/>
          </a:prstGeom>
          <a:solidFill>
            <a:srgbClr val="2E4A8C"/>
          </a:solidFill>
          <a:ln/>
        </p:spPr>
      </p:sp>
      <p:sp>
        <p:nvSpPr>
          <p:cNvPr id="12" name="why-hex-label"/>
          <p:cNvSpPr txBox="1"/>
          <p:nvPr/>
        </p:nvSpPr>
        <p:spPr>
          <a:xfrm>
            <a:off x="7406640" y="1572768"/>
            <a:ext cx="685800" cy="593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800" dirty="0"/>
          </a:p>
        </p:txBody>
      </p:sp>
      <p:sp>
        <p:nvSpPr>
          <p:cNvPr id="13" name="why"/>
          <p:cNvSpPr txBox="1"/>
          <p:nvPr/>
        </p:nvSpPr>
        <p:spPr>
          <a:xfrm>
            <a:off x="7406640" y="2304288"/>
            <a:ext cx="4053535" cy="3703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E22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(−2) × 5 = −10, then −10 × (−3) = 30.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446520"/>
            <a:ext cx="64008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29437E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 Astra maths">
  <a:themeElements>
    <a:clrScheme name="Ad Astra maths">
      <a:dk1>
        <a:srgbClr val="1E2229"/>
      </a:dk1>
      <a:lt1>
        <a:srgbClr val="FFFFFF"/>
      </a:lt1>
      <a:dk2>
        <a:srgbClr val="253B70"/>
      </a:dk2>
      <a:lt2>
        <a:srgbClr val="F0F2F7"/>
      </a:lt2>
      <a:accent1>
        <a:srgbClr val="2E4A8C"/>
      </a:accent1>
      <a:accent2>
        <a:srgbClr val="B8862B"/>
      </a:accent2>
      <a:accent3>
        <a:srgbClr val="8292BA"/>
      </a:accent3>
      <a:accent4>
        <a:srgbClr val="815E1E"/>
      </a:accent4>
      <a:accent5>
        <a:srgbClr val="4A505C"/>
      </a:accent5>
      <a:accent6>
        <a:srgbClr val="DEC69B"/>
      </a:accent6>
      <a:hlink>
        <a:srgbClr val="2E4A8C"/>
      </a:hlink>
      <a:folHlink>
        <a:srgbClr val="203462"/>
      </a:folHlink>
    </a:clrScheme>
    <a:fontScheme name="Ad Astra math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Directed Number · Chapter 5: Multiplying and dividing</dc:title>
  <dc:subject>Mathematics · Year 7</dc:subject>
  <dc:creator>Dr Vitor Merissi de Carvalho</dc:creator>
  <cp:lastModifiedBy>Dr Vitor Merissi de Carvalho</cp:lastModifiedBy>
  <cp:revision>1</cp:revision>
  <dcterms:created xsi:type="dcterms:W3CDTF">2026-10-19T06:08:10Z</dcterms:created>
  <dcterms:modified xsi:type="dcterms:W3CDTF">2026-10-19T06:08:10Z</dcterms:modified>
</cp:coreProperties>
</file>