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short version of a strategy report I have written for headteachers, senior teams and governors: Adaptive by Design. Its question is one every school now has to answer: what is our position on artificial intelligence? My answer is that the position should begin with inclusion, not with tools. Over the next ten minutes I will show what the guidance published in the last twelve months asks of leaders, why most schools cannot yet do it, a four-step model for doing it, what has already been built and what has not yet been tested, and seven decisions for the school. The full report is the handout; every figure on these slides is taken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sentence, make it this one. An AI strategy that starts anywhere other than inclusion will be measured against a question it was not built to answer. The guidance asks schools to judge AI by its effect on pupils, and to show that the pupils who face barriers are reached. That is the question a head of department asks on a learning walk: is this lesson reaching the pupil in the corner who is not putting a hand up? So my first recommendation is structural: write the AI strategy as part of the inclusion strategy, not beside it. One document, one set of measures, one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October 2025 and September 2026 the rules moved from permission to expectation. Ofsted's revised guidance says inspectors will not evaluate AI as such; they look at its effect on pupils, and from November inclusion is graded on its own. The February white paper gives SEND reform its layers and asks every school for an annual inclusion strategy. In May the DfE support materials said AI may help draft support plans, but must not decide whether a pupil has SEN or write an EHCP without full review. The safety standards and KCSIE 2026 bring AI inside safeguarding, and the EEF is now studying cognitive offloading. The common thread: AI will be judged by what it does for pupils.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guidance assumes every school has someone who can turn principles into practice. The survey evidence says most do not. Only 9 per cent of state school teachers reported a school-wide AI strategy, against 27 per cent in private schools. A year later, 41 per cent of teachers had received no training or support at all. Among teachers using AI, 51 per cent said it had eased their workload, but only 35 per cent were working fewer hours: the time saved is absorbed elsewhere. McKinsey finds the same pattern in companies: 80 per cent say AI has made them more productive, only 37 per cent see a measurable gain for the organisation. Those figures should not be read across to schools, but the lesson does: only changing how the work is organised changes the result. In a school, the work is the curriculum and how it is taught. [Sources, not to read aloud: Sutton Trust / Teacher Tapp, April 2025; BETT / YouGov in Schools Week, 27 August 2026; National Institute of Teaching, September 2026; McKinsey Quarterly, 5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gap matter for inclusion? Because when AI arrives without a strategy, its benefits flow to the pupils and staff already best placed to use them: those with devices at home, confident readers, teachers with time to experiment. The training gap already follows affluence: in more affluent state schools 26 per cent of teachers had been trained, against 18 per cent in less affluent ones. The Sutton Trust and ASCL warn that AI could widen attainment gaps unless it is deliberately used to close them. A strategy that starts from inclusion is simply the deliberate version. This is the familiar classroom point: technology does not close a gap on its own; it amplifies whatever practice it sits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model. It is not new pedagogy; it is the adaptive teaching the evidence already supports, organised so that it happens every lesson. One: pre-teach, with a read-along ebook in which the text is highlighted as the audio plays; that is the low-literacy pupil's way in. Two: a short gate places the pupil at a starting level, and recall comes before any help is shown. Three: three levels of scaffold, Support, Core and Stretch. Four: every pupil finishes on the same question, and the scaffold fades as modules progress. The level changes how much help is visible, never the question. This draws on the EEF's guidance on SEND in mainstream schools, the SENSE study's warning that differentiation too often becomes easier work, and the evidence on retrieval practice. AI makes it affordable: it drafts the levels from the department's own decks, a subject specialist checks and signs, and decisions about individual pupils stay with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that concrete. A Year 8 class will meet series circuits on Thursday. On Tuesday, four pupils, identified by the department's pre-assessment and not by the SEND register, open the read-along chapter: the components, the symbols, the word current used in a sentence each. On Thursday they start the lesson holding the vocabulary the explanation stands on, and the teacher checks their understanding first. Notice what does not happen: nobody is given easier work, and nobody is taken out of the lesson. And notice the last card. If two terms of exit tickets show no difference, the evaluation will say so. This is the pre-teaching action from my proposal for leading SEND at Harlington, and it is why Electric Circuits is one of the five exemplar units built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Harlington is the worked case: an 11 to 18 comprehensive in Hillingdon with a specialist resource provision and a designated unit for autistic pupils. The work was built by one head of department, largely in school holidays: 222 SEND booklets across seven departments covering 2,080 lessons, a complete A-level portal of 25 units and 87 taught lessons, and read-along ebooks, with no pupil record entered into any AI tool. Read the lower half as carefully as the upper. The claim that matters most, that the adaptive pages improve learning for pupils with SEND, has not yet been tested; a pilot evaluation is planned against a baseline. The translated EAL editions are not yet checked by speakers or in use. And an August audit found some A-level pages carrying past-paper wording; correcting them is the first implementation action. A strategy that only reports its successes cannot be trusted with its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school needs a position on AI-drafted material whether or not it adopts this model, and a vague one will either block everything or permit everything. So start with the boundary: AI is not used to judge pupils, produce predicted grades, write reports on individual pupils, decide whether a pupil has SEN, write the content of an EHCP, or offer emotional or mental-health support. Each item matches the DfE's 2026 support materials or data-protection law. Then tier the oversight by consequence, not by tool. Checking every page line by line does not survive two thousand lessons; a tiered rule does, with named signatories and a record that they signed. Beside it sit the safeguards, in the guidance's own terms: no pupil data on public pages, pupil-facing tools checked against the product safety standards, and AI inside the KCSIE filtering and monitoring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fast should a school go? Webster and Westerman's study of 21 large companies for MIT Sloan found that those getting real value made small, deliberate changes ordered by risk: staff tasks first, then specialist work a person reviews, and only then anything facing the customer. In a school the customer is the pupil, so the order matters more. Harlington is on the second step, and I want to say it plainly: pupils meet material that AI drafted and a specialist checked. They do not talk to an AI. Live tutors and chatbots belong on step three, worth considering, but only after the product safety standards check, a DPIA and the KCSIE filtering review. Moving from pilot to whole school is the hard part. One leader in that study put the task in a phrase any teacher will recognise: build the scaffolding to bring everybody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EEF's implementation guidance is blunt: most new approaches fail in the doing, not the choosing. So the plan follows its four phases, explore, prepare, deliver, sustain, with term numbers as an indication only. Two principles run through it. First, build once, centrally: departments supply the curriculum thinking, typically a morning's work for a head of department, and one team builds to one standard. That keeps the workload in a role with the hours in it, not spread across a department. Second, time freed by AI is not a saving until someone decides how it is spent. The strategy names the destination in advance, in terms of pupils: pre-teaching groups, feedback on extended writing, and the termly review of pupils on SEN Support. Training follows the model, not the tool, and early-career teachers write their own adaptation before comparing it with the AI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is not impact: a page can be busy and useless. The DfE's technology survey found only 35 per cent of school leaders had any way of telling whether their technology was effective. So the measures are few, each is taken against a baseline, and the two in amber are designed to be able to embarrass the person proposing them. Teacher attention is the SENSE measure: does support add to the teacher's work with the pupil, or replace it? The offloading check watches for the risk the EEF is now studying. Staff time is expected to rise before it falls, and governors should hear that in advance. Spread is about ownership, not compliance. What did not work is reported to governors alongside what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decisions. The first three set the direction: write the AI strategy as part of the inclusion strategy; use AI where the evidence on adaptive teaching is strongest, with every pupil working towards the same task; and draw the boundary before the permissions. The last four make it safe, sustainable and honest: tier oversight by consequence, with named signatories; keep pupil data out by design and put AI inside safeguarding; build once, centrally, and put the time in a role; and agree the evaluation before the rollout. None of these requires software to buy. The real cost is leadership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2025 to 26 guidance judges AI by its effect on pupils and grades inclusion separately, so an AI strategy should start where it will be judged. The approach with the strongest evidence is adaptive teaching made deliberate: pre-teach, gate, scaffold, fade, same destination. AI makes that affordable at scale; people keep every decision about individual pupils. The boundary, the tiers and the safeguards each answer a question a governor, parent or inspector will ask. It has been built and run in one school, and its claims are qualified where the evidence is qualified. What it needs is a senior post with the time in it, and an evaluation agreed before it starts. [Pause, and stop there. Keep this slide on screen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9601200" cy="27432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Adaptive by Design · Dr Vitor Carvalho · Edu.Ai SV Digital · October 2026</a:t>
            </a:r>
            <a:endParaRPr lang="en-US" sz="12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9601200" cy="27432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Adaptive by Design · Dr Vitor Carvalho · Edu.Ai SV Digital · October 2026</a:t>
            </a:r>
            <a:endParaRPr lang="en-US" sz="1200" dirty="0"/>
          </a:p>
        </p:txBody>
      </p:sp>
      <p:sp>
        <p:nvSpPr>
          <p:cNvPr id="3" name="Text 1"/>
          <p:cNvSpPr/>
          <p:nvPr>
            <p:ph idx="101" type="body" hasCustomPrompt="1"/>
          </p:nvPr>
        </p:nvSpPr>
        <p:spPr>
          <a:xfrm>
            <a:off x="932688" y="347472"/>
            <a:ext cx="10710367" cy="365760"/>
          </a:xfrm>
          <a:prstGeom prst="rect">
            <a:avLst/>
          </a:prstGeom>
          <a:noFill/>
          <a:ln/>
        </p:spPr>
        <p:txBody>
          <a:bodyPr wrap="square" rtlCol="0"/>
          <a:lstStyle>
            <a:lvl1pPr indent="0" marL="0">
              <a:buNone/>
              <a:defRPr lang="en-US" sz="1800" b="1" spc="100" kern="0" dirty="0">
                <a:solidFill>
                  <a:srgbClr val="0E6B66"/>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rtlCol="0"/>
          <a:lstStyle>
            <a:lvl1pPr algn="l" indent="0" marL="0">
              <a:buNone/>
              <a:defRPr lang="en-US" sz="3400" b="1" dirty="0">
                <a:solidFill>
                  <a:srgbClr val="2B3445"/>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047924" cy="182880"/>
          </a:xfrm>
          <a:prstGeom prst="rect">
            <a:avLst/>
          </a:prstGeom>
          <a:solidFill>
            <a:srgbClr val="0E6B66"/>
          </a:solidFill>
          <a:ln/>
        </p:spPr>
      </p:sp>
      <p:sp>
        <p:nvSpPr>
          <p:cNvPr id="3" name="Shape 1"/>
          <p:cNvSpPr/>
          <p:nvPr/>
        </p:nvSpPr>
        <p:spPr>
          <a:xfrm>
            <a:off x="3047924" y="0"/>
            <a:ext cx="3047924" cy="182880"/>
          </a:xfrm>
          <a:prstGeom prst="rect">
            <a:avLst/>
          </a:prstGeom>
          <a:solidFill>
            <a:srgbClr val="B5701F"/>
          </a:solidFill>
          <a:ln/>
        </p:spPr>
      </p:sp>
      <p:sp>
        <p:nvSpPr>
          <p:cNvPr id="4" name="Shape 2"/>
          <p:cNvSpPr/>
          <p:nvPr/>
        </p:nvSpPr>
        <p:spPr>
          <a:xfrm>
            <a:off x="6095848" y="0"/>
            <a:ext cx="3047924" cy="182880"/>
          </a:xfrm>
          <a:prstGeom prst="rect">
            <a:avLst/>
          </a:prstGeom>
          <a:solidFill>
            <a:srgbClr val="6B3F7A"/>
          </a:solidFill>
          <a:ln/>
        </p:spPr>
      </p:sp>
      <p:sp>
        <p:nvSpPr>
          <p:cNvPr id="5" name="Shape 3"/>
          <p:cNvSpPr/>
          <p:nvPr/>
        </p:nvSpPr>
        <p:spPr>
          <a:xfrm>
            <a:off x="9143771" y="0"/>
            <a:ext cx="3047924" cy="182880"/>
          </a:xfrm>
          <a:prstGeom prst="rect">
            <a:avLst/>
          </a:prstGeom>
          <a:solidFill>
            <a:srgbClr val="2B3445"/>
          </a:solidFill>
          <a:ln/>
        </p:spPr>
      </p:sp>
      <p:sp>
        <p:nvSpPr>
          <p:cNvPr id="6" name="Shape 4"/>
          <p:cNvSpPr/>
          <p:nvPr/>
        </p:nvSpPr>
        <p:spPr>
          <a:xfrm>
            <a:off x="8001000" y="1078626"/>
            <a:ext cx="1097280" cy="950244"/>
          </a:xfrm>
          <a:prstGeom prst="hexagon">
            <a:avLst/>
          </a:prstGeom>
          <a:solidFill>
            <a:srgbClr val="DCEFEC"/>
          </a:solidFill>
          <a:ln/>
        </p:spPr>
      </p:sp>
      <p:sp>
        <p:nvSpPr>
          <p:cNvPr id="7" name="Shape 5"/>
          <p:cNvSpPr/>
          <p:nvPr/>
        </p:nvSpPr>
        <p:spPr>
          <a:xfrm>
            <a:off x="8001000" y="2102023"/>
            <a:ext cx="1097280" cy="950244"/>
          </a:xfrm>
          <a:prstGeom prst="hexagon">
            <a:avLst/>
          </a:prstGeom>
          <a:ln w="28575">
            <a:solidFill>
              <a:srgbClr val="0E6B66"/>
            </a:solidFill>
            <a:prstDash val="solid"/>
          </a:ln>
        </p:spPr>
      </p:sp>
      <p:sp>
        <p:nvSpPr>
          <p:cNvPr id="8" name="Shape 6"/>
          <p:cNvSpPr/>
          <p:nvPr/>
        </p:nvSpPr>
        <p:spPr>
          <a:xfrm>
            <a:off x="8887968" y="566928"/>
            <a:ext cx="1097280" cy="950244"/>
          </a:xfrm>
          <a:prstGeom prst="hexagon">
            <a:avLst/>
          </a:prstGeom>
          <a:solidFill>
            <a:srgbClr val="0E6B66"/>
          </a:solidFill>
          <a:ln/>
        </p:spPr>
      </p:sp>
      <p:sp>
        <p:nvSpPr>
          <p:cNvPr id="9" name="Shape 7"/>
          <p:cNvSpPr/>
          <p:nvPr/>
        </p:nvSpPr>
        <p:spPr>
          <a:xfrm>
            <a:off x="8887968" y="1590324"/>
            <a:ext cx="1097280" cy="950244"/>
          </a:xfrm>
          <a:prstGeom prst="hexagon">
            <a:avLst/>
          </a:prstGeom>
          <a:solidFill>
            <a:srgbClr val="B5701F"/>
          </a:solidFill>
          <a:ln/>
        </p:spPr>
      </p:sp>
      <p:sp>
        <p:nvSpPr>
          <p:cNvPr id="10" name="Shape 8"/>
          <p:cNvSpPr/>
          <p:nvPr/>
        </p:nvSpPr>
        <p:spPr>
          <a:xfrm>
            <a:off x="8887968" y="2613721"/>
            <a:ext cx="1097280" cy="950244"/>
          </a:xfrm>
          <a:prstGeom prst="hexagon">
            <a:avLst/>
          </a:prstGeom>
          <a:solidFill>
            <a:srgbClr val="EFE6F3"/>
          </a:solidFill>
          <a:ln/>
        </p:spPr>
      </p:sp>
      <p:sp>
        <p:nvSpPr>
          <p:cNvPr id="11" name="Shape 9"/>
          <p:cNvSpPr/>
          <p:nvPr/>
        </p:nvSpPr>
        <p:spPr>
          <a:xfrm>
            <a:off x="9774936" y="1078626"/>
            <a:ext cx="1097280" cy="950244"/>
          </a:xfrm>
          <a:prstGeom prst="hexagon">
            <a:avLst/>
          </a:prstGeom>
          <a:ln w="28575">
            <a:solidFill>
              <a:srgbClr val="2B3445"/>
            </a:solidFill>
            <a:prstDash val="solid"/>
          </a:ln>
        </p:spPr>
      </p:sp>
      <p:sp>
        <p:nvSpPr>
          <p:cNvPr id="12" name="Shape 10"/>
          <p:cNvSpPr/>
          <p:nvPr/>
        </p:nvSpPr>
        <p:spPr>
          <a:xfrm>
            <a:off x="9774936" y="2102023"/>
            <a:ext cx="1097280" cy="950244"/>
          </a:xfrm>
          <a:prstGeom prst="hexagon">
            <a:avLst/>
          </a:prstGeom>
          <a:solidFill>
            <a:srgbClr val="6B3F7A"/>
          </a:solidFill>
          <a:ln/>
        </p:spPr>
      </p:sp>
      <p:sp>
        <p:nvSpPr>
          <p:cNvPr id="13" name="Shape 11"/>
          <p:cNvSpPr/>
          <p:nvPr/>
        </p:nvSpPr>
        <p:spPr>
          <a:xfrm>
            <a:off x="9774936" y="3125419"/>
            <a:ext cx="1097280" cy="950244"/>
          </a:xfrm>
          <a:prstGeom prst="hexagon">
            <a:avLst/>
          </a:prstGeom>
          <a:solidFill>
            <a:srgbClr val="F8EBD9"/>
          </a:solidFill>
          <a:ln/>
        </p:spPr>
      </p:sp>
      <p:sp>
        <p:nvSpPr>
          <p:cNvPr id="14" name="Shape 12"/>
          <p:cNvSpPr/>
          <p:nvPr/>
        </p:nvSpPr>
        <p:spPr>
          <a:xfrm>
            <a:off x="10661904" y="566928"/>
            <a:ext cx="1097280" cy="950244"/>
          </a:xfrm>
          <a:prstGeom prst="hexagon">
            <a:avLst/>
          </a:prstGeom>
          <a:solidFill>
            <a:srgbClr val="E8EBF0"/>
          </a:solidFill>
          <a:ln/>
        </p:spPr>
      </p:sp>
      <p:sp>
        <p:nvSpPr>
          <p:cNvPr id="15" name="Shape 13"/>
          <p:cNvSpPr/>
          <p:nvPr/>
        </p:nvSpPr>
        <p:spPr>
          <a:xfrm>
            <a:off x="10661904" y="1590324"/>
            <a:ext cx="1097280" cy="950244"/>
          </a:xfrm>
          <a:prstGeom prst="hexagon">
            <a:avLst/>
          </a:prstGeom>
          <a:ln w="28575">
            <a:solidFill>
              <a:srgbClr val="B5701F"/>
            </a:solidFill>
            <a:prstDash val="solid"/>
          </a:ln>
        </p:spPr>
      </p:sp>
      <p:sp>
        <p:nvSpPr>
          <p:cNvPr id="16" name="Shape 14"/>
          <p:cNvSpPr/>
          <p:nvPr/>
        </p:nvSpPr>
        <p:spPr>
          <a:xfrm>
            <a:off x="10661904" y="2613721"/>
            <a:ext cx="1097280" cy="950244"/>
          </a:xfrm>
          <a:prstGeom prst="hexagon">
            <a:avLst/>
          </a:prstGeom>
          <a:solidFill>
            <a:srgbClr val="0E6B66"/>
          </a:solidFill>
          <a:ln/>
        </p:spPr>
      </p:sp>
      <p:sp>
        <p:nvSpPr>
          <p:cNvPr id="17" name="Text 15"/>
          <p:cNvSpPr txBox="1"/>
          <p:nvPr/>
        </p:nvSpPr>
        <p:spPr>
          <a:xfrm>
            <a:off x="548640" y="658368"/>
            <a:ext cx="7223760"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STRATEGY AND GUIDANCE REPORT · OCTOBER 2026</a:t>
            </a:r>
            <a:endParaRPr lang="en-US" sz="1800" dirty="0"/>
          </a:p>
        </p:txBody>
      </p:sp>
      <p:sp>
        <p:nvSpPr>
          <p:cNvPr id="18" name="Text 16"/>
          <p:cNvSpPr txBox="1"/>
          <p:nvPr/>
        </p:nvSpPr>
        <p:spPr>
          <a:xfrm>
            <a:off x="548640" y="1078992"/>
            <a:ext cx="7223760" cy="914400"/>
          </a:xfrm>
          <a:prstGeom prst="rect">
            <a:avLst/>
          </a:prstGeom>
          <a:noFill/>
          <a:ln/>
        </p:spPr>
        <p:txBody>
          <a:bodyPr wrap="square" lIns="0" tIns="0" rIns="0" bIns="0" rtlCol="0" anchor="ctr"/>
          <a:lstStyle/>
          <a:p>
            <a:pPr indent="0" marL="0">
              <a:buNone/>
            </a:pPr>
            <a:r>
              <a:rPr lang="en-US" sz="5400" b="1" dirty="0">
                <a:solidFill>
                  <a:srgbClr val="2B3445"/>
                </a:solidFill>
                <a:latin typeface="Cambria" pitchFamily="34" charset="0"/>
                <a:ea typeface="Cambria" pitchFamily="34" charset="-122"/>
                <a:cs typeface="Cambria" pitchFamily="34" charset="-120"/>
              </a:rPr>
              <a:t>Adaptive by Design</a:t>
            </a:r>
            <a:endParaRPr lang="en-US" sz="5400" dirty="0"/>
          </a:p>
        </p:txBody>
      </p:sp>
      <p:sp>
        <p:nvSpPr>
          <p:cNvPr id="19" name="Text 17"/>
          <p:cNvSpPr txBox="1"/>
          <p:nvPr/>
        </p:nvSpPr>
        <p:spPr>
          <a:xfrm>
            <a:off x="548640" y="2103120"/>
            <a:ext cx="7040880" cy="1234440"/>
          </a:xfrm>
          <a:prstGeom prst="rect">
            <a:avLst/>
          </a:prstGeom>
          <a:noFill/>
          <a:ln/>
        </p:spPr>
        <p:txBody>
          <a:bodyPr wrap="square" lIns="0" tIns="0" rIns="0" bIns="0" rtlCol="0" anchor="t"/>
          <a:lstStyle/>
          <a:p>
            <a:pPr indent="0" marL="0">
              <a:buNone/>
            </a:pPr>
            <a:r>
              <a:rPr lang="en-US" sz="2200" dirty="0">
                <a:solidFill>
                  <a:srgbClr val="1E2430"/>
                </a:solidFill>
                <a:latin typeface="Calibri" pitchFamily="34" charset="0"/>
                <a:ea typeface="Calibri" pitchFamily="34" charset="-122"/>
                <a:cs typeface="Calibri" pitchFamily="34" charset="-120"/>
              </a:rPr>
              <a:t>An AI strategy for secondary schools that begins with inclusion: what the 2025–26 guidance asks of leaders, and a tested way to meet it</a:t>
            </a:r>
            <a:endParaRPr lang="en-US" sz="2200" dirty="0"/>
          </a:p>
        </p:txBody>
      </p:sp>
      <p:sp>
        <p:nvSpPr>
          <p:cNvPr id="20" name="Text 18"/>
          <p:cNvSpPr txBox="1"/>
          <p:nvPr/>
        </p:nvSpPr>
        <p:spPr>
          <a:xfrm>
            <a:off x="548640" y="3886200"/>
            <a:ext cx="11094415" cy="411480"/>
          </a:xfrm>
          <a:prstGeom prst="rect">
            <a:avLst/>
          </a:prstGeom>
          <a:noFill/>
          <a:ln/>
        </p:spPr>
        <p:txBody>
          <a:bodyPr wrap="square" lIns="0" tIns="0" rIns="0" bIns="0" rtlCol="0" anchor="ctr"/>
          <a:lstStyle/>
          <a:p>
            <a:pPr indent="0" marL="0">
              <a:buNone/>
            </a:pPr>
            <a:r>
              <a:rPr lang="en-US" sz="2600" b="1" dirty="0">
                <a:solidFill>
                  <a:srgbClr val="2B3445"/>
                </a:solidFill>
                <a:latin typeface="Cambria" pitchFamily="34" charset="0"/>
                <a:ea typeface="Cambria" pitchFamily="34" charset="-122"/>
                <a:cs typeface="Cambria" pitchFamily="34" charset="-120"/>
              </a:rPr>
              <a:t>Dr Vitor Carvalho</a:t>
            </a:r>
            <a:endParaRPr lang="en-US" sz="2600" dirty="0"/>
          </a:p>
        </p:txBody>
      </p:sp>
      <p:sp>
        <p:nvSpPr>
          <p:cNvPr id="21" name="Text 19"/>
          <p:cNvSpPr txBox="1"/>
          <p:nvPr/>
        </p:nvSpPr>
        <p:spPr>
          <a:xfrm>
            <a:off x="548640" y="4370832"/>
            <a:ext cx="11094415" cy="347472"/>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Head of Philosophy, Religious Education and Lead on EPQ</a:t>
            </a:r>
            <a:endParaRPr lang="en-US" sz="1800" dirty="0"/>
          </a:p>
        </p:txBody>
      </p:sp>
      <p:sp>
        <p:nvSpPr>
          <p:cNvPr id="22" name="Text 20"/>
          <p:cNvSpPr txBox="1"/>
          <p:nvPr/>
        </p:nvSpPr>
        <p:spPr>
          <a:xfrm>
            <a:off x="548640" y="4754880"/>
            <a:ext cx="11094415" cy="347472"/>
          </a:xfrm>
          <a:prstGeom prst="rect">
            <a:avLst/>
          </a:prstGeom>
          <a:noFill/>
          <a:ln/>
        </p:spPr>
        <p:txBody>
          <a:bodyPr wrap="square" lIns="0" tIns="0" rIns="0" bIns="0" rtlCol="0" anchor="ctr"/>
          <a:lstStyle/>
          <a:p>
            <a:pPr indent="0" marL="0">
              <a:buNone/>
            </a:pPr>
            <a:r>
              <a:rPr lang="en-US" sz="1800" dirty="0">
                <a:solidFill>
                  <a:srgbClr val="5B6475"/>
                </a:solidFill>
                <a:latin typeface="Calibri" pitchFamily="34" charset="0"/>
                <a:ea typeface="Calibri" pitchFamily="34" charset="-122"/>
                <a:cs typeface="Calibri" pitchFamily="34" charset="-120"/>
              </a:rPr>
              <a:t>PGCE, University of Oxford · MA, University of Trinity Saint David · PhD, University of Nottingham</a:t>
            </a:r>
            <a:endParaRPr lang="en-US" sz="1800" dirty="0"/>
          </a:p>
        </p:txBody>
      </p:sp>
      <p:sp>
        <p:nvSpPr>
          <p:cNvPr id="23" name="Text 21"/>
          <p:cNvSpPr txBox="1"/>
          <p:nvPr/>
        </p:nvSpPr>
        <p:spPr>
          <a:xfrm>
            <a:off x="548640" y="5138928"/>
            <a:ext cx="11094415" cy="347472"/>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Co-founder, Edu.Ai SV Digital</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THE ARGUMENT IN ONE SENTENCE</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An AI strategy is an inclusion strategy</a:t>
            </a:r>
            <a:endParaRPr lang="en-US" sz="3400" dirty="0"/>
          </a:p>
        </p:txBody>
      </p:sp>
      <p:sp>
        <p:nvSpPr>
          <p:cNvPr id="5" name="Shape 3"/>
          <p:cNvSpPr/>
          <p:nvPr/>
        </p:nvSpPr>
        <p:spPr>
          <a:xfrm>
            <a:off x="548640" y="1645920"/>
            <a:ext cx="6675120" cy="3246120"/>
          </a:xfrm>
          <a:prstGeom prst="roundRect">
            <a:avLst>
              <a:gd name="adj" fmla="val 2254"/>
            </a:avLst>
          </a:prstGeom>
          <a:solidFill>
            <a:srgbClr val="DCEFEC"/>
          </a:solidFill>
          <a:ln/>
        </p:spPr>
      </p:sp>
      <p:sp>
        <p:nvSpPr>
          <p:cNvPr id="6" name="Shape 4"/>
          <p:cNvSpPr/>
          <p:nvPr/>
        </p:nvSpPr>
        <p:spPr>
          <a:xfrm>
            <a:off x="868680" y="1938528"/>
            <a:ext cx="457200" cy="395935"/>
          </a:xfrm>
          <a:prstGeom prst="hexagon">
            <a:avLst/>
          </a:prstGeom>
          <a:solidFill>
            <a:srgbClr val="0E6B66"/>
          </a:solidFill>
          <a:ln/>
        </p:spPr>
      </p:sp>
      <p:sp>
        <p:nvSpPr>
          <p:cNvPr id="7" name="Text 5"/>
          <p:cNvSpPr txBox="1"/>
          <p:nvPr/>
        </p:nvSpPr>
        <p:spPr>
          <a:xfrm>
            <a:off x="868680" y="2560320"/>
            <a:ext cx="6035040" cy="2103120"/>
          </a:xfrm>
          <a:prstGeom prst="rect">
            <a:avLst/>
          </a:prstGeom>
          <a:noFill/>
          <a:ln/>
        </p:spPr>
        <p:txBody>
          <a:bodyPr wrap="square" lIns="0" tIns="0" rIns="0" bIns="0" rtlCol="0" anchor="t"/>
          <a:lstStyle/>
          <a:p>
            <a:pPr indent="0" marL="0">
              <a:buNone/>
            </a:pPr>
            <a:r>
              <a:rPr lang="en-US" sz="3000" b="1" dirty="0">
                <a:solidFill>
                  <a:srgbClr val="2B3445"/>
                </a:solidFill>
                <a:latin typeface="Cambria" pitchFamily="34" charset="0"/>
                <a:ea typeface="Cambria" pitchFamily="34" charset="-122"/>
                <a:cs typeface="Cambria" pitchFamily="34" charset="-120"/>
              </a:rPr>
              <a:t>An AI strategy that starts anywhere other than inclusion will be measured against a question it was not built to answer.</a:t>
            </a:r>
            <a:endParaRPr lang="en-US" sz="3000" dirty="0"/>
          </a:p>
        </p:txBody>
      </p:sp>
      <p:sp>
        <p:nvSpPr>
          <p:cNvPr id="8" name="Shape 6"/>
          <p:cNvSpPr/>
          <p:nvPr/>
        </p:nvSpPr>
        <p:spPr>
          <a:xfrm>
            <a:off x="7589520" y="1664208"/>
            <a:ext cx="548640" cy="475122"/>
          </a:xfrm>
          <a:prstGeom prst="hexagon">
            <a:avLst/>
          </a:prstGeom>
          <a:solidFill>
            <a:srgbClr val="0E6B66"/>
          </a:solidFill>
          <a:ln/>
        </p:spPr>
      </p:sp>
      <p:sp>
        <p:nvSpPr>
          <p:cNvPr id="9" name="Text 7"/>
          <p:cNvSpPr txBox="1"/>
          <p:nvPr/>
        </p:nvSpPr>
        <p:spPr>
          <a:xfrm>
            <a:off x="7589520" y="1664208"/>
            <a:ext cx="548640" cy="47512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p:cNvSpPr txBox="1"/>
          <p:nvPr/>
        </p:nvSpPr>
        <p:spPr>
          <a:xfrm>
            <a:off x="8321040" y="1645920"/>
            <a:ext cx="3319272" cy="777240"/>
          </a:xfrm>
          <a:prstGeom prst="rect">
            <a:avLst/>
          </a:prstGeom>
          <a:noFill/>
          <a:ln/>
        </p:spPr>
        <p:txBody>
          <a:bodyPr wrap="square" lIns="0" tIns="0" rIns="0" bIns="0" rtlCol="0" anchor="t"/>
          <a:lstStyle/>
          <a:p>
            <a:pPr indent="0" marL="0">
              <a:buNone/>
            </a:pPr>
            <a:r>
              <a:rPr lang="en-US" sz="2000" dirty="0">
                <a:solidFill>
                  <a:srgbClr val="1E2430"/>
                </a:solidFill>
                <a:latin typeface="Calibri" pitchFamily="34" charset="0"/>
                <a:ea typeface="Calibri" pitchFamily="34" charset="-122"/>
                <a:cs typeface="Calibri" pitchFamily="34" charset="-120"/>
              </a:rPr>
              <a:t>The guidance judges AI by its effect on pupils.</a:t>
            </a:r>
            <a:endParaRPr lang="en-US" sz="2000" dirty="0"/>
          </a:p>
        </p:txBody>
      </p:sp>
      <p:sp>
        <p:nvSpPr>
          <p:cNvPr id="11" name="Shape 9"/>
          <p:cNvSpPr/>
          <p:nvPr/>
        </p:nvSpPr>
        <p:spPr>
          <a:xfrm>
            <a:off x="7589520" y="2624328"/>
            <a:ext cx="548640" cy="475122"/>
          </a:xfrm>
          <a:prstGeom prst="hexagon">
            <a:avLst/>
          </a:prstGeom>
          <a:solidFill>
            <a:srgbClr val="B5701F"/>
          </a:solidFill>
          <a:ln/>
        </p:spPr>
      </p:sp>
      <p:sp>
        <p:nvSpPr>
          <p:cNvPr id="12" name="Text 10"/>
          <p:cNvSpPr txBox="1"/>
          <p:nvPr/>
        </p:nvSpPr>
        <p:spPr>
          <a:xfrm>
            <a:off x="7589520" y="2624328"/>
            <a:ext cx="548640" cy="47512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8321040" y="2606040"/>
            <a:ext cx="3319272" cy="914400"/>
          </a:xfrm>
          <a:prstGeom prst="rect">
            <a:avLst/>
          </a:prstGeom>
          <a:noFill/>
          <a:ln/>
        </p:spPr>
        <p:txBody>
          <a:bodyPr wrap="square" lIns="0" tIns="0" rIns="0" bIns="0" rtlCol="0" anchor="t"/>
          <a:lstStyle/>
          <a:p>
            <a:pPr indent="0" marL="0">
              <a:buNone/>
            </a:pPr>
            <a:r>
              <a:rPr lang="en-US" sz="2000" dirty="0">
                <a:solidFill>
                  <a:srgbClr val="1E2430"/>
                </a:solidFill>
                <a:latin typeface="Calibri" pitchFamily="34" charset="0"/>
                <a:ea typeface="Calibri" pitchFamily="34" charset="-122"/>
                <a:cs typeface="Calibri" pitchFamily="34" charset="-120"/>
              </a:rPr>
              <a:t>It asks schools to show that pupils who face barriers are reached.</a:t>
            </a:r>
            <a:endParaRPr lang="en-US" sz="2000" dirty="0"/>
          </a:p>
        </p:txBody>
      </p:sp>
      <p:sp>
        <p:nvSpPr>
          <p:cNvPr id="14" name="Shape 12"/>
          <p:cNvSpPr/>
          <p:nvPr/>
        </p:nvSpPr>
        <p:spPr>
          <a:xfrm>
            <a:off x="7589520" y="3721608"/>
            <a:ext cx="548640" cy="475122"/>
          </a:xfrm>
          <a:prstGeom prst="hexagon">
            <a:avLst/>
          </a:prstGeom>
          <a:solidFill>
            <a:srgbClr val="6B3F7A"/>
          </a:solidFill>
          <a:ln/>
        </p:spPr>
      </p:sp>
      <p:sp>
        <p:nvSpPr>
          <p:cNvPr id="15" name="Text 13"/>
          <p:cNvSpPr txBox="1"/>
          <p:nvPr/>
        </p:nvSpPr>
        <p:spPr>
          <a:xfrm>
            <a:off x="7589520" y="3721608"/>
            <a:ext cx="548640" cy="47512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8321040" y="3703320"/>
            <a:ext cx="3319272" cy="1234440"/>
          </a:xfrm>
          <a:prstGeom prst="rect">
            <a:avLst/>
          </a:prstGeom>
          <a:noFill/>
          <a:ln/>
        </p:spPr>
        <p:txBody>
          <a:bodyPr wrap="square" lIns="0" tIns="0" rIns="0" bIns="0" rtlCol="0" anchor="t"/>
          <a:lstStyle/>
          <a:p>
            <a:pPr indent="0" marL="0">
              <a:buNone/>
            </a:pPr>
            <a:r>
              <a:rPr lang="en-US" sz="2000" dirty="0">
                <a:solidFill>
                  <a:srgbClr val="1E2430"/>
                </a:solidFill>
                <a:latin typeface="Calibri" pitchFamily="34" charset="0"/>
                <a:ea typeface="Calibri" pitchFamily="34" charset="-122"/>
                <a:cs typeface="Calibri" pitchFamily="34" charset="-120"/>
              </a:rPr>
              <a:t>So write the AI strategy inside the inclusion strategy: one document, one set of measures, one owner.</a:t>
            </a:r>
            <a:endParaRPr lang="en-US" sz="2000" dirty="0"/>
          </a:p>
        </p:txBody>
      </p:sp>
      <p:sp>
        <p:nvSpPr>
          <p:cNvPr id="17" name="Shape 15"/>
          <p:cNvSpPr/>
          <p:nvPr/>
        </p:nvSpPr>
        <p:spPr>
          <a:xfrm>
            <a:off x="548640" y="5257800"/>
            <a:ext cx="11094415" cy="777240"/>
          </a:xfrm>
          <a:prstGeom prst="roundRect">
            <a:avLst>
              <a:gd name="adj" fmla="val 9412"/>
            </a:avLst>
          </a:prstGeom>
          <a:solidFill>
            <a:srgbClr val="E8EBF0"/>
          </a:solidFill>
          <a:ln/>
        </p:spPr>
      </p:sp>
      <p:sp>
        <p:nvSpPr>
          <p:cNvPr id="18" name="Text 16"/>
          <p:cNvSpPr txBox="1"/>
          <p:nvPr/>
        </p:nvSpPr>
        <p:spPr>
          <a:xfrm>
            <a:off x="822960" y="5257800"/>
            <a:ext cx="10545775" cy="777240"/>
          </a:xfrm>
          <a:prstGeom prst="rect">
            <a:avLst/>
          </a:prstGeom>
          <a:noFill/>
          <a:ln/>
        </p:spPr>
        <p:txBody>
          <a:bodyPr wrap="square" lIns="0" tIns="0" rIns="0" bIns="0" rtlCol="0" anchor="ctr"/>
          <a:lstStyle/>
          <a:p>
            <a:pPr indent="0" marL="0">
              <a:buNone/>
            </a:pPr>
            <a:r>
              <a:rPr lang="en-US" sz="2000" b="1" dirty="0">
                <a:solidFill>
                  <a:srgbClr val="2B3445"/>
                </a:solidFill>
                <a:latin typeface="Calibri" pitchFamily="34" charset="0"/>
                <a:ea typeface="Calibri" pitchFamily="34" charset="-122"/>
                <a:cs typeface="Calibri" pitchFamily="34" charset="-120"/>
              </a:rPr>
              <a:t>Why now: </a:t>
            </a:r>
            <a:pPr indent="0" marL="0">
              <a:buNone/>
            </a:pPr>
            <a:r>
              <a:rPr lang="en-US" sz="2000" dirty="0">
                <a:solidFill>
                  <a:srgbClr val="1E2430"/>
                </a:solidFill>
                <a:latin typeface="Calibri" pitchFamily="34" charset="0"/>
                <a:ea typeface="Calibri" pitchFamily="34" charset="-122"/>
                <a:cs typeface="Calibri" pitchFamily="34" charset="-120"/>
              </a:rPr>
              <a:t>Ofsted grades inclusion as its own evaluation area, and judges AI only by its impact on pupils.</a:t>
            </a:r>
            <a:endParaRPr lang="en-US" sz="2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01 · WHAT CHANGED IN TWELVE MONTHS</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From permission to expectation</a:t>
            </a:r>
            <a:endParaRPr lang="en-US" sz="3400" dirty="0"/>
          </a:p>
        </p:txBody>
      </p:sp>
      <p:sp>
        <p:nvSpPr>
          <p:cNvPr id="5" name="Shape 3"/>
          <p:cNvSpPr/>
          <p:nvPr/>
        </p:nvSpPr>
        <p:spPr>
          <a:xfrm>
            <a:off x="548640" y="3639312"/>
            <a:ext cx="11094415" cy="0"/>
          </a:xfrm>
          <a:prstGeom prst="line">
            <a:avLst/>
          </a:prstGeom>
          <a:noFill/>
          <a:ln w="38100">
            <a:solidFill>
              <a:srgbClr val="C9CFD8"/>
            </a:solidFill>
            <a:prstDash val="solid"/>
          </a:ln>
        </p:spPr>
      </p:sp>
      <p:sp>
        <p:nvSpPr>
          <p:cNvPr id="6" name="Shape 4"/>
          <p:cNvSpPr/>
          <p:nvPr/>
        </p:nvSpPr>
        <p:spPr>
          <a:xfrm>
            <a:off x="1691640" y="3547872"/>
            <a:ext cx="182880" cy="182880"/>
          </a:xfrm>
          <a:prstGeom prst="ellipse">
            <a:avLst/>
          </a:prstGeom>
          <a:solidFill>
            <a:srgbClr val="0E6B66"/>
          </a:solidFill>
          <a:ln/>
        </p:spPr>
      </p:sp>
      <p:sp>
        <p:nvSpPr>
          <p:cNvPr id="7" name="Shape 5"/>
          <p:cNvSpPr/>
          <p:nvPr/>
        </p:nvSpPr>
        <p:spPr>
          <a:xfrm>
            <a:off x="1783080" y="3410712"/>
            <a:ext cx="0" cy="137160"/>
          </a:xfrm>
          <a:prstGeom prst="line">
            <a:avLst/>
          </a:prstGeom>
          <a:noFill/>
          <a:ln w="25400">
            <a:solidFill>
              <a:srgbClr val="0E6B66"/>
            </a:solidFill>
            <a:prstDash val="solid"/>
          </a:ln>
        </p:spPr>
      </p:sp>
      <p:sp>
        <p:nvSpPr>
          <p:cNvPr id="8" name="Shape 6"/>
          <p:cNvSpPr/>
          <p:nvPr/>
        </p:nvSpPr>
        <p:spPr>
          <a:xfrm>
            <a:off x="640080" y="1719072"/>
            <a:ext cx="2286000" cy="1691640"/>
          </a:xfrm>
          <a:prstGeom prst="rect">
            <a:avLst/>
          </a:prstGeom>
          <a:solidFill>
            <a:srgbClr val="FFFFFF"/>
          </a:solidFill>
          <a:ln w="22225">
            <a:solidFill>
              <a:srgbClr val="0E6B66"/>
            </a:solidFill>
            <a:prstDash val="solid"/>
          </a:ln>
        </p:spPr>
      </p:sp>
      <p:sp>
        <p:nvSpPr>
          <p:cNvPr id="9" name="Shape 7"/>
          <p:cNvSpPr/>
          <p:nvPr/>
        </p:nvSpPr>
        <p:spPr>
          <a:xfrm>
            <a:off x="640080" y="1719072"/>
            <a:ext cx="2286000" cy="384048"/>
          </a:xfrm>
          <a:prstGeom prst="rect">
            <a:avLst/>
          </a:prstGeom>
          <a:solidFill>
            <a:srgbClr val="0E6B66"/>
          </a:solidFill>
          <a:ln w="22225">
            <a:solidFill>
              <a:srgbClr val="0E6B66"/>
            </a:solidFill>
            <a:prstDash val="solid"/>
          </a:ln>
        </p:spPr>
      </p:sp>
      <p:sp>
        <p:nvSpPr>
          <p:cNvPr id="10" name="Text 8"/>
          <p:cNvSpPr txBox="1"/>
          <p:nvPr/>
        </p:nvSpPr>
        <p:spPr>
          <a:xfrm>
            <a:off x="685800" y="171907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Oct 2025</a:t>
            </a:r>
            <a:endParaRPr lang="en-US" sz="1800" dirty="0"/>
          </a:p>
        </p:txBody>
      </p:sp>
      <p:sp>
        <p:nvSpPr>
          <p:cNvPr id="11" name="Text 9"/>
          <p:cNvSpPr txBox="1"/>
          <p:nvPr/>
        </p:nvSpPr>
        <p:spPr>
          <a:xfrm>
            <a:off x="713232" y="2167128"/>
            <a:ext cx="2139696" cy="1216152"/>
          </a:xfrm>
          <a:prstGeom prst="rect">
            <a:avLst/>
          </a:prstGeom>
          <a:noFill/>
          <a:ln/>
        </p:spPr>
        <p:txBody>
          <a:bodyPr wrap="square" lIns="0" tIns="0" rIns="0" bIns="0" rtlCol="0" anchor="t"/>
          <a:lstStyle/>
          <a:p>
            <a:pPr algn="ctr" indent="0" marL="0">
              <a:buNone/>
            </a:pPr>
            <a:r>
              <a:rPr lang="en-US" sz="1800" b="1" dirty="0">
                <a:solidFill>
                  <a:srgbClr val="0E6B66"/>
                </a:solidFill>
                <a:latin typeface="Calibri" pitchFamily="34" charset="0"/>
                <a:ea typeface="Calibri" pitchFamily="34" charset="-122"/>
                <a:cs typeface="Calibri" pitchFamily="34" charset="-120"/>
              </a:rPr>
              <a:t>Ofsted</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Judges AI by its impact on pupils, not by tool use</a:t>
            </a:r>
            <a:endParaRPr lang="en-US" sz="1800" dirty="0"/>
          </a:p>
        </p:txBody>
      </p:sp>
      <p:sp>
        <p:nvSpPr>
          <p:cNvPr id="12" name="Shape 10"/>
          <p:cNvSpPr/>
          <p:nvPr/>
        </p:nvSpPr>
        <p:spPr>
          <a:xfrm>
            <a:off x="2923467" y="3547872"/>
            <a:ext cx="182880" cy="182880"/>
          </a:xfrm>
          <a:prstGeom prst="ellipse">
            <a:avLst/>
          </a:prstGeom>
          <a:solidFill>
            <a:srgbClr val="0E6B66"/>
          </a:solidFill>
          <a:ln/>
        </p:spPr>
      </p:sp>
      <p:sp>
        <p:nvSpPr>
          <p:cNvPr id="13" name="Shape 11"/>
          <p:cNvSpPr/>
          <p:nvPr/>
        </p:nvSpPr>
        <p:spPr>
          <a:xfrm>
            <a:off x="3014907" y="3730752"/>
            <a:ext cx="0" cy="137160"/>
          </a:xfrm>
          <a:prstGeom prst="line">
            <a:avLst/>
          </a:prstGeom>
          <a:noFill/>
          <a:ln w="25400">
            <a:solidFill>
              <a:srgbClr val="0E6B66"/>
            </a:solidFill>
            <a:prstDash val="solid"/>
          </a:ln>
        </p:spPr>
      </p:sp>
      <p:sp>
        <p:nvSpPr>
          <p:cNvPr id="14" name="Shape 12"/>
          <p:cNvSpPr/>
          <p:nvPr/>
        </p:nvSpPr>
        <p:spPr>
          <a:xfrm>
            <a:off x="1871907" y="3867912"/>
            <a:ext cx="2286000" cy="1691640"/>
          </a:xfrm>
          <a:prstGeom prst="rect">
            <a:avLst/>
          </a:prstGeom>
          <a:solidFill>
            <a:srgbClr val="FFFFFF"/>
          </a:solidFill>
          <a:ln w="22225">
            <a:solidFill>
              <a:srgbClr val="0E6B66"/>
            </a:solidFill>
            <a:prstDash val="solid"/>
          </a:ln>
        </p:spPr>
      </p:sp>
      <p:sp>
        <p:nvSpPr>
          <p:cNvPr id="15" name="Shape 13"/>
          <p:cNvSpPr/>
          <p:nvPr/>
        </p:nvSpPr>
        <p:spPr>
          <a:xfrm>
            <a:off x="1871907" y="3867912"/>
            <a:ext cx="2286000" cy="384048"/>
          </a:xfrm>
          <a:prstGeom prst="rect">
            <a:avLst/>
          </a:prstGeom>
          <a:solidFill>
            <a:srgbClr val="0E6B66"/>
          </a:solidFill>
          <a:ln w="22225">
            <a:solidFill>
              <a:srgbClr val="0E6B66"/>
            </a:solidFill>
            <a:prstDash val="solid"/>
          </a:ln>
        </p:spPr>
      </p:sp>
      <p:sp>
        <p:nvSpPr>
          <p:cNvPr id="16" name="Text 14"/>
          <p:cNvSpPr txBox="1"/>
          <p:nvPr/>
        </p:nvSpPr>
        <p:spPr>
          <a:xfrm>
            <a:off x="1917627" y="386791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Nov 2025</a:t>
            </a:r>
            <a:endParaRPr lang="en-US" sz="1800" dirty="0"/>
          </a:p>
        </p:txBody>
      </p:sp>
      <p:sp>
        <p:nvSpPr>
          <p:cNvPr id="17" name="Text 15"/>
          <p:cNvSpPr txBox="1"/>
          <p:nvPr/>
        </p:nvSpPr>
        <p:spPr>
          <a:xfrm>
            <a:off x="1945059" y="4315968"/>
            <a:ext cx="2139696" cy="1216152"/>
          </a:xfrm>
          <a:prstGeom prst="rect">
            <a:avLst/>
          </a:prstGeom>
          <a:noFill/>
          <a:ln/>
        </p:spPr>
        <p:txBody>
          <a:bodyPr wrap="square" lIns="0" tIns="0" rIns="0" bIns="0" rtlCol="0" anchor="t"/>
          <a:lstStyle/>
          <a:p>
            <a:pPr algn="ctr" indent="0" marL="0">
              <a:buNone/>
            </a:pPr>
            <a:r>
              <a:rPr lang="en-US" sz="1800" b="1" dirty="0">
                <a:solidFill>
                  <a:srgbClr val="0E6B66"/>
                </a:solidFill>
                <a:latin typeface="Calibri" pitchFamily="34" charset="0"/>
                <a:ea typeface="Calibri" pitchFamily="34" charset="-122"/>
                <a:cs typeface="Calibri" pitchFamily="34" charset="-120"/>
              </a:rPr>
              <a:t>Ofsted</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Renewed framework: inclusion graded on its own</a:t>
            </a:r>
            <a:endParaRPr lang="en-US" sz="1800" dirty="0"/>
          </a:p>
        </p:txBody>
      </p:sp>
      <p:sp>
        <p:nvSpPr>
          <p:cNvPr id="18" name="Shape 16"/>
          <p:cNvSpPr/>
          <p:nvPr/>
        </p:nvSpPr>
        <p:spPr>
          <a:xfrm>
            <a:off x="4155295" y="3547872"/>
            <a:ext cx="182880" cy="182880"/>
          </a:xfrm>
          <a:prstGeom prst="ellipse">
            <a:avLst/>
          </a:prstGeom>
          <a:solidFill>
            <a:srgbClr val="2B3445"/>
          </a:solidFill>
          <a:ln/>
        </p:spPr>
      </p:sp>
      <p:sp>
        <p:nvSpPr>
          <p:cNvPr id="19" name="Shape 17"/>
          <p:cNvSpPr/>
          <p:nvPr/>
        </p:nvSpPr>
        <p:spPr>
          <a:xfrm>
            <a:off x="4246735" y="3410712"/>
            <a:ext cx="0" cy="137160"/>
          </a:xfrm>
          <a:prstGeom prst="line">
            <a:avLst/>
          </a:prstGeom>
          <a:noFill/>
          <a:ln w="25400">
            <a:solidFill>
              <a:srgbClr val="2B3445"/>
            </a:solidFill>
            <a:prstDash val="solid"/>
          </a:ln>
        </p:spPr>
      </p:sp>
      <p:sp>
        <p:nvSpPr>
          <p:cNvPr id="20" name="Shape 18"/>
          <p:cNvSpPr/>
          <p:nvPr/>
        </p:nvSpPr>
        <p:spPr>
          <a:xfrm>
            <a:off x="3103735" y="1719072"/>
            <a:ext cx="2286000" cy="1691640"/>
          </a:xfrm>
          <a:prstGeom prst="rect">
            <a:avLst/>
          </a:prstGeom>
          <a:solidFill>
            <a:srgbClr val="FFFFFF"/>
          </a:solidFill>
          <a:ln w="22225">
            <a:solidFill>
              <a:srgbClr val="2B3445"/>
            </a:solidFill>
            <a:prstDash val="solid"/>
          </a:ln>
        </p:spPr>
      </p:sp>
      <p:sp>
        <p:nvSpPr>
          <p:cNvPr id="21" name="Shape 19"/>
          <p:cNvSpPr/>
          <p:nvPr/>
        </p:nvSpPr>
        <p:spPr>
          <a:xfrm>
            <a:off x="3103735" y="1719072"/>
            <a:ext cx="2286000" cy="384048"/>
          </a:xfrm>
          <a:prstGeom prst="rect">
            <a:avLst/>
          </a:prstGeom>
          <a:solidFill>
            <a:srgbClr val="2B3445"/>
          </a:solidFill>
          <a:ln w="22225">
            <a:solidFill>
              <a:srgbClr val="2B3445"/>
            </a:solidFill>
            <a:prstDash val="solid"/>
          </a:ln>
        </p:spPr>
      </p:sp>
      <p:sp>
        <p:nvSpPr>
          <p:cNvPr id="22" name="Text 20"/>
          <p:cNvSpPr txBox="1"/>
          <p:nvPr/>
        </p:nvSpPr>
        <p:spPr>
          <a:xfrm>
            <a:off x="3149455" y="171907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Nov 2025</a:t>
            </a:r>
            <a:endParaRPr lang="en-US" sz="1800" dirty="0"/>
          </a:p>
        </p:txBody>
      </p:sp>
      <p:sp>
        <p:nvSpPr>
          <p:cNvPr id="23" name="Text 21"/>
          <p:cNvSpPr txBox="1"/>
          <p:nvPr/>
        </p:nvSpPr>
        <p:spPr>
          <a:xfrm>
            <a:off x="3176887" y="2167128"/>
            <a:ext cx="2139696" cy="1216152"/>
          </a:xfrm>
          <a:prstGeom prst="rect">
            <a:avLst/>
          </a:prstGeom>
          <a:noFill/>
          <a:ln/>
        </p:spPr>
        <p:txBody>
          <a:bodyPr wrap="square" lIns="0" tIns="0" rIns="0" bIns="0" rtlCol="0" anchor="t"/>
          <a:lstStyle/>
          <a:p>
            <a:pPr algn="ctr" indent="0" marL="0">
              <a:buNone/>
            </a:pPr>
            <a:r>
              <a:rPr lang="en-US" sz="1800" b="1" dirty="0">
                <a:solidFill>
                  <a:srgbClr val="2B3445"/>
                </a:solidFill>
                <a:latin typeface="Calibri" pitchFamily="34" charset="0"/>
                <a:ea typeface="Calibri" pitchFamily="34" charset="-122"/>
                <a:cs typeface="Calibri" pitchFamily="34" charset="-120"/>
              </a:rPr>
              <a:t>Curriculum</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AI and digital literacy; new Computing GCSE</a:t>
            </a:r>
            <a:endParaRPr lang="en-US" sz="1800" dirty="0"/>
          </a:p>
        </p:txBody>
      </p:sp>
      <p:sp>
        <p:nvSpPr>
          <p:cNvPr id="24" name="Shape 22"/>
          <p:cNvSpPr/>
          <p:nvPr/>
        </p:nvSpPr>
        <p:spPr>
          <a:xfrm>
            <a:off x="5387122" y="3547872"/>
            <a:ext cx="182880" cy="182880"/>
          </a:xfrm>
          <a:prstGeom prst="ellipse">
            <a:avLst/>
          </a:prstGeom>
          <a:solidFill>
            <a:srgbClr val="B5701F"/>
          </a:solidFill>
          <a:ln/>
        </p:spPr>
      </p:sp>
      <p:sp>
        <p:nvSpPr>
          <p:cNvPr id="25" name="Shape 23"/>
          <p:cNvSpPr/>
          <p:nvPr/>
        </p:nvSpPr>
        <p:spPr>
          <a:xfrm>
            <a:off x="5478562" y="3730752"/>
            <a:ext cx="0" cy="137160"/>
          </a:xfrm>
          <a:prstGeom prst="line">
            <a:avLst/>
          </a:prstGeom>
          <a:noFill/>
          <a:ln w="25400">
            <a:solidFill>
              <a:srgbClr val="B5701F"/>
            </a:solidFill>
            <a:prstDash val="solid"/>
          </a:ln>
        </p:spPr>
      </p:sp>
      <p:sp>
        <p:nvSpPr>
          <p:cNvPr id="26" name="Shape 24"/>
          <p:cNvSpPr/>
          <p:nvPr/>
        </p:nvSpPr>
        <p:spPr>
          <a:xfrm>
            <a:off x="4335562" y="3867912"/>
            <a:ext cx="2286000" cy="1691640"/>
          </a:xfrm>
          <a:prstGeom prst="rect">
            <a:avLst/>
          </a:prstGeom>
          <a:solidFill>
            <a:srgbClr val="FFFFFF"/>
          </a:solidFill>
          <a:ln w="22225">
            <a:solidFill>
              <a:srgbClr val="B5701F"/>
            </a:solidFill>
            <a:prstDash val="solid"/>
          </a:ln>
        </p:spPr>
      </p:sp>
      <p:sp>
        <p:nvSpPr>
          <p:cNvPr id="27" name="Shape 25"/>
          <p:cNvSpPr/>
          <p:nvPr/>
        </p:nvSpPr>
        <p:spPr>
          <a:xfrm>
            <a:off x="4335562" y="3867912"/>
            <a:ext cx="2286000" cy="384048"/>
          </a:xfrm>
          <a:prstGeom prst="rect">
            <a:avLst/>
          </a:prstGeom>
          <a:solidFill>
            <a:srgbClr val="B5701F"/>
          </a:solidFill>
          <a:ln w="22225">
            <a:solidFill>
              <a:srgbClr val="B5701F"/>
            </a:solidFill>
            <a:prstDash val="solid"/>
          </a:ln>
        </p:spPr>
      </p:sp>
      <p:sp>
        <p:nvSpPr>
          <p:cNvPr id="28" name="Text 26"/>
          <p:cNvSpPr txBox="1"/>
          <p:nvPr/>
        </p:nvSpPr>
        <p:spPr>
          <a:xfrm>
            <a:off x="4381282" y="386791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Jan 2026</a:t>
            </a:r>
            <a:endParaRPr lang="en-US" sz="1800" dirty="0"/>
          </a:p>
        </p:txBody>
      </p:sp>
      <p:sp>
        <p:nvSpPr>
          <p:cNvPr id="29" name="Text 27"/>
          <p:cNvSpPr txBox="1"/>
          <p:nvPr/>
        </p:nvSpPr>
        <p:spPr>
          <a:xfrm>
            <a:off x="4408714" y="4315968"/>
            <a:ext cx="2139696" cy="1216152"/>
          </a:xfrm>
          <a:prstGeom prst="rect">
            <a:avLst/>
          </a:prstGeom>
          <a:noFill/>
          <a:ln/>
        </p:spPr>
        <p:txBody>
          <a:bodyPr wrap="square" lIns="0" tIns="0" rIns="0" bIns="0" rtlCol="0" anchor="t"/>
          <a:lstStyle/>
          <a:p>
            <a:pPr algn="ctr" indent="0" marL="0">
              <a:buNone/>
            </a:pPr>
            <a:r>
              <a:rPr lang="en-US" sz="1800" b="1" dirty="0">
                <a:solidFill>
                  <a:srgbClr val="B5701F"/>
                </a:solidFill>
                <a:latin typeface="Calibri" pitchFamily="34" charset="0"/>
                <a:ea typeface="Calibri" pitchFamily="34" charset="-122"/>
                <a:cs typeface="Calibri" pitchFamily="34" charset="-120"/>
              </a:rPr>
              <a:t>DfE</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Product safety standards add cognitive development</a:t>
            </a:r>
            <a:endParaRPr lang="en-US" sz="1800" dirty="0"/>
          </a:p>
        </p:txBody>
      </p:sp>
      <p:sp>
        <p:nvSpPr>
          <p:cNvPr id="30" name="Shape 28"/>
          <p:cNvSpPr/>
          <p:nvPr/>
        </p:nvSpPr>
        <p:spPr>
          <a:xfrm>
            <a:off x="6618950" y="3547872"/>
            <a:ext cx="182880" cy="182880"/>
          </a:xfrm>
          <a:prstGeom prst="ellipse">
            <a:avLst/>
          </a:prstGeom>
          <a:solidFill>
            <a:srgbClr val="6B3F7A"/>
          </a:solidFill>
          <a:ln/>
        </p:spPr>
      </p:sp>
      <p:sp>
        <p:nvSpPr>
          <p:cNvPr id="31" name="Shape 29"/>
          <p:cNvSpPr/>
          <p:nvPr/>
        </p:nvSpPr>
        <p:spPr>
          <a:xfrm>
            <a:off x="6710390" y="3410712"/>
            <a:ext cx="0" cy="137160"/>
          </a:xfrm>
          <a:prstGeom prst="line">
            <a:avLst/>
          </a:prstGeom>
          <a:noFill/>
          <a:ln w="25400">
            <a:solidFill>
              <a:srgbClr val="6B3F7A"/>
            </a:solidFill>
            <a:prstDash val="solid"/>
          </a:ln>
        </p:spPr>
      </p:sp>
      <p:sp>
        <p:nvSpPr>
          <p:cNvPr id="32" name="Shape 30"/>
          <p:cNvSpPr/>
          <p:nvPr/>
        </p:nvSpPr>
        <p:spPr>
          <a:xfrm>
            <a:off x="5567390" y="1719072"/>
            <a:ext cx="2286000" cy="1691640"/>
          </a:xfrm>
          <a:prstGeom prst="rect">
            <a:avLst/>
          </a:prstGeom>
          <a:solidFill>
            <a:srgbClr val="FFFFFF"/>
          </a:solidFill>
          <a:ln w="22225">
            <a:solidFill>
              <a:srgbClr val="6B3F7A"/>
            </a:solidFill>
            <a:prstDash val="solid"/>
          </a:ln>
        </p:spPr>
      </p:sp>
      <p:sp>
        <p:nvSpPr>
          <p:cNvPr id="33" name="Shape 31"/>
          <p:cNvSpPr/>
          <p:nvPr/>
        </p:nvSpPr>
        <p:spPr>
          <a:xfrm>
            <a:off x="5567390" y="1719072"/>
            <a:ext cx="2286000" cy="384048"/>
          </a:xfrm>
          <a:prstGeom prst="rect">
            <a:avLst/>
          </a:prstGeom>
          <a:solidFill>
            <a:srgbClr val="6B3F7A"/>
          </a:solidFill>
          <a:ln w="22225">
            <a:solidFill>
              <a:srgbClr val="6B3F7A"/>
            </a:solidFill>
            <a:prstDash val="solid"/>
          </a:ln>
        </p:spPr>
      </p:sp>
      <p:sp>
        <p:nvSpPr>
          <p:cNvPr id="34" name="Text 32"/>
          <p:cNvSpPr txBox="1"/>
          <p:nvPr/>
        </p:nvSpPr>
        <p:spPr>
          <a:xfrm>
            <a:off x="5613110" y="171907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Feb 2026</a:t>
            </a:r>
            <a:endParaRPr lang="en-US" sz="1800" dirty="0"/>
          </a:p>
        </p:txBody>
      </p:sp>
      <p:sp>
        <p:nvSpPr>
          <p:cNvPr id="35" name="Text 33"/>
          <p:cNvSpPr txBox="1"/>
          <p:nvPr/>
        </p:nvSpPr>
        <p:spPr>
          <a:xfrm>
            <a:off x="5640542" y="2167128"/>
            <a:ext cx="2139696" cy="1216152"/>
          </a:xfrm>
          <a:prstGeom prst="rect">
            <a:avLst/>
          </a:prstGeom>
          <a:noFill/>
          <a:ln/>
        </p:spPr>
        <p:txBody>
          <a:bodyPr wrap="square" lIns="0" tIns="0" rIns="0" bIns="0" rtlCol="0" anchor="t"/>
          <a:lstStyle/>
          <a:p>
            <a:pPr algn="ctr" indent="0" marL="0">
              <a:buNone/>
            </a:pPr>
            <a:r>
              <a:rPr lang="en-US" sz="1800" b="1" dirty="0">
                <a:solidFill>
                  <a:srgbClr val="6B3F7A"/>
                </a:solidFill>
                <a:latin typeface="Calibri" pitchFamily="34" charset="0"/>
                <a:ea typeface="Calibri" pitchFamily="34" charset="-122"/>
                <a:cs typeface="Calibri" pitchFamily="34" charset="-120"/>
              </a:rPr>
              <a:t>White paper</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SEND reform: ISPs and a school inclusion strategy</a:t>
            </a:r>
            <a:endParaRPr lang="en-US" sz="1800" dirty="0"/>
          </a:p>
        </p:txBody>
      </p:sp>
      <p:sp>
        <p:nvSpPr>
          <p:cNvPr id="36" name="Shape 34"/>
          <p:cNvSpPr/>
          <p:nvPr/>
        </p:nvSpPr>
        <p:spPr>
          <a:xfrm>
            <a:off x="7850777" y="3547872"/>
            <a:ext cx="182880" cy="182880"/>
          </a:xfrm>
          <a:prstGeom prst="ellipse">
            <a:avLst/>
          </a:prstGeom>
          <a:solidFill>
            <a:srgbClr val="6B3F7A"/>
          </a:solidFill>
          <a:ln/>
        </p:spPr>
      </p:sp>
      <p:sp>
        <p:nvSpPr>
          <p:cNvPr id="37" name="Shape 35"/>
          <p:cNvSpPr/>
          <p:nvPr/>
        </p:nvSpPr>
        <p:spPr>
          <a:xfrm>
            <a:off x="7942217" y="3730752"/>
            <a:ext cx="0" cy="137160"/>
          </a:xfrm>
          <a:prstGeom prst="line">
            <a:avLst/>
          </a:prstGeom>
          <a:noFill/>
          <a:ln w="25400">
            <a:solidFill>
              <a:srgbClr val="6B3F7A"/>
            </a:solidFill>
            <a:prstDash val="solid"/>
          </a:ln>
        </p:spPr>
      </p:sp>
      <p:sp>
        <p:nvSpPr>
          <p:cNvPr id="38" name="Shape 36"/>
          <p:cNvSpPr/>
          <p:nvPr/>
        </p:nvSpPr>
        <p:spPr>
          <a:xfrm>
            <a:off x="6799217" y="3867912"/>
            <a:ext cx="2286000" cy="1691640"/>
          </a:xfrm>
          <a:prstGeom prst="rect">
            <a:avLst/>
          </a:prstGeom>
          <a:solidFill>
            <a:srgbClr val="FFFFFF"/>
          </a:solidFill>
          <a:ln w="22225">
            <a:solidFill>
              <a:srgbClr val="6B3F7A"/>
            </a:solidFill>
            <a:prstDash val="solid"/>
          </a:ln>
        </p:spPr>
      </p:sp>
      <p:sp>
        <p:nvSpPr>
          <p:cNvPr id="39" name="Shape 37"/>
          <p:cNvSpPr/>
          <p:nvPr/>
        </p:nvSpPr>
        <p:spPr>
          <a:xfrm>
            <a:off x="6799217" y="3867912"/>
            <a:ext cx="2286000" cy="384048"/>
          </a:xfrm>
          <a:prstGeom prst="rect">
            <a:avLst/>
          </a:prstGeom>
          <a:solidFill>
            <a:srgbClr val="6B3F7A"/>
          </a:solidFill>
          <a:ln w="22225">
            <a:solidFill>
              <a:srgbClr val="6B3F7A"/>
            </a:solidFill>
            <a:prstDash val="solid"/>
          </a:ln>
        </p:spPr>
      </p:sp>
      <p:sp>
        <p:nvSpPr>
          <p:cNvPr id="40" name="Text 38"/>
          <p:cNvSpPr txBox="1"/>
          <p:nvPr/>
        </p:nvSpPr>
        <p:spPr>
          <a:xfrm>
            <a:off x="6844937" y="386791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May 2026</a:t>
            </a:r>
            <a:endParaRPr lang="en-US" sz="1800" dirty="0"/>
          </a:p>
        </p:txBody>
      </p:sp>
      <p:sp>
        <p:nvSpPr>
          <p:cNvPr id="41" name="Text 39"/>
          <p:cNvSpPr txBox="1"/>
          <p:nvPr/>
        </p:nvSpPr>
        <p:spPr>
          <a:xfrm>
            <a:off x="6872369" y="4315968"/>
            <a:ext cx="2139696" cy="1216152"/>
          </a:xfrm>
          <a:prstGeom prst="rect">
            <a:avLst/>
          </a:prstGeom>
          <a:noFill/>
          <a:ln/>
        </p:spPr>
        <p:txBody>
          <a:bodyPr wrap="square" lIns="0" tIns="0" rIns="0" bIns="0" rtlCol="0" anchor="t"/>
          <a:lstStyle/>
          <a:p>
            <a:pPr algn="ctr" indent="0" marL="0">
              <a:buNone/>
            </a:pPr>
            <a:r>
              <a:rPr lang="en-US" sz="1800" b="1" dirty="0">
                <a:solidFill>
                  <a:srgbClr val="6B3F7A"/>
                </a:solidFill>
                <a:latin typeface="Calibri" pitchFamily="34" charset="0"/>
                <a:ea typeface="Calibri" pitchFamily="34" charset="-122"/>
                <a:cs typeface="Calibri" pitchFamily="34" charset="-120"/>
              </a:rPr>
              <a:t>DfE materials</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AI may draft SEND support plans; never EHCP decisions</a:t>
            </a:r>
            <a:endParaRPr lang="en-US" sz="1800" dirty="0"/>
          </a:p>
        </p:txBody>
      </p:sp>
      <p:sp>
        <p:nvSpPr>
          <p:cNvPr id="42" name="Shape 40"/>
          <p:cNvSpPr/>
          <p:nvPr/>
        </p:nvSpPr>
        <p:spPr>
          <a:xfrm>
            <a:off x="9082605" y="3547872"/>
            <a:ext cx="182880" cy="182880"/>
          </a:xfrm>
          <a:prstGeom prst="ellipse">
            <a:avLst/>
          </a:prstGeom>
          <a:solidFill>
            <a:srgbClr val="2B3445"/>
          </a:solidFill>
          <a:ln/>
        </p:spPr>
      </p:sp>
      <p:sp>
        <p:nvSpPr>
          <p:cNvPr id="43" name="Shape 41"/>
          <p:cNvSpPr/>
          <p:nvPr/>
        </p:nvSpPr>
        <p:spPr>
          <a:xfrm>
            <a:off x="9174045" y="3410712"/>
            <a:ext cx="0" cy="137160"/>
          </a:xfrm>
          <a:prstGeom prst="line">
            <a:avLst/>
          </a:prstGeom>
          <a:noFill/>
          <a:ln w="25400">
            <a:solidFill>
              <a:srgbClr val="2B3445"/>
            </a:solidFill>
            <a:prstDash val="solid"/>
          </a:ln>
        </p:spPr>
      </p:sp>
      <p:sp>
        <p:nvSpPr>
          <p:cNvPr id="44" name="Shape 42"/>
          <p:cNvSpPr/>
          <p:nvPr/>
        </p:nvSpPr>
        <p:spPr>
          <a:xfrm>
            <a:off x="8031045" y="1719072"/>
            <a:ext cx="2286000" cy="1691640"/>
          </a:xfrm>
          <a:prstGeom prst="rect">
            <a:avLst/>
          </a:prstGeom>
          <a:solidFill>
            <a:srgbClr val="FFFFFF"/>
          </a:solidFill>
          <a:ln w="22225">
            <a:solidFill>
              <a:srgbClr val="2B3445"/>
            </a:solidFill>
            <a:prstDash val="solid"/>
          </a:ln>
        </p:spPr>
      </p:sp>
      <p:sp>
        <p:nvSpPr>
          <p:cNvPr id="45" name="Shape 43"/>
          <p:cNvSpPr/>
          <p:nvPr/>
        </p:nvSpPr>
        <p:spPr>
          <a:xfrm>
            <a:off x="8031045" y="1719072"/>
            <a:ext cx="2286000" cy="384048"/>
          </a:xfrm>
          <a:prstGeom prst="rect">
            <a:avLst/>
          </a:prstGeom>
          <a:solidFill>
            <a:srgbClr val="2B3445"/>
          </a:solidFill>
          <a:ln w="22225">
            <a:solidFill>
              <a:srgbClr val="2B3445"/>
            </a:solidFill>
            <a:prstDash val="solid"/>
          </a:ln>
        </p:spPr>
      </p:sp>
      <p:sp>
        <p:nvSpPr>
          <p:cNvPr id="46" name="Text 44"/>
          <p:cNvSpPr txBox="1"/>
          <p:nvPr/>
        </p:nvSpPr>
        <p:spPr>
          <a:xfrm>
            <a:off x="8076765" y="171907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Jun 2026</a:t>
            </a:r>
            <a:endParaRPr lang="en-US" sz="1800" dirty="0"/>
          </a:p>
        </p:txBody>
      </p:sp>
      <p:sp>
        <p:nvSpPr>
          <p:cNvPr id="47" name="Text 45"/>
          <p:cNvSpPr txBox="1"/>
          <p:nvPr/>
        </p:nvSpPr>
        <p:spPr>
          <a:xfrm>
            <a:off x="8104197" y="2167128"/>
            <a:ext cx="2139696" cy="1216152"/>
          </a:xfrm>
          <a:prstGeom prst="rect">
            <a:avLst/>
          </a:prstGeom>
          <a:noFill/>
          <a:ln/>
        </p:spPr>
        <p:txBody>
          <a:bodyPr wrap="square" lIns="0" tIns="0" rIns="0" bIns="0" rtlCol="0" anchor="t"/>
          <a:lstStyle/>
          <a:p>
            <a:pPr algn="ctr" indent="0" marL="0">
              <a:buNone/>
            </a:pPr>
            <a:r>
              <a:rPr lang="en-US" sz="1800" b="1" dirty="0">
                <a:solidFill>
                  <a:srgbClr val="2B3445"/>
                </a:solidFill>
                <a:latin typeface="Calibri" pitchFamily="34" charset="0"/>
                <a:ea typeface="Calibri" pitchFamily="34" charset="-122"/>
                <a:cs typeface="Calibri" pitchFamily="34" charset="-120"/>
              </a:rPr>
              <a:t>EEF</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£2.5m study of cognitive offloading in pupils</a:t>
            </a:r>
            <a:endParaRPr lang="en-US" sz="1800" dirty="0"/>
          </a:p>
        </p:txBody>
      </p:sp>
      <p:sp>
        <p:nvSpPr>
          <p:cNvPr id="48" name="Shape 46"/>
          <p:cNvSpPr/>
          <p:nvPr/>
        </p:nvSpPr>
        <p:spPr>
          <a:xfrm>
            <a:off x="10314432" y="3547872"/>
            <a:ext cx="182880" cy="182880"/>
          </a:xfrm>
          <a:prstGeom prst="ellipse">
            <a:avLst/>
          </a:prstGeom>
          <a:solidFill>
            <a:srgbClr val="B5701F"/>
          </a:solidFill>
          <a:ln/>
        </p:spPr>
      </p:sp>
      <p:sp>
        <p:nvSpPr>
          <p:cNvPr id="49" name="Shape 47"/>
          <p:cNvSpPr/>
          <p:nvPr/>
        </p:nvSpPr>
        <p:spPr>
          <a:xfrm>
            <a:off x="10405872" y="3730752"/>
            <a:ext cx="0" cy="137160"/>
          </a:xfrm>
          <a:prstGeom prst="line">
            <a:avLst/>
          </a:prstGeom>
          <a:noFill/>
          <a:ln w="25400">
            <a:solidFill>
              <a:srgbClr val="B5701F"/>
            </a:solidFill>
            <a:prstDash val="solid"/>
          </a:ln>
        </p:spPr>
      </p:sp>
      <p:sp>
        <p:nvSpPr>
          <p:cNvPr id="50" name="Shape 48"/>
          <p:cNvSpPr/>
          <p:nvPr/>
        </p:nvSpPr>
        <p:spPr>
          <a:xfrm>
            <a:off x="9262872" y="3867912"/>
            <a:ext cx="2286000" cy="1691640"/>
          </a:xfrm>
          <a:prstGeom prst="rect">
            <a:avLst/>
          </a:prstGeom>
          <a:solidFill>
            <a:srgbClr val="FFFFFF"/>
          </a:solidFill>
          <a:ln w="22225">
            <a:solidFill>
              <a:srgbClr val="B5701F"/>
            </a:solidFill>
            <a:prstDash val="solid"/>
          </a:ln>
        </p:spPr>
      </p:sp>
      <p:sp>
        <p:nvSpPr>
          <p:cNvPr id="51" name="Shape 49"/>
          <p:cNvSpPr/>
          <p:nvPr/>
        </p:nvSpPr>
        <p:spPr>
          <a:xfrm>
            <a:off x="9262872" y="3867912"/>
            <a:ext cx="2286000" cy="384048"/>
          </a:xfrm>
          <a:prstGeom prst="rect">
            <a:avLst/>
          </a:prstGeom>
          <a:solidFill>
            <a:srgbClr val="B5701F"/>
          </a:solidFill>
          <a:ln w="22225">
            <a:solidFill>
              <a:srgbClr val="B5701F"/>
            </a:solidFill>
            <a:prstDash val="solid"/>
          </a:ln>
        </p:spPr>
      </p:sp>
      <p:sp>
        <p:nvSpPr>
          <p:cNvPr id="52" name="Text 50"/>
          <p:cNvSpPr txBox="1"/>
          <p:nvPr/>
        </p:nvSpPr>
        <p:spPr>
          <a:xfrm>
            <a:off x="9308592" y="3867912"/>
            <a:ext cx="2194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Sep 2026</a:t>
            </a:r>
            <a:endParaRPr lang="en-US" sz="1800" dirty="0"/>
          </a:p>
        </p:txBody>
      </p:sp>
      <p:sp>
        <p:nvSpPr>
          <p:cNvPr id="53" name="Text 51"/>
          <p:cNvSpPr txBox="1"/>
          <p:nvPr/>
        </p:nvSpPr>
        <p:spPr>
          <a:xfrm>
            <a:off x="9336024" y="4315968"/>
            <a:ext cx="2139696" cy="1216152"/>
          </a:xfrm>
          <a:prstGeom prst="rect">
            <a:avLst/>
          </a:prstGeom>
          <a:noFill/>
          <a:ln/>
        </p:spPr>
        <p:txBody>
          <a:bodyPr wrap="square" lIns="0" tIns="0" rIns="0" bIns="0" rtlCol="0" anchor="t"/>
          <a:lstStyle/>
          <a:p>
            <a:pPr algn="ctr" indent="0" marL="0">
              <a:buNone/>
            </a:pPr>
            <a:r>
              <a:rPr lang="en-US" sz="1800" b="1" dirty="0">
                <a:solidFill>
                  <a:srgbClr val="B5701F"/>
                </a:solidFill>
                <a:latin typeface="Calibri" pitchFamily="34" charset="0"/>
                <a:ea typeface="Calibri" pitchFamily="34" charset="-122"/>
                <a:cs typeface="Calibri" pitchFamily="34" charset="-120"/>
              </a:rPr>
              <a:t>KCSIE 2026</a:t>
            </a:r>
            <a:endParaRPr lang="en-US" sz="1800" dirty="0"/>
          </a:p>
          <a:p>
            <a:pPr algn="ctr" indent="0" marL="0">
              <a:buNone/>
            </a:pPr>
            <a:r>
              <a:rPr lang="en-US" sz="1800" dirty="0">
                <a:solidFill>
                  <a:srgbClr val="1E2430"/>
                </a:solidFill>
                <a:latin typeface="Calibri" pitchFamily="34" charset="0"/>
                <a:ea typeface="Calibri" pitchFamily="34" charset="-122"/>
                <a:cs typeface="Calibri" pitchFamily="34" charset="-120"/>
              </a:rPr>
              <a:t>AI inside safeguarding, filtering and monitoring</a:t>
            </a:r>
            <a:endParaRPr lang="en-US" sz="1800" dirty="0"/>
          </a:p>
        </p:txBody>
      </p:sp>
      <p:sp>
        <p:nvSpPr>
          <p:cNvPr id="54" name="Text 52"/>
          <p:cNvSpPr txBox="1"/>
          <p:nvPr/>
        </p:nvSpPr>
        <p:spPr>
          <a:xfrm>
            <a:off x="548640" y="5815584"/>
            <a:ext cx="11094415" cy="411480"/>
          </a:xfrm>
          <a:prstGeom prst="rect">
            <a:avLst/>
          </a:prstGeom>
          <a:noFill/>
          <a:ln/>
        </p:spPr>
        <p:txBody>
          <a:bodyPr wrap="square" lIns="0" tIns="0" rIns="0" bIns="0" rtlCol="0" anchor="ctr"/>
          <a:lstStyle/>
          <a:p>
            <a:pPr indent="0" marL="0">
              <a:buNone/>
            </a:pPr>
            <a:r>
              <a:rPr lang="en-US" sz="1800" b="1" dirty="0">
                <a:solidFill>
                  <a:srgbClr val="2B3445"/>
                </a:solidFill>
                <a:latin typeface="Calibri" pitchFamily="34" charset="0"/>
                <a:ea typeface="Calibri" pitchFamily="34" charset="-122"/>
                <a:cs typeface="Calibri" pitchFamily="34" charset="-120"/>
              </a:rPr>
              <a:t>None of these tells a school to use AI. </a:t>
            </a:r>
            <a:pPr indent="0" marL="0">
              <a:buNone/>
            </a:pPr>
            <a:r>
              <a:rPr lang="en-US" sz="1800" dirty="0">
                <a:solidFill>
                  <a:srgbClr val="1E2430"/>
                </a:solidFill>
                <a:latin typeface="Calibri" pitchFamily="34" charset="0"/>
                <a:ea typeface="Calibri" pitchFamily="34" charset="-122"/>
                <a:cs typeface="Calibri" pitchFamily="34" charset="-120"/>
              </a:rPr>
              <a:t>They say how it will be judged: by what it does for pupils.</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02 · THE GAP BETWEEN THE RULES AND THE SCHOOLS</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The guidance assumes capacity most schools lack</a:t>
            </a:r>
            <a:endParaRPr lang="en-US" sz="3400" dirty="0"/>
          </a:p>
        </p:txBody>
      </p:sp>
      <p:sp>
        <p:nvSpPr>
          <p:cNvPr id="5" name="Text 3"/>
          <p:cNvSpPr txBox="1"/>
          <p:nvPr/>
        </p:nvSpPr>
        <p:spPr>
          <a:xfrm>
            <a:off x="548640" y="1600200"/>
            <a:ext cx="6400800" cy="347472"/>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Schools with a whole-school AI strategy</a:t>
            </a:r>
            <a:endParaRPr lang="en-US" sz="1800" dirty="0"/>
          </a:p>
        </p:txBody>
      </p:sp>
      <p:sp>
        <p:nvSpPr>
          <p:cNvPr id="6" name="Text 4"/>
          <p:cNvSpPr txBox="1"/>
          <p:nvPr/>
        </p:nvSpPr>
        <p:spPr>
          <a:xfrm>
            <a:off x="548640" y="2002536"/>
            <a:ext cx="1783080" cy="329184"/>
          </a:xfrm>
          <a:prstGeom prst="rect">
            <a:avLst/>
          </a:prstGeom>
          <a:noFill/>
          <a:ln/>
        </p:spPr>
        <p:txBody>
          <a:bodyPr wrap="square" lIns="0" tIns="0" rIns="0" bIns="0" rtlCol="0" anchor="ctr"/>
          <a:lstStyle/>
          <a:p>
            <a:pPr algn="r" indent="0" marL="0">
              <a:buNone/>
            </a:pPr>
            <a:r>
              <a:rPr lang="en-US" sz="1800" dirty="0">
                <a:solidFill>
                  <a:srgbClr val="5B6475"/>
                </a:solidFill>
                <a:latin typeface="Calibri" pitchFamily="34" charset="0"/>
                <a:ea typeface="Calibri" pitchFamily="34" charset="-122"/>
                <a:cs typeface="Calibri" pitchFamily="34" charset="-120"/>
              </a:rPr>
              <a:t>State</a:t>
            </a:r>
            <a:endParaRPr lang="en-US" sz="1800" dirty="0"/>
          </a:p>
        </p:txBody>
      </p:sp>
      <p:sp>
        <p:nvSpPr>
          <p:cNvPr id="7" name="Shape 5"/>
          <p:cNvSpPr/>
          <p:nvPr/>
        </p:nvSpPr>
        <p:spPr>
          <a:xfrm>
            <a:off x="2423160" y="2029968"/>
            <a:ext cx="4023360" cy="274320"/>
          </a:xfrm>
          <a:prstGeom prst="rect">
            <a:avLst/>
          </a:prstGeom>
          <a:solidFill>
            <a:srgbClr val="F2F4F7"/>
          </a:solidFill>
          <a:ln/>
        </p:spPr>
      </p:sp>
      <p:sp>
        <p:nvSpPr>
          <p:cNvPr id="8" name="Shape 6"/>
          <p:cNvSpPr/>
          <p:nvPr/>
        </p:nvSpPr>
        <p:spPr>
          <a:xfrm>
            <a:off x="2423160" y="2029968"/>
            <a:ext cx="362102" cy="274320"/>
          </a:xfrm>
          <a:prstGeom prst="rect">
            <a:avLst/>
          </a:prstGeom>
          <a:solidFill>
            <a:srgbClr val="0E6B66"/>
          </a:solidFill>
          <a:ln/>
        </p:spPr>
      </p:sp>
      <p:sp>
        <p:nvSpPr>
          <p:cNvPr id="9" name="Text 7"/>
          <p:cNvSpPr txBox="1"/>
          <p:nvPr/>
        </p:nvSpPr>
        <p:spPr>
          <a:xfrm>
            <a:off x="2876702" y="2002536"/>
            <a:ext cx="822960" cy="329184"/>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9%</a:t>
            </a:r>
            <a:endParaRPr lang="en-US" sz="1800" dirty="0"/>
          </a:p>
        </p:txBody>
      </p:sp>
      <p:sp>
        <p:nvSpPr>
          <p:cNvPr id="10" name="Text 8"/>
          <p:cNvSpPr txBox="1"/>
          <p:nvPr/>
        </p:nvSpPr>
        <p:spPr>
          <a:xfrm>
            <a:off x="548640" y="2404872"/>
            <a:ext cx="1783080" cy="329184"/>
          </a:xfrm>
          <a:prstGeom prst="rect">
            <a:avLst/>
          </a:prstGeom>
          <a:noFill/>
          <a:ln/>
        </p:spPr>
        <p:txBody>
          <a:bodyPr wrap="square" lIns="0" tIns="0" rIns="0" bIns="0" rtlCol="0" anchor="ctr"/>
          <a:lstStyle/>
          <a:p>
            <a:pPr algn="r" indent="0" marL="0">
              <a:buNone/>
            </a:pPr>
            <a:r>
              <a:rPr lang="en-US" sz="1800" dirty="0">
                <a:solidFill>
                  <a:srgbClr val="5B6475"/>
                </a:solidFill>
                <a:latin typeface="Calibri" pitchFamily="34" charset="0"/>
                <a:ea typeface="Calibri" pitchFamily="34" charset="-122"/>
                <a:cs typeface="Calibri" pitchFamily="34" charset="-120"/>
              </a:rPr>
              <a:t>Private</a:t>
            </a:r>
            <a:endParaRPr lang="en-US" sz="1800" dirty="0"/>
          </a:p>
        </p:txBody>
      </p:sp>
      <p:sp>
        <p:nvSpPr>
          <p:cNvPr id="11" name="Shape 9"/>
          <p:cNvSpPr/>
          <p:nvPr/>
        </p:nvSpPr>
        <p:spPr>
          <a:xfrm>
            <a:off x="2423160" y="2432304"/>
            <a:ext cx="4023360" cy="274320"/>
          </a:xfrm>
          <a:prstGeom prst="rect">
            <a:avLst/>
          </a:prstGeom>
          <a:solidFill>
            <a:srgbClr val="F2F4F7"/>
          </a:solidFill>
          <a:ln/>
        </p:spPr>
      </p:sp>
      <p:sp>
        <p:nvSpPr>
          <p:cNvPr id="12" name="Shape 10"/>
          <p:cNvSpPr/>
          <p:nvPr/>
        </p:nvSpPr>
        <p:spPr>
          <a:xfrm>
            <a:off x="2423160" y="2432304"/>
            <a:ext cx="1086307" cy="274320"/>
          </a:xfrm>
          <a:prstGeom prst="rect">
            <a:avLst/>
          </a:prstGeom>
          <a:solidFill>
            <a:srgbClr val="2B3445"/>
          </a:solidFill>
          <a:ln/>
        </p:spPr>
      </p:sp>
      <p:sp>
        <p:nvSpPr>
          <p:cNvPr id="13" name="Text 11"/>
          <p:cNvSpPr txBox="1"/>
          <p:nvPr/>
        </p:nvSpPr>
        <p:spPr>
          <a:xfrm>
            <a:off x="3600907" y="2404872"/>
            <a:ext cx="822960" cy="329184"/>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27%</a:t>
            </a:r>
            <a:endParaRPr lang="en-US" sz="1800" dirty="0"/>
          </a:p>
        </p:txBody>
      </p:sp>
      <p:sp>
        <p:nvSpPr>
          <p:cNvPr id="14" name="Text 12"/>
          <p:cNvSpPr txBox="1"/>
          <p:nvPr/>
        </p:nvSpPr>
        <p:spPr>
          <a:xfrm>
            <a:off x="548640" y="2990088"/>
            <a:ext cx="6400800" cy="347472"/>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Teachers with no AI training from their school</a:t>
            </a:r>
            <a:endParaRPr lang="en-US" sz="1800" dirty="0"/>
          </a:p>
        </p:txBody>
      </p:sp>
      <p:sp>
        <p:nvSpPr>
          <p:cNvPr id="15" name="Text 13"/>
          <p:cNvSpPr txBox="1"/>
          <p:nvPr/>
        </p:nvSpPr>
        <p:spPr>
          <a:xfrm>
            <a:off x="548640" y="3392424"/>
            <a:ext cx="1783080" cy="329184"/>
          </a:xfrm>
          <a:prstGeom prst="rect">
            <a:avLst/>
          </a:prstGeom>
          <a:noFill/>
          <a:ln/>
        </p:spPr>
        <p:txBody>
          <a:bodyPr wrap="square" lIns="0" tIns="0" rIns="0" bIns="0" rtlCol="0" anchor="ctr"/>
          <a:lstStyle/>
          <a:p>
            <a:pPr algn="r" indent="0" marL="0">
              <a:buNone/>
            </a:pPr>
            <a:r>
              <a:rPr lang="en-US" sz="1800" dirty="0">
                <a:solidFill>
                  <a:srgbClr val="5B6475"/>
                </a:solidFill>
                <a:latin typeface="Calibri" pitchFamily="34" charset="0"/>
                <a:ea typeface="Calibri" pitchFamily="34" charset="-122"/>
                <a:cs typeface="Calibri" pitchFamily="34" charset="-120"/>
              </a:rPr>
              <a:t>All</a:t>
            </a:r>
            <a:endParaRPr lang="en-US" sz="1800" dirty="0"/>
          </a:p>
        </p:txBody>
      </p:sp>
      <p:sp>
        <p:nvSpPr>
          <p:cNvPr id="16" name="Shape 14"/>
          <p:cNvSpPr/>
          <p:nvPr/>
        </p:nvSpPr>
        <p:spPr>
          <a:xfrm>
            <a:off x="2423160" y="3419856"/>
            <a:ext cx="4023360" cy="274320"/>
          </a:xfrm>
          <a:prstGeom prst="rect">
            <a:avLst/>
          </a:prstGeom>
          <a:solidFill>
            <a:srgbClr val="F2F4F7"/>
          </a:solidFill>
          <a:ln/>
        </p:spPr>
      </p:sp>
      <p:sp>
        <p:nvSpPr>
          <p:cNvPr id="17" name="Shape 15"/>
          <p:cNvSpPr/>
          <p:nvPr/>
        </p:nvSpPr>
        <p:spPr>
          <a:xfrm>
            <a:off x="2423160" y="3419856"/>
            <a:ext cx="1649578" cy="274320"/>
          </a:xfrm>
          <a:prstGeom prst="rect">
            <a:avLst/>
          </a:prstGeom>
          <a:solidFill>
            <a:srgbClr val="B5701F"/>
          </a:solidFill>
          <a:ln/>
        </p:spPr>
      </p:sp>
      <p:sp>
        <p:nvSpPr>
          <p:cNvPr id="18" name="Text 16"/>
          <p:cNvSpPr txBox="1"/>
          <p:nvPr/>
        </p:nvSpPr>
        <p:spPr>
          <a:xfrm>
            <a:off x="4164178" y="3392424"/>
            <a:ext cx="822960" cy="329184"/>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41%</a:t>
            </a:r>
            <a:endParaRPr lang="en-US" sz="1800" dirty="0"/>
          </a:p>
        </p:txBody>
      </p:sp>
      <p:sp>
        <p:nvSpPr>
          <p:cNvPr id="19" name="Text 17"/>
          <p:cNvSpPr txBox="1"/>
          <p:nvPr/>
        </p:nvSpPr>
        <p:spPr>
          <a:xfrm>
            <a:off x="548640" y="3977640"/>
            <a:ext cx="6400800" cy="347472"/>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Teachers using AI who say it has…</a:t>
            </a:r>
            <a:endParaRPr lang="en-US" sz="1800" dirty="0"/>
          </a:p>
        </p:txBody>
      </p:sp>
      <p:sp>
        <p:nvSpPr>
          <p:cNvPr id="20" name="Text 18"/>
          <p:cNvSpPr txBox="1"/>
          <p:nvPr/>
        </p:nvSpPr>
        <p:spPr>
          <a:xfrm>
            <a:off x="548640" y="4379976"/>
            <a:ext cx="1783080" cy="329184"/>
          </a:xfrm>
          <a:prstGeom prst="rect">
            <a:avLst/>
          </a:prstGeom>
          <a:noFill/>
          <a:ln/>
        </p:spPr>
        <p:txBody>
          <a:bodyPr wrap="square" lIns="0" tIns="0" rIns="0" bIns="0" rtlCol="0" anchor="ctr"/>
          <a:lstStyle/>
          <a:p>
            <a:pPr algn="r" indent="0" marL="0">
              <a:buNone/>
            </a:pPr>
            <a:r>
              <a:rPr lang="en-US" sz="1800" dirty="0">
                <a:solidFill>
                  <a:srgbClr val="5B6475"/>
                </a:solidFill>
                <a:latin typeface="Calibri" pitchFamily="34" charset="0"/>
                <a:ea typeface="Calibri" pitchFamily="34" charset="-122"/>
                <a:cs typeface="Calibri" pitchFamily="34" charset="-120"/>
              </a:rPr>
              <a:t>eased workload</a:t>
            </a:r>
            <a:endParaRPr lang="en-US" sz="1800" dirty="0"/>
          </a:p>
        </p:txBody>
      </p:sp>
      <p:sp>
        <p:nvSpPr>
          <p:cNvPr id="21" name="Shape 19"/>
          <p:cNvSpPr/>
          <p:nvPr/>
        </p:nvSpPr>
        <p:spPr>
          <a:xfrm>
            <a:off x="2423160" y="4407408"/>
            <a:ext cx="4023360" cy="274320"/>
          </a:xfrm>
          <a:prstGeom prst="rect">
            <a:avLst/>
          </a:prstGeom>
          <a:solidFill>
            <a:srgbClr val="F2F4F7"/>
          </a:solidFill>
          <a:ln/>
        </p:spPr>
      </p:sp>
      <p:sp>
        <p:nvSpPr>
          <p:cNvPr id="22" name="Shape 20"/>
          <p:cNvSpPr/>
          <p:nvPr/>
        </p:nvSpPr>
        <p:spPr>
          <a:xfrm>
            <a:off x="2423160" y="4407408"/>
            <a:ext cx="2051914" cy="274320"/>
          </a:xfrm>
          <a:prstGeom prst="rect">
            <a:avLst/>
          </a:prstGeom>
          <a:solidFill>
            <a:srgbClr val="6B3F7A"/>
          </a:solidFill>
          <a:ln/>
        </p:spPr>
      </p:sp>
      <p:sp>
        <p:nvSpPr>
          <p:cNvPr id="23" name="Text 21"/>
          <p:cNvSpPr txBox="1"/>
          <p:nvPr/>
        </p:nvSpPr>
        <p:spPr>
          <a:xfrm>
            <a:off x="4566514" y="4379976"/>
            <a:ext cx="822960" cy="329184"/>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51%</a:t>
            </a:r>
            <a:endParaRPr lang="en-US" sz="1800" dirty="0"/>
          </a:p>
        </p:txBody>
      </p:sp>
      <p:sp>
        <p:nvSpPr>
          <p:cNvPr id="24" name="Text 22"/>
          <p:cNvSpPr txBox="1"/>
          <p:nvPr/>
        </p:nvSpPr>
        <p:spPr>
          <a:xfrm>
            <a:off x="548640" y="4782312"/>
            <a:ext cx="1783080" cy="329184"/>
          </a:xfrm>
          <a:prstGeom prst="rect">
            <a:avLst/>
          </a:prstGeom>
          <a:noFill/>
          <a:ln/>
        </p:spPr>
        <p:txBody>
          <a:bodyPr wrap="square" lIns="0" tIns="0" rIns="0" bIns="0" rtlCol="0" anchor="ctr"/>
          <a:lstStyle/>
          <a:p>
            <a:pPr algn="r" indent="0" marL="0">
              <a:buNone/>
            </a:pPr>
            <a:r>
              <a:rPr lang="en-US" sz="1800" dirty="0">
                <a:solidFill>
                  <a:srgbClr val="5B6475"/>
                </a:solidFill>
                <a:latin typeface="Calibri" pitchFamily="34" charset="0"/>
                <a:ea typeface="Calibri" pitchFamily="34" charset="-122"/>
                <a:cs typeface="Calibri" pitchFamily="34" charset="-120"/>
              </a:rPr>
              <a:t>cut hours worked</a:t>
            </a:r>
            <a:endParaRPr lang="en-US" sz="1800" dirty="0"/>
          </a:p>
        </p:txBody>
      </p:sp>
      <p:sp>
        <p:nvSpPr>
          <p:cNvPr id="25" name="Shape 23"/>
          <p:cNvSpPr/>
          <p:nvPr/>
        </p:nvSpPr>
        <p:spPr>
          <a:xfrm>
            <a:off x="2423160" y="4809744"/>
            <a:ext cx="4023360" cy="274320"/>
          </a:xfrm>
          <a:prstGeom prst="rect">
            <a:avLst/>
          </a:prstGeom>
          <a:solidFill>
            <a:srgbClr val="F2F4F7"/>
          </a:solidFill>
          <a:ln/>
        </p:spPr>
      </p:sp>
      <p:sp>
        <p:nvSpPr>
          <p:cNvPr id="26" name="Shape 24"/>
          <p:cNvSpPr/>
          <p:nvPr/>
        </p:nvSpPr>
        <p:spPr>
          <a:xfrm>
            <a:off x="2423160" y="4809744"/>
            <a:ext cx="1408176" cy="274320"/>
          </a:xfrm>
          <a:prstGeom prst="rect">
            <a:avLst/>
          </a:prstGeom>
          <a:solidFill>
            <a:srgbClr val="B9A3C4"/>
          </a:solidFill>
          <a:ln/>
        </p:spPr>
      </p:sp>
      <p:sp>
        <p:nvSpPr>
          <p:cNvPr id="27" name="Text 25"/>
          <p:cNvSpPr txBox="1"/>
          <p:nvPr/>
        </p:nvSpPr>
        <p:spPr>
          <a:xfrm>
            <a:off x="3922776" y="4782312"/>
            <a:ext cx="822960" cy="329184"/>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35%</a:t>
            </a:r>
            <a:endParaRPr lang="en-US" sz="1800" dirty="0"/>
          </a:p>
        </p:txBody>
      </p:sp>
      <p:sp>
        <p:nvSpPr>
          <p:cNvPr id="28" name="Shape 26"/>
          <p:cNvSpPr/>
          <p:nvPr/>
        </p:nvSpPr>
        <p:spPr>
          <a:xfrm>
            <a:off x="7360920" y="1600200"/>
            <a:ext cx="4282135" cy="3520440"/>
          </a:xfrm>
          <a:prstGeom prst="roundRect">
            <a:avLst>
              <a:gd name="adj" fmla="val 2078"/>
            </a:avLst>
          </a:prstGeom>
          <a:solidFill>
            <a:srgbClr val="E8EBF0"/>
          </a:solidFill>
          <a:ln/>
        </p:spPr>
      </p:sp>
      <p:sp>
        <p:nvSpPr>
          <p:cNvPr id="29" name="Text 27"/>
          <p:cNvSpPr txBox="1"/>
          <p:nvPr/>
        </p:nvSpPr>
        <p:spPr>
          <a:xfrm>
            <a:off x="7589520" y="1737360"/>
            <a:ext cx="3824935" cy="365760"/>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Outside education: McKinsey, 2026</a:t>
            </a:r>
            <a:endParaRPr lang="en-US" sz="1800" dirty="0"/>
          </a:p>
        </p:txBody>
      </p:sp>
      <p:sp>
        <p:nvSpPr>
          <p:cNvPr id="30" name="Text 28"/>
          <p:cNvSpPr txBox="1"/>
          <p:nvPr/>
        </p:nvSpPr>
        <p:spPr>
          <a:xfrm>
            <a:off x="7589520" y="2240280"/>
            <a:ext cx="1325880" cy="731520"/>
          </a:xfrm>
          <a:prstGeom prst="rect">
            <a:avLst/>
          </a:prstGeom>
          <a:noFill/>
          <a:ln/>
        </p:spPr>
        <p:txBody>
          <a:bodyPr wrap="square" lIns="0" tIns="0" rIns="0" bIns="0" rtlCol="0" anchor="ctr"/>
          <a:lstStyle/>
          <a:p>
            <a:pPr indent="0" marL="0">
              <a:buNone/>
            </a:pPr>
            <a:r>
              <a:rPr lang="en-US" sz="4400" b="1" dirty="0">
                <a:solidFill>
                  <a:srgbClr val="6B3F7A"/>
                </a:solidFill>
                <a:latin typeface="Cambria" pitchFamily="34" charset="0"/>
                <a:ea typeface="Cambria" pitchFamily="34" charset="-122"/>
                <a:cs typeface="Cambria" pitchFamily="34" charset="-120"/>
              </a:rPr>
              <a:t>80%</a:t>
            </a:r>
            <a:endParaRPr lang="en-US" sz="4400" dirty="0"/>
          </a:p>
        </p:txBody>
      </p:sp>
      <p:sp>
        <p:nvSpPr>
          <p:cNvPr id="31" name="Text 29"/>
          <p:cNvSpPr txBox="1"/>
          <p:nvPr/>
        </p:nvSpPr>
        <p:spPr>
          <a:xfrm>
            <a:off x="8961120" y="2240280"/>
            <a:ext cx="2453335" cy="731520"/>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say AI has made them more productive</a:t>
            </a:r>
            <a:endParaRPr lang="en-US" sz="1800" dirty="0"/>
          </a:p>
        </p:txBody>
      </p:sp>
      <p:sp>
        <p:nvSpPr>
          <p:cNvPr id="32" name="Text 30"/>
          <p:cNvSpPr txBox="1"/>
          <p:nvPr/>
        </p:nvSpPr>
        <p:spPr>
          <a:xfrm>
            <a:off x="7589520" y="3108960"/>
            <a:ext cx="1325880" cy="731520"/>
          </a:xfrm>
          <a:prstGeom prst="rect">
            <a:avLst/>
          </a:prstGeom>
          <a:noFill/>
          <a:ln/>
        </p:spPr>
        <p:txBody>
          <a:bodyPr wrap="square" lIns="0" tIns="0" rIns="0" bIns="0" rtlCol="0" anchor="ctr"/>
          <a:lstStyle/>
          <a:p>
            <a:pPr indent="0" marL="0">
              <a:buNone/>
            </a:pPr>
            <a:r>
              <a:rPr lang="en-US" sz="4400" b="1" dirty="0">
                <a:solidFill>
                  <a:srgbClr val="0E6B66"/>
                </a:solidFill>
                <a:latin typeface="Cambria" pitchFamily="34" charset="0"/>
                <a:ea typeface="Cambria" pitchFamily="34" charset="-122"/>
                <a:cs typeface="Cambria" pitchFamily="34" charset="-120"/>
              </a:rPr>
              <a:t>37%</a:t>
            </a:r>
            <a:endParaRPr lang="en-US" sz="4400" dirty="0"/>
          </a:p>
        </p:txBody>
      </p:sp>
      <p:sp>
        <p:nvSpPr>
          <p:cNvPr id="33" name="Text 31"/>
          <p:cNvSpPr txBox="1"/>
          <p:nvPr/>
        </p:nvSpPr>
        <p:spPr>
          <a:xfrm>
            <a:off x="8961120" y="3108960"/>
            <a:ext cx="2453335" cy="731520"/>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report a measurable gain for the organisation</a:t>
            </a:r>
            <a:endParaRPr lang="en-US" sz="1800" dirty="0"/>
          </a:p>
        </p:txBody>
      </p:sp>
      <p:sp>
        <p:nvSpPr>
          <p:cNvPr id="34" name="Text 32"/>
          <p:cNvSpPr txBox="1"/>
          <p:nvPr/>
        </p:nvSpPr>
        <p:spPr>
          <a:xfrm>
            <a:off x="7589520" y="4023360"/>
            <a:ext cx="3824935" cy="100584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A study of companies, not schools, so the figures should not be read across. The lesson does: only changing how the work is organised changes the result.</a:t>
            </a:r>
            <a:endParaRPr lang="en-US" sz="1800" dirty="0"/>
          </a:p>
        </p:txBody>
      </p:sp>
      <p:sp>
        <p:nvSpPr>
          <p:cNvPr id="35" name="Shape 33"/>
          <p:cNvSpPr/>
          <p:nvPr/>
        </p:nvSpPr>
        <p:spPr>
          <a:xfrm>
            <a:off x="548640" y="5349240"/>
            <a:ext cx="11094415" cy="685800"/>
          </a:xfrm>
          <a:prstGeom prst="roundRect">
            <a:avLst>
              <a:gd name="adj" fmla="val 10667"/>
            </a:avLst>
          </a:prstGeom>
          <a:solidFill>
            <a:srgbClr val="F8EBD9"/>
          </a:solidFill>
          <a:ln/>
        </p:spPr>
      </p:sp>
      <p:sp>
        <p:nvSpPr>
          <p:cNvPr id="36" name="Text 34"/>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2000" b="1" dirty="0">
                <a:solidFill>
                  <a:srgbClr val="B5701F"/>
                </a:solidFill>
                <a:latin typeface="Calibri" pitchFamily="34" charset="0"/>
                <a:ea typeface="Calibri" pitchFamily="34" charset="-122"/>
                <a:cs typeface="Calibri" pitchFamily="34" charset="-120"/>
              </a:rPr>
              <a:t>Leaders are asking the same question: </a:t>
            </a:r>
            <a:pPr indent="0" marL="0">
              <a:buNone/>
            </a:pPr>
            <a:r>
              <a:rPr lang="en-US" sz="2000" dirty="0">
                <a:solidFill>
                  <a:srgbClr val="1E2430"/>
                </a:solidFill>
                <a:latin typeface="Calibri" pitchFamily="34" charset="0"/>
                <a:ea typeface="Calibri" pitchFamily="34" charset="-122"/>
                <a:cs typeface="Calibri" pitchFamily="34" charset="-120"/>
              </a:rPr>
              <a:t>“What do I actually do?”</a:t>
            </a:r>
            <a:endParaRPr lang="en-US" sz="2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02 · WHY THE GAP IS AN INCLUSION PROBLEM</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Without a strategy, AI helps those already ahead</a:t>
            </a:r>
            <a:endParaRPr lang="en-US" sz="3400" dirty="0"/>
          </a:p>
        </p:txBody>
      </p:sp>
      <p:sp>
        <p:nvSpPr>
          <p:cNvPr id="5" name="Text 3"/>
          <p:cNvSpPr txBox="1"/>
          <p:nvPr/>
        </p:nvSpPr>
        <p:spPr>
          <a:xfrm>
            <a:off x="548640" y="1600200"/>
            <a:ext cx="6766560" cy="640080"/>
          </a:xfrm>
          <a:prstGeom prst="rect">
            <a:avLst/>
          </a:prstGeom>
          <a:noFill/>
          <a:ln/>
        </p:spPr>
        <p:txBody>
          <a:bodyPr wrap="square" lIns="0" tIns="0" rIns="0" bIns="0" rtlCol="0" anchor="t"/>
          <a:lstStyle/>
          <a:p>
            <a:pPr indent="0" marL="0">
              <a:buNone/>
            </a:pPr>
            <a:r>
              <a:rPr lang="en-US" sz="2000" b="1" dirty="0">
                <a:solidFill>
                  <a:srgbClr val="2B3445"/>
                </a:solidFill>
                <a:latin typeface="Calibri" pitchFamily="34" charset="0"/>
                <a:ea typeface="Calibri" pitchFamily="34" charset="-122"/>
                <a:cs typeface="Calibri" pitchFamily="34" charset="-120"/>
              </a:rPr>
              <a:t>When AI arrives without a strategy, its benefits flow to those already best placed to use it:</a:t>
            </a:r>
            <a:endParaRPr lang="en-US" sz="2000" dirty="0"/>
          </a:p>
        </p:txBody>
      </p:sp>
      <p:sp>
        <p:nvSpPr>
          <p:cNvPr id="6" name="Shape 4"/>
          <p:cNvSpPr/>
          <p:nvPr/>
        </p:nvSpPr>
        <p:spPr>
          <a:xfrm>
            <a:off x="548640" y="2377440"/>
            <a:ext cx="2133600" cy="1051560"/>
          </a:xfrm>
          <a:prstGeom prst="roundRect">
            <a:avLst>
              <a:gd name="adj" fmla="val 6957"/>
            </a:avLst>
          </a:prstGeom>
          <a:solidFill>
            <a:srgbClr val="E8EBF0"/>
          </a:solidFill>
          <a:ln/>
        </p:spPr>
      </p:sp>
      <p:sp>
        <p:nvSpPr>
          <p:cNvPr id="7" name="Text 5"/>
          <p:cNvSpPr txBox="1"/>
          <p:nvPr/>
        </p:nvSpPr>
        <p:spPr>
          <a:xfrm>
            <a:off x="685800" y="2377440"/>
            <a:ext cx="1859280" cy="1051560"/>
          </a:xfrm>
          <a:prstGeom prst="rect">
            <a:avLst/>
          </a:prstGeom>
          <a:noFill/>
          <a:ln/>
        </p:spPr>
        <p:txBody>
          <a:bodyPr wrap="square" lIns="0" tIns="0" rIns="0" bIns="0" rtlCol="0" anchor="ctr"/>
          <a:lstStyle/>
          <a:p>
            <a:pPr algn="ctr" indent="0" marL="0">
              <a:buNone/>
            </a:pPr>
            <a:r>
              <a:rPr lang="en-US" sz="1800" b="1" dirty="0">
                <a:solidFill>
                  <a:srgbClr val="1E2430"/>
                </a:solidFill>
                <a:latin typeface="Calibri" pitchFamily="34" charset="0"/>
                <a:ea typeface="Calibri" pitchFamily="34" charset="-122"/>
                <a:cs typeface="Calibri" pitchFamily="34" charset="-120"/>
              </a:rPr>
              <a:t>Pupils with devices at home</a:t>
            </a:r>
            <a:endParaRPr lang="en-US" sz="1800" dirty="0"/>
          </a:p>
        </p:txBody>
      </p:sp>
      <p:sp>
        <p:nvSpPr>
          <p:cNvPr id="8" name="Shape 6"/>
          <p:cNvSpPr/>
          <p:nvPr/>
        </p:nvSpPr>
        <p:spPr>
          <a:xfrm>
            <a:off x="1615440" y="3474720"/>
            <a:ext cx="0" cy="384048"/>
          </a:xfrm>
          <a:prstGeom prst="line">
            <a:avLst/>
          </a:prstGeom>
          <a:noFill/>
          <a:ln w="25400">
            <a:solidFill>
              <a:srgbClr val="5B6475"/>
            </a:solidFill>
            <a:prstDash val="solid"/>
            <a:tailEnd type="triangle"/>
          </a:ln>
        </p:spPr>
      </p:sp>
      <p:sp>
        <p:nvSpPr>
          <p:cNvPr id="9" name="Shape 7"/>
          <p:cNvSpPr/>
          <p:nvPr/>
        </p:nvSpPr>
        <p:spPr>
          <a:xfrm>
            <a:off x="2865120" y="2377440"/>
            <a:ext cx="2133600" cy="1051560"/>
          </a:xfrm>
          <a:prstGeom prst="roundRect">
            <a:avLst>
              <a:gd name="adj" fmla="val 6957"/>
            </a:avLst>
          </a:prstGeom>
          <a:solidFill>
            <a:srgbClr val="E8EBF0"/>
          </a:solidFill>
          <a:ln/>
        </p:spPr>
      </p:sp>
      <p:sp>
        <p:nvSpPr>
          <p:cNvPr id="10" name="Text 8"/>
          <p:cNvSpPr txBox="1"/>
          <p:nvPr/>
        </p:nvSpPr>
        <p:spPr>
          <a:xfrm>
            <a:off x="3002280" y="2377440"/>
            <a:ext cx="1859280" cy="1051560"/>
          </a:xfrm>
          <a:prstGeom prst="rect">
            <a:avLst/>
          </a:prstGeom>
          <a:noFill/>
          <a:ln/>
        </p:spPr>
        <p:txBody>
          <a:bodyPr wrap="square" lIns="0" tIns="0" rIns="0" bIns="0" rtlCol="0" anchor="ctr"/>
          <a:lstStyle/>
          <a:p>
            <a:pPr algn="ctr" indent="0" marL="0">
              <a:buNone/>
            </a:pPr>
            <a:r>
              <a:rPr lang="en-US" sz="1800" b="1" dirty="0">
                <a:solidFill>
                  <a:srgbClr val="1E2430"/>
                </a:solidFill>
                <a:latin typeface="Calibri" pitchFamily="34" charset="0"/>
                <a:ea typeface="Calibri" pitchFamily="34" charset="-122"/>
                <a:cs typeface="Calibri" pitchFamily="34" charset="-120"/>
              </a:rPr>
              <a:t>Confident readers</a:t>
            </a:r>
            <a:endParaRPr lang="en-US" sz="1800" dirty="0"/>
          </a:p>
        </p:txBody>
      </p:sp>
      <p:sp>
        <p:nvSpPr>
          <p:cNvPr id="11" name="Shape 9"/>
          <p:cNvSpPr/>
          <p:nvPr/>
        </p:nvSpPr>
        <p:spPr>
          <a:xfrm>
            <a:off x="3931920" y="3474720"/>
            <a:ext cx="0" cy="384048"/>
          </a:xfrm>
          <a:prstGeom prst="line">
            <a:avLst/>
          </a:prstGeom>
          <a:noFill/>
          <a:ln w="25400">
            <a:solidFill>
              <a:srgbClr val="5B6475"/>
            </a:solidFill>
            <a:prstDash val="solid"/>
            <a:tailEnd type="triangle"/>
          </a:ln>
        </p:spPr>
      </p:sp>
      <p:sp>
        <p:nvSpPr>
          <p:cNvPr id="12" name="Shape 10"/>
          <p:cNvSpPr/>
          <p:nvPr/>
        </p:nvSpPr>
        <p:spPr>
          <a:xfrm>
            <a:off x="5181600" y="2377440"/>
            <a:ext cx="2133600" cy="1051560"/>
          </a:xfrm>
          <a:prstGeom prst="roundRect">
            <a:avLst>
              <a:gd name="adj" fmla="val 6957"/>
            </a:avLst>
          </a:prstGeom>
          <a:solidFill>
            <a:srgbClr val="E8EBF0"/>
          </a:solidFill>
          <a:ln/>
        </p:spPr>
      </p:sp>
      <p:sp>
        <p:nvSpPr>
          <p:cNvPr id="13" name="Text 11"/>
          <p:cNvSpPr txBox="1"/>
          <p:nvPr/>
        </p:nvSpPr>
        <p:spPr>
          <a:xfrm>
            <a:off x="5318760" y="2377440"/>
            <a:ext cx="1859280" cy="1051560"/>
          </a:xfrm>
          <a:prstGeom prst="rect">
            <a:avLst/>
          </a:prstGeom>
          <a:noFill/>
          <a:ln/>
        </p:spPr>
        <p:txBody>
          <a:bodyPr wrap="square" lIns="0" tIns="0" rIns="0" bIns="0" rtlCol="0" anchor="ctr"/>
          <a:lstStyle/>
          <a:p>
            <a:pPr algn="ctr" indent="0" marL="0">
              <a:buNone/>
            </a:pPr>
            <a:r>
              <a:rPr lang="en-US" sz="1800" b="1" dirty="0">
                <a:solidFill>
                  <a:srgbClr val="1E2430"/>
                </a:solidFill>
                <a:latin typeface="Calibri" pitchFamily="34" charset="0"/>
                <a:ea typeface="Calibri" pitchFamily="34" charset="-122"/>
                <a:cs typeface="Calibri" pitchFamily="34" charset="-120"/>
              </a:rPr>
              <a:t>Teachers with time to experiment</a:t>
            </a:r>
            <a:endParaRPr lang="en-US" sz="1800" dirty="0"/>
          </a:p>
        </p:txBody>
      </p:sp>
      <p:sp>
        <p:nvSpPr>
          <p:cNvPr id="14" name="Shape 12"/>
          <p:cNvSpPr/>
          <p:nvPr/>
        </p:nvSpPr>
        <p:spPr>
          <a:xfrm>
            <a:off x="6248400" y="3474720"/>
            <a:ext cx="0" cy="384048"/>
          </a:xfrm>
          <a:prstGeom prst="line">
            <a:avLst/>
          </a:prstGeom>
          <a:noFill/>
          <a:ln w="25400">
            <a:solidFill>
              <a:srgbClr val="5B6475"/>
            </a:solidFill>
            <a:prstDash val="solid"/>
            <a:tailEnd type="triangle"/>
          </a:ln>
        </p:spPr>
      </p:sp>
      <p:sp>
        <p:nvSpPr>
          <p:cNvPr id="15" name="Shape 13"/>
          <p:cNvSpPr/>
          <p:nvPr/>
        </p:nvSpPr>
        <p:spPr>
          <a:xfrm>
            <a:off x="548640" y="3950208"/>
            <a:ext cx="6766560" cy="1170432"/>
          </a:xfrm>
          <a:prstGeom prst="roundRect">
            <a:avLst>
              <a:gd name="adj" fmla="val 6250"/>
            </a:avLst>
          </a:prstGeom>
          <a:solidFill>
            <a:srgbClr val="F8EBD9"/>
          </a:solidFill>
          <a:ln w="22225">
            <a:solidFill>
              <a:srgbClr val="B5701F"/>
            </a:solidFill>
            <a:prstDash val="solid"/>
          </a:ln>
        </p:spPr>
      </p:sp>
      <p:sp>
        <p:nvSpPr>
          <p:cNvPr id="16" name="Text 14"/>
          <p:cNvSpPr txBox="1"/>
          <p:nvPr/>
        </p:nvSpPr>
        <p:spPr>
          <a:xfrm>
            <a:off x="822960" y="3950208"/>
            <a:ext cx="6217920" cy="1170432"/>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AI could widen attainment gaps unless it is deliberately used to close them.</a:t>
            </a:r>
            <a:endParaRPr lang="en-US" sz="1800" dirty="0"/>
          </a:p>
          <a:p>
            <a:pPr indent="0" marL="0">
              <a:buNone/>
            </a:pPr>
            <a:r>
              <a:rPr lang="en-US" sz="1800" b="1" dirty="0">
                <a:solidFill>
                  <a:srgbClr val="B5701F"/>
                </a:solidFill>
                <a:latin typeface="Calibri" pitchFamily="34" charset="0"/>
                <a:ea typeface="Calibri" pitchFamily="34" charset="-122"/>
                <a:cs typeface="Calibri" pitchFamily="34" charset="-120"/>
              </a:rPr>
              <a:t>Sutton Trust and ASCL</a:t>
            </a:r>
            <a:endParaRPr lang="en-US" sz="1800" dirty="0"/>
          </a:p>
        </p:txBody>
      </p:sp>
      <p:sp>
        <p:nvSpPr>
          <p:cNvPr id="17" name="Shape 15"/>
          <p:cNvSpPr/>
          <p:nvPr/>
        </p:nvSpPr>
        <p:spPr>
          <a:xfrm>
            <a:off x="7680960" y="1600200"/>
            <a:ext cx="3962095" cy="3520440"/>
          </a:xfrm>
          <a:prstGeom prst="roundRect">
            <a:avLst>
              <a:gd name="adj" fmla="val 2078"/>
            </a:avLst>
          </a:prstGeom>
          <a:solidFill>
            <a:srgbClr val="DCEFEC"/>
          </a:solidFill>
          <a:ln/>
        </p:spPr>
      </p:sp>
      <p:sp>
        <p:nvSpPr>
          <p:cNvPr id="18" name="Text 16"/>
          <p:cNvSpPr txBox="1"/>
          <p:nvPr/>
        </p:nvSpPr>
        <p:spPr>
          <a:xfrm>
            <a:off x="7909560" y="1737360"/>
            <a:ext cx="3504895" cy="640080"/>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The training gap already follows affluence</a:t>
            </a:r>
            <a:endParaRPr lang="en-US" sz="1800" dirty="0"/>
          </a:p>
        </p:txBody>
      </p:sp>
      <p:sp>
        <p:nvSpPr>
          <p:cNvPr id="19" name="Text 17"/>
          <p:cNvSpPr txBox="1"/>
          <p:nvPr/>
        </p:nvSpPr>
        <p:spPr>
          <a:xfrm>
            <a:off x="7909560" y="2423160"/>
            <a:ext cx="3504895" cy="365760"/>
          </a:xfrm>
          <a:prstGeom prst="rect">
            <a:avLst/>
          </a:prstGeom>
          <a:noFill/>
          <a:ln/>
        </p:spPr>
        <p:txBody>
          <a:bodyPr wrap="square" lIns="0" tIns="0" rIns="0" bIns="0" rtlCol="0" anchor="t"/>
          <a:lstStyle/>
          <a:p>
            <a:pPr indent="0" marL="0">
              <a:buNone/>
            </a:pPr>
            <a:r>
              <a:rPr lang="en-US" sz="1800" dirty="0">
                <a:solidFill>
                  <a:srgbClr val="5B6475"/>
                </a:solidFill>
                <a:latin typeface="Calibri" pitchFamily="34" charset="0"/>
                <a:ea typeface="Calibri" pitchFamily="34" charset="-122"/>
                <a:cs typeface="Calibri" pitchFamily="34" charset="-120"/>
              </a:rPr>
              <a:t>State-school teachers trained in AI</a:t>
            </a:r>
            <a:endParaRPr lang="en-US" sz="1800" dirty="0"/>
          </a:p>
        </p:txBody>
      </p:sp>
      <p:sp>
        <p:nvSpPr>
          <p:cNvPr id="20" name="Text 18"/>
          <p:cNvSpPr txBox="1"/>
          <p:nvPr/>
        </p:nvSpPr>
        <p:spPr>
          <a:xfrm>
            <a:off x="7909560" y="2880360"/>
            <a:ext cx="1752448" cy="868680"/>
          </a:xfrm>
          <a:prstGeom prst="rect">
            <a:avLst/>
          </a:prstGeom>
          <a:noFill/>
          <a:ln/>
        </p:spPr>
        <p:txBody>
          <a:bodyPr wrap="square" lIns="0" tIns="0" rIns="0" bIns="0" rtlCol="0" anchor="ctr"/>
          <a:lstStyle/>
          <a:p>
            <a:pPr indent="0" marL="0">
              <a:buNone/>
            </a:pPr>
            <a:r>
              <a:rPr lang="en-US" sz="4800" b="1" dirty="0">
                <a:solidFill>
                  <a:srgbClr val="0E6B66"/>
                </a:solidFill>
                <a:latin typeface="Cambria" pitchFamily="34" charset="0"/>
                <a:ea typeface="Cambria" pitchFamily="34" charset="-122"/>
                <a:cs typeface="Cambria" pitchFamily="34" charset="-120"/>
              </a:rPr>
              <a:t>26%</a:t>
            </a:r>
            <a:endParaRPr lang="en-US" sz="4800" dirty="0"/>
          </a:p>
        </p:txBody>
      </p:sp>
      <p:sp>
        <p:nvSpPr>
          <p:cNvPr id="21" name="Text 19"/>
          <p:cNvSpPr txBox="1"/>
          <p:nvPr/>
        </p:nvSpPr>
        <p:spPr>
          <a:xfrm>
            <a:off x="7909560" y="3794760"/>
            <a:ext cx="1661008" cy="6400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more affluent schools</a:t>
            </a:r>
            <a:endParaRPr lang="en-US" sz="1800" dirty="0"/>
          </a:p>
        </p:txBody>
      </p:sp>
      <p:sp>
        <p:nvSpPr>
          <p:cNvPr id="22" name="Text 20"/>
          <p:cNvSpPr txBox="1"/>
          <p:nvPr/>
        </p:nvSpPr>
        <p:spPr>
          <a:xfrm>
            <a:off x="9662008" y="2880360"/>
            <a:ext cx="1752448" cy="868680"/>
          </a:xfrm>
          <a:prstGeom prst="rect">
            <a:avLst/>
          </a:prstGeom>
          <a:noFill/>
          <a:ln/>
        </p:spPr>
        <p:txBody>
          <a:bodyPr wrap="square" lIns="0" tIns="0" rIns="0" bIns="0" rtlCol="0" anchor="ctr"/>
          <a:lstStyle/>
          <a:p>
            <a:pPr indent="0" marL="0">
              <a:buNone/>
            </a:pPr>
            <a:r>
              <a:rPr lang="en-US" sz="4800" b="1" dirty="0">
                <a:solidFill>
                  <a:srgbClr val="B5701F"/>
                </a:solidFill>
                <a:latin typeface="Cambria" pitchFamily="34" charset="0"/>
                <a:ea typeface="Cambria" pitchFamily="34" charset="-122"/>
                <a:cs typeface="Cambria" pitchFamily="34" charset="-120"/>
              </a:rPr>
              <a:t>18%</a:t>
            </a:r>
            <a:endParaRPr lang="en-US" sz="4800" dirty="0"/>
          </a:p>
        </p:txBody>
      </p:sp>
      <p:sp>
        <p:nvSpPr>
          <p:cNvPr id="23" name="Text 21"/>
          <p:cNvSpPr txBox="1"/>
          <p:nvPr/>
        </p:nvSpPr>
        <p:spPr>
          <a:xfrm>
            <a:off x="9662008" y="3794760"/>
            <a:ext cx="1661008" cy="6400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less affluent schools</a:t>
            </a:r>
            <a:endParaRPr lang="en-US" sz="1800" dirty="0"/>
          </a:p>
        </p:txBody>
      </p:sp>
      <p:sp>
        <p:nvSpPr>
          <p:cNvPr id="24" name="Text 22"/>
          <p:cNvSpPr txBox="1"/>
          <p:nvPr/>
        </p:nvSpPr>
        <p:spPr>
          <a:xfrm>
            <a:off x="7909560" y="4526280"/>
            <a:ext cx="3504895" cy="365760"/>
          </a:xfrm>
          <a:prstGeom prst="rect">
            <a:avLst/>
          </a:prstGeom>
          <a:noFill/>
          <a:ln/>
        </p:spPr>
        <p:txBody>
          <a:bodyPr wrap="square" lIns="0" tIns="0" rIns="0" bIns="0" rtlCol="0" anchor="t"/>
          <a:lstStyle/>
          <a:p>
            <a:pPr indent="0" marL="0">
              <a:buNone/>
            </a:pPr>
            <a:r>
              <a:rPr lang="en-US" sz="1800" dirty="0">
                <a:solidFill>
                  <a:srgbClr val="5B6475"/>
                </a:solidFill>
                <a:latin typeface="Calibri" pitchFamily="34" charset="0"/>
                <a:ea typeface="Calibri" pitchFamily="34" charset="-122"/>
                <a:cs typeface="Calibri" pitchFamily="34" charset="-120"/>
              </a:rPr>
              <a:t>Sutton Trust / Teacher Tapp, 2025</a:t>
            </a:r>
            <a:endParaRPr lang="en-US" sz="1800" dirty="0"/>
          </a:p>
        </p:txBody>
      </p:sp>
      <p:sp>
        <p:nvSpPr>
          <p:cNvPr id="25" name="Shape 23"/>
          <p:cNvSpPr/>
          <p:nvPr/>
        </p:nvSpPr>
        <p:spPr>
          <a:xfrm>
            <a:off x="548640" y="5349240"/>
            <a:ext cx="11094415" cy="685800"/>
          </a:xfrm>
          <a:prstGeom prst="roundRect">
            <a:avLst>
              <a:gd name="adj" fmla="val 10667"/>
            </a:avLst>
          </a:prstGeom>
          <a:solidFill>
            <a:srgbClr val="0E6B66"/>
          </a:solidFill>
          <a:ln/>
        </p:spPr>
      </p:sp>
      <p:sp>
        <p:nvSpPr>
          <p:cNvPr id="26" name="Text 24"/>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 strategy that starts from inclusion is the deliberate version.</a:t>
            </a:r>
            <a:endParaRPr lang="en-US" sz="22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03 · THE MODEL: ADAPTIVE TEACHING, MADE DELIBERATE</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Four steps, one destination</a:t>
            </a:r>
            <a:endParaRPr lang="en-US" sz="3400" dirty="0"/>
          </a:p>
        </p:txBody>
      </p:sp>
      <p:sp>
        <p:nvSpPr>
          <p:cNvPr id="5" name="Shape 3"/>
          <p:cNvSpPr/>
          <p:nvPr/>
        </p:nvSpPr>
        <p:spPr>
          <a:xfrm>
            <a:off x="548640" y="1737360"/>
            <a:ext cx="2148840" cy="2926080"/>
          </a:xfrm>
          <a:prstGeom prst="roundRect">
            <a:avLst>
              <a:gd name="adj" fmla="val 3404"/>
            </a:avLst>
          </a:prstGeom>
          <a:solidFill>
            <a:srgbClr val="E8EBF0"/>
          </a:solidFill>
          <a:ln w="19050">
            <a:solidFill>
              <a:srgbClr val="2B3445"/>
            </a:solidFill>
            <a:prstDash val="solid"/>
          </a:ln>
        </p:spPr>
      </p:sp>
      <p:sp>
        <p:nvSpPr>
          <p:cNvPr id="6" name="Text 4"/>
          <p:cNvSpPr txBox="1"/>
          <p:nvPr/>
        </p:nvSpPr>
        <p:spPr>
          <a:xfrm>
            <a:off x="685800" y="1847088"/>
            <a:ext cx="1920240" cy="365760"/>
          </a:xfrm>
          <a:prstGeom prst="rect">
            <a:avLst/>
          </a:prstGeom>
          <a:noFill/>
          <a:ln/>
        </p:spPr>
        <p:txBody>
          <a:bodyPr wrap="square" lIns="0" tIns="0" rIns="0" bIns="0" rtlCol="0" anchor="t"/>
          <a:lstStyle/>
          <a:p>
            <a:pPr indent="0" marL="0">
              <a:buNone/>
            </a:pPr>
            <a:r>
              <a:rPr lang="en-US" sz="2000" b="1" dirty="0">
                <a:solidFill>
                  <a:srgbClr val="2B3445"/>
                </a:solidFill>
                <a:latin typeface="Calibri" pitchFamily="34" charset="0"/>
                <a:ea typeface="Calibri" pitchFamily="34" charset="-122"/>
                <a:cs typeface="Calibri" pitchFamily="34" charset="-120"/>
              </a:rPr>
              <a:t>1 · Pre-teach</a:t>
            </a:r>
            <a:endParaRPr lang="en-US" sz="2000" dirty="0"/>
          </a:p>
        </p:txBody>
      </p:sp>
      <p:sp>
        <p:nvSpPr>
          <p:cNvPr id="7" name="Text 5"/>
          <p:cNvSpPr txBox="1"/>
          <p:nvPr/>
        </p:nvSpPr>
        <p:spPr>
          <a:xfrm>
            <a:off x="685800" y="2286000"/>
            <a:ext cx="1920240" cy="228600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Read-along ebook: the words and prior knowledge, heard and read before the lesson</a:t>
            </a:r>
            <a:endParaRPr lang="en-US" sz="1800" dirty="0"/>
          </a:p>
        </p:txBody>
      </p:sp>
      <p:sp>
        <p:nvSpPr>
          <p:cNvPr id="8" name="Shape 6"/>
          <p:cNvSpPr/>
          <p:nvPr/>
        </p:nvSpPr>
        <p:spPr>
          <a:xfrm>
            <a:off x="3017520" y="1737360"/>
            <a:ext cx="2148840" cy="2926080"/>
          </a:xfrm>
          <a:prstGeom prst="roundRect">
            <a:avLst>
              <a:gd name="adj" fmla="val 3404"/>
            </a:avLst>
          </a:prstGeom>
          <a:solidFill>
            <a:srgbClr val="F8EBD9"/>
          </a:solidFill>
          <a:ln w="19050">
            <a:solidFill>
              <a:srgbClr val="B5701F"/>
            </a:solidFill>
            <a:prstDash val="solid"/>
          </a:ln>
        </p:spPr>
      </p:sp>
      <p:sp>
        <p:nvSpPr>
          <p:cNvPr id="9" name="Text 7"/>
          <p:cNvSpPr txBox="1"/>
          <p:nvPr/>
        </p:nvSpPr>
        <p:spPr>
          <a:xfrm>
            <a:off x="3154680" y="1847088"/>
            <a:ext cx="1920240" cy="365760"/>
          </a:xfrm>
          <a:prstGeom prst="rect">
            <a:avLst/>
          </a:prstGeom>
          <a:noFill/>
          <a:ln/>
        </p:spPr>
        <p:txBody>
          <a:bodyPr wrap="square" lIns="0" tIns="0" rIns="0" bIns="0" rtlCol="0" anchor="t"/>
          <a:lstStyle/>
          <a:p>
            <a:pPr indent="0" marL="0">
              <a:buNone/>
            </a:pPr>
            <a:r>
              <a:rPr lang="en-US" sz="2000" b="1" dirty="0">
                <a:solidFill>
                  <a:srgbClr val="B5701F"/>
                </a:solidFill>
                <a:latin typeface="Calibri" pitchFamily="34" charset="0"/>
                <a:ea typeface="Calibri" pitchFamily="34" charset="-122"/>
                <a:cs typeface="Calibri" pitchFamily="34" charset="-120"/>
              </a:rPr>
              <a:t>2 · Gate</a:t>
            </a:r>
            <a:endParaRPr lang="en-US" sz="2000" dirty="0"/>
          </a:p>
        </p:txBody>
      </p:sp>
      <p:sp>
        <p:nvSpPr>
          <p:cNvPr id="10" name="Text 8"/>
          <p:cNvSpPr txBox="1"/>
          <p:nvPr/>
        </p:nvSpPr>
        <p:spPr>
          <a:xfrm>
            <a:off x="3154680" y="2286000"/>
            <a:ext cx="1920240" cy="228600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Two or three questions place the pupil at a starting level. Recall comes before help.</a:t>
            </a:r>
            <a:endParaRPr lang="en-US" sz="1800" dirty="0"/>
          </a:p>
        </p:txBody>
      </p:sp>
      <p:sp>
        <p:nvSpPr>
          <p:cNvPr id="11" name="Shape 9"/>
          <p:cNvSpPr/>
          <p:nvPr/>
        </p:nvSpPr>
        <p:spPr>
          <a:xfrm>
            <a:off x="2697480" y="3200400"/>
            <a:ext cx="320040" cy="0"/>
          </a:xfrm>
          <a:prstGeom prst="line">
            <a:avLst/>
          </a:prstGeom>
          <a:noFill/>
          <a:ln w="28575">
            <a:solidFill>
              <a:srgbClr val="C9CFD8"/>
            </a:solidFill>
            <a:prstDash val="solid"/>
          </a:ln>
        </p:spPr>
      </p:sp>
      <p:sp>
        <p:nvSpPr>
          <p:cNvPr id="12" name="Shape 10"/>
          <p:cNvSpPr/>
          <p:nvPr/>
        </p:nvSpPr>
        <p:spPr>
          <a:xfrm>
            <a:off x="5486400" y="1554480"/>
            <a:ext cx="3291840" cy="1024128"/>
          </a:xfrm>
          <a:prstGeom prst="roundRect">
            <a:avLst>
              <a:gd name="adj" fmla="val 7143"/>
            </a:avLst>
          </a:prstGeom>
          <a:solidFill>
            <a:srgbClr val="FFFFFF"/>
          </a:solidFill>
          <a:ln w="22225">
            <a:solidFill>
              <a:srgbClr val="0E6B66"/>
            </a:solidFill>
            <a:prstDash val="solid"/>
          </a:ln>
        </p:spPr>
      </p:sp>
      <p:sp>
        <p:nvSpPr>
          <p:cNvPr id="13" name="Text 11"/>
          <p:cNvSpPr txBox="1"/>
          <p:nvPr/>
        </p:nvSpPr>
        <p:spPr>
          <a:xfrm>
            <a:off x="5623560" y="1627632"/>
            <a:ext cx="3017520" cy="329184"/>
          </a:xfrm>
          <a:prstGeom prst="rect">
            <a:avLst/>
          </a:prstGeom>
          <a:noFill/>
          <a:ln/>
        </p:spPr>
        <p:txBody>
          <a:bodyPr wrap="square" lIns="0" tIns="0" rIns="0" bIns="0" rtlCol="0" anchor="t"/>
          <a:lstStyle/>
          <a:p>
            <a:pPr indent="0" marL="0">
              <a:buNone/>
            </a:pPr>
            <a:r>
              <a:rPr lang="en-US" sz="2000" b="1" dirty="0">
                <a:solidFill>
                  <a:srgbClr val="0E6B66"/>
                </a:solidFill>
                <a:latin typeface="Calibri" pitchFamily="34" charset="0"/>
                <a:ea typeface="Calibri" pitchFamily="34" charset="-122"/>
                <a:cs typeface="Calibri" pitchFamily="34" charset="-120"/>
              </a:rPr>
              <a:t>3 · Support</a:t>
            </a:r>
            <a:endParaRPr lang="en-US" sz="2000" dirty="0"/>
          </a:p>
        </p:txBody>
      </p:sp>
      <p:sp>
        <p:nvSpPr>
          <p:cNvPr id="14" name="Text 12"/>
          <p:cNvSpPr txBox="1"/>
          <p:nvPr/>
        </p:nvSpPr>
        <p:spPr>
          <a:xfrm>
            <a:off x="5623560" y="1965960"/>
            <a:ext cx="3017520" cy="566928"/>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Steps printed; worked example beside the task</a:t>
            </a:r>
            <a:endParaRPr lang="en-US" sz="1800" dirty="0"/>
          </a:p>
        </p:txBody>
      </p:sp>
      <p:sp>
        <p:nvSpPr>
          <p:cNvPr id="15" name="Shape 13"/>
          <p:cNvSpPr/>
          <p:nvPr/>
        </p:nvSpPr>
        <p:spPr>
          <a:xfrm>
            <a:off x="5166360" y="3200400"/>
            <a:ext cx="320040" cy="-1133856"/>
          </a:xfrm>
          <a:prstGeom prst="line">
            <a:avLst/>
          </a:prstGeom>
          <a:noFill/>
          <a:ln w="25400">
            <a:solidFill>
              <a:srgbClr val="C9CFD8"/>
            </a:solidFill>
            <a:prstDash val="solid"/>
          </a:ln>
        </p:spPr>
      </p:sp>
      <p:sp>
        <p:nvSpPr>
          <p:cNvPr id="16" name="Shape 14"/>
          <p:cNvSpPr/>
          <p:nvPr/>
        </p:nvSpPr>
        <p:spPr>
          <a:xfrm>
            <a:off x="8778240" y="2066544"/>
            <a:ext cx="320040" cy="1133856"/>
          </a:xfrm>
          <a:prstGeom prst="line">
            <a:avLst/>
          </a:prstGeom>
          <a:noFill/>
          <a:ln w="25400">
            <a:solidFill>
              <a:srgbClr val="C9CFD8"/>
            </a:solidFill>
            <a:prstDash val="solid"/>
          </a:ln>
        </p:spPr>
      </p:sp>
      <p:sp>
        <p:nvSpPr>
          <p:cNvPr id="17" name="Shape 15"/>
          <p:cNvSpPr/>
          <p:nvPr/>
        </p:nvSpPr>
        <p:spPr>
          <a:xfrm>
            <a:off x="5486400" y="2688336"/>
            <a:ext cx="3291840" cy="1024128"/>
          </a:xfrm>
          <a:prstGeom prst="roundRect">
            <a:avLst>
              <a:gd name="adj" fmla="val 7143"/>
            </a:avLst>
          </a:prstGeom>
          <a:solidFill>
            <a:srgbClr val="DCEFEC"/>
          </a:solidFill>
          <a:ln w="22225">
            <a:solidFill>
              <a:srgbClr val="0E6B66"/>
            </a:solidFill>
            <a:prstDash val="solid"/>
          </a:ln>
        </p:spPr>
      </p:sp>
      <p:sp>
        <p:nvSpPr>
          <p:cNvPr id="18" name="Text 16"/>
          <p:cNvSpPr txBox="1"/>
          <p:nvPr/>
        </p:nvSpPr>
        <p:spPr>
          <a:xfrm>
            <a:off x="5623560" y="2761488"/>
            <a:ext cx="3017520" cy="329184"/>
          </a:xfrm>
          <a:prstGeom prst="rect">
            <a:avLst/>
          </a:prstGeom>
          <a:noFill/>
          <a:ln/>
        </p:spPr>
        <p:txBody>
          <a:bodyPr wrap="square" lIns="0" tIns="0" rIns="0" bIns="0" rtlCol="0" anchor="t"/>
          <a:lstStyle/>
          <a:p>
            <a:pPr indent="0" marL="0">
              <a:buNone/>
            </a:pPr>
            <a:r>
              <a:rPr lang="en-US" sz="2000" b="1" dirty="0">
                <a:solidFill>
                  <a:srgbClr val="0E6B66"/>
                </a:solidFill>
                <a:latin typeface="Calibri" pitchFamily="34" charset="0"/>
                <a:ea typeface="Calibri" pitchFamily="34" charset="-122"/>
                <a:cs typeface="Calibri" pitchFamily="34" charset="-120"/>
              </a:rPr>
              <a:t>3 · Core</a:t>
            </a:r>
            <a:endParaRPr lang="en-US" sz="2000" dirty="0"/>
          </a:p>
        </p:txBody>
      </p:sp>
      <p:sp>
        <p:nvSpPr>
          <p:cNvPr id="19" name="Text 17"/>
          <p:cNvSpPr txBox="1"/>
          <p:nvPr/>
        </p:nvSpPr>
        <p:spPr>
          <a:xfrm>
            <a:off x="5623560" y="3099816"/>
            <a:ext cx="3017520" cy="566928"/>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Steps hidden; one hint on request</a:t>
            </a:r>
            <a:endParaRPr lang="en-US" sz="1800" dirty="0"/>
          </a:p>
        </p:txBody>
      </p:sp>
      <p:sp>
        <p:nvSpPr>
          <p:cNvPr id="20" name="Shape 18"/>
          <p:cNvSpPr/>
          <p:nvPr/>
        </p:nvSpPr>
        <p:spPr>
          <a:xfrm>
            <a:off x="5166360" y="3200400"/>
            <a:ext cx="320040" cy="0"/>
          </a:xfrm>
          <a:prstGeom prst="line">
            <a:avLst/>
          </a:prstGeom>
          <a:noFill/>
          <a:ln w="25400">
            <a:solidFill>
              <a:srgbClr val="C9CFD8"/>
            </a:solidFill>
            <a:prstDash val="solid"/>
          </a:ln>
        </p:spPr>
      </p:sp>
      <p:sp>
        <p:nvSpPr>
          <p:cNvPr id="21" name="Shape 19"/>
          <p:cNvSpPr/>
          <p:nvPr/>
        </p:nvSpPr>
        <p:spPr>
          <a:xfrm>
            <a:off x="8778240" y="3200400"/>
            <a:ext cx="320040" cy="0"/>
          </a:xfrm>
          <a:prstGeom prst="line">
            <a:avLst/>
          </a:prstGeom>
          <a:noFill/>
          <a:ln w="25400">
            <a:solidFill>
              <a:srgbClr val="C9CFD8"/>
            </a:solidFill>
            <a:prstDash val="solid"/>
          </a:ln>
        </p:spPr>
      </p:sp>
      <p:sp>
        <p:nvSpPr>
          <p:cNvPr id="22" name="Shape 20"/>
          <p:cNvSpPr/>
          <p:nvPr/>
        </p:nvSpPr>
        <p:spPr>
          <a:xfrm>
            <a:off x="5486400" y="3822192"/>
            <a:ext cx="3291840" cy="1024128"/>
          </a:xfrm>
          <a:prstGeom prst="roundRect">
            <a:avLst>
              <a:gd name="adj" fmla="val 7143"/>
            </a:avLst>
          </a:prstGeom>
          <a:solidFill>
            <a:srgbClr val="FFFFFF"/>
          </a:solidFill>
          <a:ln w="22225">
            <a:solidFill>
              <a:srgbClr val="0E6B66"/>
            </a:solidFill>
            <a:prstDash val="solid"/>
          </a:ln>
        </p:spPr>
      </p:sp>
      <p:sp>
        <p:nvSpPr>
          <p:cNvPr id="23" name="Text 21"/>
          <p:cNvSpPr txBox="1"/>
          <p:nvPr/>
        </p:nvSpPr>
        <p:spPr>
          <a:xfrm>
            <a:off x="5623560" y="3895344"/>
            <a:ext cx="3017520" cy="329184"/>
          </a:xfrm>
          <a:prstGeom prst="rect">
            <a:avLst/>
          </a:prstGeom>
          <a:noFill/>
          <a:ln/>
        </p:spPr>
        <p:txBody>
          <a:bodyPr wrap="square" lIns="0" tIns="0" rIns="0" bIns="0" rtlCol="0" anchor="t"/>
          <a:lstStyle/>
          <a:p>
            <a:pPr indent="0" marL="0">
              <a:buNone/>
            </a:pPr>
            <a:r>
              <a:rPr lang="en-US" sz="2000" b="1" dirty="0">
                <a:solidFill>
                  <a:srgbClr val="0E6B66"/>
                </a:solidFill>
                <a:latin typeface="Calibri" pitchFamily="34" charset="0"/>
                <a:ea typeface="Calibri" pitchFamily="34" charset="-122"/>
                <a:cs typeface="Calibri" pitchFamily="34" charset="-120"/>
              </a:rPr>
              <a:t>3 · Stretch</a:t>
            </a:r>
            <a:endParaRPr lang="en-US" sz="2000" dirty="0"/>
          </a:p>
        </p:txBody>
      </p:sp>
      <p:sp>
        <p:nvSpPr>
          <p:cNvPr id="24" name="Text 22"/>
          <p:cNvSpPr txBox="1"/>
          <p:nvPr/>
        </p:nvSpPr>
        <p:spPr>
          <a:xfrm>
            <a:off x="5623560" y="4233672"/>
            <a:ext cx="3017520" cy="566928"/>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No steps; explain and extend</a:t>
            </a:r>
            <a:endParaRPr lang="en-US" sz="1800" dirty="0"/>
          </a:p>
        </p:txBody>
      </p:sp>
      <p:sp>
        <p:nvSpPr>
          <p:cNvPr id="25" name="Shape 23"/>
          <p:cNvSpPr/>
          <p:nvPr/>
        </p:nvSpPr>
        <p:spPr>
          <a:xfrm>
            <a:off x="5166360" y="3200400"/>
            <a:ext cx="320040" cy="1133856"/>
          </a:xfrm>
          <a:prstGeom prst="line">
            <a:avLst/>
          </a:prstGeom>
          <a:noFill/>
          <a:ln w="25400">
            <a:solidFill>
              <a:srgbClr val="C9CFD8"/>
            </a:solidFill>
            <a:prstDash val="solid"/>
          </a:ln>
        </p:spPr>
      </p:sp>
      <p:sp>
        <p:nvSpPr>
          <p:cNvPr id="26" name="Shape 24"/>
          <p:cNvSpPr/>
          <p:nvPr/>
        </p:nvSpPr>
        <p:spPr>
          <a:xfrm>
            <a:off x="8778240" y="4334256"/>
            <a:ext cx="320040" cy="-1133856"/>
          </a:xfrm>
          <a:prstGeom prst="line">
            <a:avLst/>
          </a:prstGeom>
          <a:noFill/>
          <a:ln w="25400">
            <a:solidFill>
              <a:srgbClr val="C9CFD8"/>
            </a:solidFill>
            <a:prstDash val="solid"/>
          </a:ln>
        </p:spPr>
      </p:sp>
      <p:sp>
        <p:nvSpPr>
          <p:cNvPr id="27" name="Shape 25"/>
          <p:cNvSpPr/>
          <p:nvPr/>
        </p:nvSpPr>
        <p:spPr>
          <a:xfrm>
            <a:off x="9098280" y="1737360"/>
            <a:ext cx="2544775" cy="2926080"/>
          </a:xfrm>
          <a:prstGeom prst="roundRect">
            <a:avLst>
              <a:gd name="adj" fmla="val 2875"/>
            </a:avLst>
          </a:prstGeom>
          <a:solidFill>
            <a:srgbClr val="EFE6F3"/>
          </a:solidFill>
          <a:ln w="19050">
            <a:solidFill>
              <a:srgbClr val="6B3F7A"/>
            </a:solidFill>
            <a:prstDash val="solid"/>
          </a:ln>
        </p:spPr>
      </p:sp>
      <p:sp>
        <p:nvSpPr>
          <p:cNvPr id="28" name="Text 26"/>
          <p:cNvSpPr txBox="1"/>
          <p:nvPr/>
        </p:nvSpPr>
        <p:spPr>
          <a:xfrm>
            <a:off x="9235440" y="1847088"/>
            <a:ext cx="2270455" cy="365760"/>
          </a:xfrm>
          <a:prstGeom prst="rect">
            <a:avLst/>
          </a:prstGeom>
          <a:noFill/>
          <a:ln/>
        </p:spPr>
        <p:txBody>
          <a:bodyPr wrap="square" lIns="0" tIns="0" rIns="0" bIns="0" rtlCol="0" anchor="t"/>
          <a:lstStyle/>
          <a:p>
            <a:pPr indent="0" marL="0">
              <a:buNone/>
            </a:pPr>
            <a:r>
              <a:rPr lang="en-US" sz="2000" b="1" dirty="0">
                <a:solidFill>
                  <a:srgbClr val="6B3F7A"/>
                </a:solidFill>
                <a:latin typeface="Calibri" pitchFamily="34" charset="0"/>
                <a:ea typeface="Calibri" pitchFamily="34" charset="-122"/>
                <a:cs typeface="Calibri" pitchFamily="34" charset="-120"/>
              </a:rPr>
              <a:t>4 · Same task</a:t>
            </a:r>
            <a:endParaRPr lang="en-US" sz="2000" dirty="0"/>
          </a:p>
        </p:txBody>
      </p:sp>
      <p:sp>
        <p:nvSpPr>
          <p:cNvPr id="29" name="Text 27"/>
          <p:cNvSpPr txBox="1"/>
          <p:nvPr/>
        </p:nvSpPr>
        <p:spPr>
          <a:xfrm>
            <a:off x="9235440" y="2286000"/>
            <a:ext cx="2270455" cy="228600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Every pupil ends on the same question. The scaffold fades; the destination stays. Support is a route in, never a lower ceiling.</a:t>
            </a:r>
            <a:endParaRPr lang="en-US" sz="1800" dirty="0"/>
          </a:p>
        </p:txBody>
      </p:sp>
      <p:sp>
        <p:nvSpPr>
          <p:cNvPr id="30" name="Shape 28"/>
          <p:cNvSpPr/>
          <p:nvPr/>
        </p:nvSpPr>
        <p:spPr>
          <a:xfrm>
            <a:off x="548640" y="5029200"/>
            <a:ext cx="3576218" cy="960120"/>
          </a:xfrm>
          <a:prstGeom prst="roundRect">
            <a:avLst>
              <a:gd name="adj" fmla="val 7619"/>
            </a:avLst>
          </a:prstGeom>
          <a:solidFill>
            <a:srgbClr val="E8EBF0"/>
          </a:solidFill>
          <a:ln/>
        </p:spPr>
      </p:sp>
      <p:sp>
        <p:nvSpPr>
          <p:cNvPr id="31" name="Shape 29"/>
          <p:cNvSpPr/>
          <p:nvPr/>
        </p:nvSpPr>
        <p:spPr>
          <a:xfrm>
            <a:off x="685800" y="5184648"/>
            <a:ext cx="292608" cy="253399"/>
          </a:xfrm>
          <a:prstGeom prst="hexagon">
            <a:avLst/>
          </a:prstGeom>
          <a:solidFill>
            <a:srgbClr val="2B3445"/>
          </a:solidFill>
          <a:ln/>
        </p:spPr>
      </p:sp>
      <p:sp>
        <p:nvSpPr>
          <p:cNvPr id="32" name="Text 30"/>
          <p:cNvSpPr txBox="1"/>
          <p:nvPr/>
        </p:nvSpPr>
        <p:spPr>
          <a:xfrm>
            <a:off x="1097280" y="5102352"/>
            <a:ext cx="2890418" cy="841248"/>
          </a:xfrm>
          <a:prstGeom prst="rect">
            <a:avLst/>
          </a:prstGeom>
          <a:noFill/>
          <a:ln/>
        </p:spPr>
        <p:txBody>
          <a:bodyPr wrap="square" lIns="0" tIns="0" rIns="0" bIns="0" rtlCol="0" anchor="ctr"/>
          <a:lstStyle/>
          <a:p>
            <a:pPr indent="0" marL="0">
              <a:buNone/>
            </a:pPr>
            <a:r>
              <a:rPr lang="en-US" sz="1800" b="1" dirty="0">
                <a:solidFill>
                  <a:srgbClr val="2B3445"/>
                </a:solidFill>
                <a:latin typeface="Calibri" pitchFamily="34" charset="0"/>
                <a:ea typeface="Calibri" pitchFamily="34" charset="-122"/>
                <a:cs typeface="Calibri" pitchFamily="34" charset="-120"/>
              </a:rPr>
              <a:t>EEF, SEND in mainstream</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high-quality teaching, made more deliberate</a:t>
            </a:r>
            <a:endParaRPr lang="en-US" sz="1800" dirty="0"/>
          </a:p>
        </p:txBody>
      </p:sp>
      <p:sp>
        <p:nvSpPr>
          <p:cNvPr id="33" name="Shape 31"/>
          <p:cNvSpPr/>
          <p:nvPr/>
        </p:nvSpPr>
        <p:spPr>
          <a:xfrm>
            <a:off x="4307738" y="5029200"/>
            <a:ext cx="3576218" cy="960120"/>
          </a:xfrm>
          <a:prstGeom prst="roundRect">
            <a:avLst>
              <a:gd name="adj" fmla="val 7619"/>
            </a:avLst>
          </a:prstGeom>
          <a:solidFill>
            <a:srgbClr val="E8EBF0"/>
          </a:solidFill>
          <a:ln/>
        </p:spPr>
      </p:sp>
      <p:sp>
        <p:nvSpPr>
          <p:cNvPr id="34" name="Shape 32"/>
          <p:cNvSpPr/>
          <p:nvPr/>
        </p:nvSpPr>
        <p:spPr>
          <a:xfrm>
            <a:off x="4444898" y="5184648"/>
            <a:ext cx="292608" cy="253399"/>
          </a:xfrm>
          <a:prstGeom prst="hexagon">
            <a:avLst/>
          </a:prstGeom>
          <a:solidFill>
            <a:srgbClr val="2B3445"/>
          </a:solidFill>
          <a:ln/>
        </p:spPr>
      </p:sp>
      <p:sp>
        <p:nvSpPr>
          <p:cNvPr id="35" name="Text 33"/>
          <p:cNvSpPr txBox="1"/>
          <p:nvPr/>
        </p:nvSpPr>
        <p:spPr>
          <a:xfrm>
            <a:off x="4856378" y="5102352"/>
            <a:ext cx="2890418" cy="841248"/>
          </a:xfrm>
          <a:prstGeom prst="rect">
            <a:avLst/>
          </a:prstGeom>
          <a:noFill/>
          <a:ln/>
        </p:spPr>
        <p:txBody>
          <a:bodyPr wrap="square" lIns="0" tIns="0" rIns="0" bIns="0" rtlCol="0" anchor="ctr"/>
          <a:lstStyle/>
          <a:p>
            <a:pPr indent="0" marL="0">
              <a:buNone/>
            </a:pPr>
            <a:r>
              <a:rPr lang="en-US" sz="1800" b="1" dirty="0">
                <a:solidFill>
                  <a:srgbClr val="2B3445"/>
                </a:solidFill>
                <a:latin typeface="Calibri" pitchFamily="34" charset="0"/>
                <a:ea typeface="Calibri" pitchFamily="34" charset="-122"/>
                <a:cs typeface="Calibri" pitchFamily="34" charset="-120"/>
              </a:rPr>
              <a:t>SENSE study</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support adds to the teacher’s work, never replaces it</a:t>
            </a:r>
            <a:endParaRPr lang="en-US" sz="1800" dirty="0"/>
          </a:p>
        </p:txBody>
      </p:sp>
      <p:sp>
        <p:nvSpPr>
          <p:cNvPr id="36" name="Shape 34"/>
          <p:cNvSpPr/>
          <p:nvPr/>
        </p:nvSpPr>
        <p:spPr>
          <a:xfrm>
            <a:off x="8066837" y="5029200"/>
            <a:ext cx="3576218" cy="960120"/>
          </a:xfrm>
          <a:prstGeom prst="roundRect">
            <a:avLst>
              <a:gd name="adj" fmla="val 7619"/>
            </a:avLst>
          </a:prstGeom>
          <a:solidFill>
            <a:srgbClr val="E8EBF0"/>
          </a:solidFill>
          <a:ln/>
        </p:spPr>
      </p:sp>
      <p:sp>
        <p:nvSpPr>
          <p:cNvPr id="37" name="Shape 35"/>
          <p:cNvSpPr/>
          <p:nvPr/>
        </p:nvSpPr>
        <p:spPr>
          <a:xfrm>
            <a:off x="8203997" y="5184648"/>
            <a:ext cx="292608" cy="253399"/>
          </a:xfrm>
          <a:prstGeom prst="hexagon">
            <a:avLst/>
          </a:prstGeom>
          <a:solidFill>
            <a:srgbClr val="2B3445"/>
          </a:solidFill>
          <a:ln/>
        </p:spPr>
      </p:sp>
      <p:sp>
        <p:nvSpPr>
          <p:cNvPr id="38" name="Text 36"/>
          <p:cNvSpPr txBox="1"/>
          <p:nvPr/>
        </p:nvSpPr>
        <p:spPr>
          <a:xfrm>
            <a:off x="8615477" y="5102352"/>
            <a:ext cx="2890418" cy="841248"/>
          </a:xfrm>
          <a:prstGeom prst="rect">
            <a:avLst/>
          </a:prstGeom>
          <a:noFill/>
          <a:ln/>
        </p:spPr>
        <p:txBody>
          <a:bodyPr wrap="square" lIns="0" tIns="0" rIns="0" bIns="0" rtlCol="0" anchor="ctr"/>
          <a:lstStyle/>
          <a:p>
            <a:pPr indent="0" marL="0">
              <a:buNone/>
            </a:pPr>
            <a:r>
              <a:rPr lang="en-US" sz="1800" b="1" dirty="0">
                <a:solidFill>
                  <a:srgbClr val="2B3445"/>
                </a:solidFill>
                <a:latin typeface="Calibri" pitchFamily="34" charset="0"/>
                <a:ea typeface="Calibri" pitchFamily="34" charset="-122"/>
                <a:cs typeface="Calibri" pitchFamily="34" charset="-120"/>
              </a:rPr>
              <a:t>EEF, cognitive science</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recall before help: retrieval practice</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03 · WHAT IT LOOKS LIKE IN A CLASSROOM</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A Tuesday in Year 8 science</a:t>
            </a:r>
            <a:endParaRPr lang="en-US" sz="3400" dirty="0"/>
          </a:p>
        </p:txBody>
      </p:sp>
      <p:sp>
        <p:nvSpPr>
          <p:cNvPr id="5" name="Shape 3"/>
          <p:cNvSpPr/>
          <p:nvPr/>
        </p:nvSpPr>
        <p:spPr>
          <a:xfrm>
            <a:off x="548640" y="1645920"/>
            <a:ext cx="3429000" cy="2834640"/>
          </a:xfrm>
          <a:prstGeom prst="rect">
            <a:avLst/>
          </a:prstGeom>
          <a:solidFill>
            <a:srgbClr val="F8EBD9"/>
          </a:solidFill>
          <a:ln w="22225">
            <a:solidFill>
              <a:srgbClr val="B5701F"/>
            </a:solidFill>
            <a:prstDash val="solid"/>
          </a:ln>
        </p:spPr>
      </p:sp>
      <p:sp>
        <p:nvSpPr>
          <p:cNvPr id="6" name="Shape 4"/>
          <p:cNvSpPr/>
          <p:nvPr/>
        </p:nvSpPr>
        <p:spPr>
          <a:xfrm>
            <a:off x="548640" y="1645920"/>
            <a:ext cx="3429000" cy="594360"/>
          </a:xfrm>
          <a:prstGeom prst="rect">
            <a:avLst/>
          </a:prstGeom>
          <a:solidFill>
            <a:srgbClr val="B5701F"/>
          </a:solidFill>
          <a:ln w="22225">
            <a:solidFill>
              <a:srgbClr val="B5701F"/>
            </a:solidFill>
            <a:prstDash val="solid"/>
          </a:ln>
        </p:spPr>
      </p:sp>
      <p:sp>
        <p:nvSpPr>
          <p:cNvPr id="7" name="Text 5"/>
          <p:cNvSpPr txBox="1"/>
          <p:nvPr/>
        </p:nvSpPr>
        <p:spPr>
          <a:xfrm>
            <a:off x="731520" y="1645920"/>
            <a:ext cx="3063240" cy="5943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Tuesday</a:t>
            </a:r>
            <a:endParaRPr lang="en-US" sz="2400" dirty="0"/>
          </a:p>
        </p:txBody>
      </p:sp>
      <p:sp>
        <p:nvSpPr>
          <p:cNvPr id="8" name="Text 6"/>
          <p:cNvSpPr txBox="1"/>
          <p:nvPr/>
        </p:nvSpPr>
        <p:spPr>
          <a:xfrm>
            <a:off x="731520" y="2377440"/>
            <a:ext cx="3063240" cy="20116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Four pupils, identified by the department’s pre-assessment, not by the SEND register, open the read-along chapter: the components, the symbols, the word current used in a sentence.</a:t>
            </a:r>
            <a:endParaRPr lang="en-US" sz="1800" dirty="0"/>
          </a:p>
        </p:txBody>
      </p:sp>
      <p:sp>
        <p:nvSpPr>
          <p:cNvPr id="9" name="Shape 7"/>
          <p:cNvSpPr/>
          <p:nvPr/>
        </p:nvSpPr>
        <p:spPr>
          <a:xfrm>
            <a:off x="4014216" y="3063240"/>
            <a:ext cx="330556" cy="0"/>
          </a:xfrm>
          <a:prstGeom prst="line">
            <a:avLst/>
          </a:prstGeom>
          <a:noFill/>
          <a:ln w="31750">
            <a:solidFill>
              <a:srgbClr val="5B6475"/>
            </a:solidFill>
            <a:prstDash val="solid"/>
            <a:tailEnd type="triangle"/>
          </a:ln>
        </p:spPr>
      </p:sp>
      <p:sp>
        <p:nvSpPr>
          <p:cNvPr id="10" name="Shape 8"/>
          <p:cNvSpPr/>
          <p:nvPr/>
        </p:nvSpPr>
        <p:spPr>
          <a:xfrm>
            <a:off x="4381348" y="1645920"/>
            <a:ext cx="3429000" cy="2834640"/>
          </a:xfrm>
          <a:prstGeom prst="rect">
            <a:avLst/>
          </a:prstGeom>
          <a:solidFill>
            <a:srgbClr val="DCEFEC"/>
          </a:solidFill>
          <a:ln w="22225">
            <a:solidFill>
              <a:srgbClr val="0E6B66"/>
            </a:solidFill>
            <a:prstDash val="solid"/>
          </a:ln>
        </p:spPr>
      </p:sp>
      <p:sp>
        <p:nvSpPr>
          <p:cNvPr id="11" name="Shape 9"/>
          <p:cNvSpPr/>
          <p:nvPr/>
        </p:nvSpPr>
        <p:spPr>
          <a:xfrm>
            <a:off x="4381348" y="1645920"/>
            <a:ext cx="3429000" cy="594360"/>
          </a:xfrm>
          <a:prstGeom prst="rect">
            <a:avLst/>
          </a:prstGeom>
          <a:solidFill>
            <a:srgbClr val="0E6B66"/>
          </a:solidFill>
          <a:ln w="22225">
            <a:solidFill>
              <a:srgbClr val="0E6B66"/>
            </a:solidFill>
            <a:prstDash val="solid"/>
          </a:ln>
        </p:spPr>
      </p:sp>
      <p:sp>
        <p:nvSpPr>
          <p:cNvPr id="12" name="Text 10"/>
          <p:cNvSpPr txBox="1"/>
          <p:nvPr/>
        </p:nvSpPr>
        <p:spPr>
          <a:xfrm>
            <a:off x="4564228" y="1645920"/>
            <a:ext cx="3063240" cy="5943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Thursday</a:t>
            </a:r>
            <a:endParaRPr lang="en-US" sz="2400" dirty="0"/>
          </a:p>
        </p:txBody>
      </p:sp>
      <p:sp>
        <p:nvSpPr>
          <p:cNvPr id="13" name="Text 11"/>
          <p:cNvSpPr txBox="1"/>
          <p:nvPr/>
        </p:nvSpPr>
        <p:spPr>
          <a:xfrm>
            <a:off x="4564228" y="2377440"/>
            <a:ext cx="3063240" cy="20116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The class meets series circuits. The four start the lesson holding the vocabulary the explanation stands on, and the teacher checks their understanding first.</a:t>
            </a:r>
            <a:endParaRPr lang="en-US" sz="1800" dirty="0"/>
          </a:p>
        </p:txBody>
      </p:sp>
      <p:sp>
        <p:nvSpPr>
          <p:cNvPr id="14" name="Shape 12"/>
          <p:cNvSpPr/>
          <p:nvPr/>
        </p:nvSpPr>
        <p:spPr>
          <a:xfrm>
            <a:off x="7846924" y="3063240"/>
            <a:ext cx="330556" cy="0"/>
          </a:xfrm>
          <a:prstGeom prst="line">
            <a:avLst/>
          </a:prstGeom>
          <a:noFill/>
          <a:ln w="31750">
            <a:solidFill>
              <a:srgbClr val="5B6475"/>
            </a:solidFill>
            <a:prstDash val="solid"/>
            <a:tailEnd type="triangle"/>
          </a:ln>
        </p:spPr>
      </p:sp>
      <p:sp>
        <p:nvSpPr>
          <p:cNvPr id="15" name="Shape 13"/>
          <p:cNvSpPr/>
          <p:nvPr/>
        </p:nvSpPr>
        <p:spPr>
          <a:xfrm>
            <a:off x="8214055" y="1645920"/>
            <a:ext cx="3429000" cy="2834640"/>
          </a:xfrm>
          <a:prstGeom prst="rect">
            <a:avLst/>
          </a:prstGeom>
          <a:solidFill>
            <a:srgbClr val="EFE6F3"/>
          </a:solidFill>
          <a:ln w="22225">
            <a:solidFill>
              <a:srgbClr val="6B3F7A"/>
            </a:solidFill>
            <a:prstDash val="solid"/>
          </a:ln>
        </p:spPr>
      </p:sp>
      <p:sp>
        <p:nvSpPr>
          <p:cNvPr id="16" name="Shape 14"/>
          <p:cNvSpPr/>
          <p:nvPr/>
        </p:nvSpPr>
        <p:spPr>
          <a:xfrm>
            <a:off x="8214055" y="1645920"/>
            <a:ext cx="3429000" cy="594360"/>
          </a:xfrm>
          <a:prstGeom prst="rect">
            <a:avLst/>
          </a:prstGeom>
          <a:solidFill>
            <a:srgbClr val="6B3F7A"/>
          </a:solidFill>
          <a:ln w="22225">
            <a:solidFill>
              <a:srgbClr val="6B3F7A"/>
            </a:solidFill>
            <a:prstDash val="solid"/>
          </a:ln>
        </p:spPr>
      </p:sp>
      <p:sp>
        <p:nvSpPr>
          <p:cNvPr id="17" name="Text 15"/>
          <p:cNvSpPr txBox="1"/>
          <p:nvPr/>
        </p:nvSpPr>
        <p:spPr>
          <a:xfrm>
            <a:off x="8396935" y="1645920"/>
            <a:ext cx="3063240" cy="5943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Two terms on</a:t>
            </a:r>
            <a:endParaRPr lang="en-US" sz="2400" dirty="0"/>
          </a:p>
        </p:txBody>
      </p:sp>
      <p:sp>
        <p:nvSpPr>
          <p:cNvPr id="18" name="Text 16"/>
          <p:cNvSpPr txBox="1"/>
          <p:nvPr/>
        </p:nvSpPr>
        <p:spPr>
          <a:xfrm>
            <a:off x="8396935" y="2377440"/>
            <a:ext cx="3063240" cy="20116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Exit tickets compare the pre-taught pupils with their peers. If they show no difference, the evaluation will say so.</a:t>
            </a:r>
            <a:endParaRPr lang="en-US" sz="1800" dirty="0"/>
          </a:p>
        </p:txBody>
      </p:sp>
      <p:sp>
        <p:nvSpPr>
          <p:cNvPr id="19" name="Shape 17"/>
          <p:cNvSpPr/>
          <p:nvPr/>
        </p:nvSpPr>
        <p:spPr>
          <a:xfrm>
            <a:off x="548640" y="4846320"/>
            <a:ext cx="11094415" cy="1005840"/>
          </a:xfrm>
          <a:prstGeom prst="roundRect">
            <a:avLst>
              <a:gd name="adj" fmla="val 7273"/>
            </a:avLst>
          </a:prstGeom>
          <a:solidFill>
            <a:srgbClr val="E8EBF0"/>
          </a:solidFill>
          <a:ln/>
        </p:spPr>
      </p:sp>
      <p:sp>
        <p:nvSpPr>
          <p:cNvPr id="20" name="Text 18"/>
          <p:cNvSpPr txBox="1"/>
          <p:nvPr/>
        </p:nvSpPr>
        <p:spPr>
          <a:xfrm>
            <a:off x="822960" y="4846320"/>
            <a:ext cx="10545775" cy="1005840"/>
          </a:xfrm>
          <a:prstGeom prst="rect">
            <a:avLst/>
          </a:prstGeom>
          <a:noFill/>
          <a:ln/>
        </p:spPr>
        <p:txBody>
          <a:bodyPr wrap="square" lIns="0" tIns="0" rIns="0" bIns="0" rtlCol="0" anchor="ctr"/>
          <a:lstStyle/>
          <a:p>
            <a:pPr indent="0" marL="0">
              <a:buNone/>
            </a:pPr>
            <a:r>
              <a:rPr lang="en-US" sz="1800" b="1" dirty="0">
                <a:solidFill>
                  <a:srgbClr val="2B3445"/>
                </a:solidFill>
                <a:latin typeface="Calibri" pitchFamily="34" charset="0"/>
                <a:ea typeface="Calibri" pitchFamily="34" charset="-122"/>
                <a:cs typeface="Calibri" pitchFamily="34" charset="-120"/>
              </a:rPr>
              <a:t>Where it comes from: </a:t>
            </a:r>
            <a:pPr indent="0" marL="0">
              <a:buNone/>
            </a:pPr>
            <a:r>
              <a:rPr lang="en-US" sz="1800" dirty="0">
                <a:solidFill>
                  <a:srgbClr val="1E2430"/>
                </a:solidFill>
                <a:latin typeface="Calibri" pitchFamily="34" charset="0"/>
                <a:ea typeface="Calibri" pitchFamily="34" charset="-122"/>
                <a:cs typeface="Calibri" pitchFamily="34" charset="-120"/>
              </a:rPr>
              <a:t>the pre-teaching action in the proposal for leading SEND at Harlington. Electric Circuits is one of five exemplar units built in October 2026.</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04 · CASE STUDY: HARLINGTON SCHOOL, 2025–26</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Built and running; not yet proven</a:t>
            </a:r>
            <a:endParaRPr lang="en-US" sz="3400" dirty="0"/>
          </a:p>
        </p:txBody>
      </p:sp>
      <p:sp>
        <p:nvSpPr>
          <p:cNvPr id="5" name="Shape 3"/>
          <p:cNvSpPr/>
          <p:nvPr/>
        </p:nvSpPr>
        <p:spPr>
          <a:xfrm>
            <a:off x="548640" y="1572768"/>
            <a:ext cx="2567864" cy="1645920"/>
          </a:xfrm>
          <a:prstGeom prst="roundRect">
            <a:avLst>
              <a:gd name="adj" fmla="val 4444"/>
            </a:avLst>
          </a:prstGeom>
          <a:solidFill>
            <a:srgbClr val="FFFFFF"/>
          </a:solidFill>
          <a:ln w="25400">
            <a:solidFill>
              <a:srgbClr val="0E6B66"/>
            </a:solidFill>
            <a:prstDash val="solid"/>
          </a:ln>
        </p:spPr>
      </p:sp>
      <p:sp>
        <p:nvSpPr>
          <p:cNvPr id="6" name="Text 4"/>
          <p:cNvSpPr txBox="1"/>
          <p:nvPr/>
        </p:nvSpPr>
        <p:spPr>
          <a:xfrm>
            <a:off x="548640" y="1645920"/>
            <a:ext cx="2567864" cy="731520"/>
          </a:xfrm>
          <a:prstGeom prst="rect">
            <a:avLst/>
          </a:prstGeom>
          <a:noFill/>
          <a:ln/>
        </p:spPr>
        <p:txBody>
          <a:bodyPr wrap="square" lIns="0" tIns="0" rIns="0" bIns="0" rtlCol="0" anchor="ctr"/>
          <a:lstStyle/>
          <a:p>
            <a:pPr algn="ctr" indent="0" marL="0">
              <a:buNone/>
            </a:pPr>
            <a:r>
              <a:rPr lang="en-US" sz="4400" b="1" dirty="0">
                <a:solidFill>
                  <a:srgbClr val="0E6B66"/>
                </a:solidFill>
                <a:latin typeface="Cambria" pitchFamily="34" charset="0"/>
                <a:ea typeface="Cambria" pitchFamily="34" charset="-122"/>
                <a:cs typeface="Cambria" pitchFamily="34" charset="-120"/>
              </a:rPr>
              <a:t>222</a:t>
            </a:r>
            <a:endParaRPr lang="en-US" sz="4400" dirty="0"/>
          </a:p>
        </p:txBody>
      </p:sp>
      <p:sp>
        <p:nvSpPr>
          <p:cNvPr id="7" name="Text 5"/>
          <p:cNvSpPr txBox="1"/>
          <p:nvPr/>
        </p:nvSpPr>
        <p:spPr>
          <a:xfrm>
            <a:off x="548640" y="2395728"/>
            <a:ext cx="2567864" cy="347472"/>
          </a:xfrm>
          <a:prstGeom prst="rect">
            <a:avLst/>
          </a:prstGeom>
          <a:noFill/>
          <a:ln/>
        </p:spPr>
        <p:txBody>
          <a:bodyPr wrap="square" lIns="0" tIns="0" rIns="0" bIns="0" rtlCol="0" anchor="ctr"/>
          <a:lstStyle/>
          <a:p>
            <a:pPr algn="ctr" indent="0" marL="0">
              <a:buNone/>
            </a:pPr>
            <a:r>
              <a:rPr lang="en-US" sz="1800" b="1" dirty="0">
                <a:solidFill>
                  <a:srgbClr val="1E2430"/>
                </a:solidFill>
                <a:latin typeface="Calibri" pitchFamily="34" charset="0"/>
                <a:ea typeface="Calibri" pitchFamily="34" charset="-122"/>
                <a:cs typeface="Calibri" pitchFamily="34" charset="-120"/>
              </a:rPr>
              <a:t>SEND booklets</a:t>
            </a:r>
            <a:endParaRPr lang="en-US" sz="1800" dirty="0"/>
          </a:p>
        </p:txBody>
      </p:sp>
      <p:sp>
        <p:nvSpPr>
          <p:cNvPr id="8" name="Text 6"/>
          <p:cNvSpPr txBox="1"/>
          <p:nvPr/>
        </p:nvSpPr>
        <p:spPr>
          <a:xfrm>
            <a:off x="548640" y="2743200"/>
            <a:ext cx="2567864" cy="347472"/>
          </a:xfrm>
          <a:prstGeom prst="rect">
            <a:avLst/>
          </a:prstGeom>
          <a:noFill/>
          <a:ln/>
        </p:spPr>
        <p:txBody>
          <a:bodyPr wrap="square" lIns="0" tIns="0" rIns="0" bIns="0" rtlCol="0" anchor="ctr"/>
          <a:lstStyle/>
          <a:p>
            <a:pPr algn="ctr" indent="0" marL="0">
              <a:buNone/>
            </a:pPr>
            <a:r>
              <a:rPr lang="en-US" sz="1800" dirty="0">
                <a:solidFill>
                  <a:srgbClr val="5B6475"/>
                </a:solidFill>
                <a:latin typeface="Calibri" pitchFamily="34" charset="0"/>
                <a:ea typeface="Calibri" pitchFamily="34" charset="-122"/>
                <a:cs typeface="Calibri" pitchFamily="34" charset="-120"/>
              </a:rPr>
              <a:t>seven departments</a:t>
            </a:r>
            <a:endParaRPr lang="en-US" sz="1800" dirty="0"/>
          </a:p>
        </p:txBody>
      </p:sp>
      <p:sp>
        <p:nvSpPr>
          <p:cNvPr id="9" name="Shape 7"/>
          <p:cNvSpPr/>
          <p:nvPr/>
        </p:nvSpPr>
        <p:spPr>
          <a:xfrm>
            <a:off x="3390824" y="1572768"/>
            <a:ext cx="2567864" cy="1645920"/>
          </a:xfrm>
          <a:prstGeom prst="roundRect">
            <a:avLst>
              <a:gd name="adj" fmla="val 4444"/>
            </a:avLst>
          </a:prstGeom>
          <a:solidFill>
            <a:srgbClr val="FFFFFF"/>
          </a:solidFill>
          <a:ln w="25400">
            <a:solidFill>
              <a:srgbClr val="6B3F7A"/>
            </a:solidFill>
            <a:prstDash val="solid"/>
          </a:ln>
        </p:spPr>
      </p:sp>
      <p:sp>
        <p:nvSpPr>
          <p:cNvPr id="10" name="Text 8"/>
          <p:cNvSpPr txBox="1"/>
          <p:nvPr/>
        </p:nvSpPr>
        <p:spPr>
          <a:xfrm>
            <a:off x="3390824" y="1645920"/>
            <a:ext cx="2567864" cy="731520"/>
          </a:xfrm>
          <a:prstGeom prst="rect">
            <a:avLst/>
          </a:prstGeom>
          <a:noFill/>
          <a:ln/>
        </p:spPr>
        <p:txBody>
          <a:bodyPr wrap="square" lIns="0" tIns="0" rIns="0" bIns="0" rtlCol="0" anchor="ctr"/>
          <a:lstStyle/>
          <a:p>
            <a:pPr algn="ctr" indent="0" marL="0">
              <a:buNone/>
            </a:pPr>
            <a:r>
              <a:rPr lang="en-US" sz="4400" b="1" dirty="0">
                <a:solidFill>
                  <a:srgbClr val="6B3F7A"/>
                </a:solidFill>
                <a:latin typeface="Cambria" pitchFamily="34" charset="0"/>
                <a:ea typeface="Cambria" pitchFamily="34" charset="-122"/>
                <a:cs typeface="Cambria" pitchFamily="34" charset="-120"/>
              </a:rPr>
              <a:t>2,080</a:t>
            </a:r>
            <a:endParaRPr lang="en-US" sz="4400" dirty="0"/>
          </a:p>
        </p:txBody>
      </p:sp>
      <p:sp>
        <p:nvSpPr>
          <p:cNvPr id="11" name="Text 9"/>
          <p:cNvSpPr txBox="1"/>
          <p:nvPr/>
        </p:nvSpPr>
        <p:spPr>
          <a:xfrm>
            <a:off x="3390824" y="2395728"/>
            <a:ext cx="2567864" cy="347472"/>
          </a:xfrm>
          <a:prstGeom prst="rect">
            <a:avLst/>
          </a:prstGeom>
          <a:noFill/>
          <a:ln/>
        </p:spPr>
        <p:txBody>
          <a:bodyPr wrap="square" lIns="0" tIns="0" rIns="0" bIns="0" rtlCol="0" anchor="ctr"/>
          <a:lstStyle/>
          <a:p>
            <a:pPr algn="ctr" indent="0" marL="0">
              <a:buNone/>
            </a:pPr>
            <a:r>
              <a:rPr lang="en-US" sz="1800" b="1" dirty="0">
                <a:solidFill>
                  <a:srgbClr val="1E2430"/>
                </a:solidFill>
                <a:latin typeface="Calibri" pitchFamily="34" charset="0"/>
                <a:ea typeface="Calibri" pitchFamily="34" charset="-122"/>
                <a:cs typeface="Calibri" pitchFamily="34" charset="-120"/>
              </a:rPr>
              <a:t>lessons covered</a:t>
            </a:r>
            <a:endParaRPr lang="en-US" sz="1800" dirty="0"/>
          </a:p>
        </p:txBody>
      </p:sp>
      <p:sp>
        <p:nvSpPr>
          <p:cNvPr id="12" name="Text 10"/>
          <p:cNvSpPr txBox="1"/>
          <p:nvPr/>
        </p:nvSpPr>
        <p:spPr>
          <a:xfrm>
            <a:off x="3390824" y="2743200"/>
            <a:ext cx="2567864" cy="347472"/>
          </a:xfrm>
          <a:prstGeom prst="rect">
            <a:avLst/>
          </a:prstGeom>
          <a:noFill/>
          <a:ln/>
        </p:spPr>
        <p:txBody>
          <a:bodyPr wrap="square" lIns="0" tIns="0" rIns="0" bIns="0" rtlCol="0" anchor="ctr"/>
          <a:lstStyle/>
          <a:p>
            <a:pPr algn="ctr" indent="0" marL="0">
              <a:buNone/>
            </a:pPr>
            <a:r>
              <a:rPr lang="en-US" sz="1800" dirty="0">
                <a:solidFill>
                  <a:srgbClr val="5B6475"/>
                </a:solidFill>
                <a:latin typeface="Calibri" pitchFamily="34" charset="0"/>
                <a:ea typeface="Calibri" pitchFamily="34" charset="-122"/>
                <a:cs typeface="Calibri" pitchFamily="34" charset="-120"/>
              </a:rPr>
              <a:t>4,160 printed pages</a:t>
            </a:r>
            <a:endParaRPr lang="en-US" sz="1800" dirty="0"/>
          </a:p>
        </p:txBody>
      </p:sp>
      <p:sp>
        <p:nvSpPr>
          <p:cNvPr id="13" name="Shape 11"/>
          <p:cNvSpPr/>
          <p:nvPr/>
        </p:nvSpPr>
        <p:spPr>
          <a:xfrm>
            <a:off x="6233008" y="1572768"/>
            <a:ext cx="2567864" cy="1645920"/>
          </a:xfrm>
          <a:prstGeom prst="roundRect">
            <a:avLst>
              <a:gd name="adj" fmla="val 4444"/>
            </a:avLst>
          </a:prstGeom>
          <a:solidFill>
            <a:srgbClr val="FFFFFF"/>
          </a:solidFill>
          <a:ln w="25400">
            <a:solidFill>
              <a:srgbClr val="B5701F"/>
            </a:solidFill>
            <a:prstDash val="solid"/>
          </a:ln>
        </p:spPr>
      </p:sp>
      <p:sp>
        <p:nvSpPr>
          <p:cNvPr id="14" name="Text 12"/>
          <p:cNvSpPr txBox="1"/>
          <p:nvPr/>
        </p:nvSpPr>
        <p:spPr>
          <a:xfrm>
            <a:off x="6233008" y="1645920"/>
            <a:ext cx="2567864" cy="731520"/>
          </a:xfrm>
          <a:prstGeom prst="rect">
            <a:avLst/>
          </a:prstGeom>
          <a:noFill/>
          <a:ln/>
        </p:spPr>
        <p:txBody>
          <a:bodyPr wrap="square" lIns="0" tIns="0" rIns="0" bIns="0" rtlCol="0" anchor="ctr"/>
          <a:lstStyle/>
          <a:p>
            <a:pPr algn="ctr" indent="0" marL="0">
              <a:buNone/>
            </a:pPr>
            <a:r>
              <a:rPr lang="en-US" sz="4400" b="1" dirty="0">
                <a:solidFill>
                  <a:srgbClr val="B5701F"/>
                </a:solidFill>
                <a:latin typeface="Cambria" pitchFamily="34" charset="0"/>
                <a:ea typeface="Cambria" pitchFamily="34" charset="-122"/>
                <a:cs typeface="Cambria" pitchFamily="34" charset="-120"/>
              </a:rPr>
              <a:t>25</a:t>
            </a:r>
            <a:endParaRPr lang="en-US" sz="4400" dirty="0"/>
          </a:p>
        </p:txBody>
      </p:sp>
      <p:sp>
        <p:nvSpPr>
          <p:cNvPr id="15" name="Text 13"/>
          <p:cNvSpPr txBox="1"/>
          <p:nvPr/>
        </p:nvSpPr>
        <p:spPr>
          <a:xfrm>
            <a:off x="6233008" y="2395728"/>
            <a:ext cx="2567864" cy="347472"/>
          </a:xfrm>
          <a:prstGeom prst="rect">
            <a:avLst/>
          </a:prstGeom>
          <a:noFill/>
          <a:ln/>
        </p:spPr>
        <p:txBody>
          <a:bodyPr wrap="square" lIns="0" tIns="0" rIns="0" bIns="0" rtlCol="0" anchor="ctr"/>
          <a:lstStyle/>
          <a:p>
            <a:pPr algn="ctr" indent="0" marL="0">
              <a:buNone/>
            </a:pPr>
            <a:r>
              <a:rPr lang="en-US" sz="1800" b="1" dirty="0">
                <a:solidFill>
                  <a:srgbClr val="1E2430"/>
                </a:solidFill>
                <a:latin typeface="Calibri" pitchFamily="34" charset="0"/>
                <a:ea typeface="Calibri" pitchFamily="34" charset="-122"/>
                <a:cs typeface="Calibri" pitchFamily="34" charset="-120"/>
              </a:rPr>
              <a:t>A-level units live</a:t>
            </a:r>
            <a:endParaRPr lang="en-US" sz="1800" dirty="0"/>
          </a:p>
        </p:txBody>
      </p:sp>
      <p:sp>
        <p:nvSpPr>
          <p:cNvPr id="16" name="Text 14"/>
          <p:cNvSpPr txBox="1"/>
          <p:nvPr/>
        </p:nvSpPr>
        <p:spPr>
          <a:xfrm>
            <a:off x="6233008" y="2743200"/>
            <a:ext cx="2567864" cy="347472"/>
          </a:xfrm>
          <a:prstGeom prst="rect">
            <a:avLst/>
          </a:prstGeom>
          <a:noFill/>
          <a:ln/>
        </p:spPr>
        <p:txBody>
          <a:bodyPr wrap="square" lIns="0" tIns="0" rIns="0" bIns="0" rtlCol="0" anchor="ctr"/>
          <a:lstStyle/>
          <a:p>
            <a:pPr algn="ctr" indent="0" marL="0">
              <a:buNone/>
            </a:pPr>
            <a:r>
              <a:rPr lang="en-US" sz="1800" dirty="0">
                <a:solidFill>
                  <a:srgbClr val="5B6475"/>
                </a:solidFill>
                <a:latin typeface="Calibri" pitchFamily="34" charset="0"/>
                <a:ea typeface="Calibri" pitchFamily="34" charset="-122"/>
                <a:cs typeface="Calibri" pitchFamily="34" charset="-120"/>
              </a:rPr>
              <a:t>87 taught lessons</a:t>
            </a:r>
            <a:endParaRPr lang="en-US" sz="1800" dirty="0"/>
          </a:p>
        </p:txBody>
      </p:sp>
      <p:sp>
        <p:nvSpPr>
          <p:cNvPr id="17" name="Shape 15"/>
          <p:cNvSpPr/>
          <p:nvPr/>
        </p:nvSpPr>
        <p:spPr>
          <a:xfrm>
            <a:off x="9075191" y="1572768"/>
            <a:ext cx="2567864" cy="1645920"/>
          </a:xfrm>
          <a:prstGeom prst="roundRect">
            <a:avLst>
              <a:gd name="adj" fmla="val 4444"/>
            </a:avLst>
          </a:prstGeom>
          <a:solidFill>
            <a:srgbClr val="FFFFFF"/>
          </a:solidFill>
          <a:ln w="25400">
            <a:solidFill>
              <a:srgbClr val="2B3445"/>
            </a:solidFill>
            <a:prstDash val="solid"/>
          </a:ln>
        </p:spPr>
      </p:sp>
      <p:sp>
        <p:nvSpPr>
          <p:cNvPr id="18" name="Text 16"/>
          <p:cNvSpPr txBox="1"/>
          <p:nvPr/>
        </p:nvSpPr>
        <p:spPr>
          <a:xfrm>
            <a:off x="9075191" y="1645920"/>
            <a:ext cx="2567864" cy="731520"/>
          </a:xfrm>
          <a:prstGeom prst="rect">
            <a:avLst/>
          </a:prstGeom>
          <a:noFill/>
          <a:ln/>
        </p:spPr>
        <p:txBody>
          <a:bodyPr wrap="square" lIns="0" tIns="0" rIns="0" bIns="0" rtlCol="0" anchor="ctr"/>
          <a:lstStyle/>
          <a:p>
            <a:pPr algn="ctr" indent="0" marL="0">
              <a:buNone/>
            </a:pPr>
            <a:r>
              <a:rPr lang="en-US" sz="4400" b="1" dirty="0">
                <a:solidFill>
                  <a:srgbClr val="2B3445"/>
                </a:solidFill>
                <a:latin typeface="Cambria" pitchFamily="34" charset="0"/>
                <a:ea typeface="Cambria" pitchFamily="34" charset="-122"/>
                <a:cs typeface="Cambria" pitchFamily="34" charset="-120"/>
              </a:rPr>
              <a:t>0</a:t>
            </a:r>
            <a:endParaRPr lang="en-US" sz="4400" dirty="0"/>
          </a:p>
        </p:txBody>
      </p:sp>
      <p:sp>
        <p:nvSpPr>
          <p:cNvPr id="19" name="Text 17"/>
          <p:cNvSpPr txBox="1"/>
          <p:nvPr/>
        </p:nvSpPr>
        <p:spPr>
          <a:xfrm>
            <a:off x="9075191" y="2395728"/>
            <a:ext cx="2567864" cy="347472"/>
          </a:xfrm>
          <a:prstGeom prst="rect">
            <a:avLst/>
          </a:prstGeom>
          <a:noFill/>
          <a:ln/>
        </p:spPr>
        <p:txBody>
          <a:bodyPr wrap="square" lIns="0" tIns="0" rIns="0" bIns="0" rtlCol="0" anchor="ctr"/>
          <a:lstStyle/>
          <a:p>
            <a:pPr algn="ctr" indent="0" marL="0">
              <a:buNone/>
            </a:pPr>
            <a:r>
              <a:rPr lang="en-US" sz="1800" b="1" dirty="0">
                <a:solidFill>
                  <a:srgbClr val="1E2430"/>
                </a:solidFill>
                <a:latin typeface="Calibri" pitchFamily="34" charset="0"/>
                <a:ea typeface="Calibri" pitchFamily="34" charset="-122"/>
                <a:cs typeface="Calibri" pitchFamily="34" charset="-120"/>
              </a:rPr>
              <a:t>pupil records</a:t>
            </a:r>
            <a:endParaRPr lang="en-US" sz="1800" dirty="0"/>
          </a:p>
        </p:txBody>
      </p:sp>
      <p:sp>
        <p:nvSpPr>
          <p:cNvPr id="20" name="Text 18"/>
          <p:cNvSpPr txBox="1"/>
          <p:nvPr/>
        </p:nvSpPr>
        <p:spPr>
          <a:xfrm>
            <a:off x="9075191" y="2743200"/>
            <a:ext cx="2567864" cy="347472"/>
          </a:xfrm>
          <a:prstGeom prst="rect">
            <a:avLst/>
          </a:prstGeom>
          <a:noFill/>
          <a:ln/>
        </p:spPr>
        <p:txBody>
          <a:bodyPr wrap="square" lIns="0" tIns="0" rIns="0" bIns="0" rtlCol="0" anchor="ctr"/>
          <a:lstStyle/>
          <a:p>
            <a:pPr algn="ctr" indent="0" marL="0">
              <a:buNone/>
            </a:pPr>
            <a:r>
              <a:rPr lang="en-US" sz="1800" dirty="0">
                <a:solidFill>
                  <a:srgbClr val="5B6475"/>
                </a:solidFill>
                <a:latin typeface="Calibri" pitchFamily="34" charset="0"/>
                <a:ea typeface="Calibri" pitchFamily="34" charset="-122"/>
                <a:cs typeface="Calibri" pitchFamily="34" charset="-120"/>
              </a:rPr>
              <a:t>entered into any AI tool</a:t>
            </a:r>
            <a:endParaRPr lang="en-US" sz="1800" dirty="0"/>
          </a:p>
        </p:txBody>
      </p:sp>
      <p:sp>
        <p:nvSpPr>
          <p:cNvPr id="21" name="Text 19"/>
          <p:cNvSpPr txBox="1"/>
          <p:nvPr/>
        </p:nvSpPr>
        <p:spPr>
          <a:xfrm>
            <a:off x="548640" y="3429000"/>
            <a:ext cx="11094415" cy="365760"/>
          </a:xfrm>
          <a:prstGeom prst="rect">
            <a:avLst/>
          </a:prstGeom>
          <a:noFill/>
          <a:ln/>
        </p:spPr>
        <p:txBody>
          <a:bodyPr wrap="square" lIns="0" tIns="0" rIns="0" bIns="0" rtlCol="0" anchor="t"/>
          <a:lstStyle/>
          <a:p>
            <a:pPr indent="0" marL="0">
              <a:buNone/>
            </a:pPr>
            <a:r>
              <a:rPr lang="en-US" sz="2000" b="1" dirty="0">
                <a:solidFill>
                  <a:srgbClr val="2B3445"/>
                </a:solidFill>
                <a:latin typeface="Calibri" pitchFamily="34" charset="0"/>
                <a:ea typeface="Calibri" pitchFamily="34" charset="-122"/>
                <a:cs typeface="Calibri" pitchFamily="34" charset="-120"/>
              </a:rPr>
              <a:t>What it claims, and what it does not</a:t>
            </a:r>
            <a:endParaRPr lang="en-US" sz="2000" dirty="0"/>
          </a:p>
        </p:txBody>
      </p:sp>
      <p:sp>
        <p:nvSpPr>
          <p:cNvPr id="22" name="Text 20"/>
          <p:cNvSpPr txBox="1"/>
          <p:nvPr/>
        </p:nvSpPr>
        <p:spPr>
          <a:xfrm>
            <a:off x="548640" y="3858768"/>
            <a:ext cx="6446520" cy="438912"/>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Material for a whole course found in under a minute, on a phone</a:t>
            </a:r>
            <a:endParaRPr lang="en-US" sz="1800" dirty="0"/>
          </a:p>
        </p:txBody>
      </p:sp>
      <p:sp>
        <p:nvSpPr>
          <p:cNvPr id="23" name="Shape 21"/>
          <p:cNvSpPr/>
          <p:nvPr/>
        </p:nvSpPr>
        <p:spPr>
          <a:xfrm>
            <a:off x="7178040" y="3904488"/>
            <a:ext cx="4465015" cy="347472"/>
          </a:xfrm>
          <a:prstGeom prst="roundRect">
            <a:avLst>
              <a:gd name="adj" fmla="val 21053"/>
            </a:avLst>
          </a:prstGeom>
          <a:solidFill>
            <a:srgbClr val="F8EBD9"/>
          </a:solidFill>
          <a:ln/>
        </p:spPr>
      </p:sp>
      <p:sp>
        <p:nvSpPr>
          <p:cNvPr id="24" name="Text 22"/>
          <p:cNvSpPr txBox="1"/>
          <p:nvPr/>
        </p:nvSpPr>
        <p:spPr>
          <a:xfrm>
            <a:off x="7315200" y="3904488"/>
            <a:ext cx="4190695" cy="347472"/>
          </a:xfrm>
          <a:prstGeom prst="rect">
            <a:avLst/>
          </a:prstGeom>
          <a:noFill/>
          <a:ln/>
        </p:spPr>
        <p:txBody>
          <a:bodyPr wrap="square" lIns="0" tIns="0" rIns="0" bIns="0" rtlCol="0" anchor="ctr"/>
          <a:lstStyle/>
          <a:p>
            <a:pPr indent="0" marL="0">
              <a:buNone/>
            </a:pPr>
            <a:r>
              <a:rPr lang="en-US" sz="1800" b="1" dirty="0">
                <a:solidFill>
                  <a:srgbClr val="B5701F"/>
                </a:solidFill>
                <a:latin typeface="Calibri" pitchFamily="34" charset="0"/>
                <a:ea typeface="Calibri" pitchFamily="34" charset="-122"/>
                <a:cs typeface="Calibri" pitchFamily="34" charset="-120"/>
              </a:rPr>
              <a:t>Designed for; to be measured</a:t>
            </a:r>
            <a:endParaRPr lang="en-US" sz="1800" dirty="0"/>
          </a:p>
        </p:txBody>
      </p:sp>
      <p:sp>
        <p:nvSpPr>
          <p:cNvPr id="25" name="Shape 23"/>
          <p:cNvSpPr/>
          <p:nvPr/>
        </p:nvSpPr>
        <p:spPr>
          <a:xfrm>
            <a:off x="548640" y="4297680"/>
            <a:ext cx="11094415" cy="0"/>
          </a:xfrm>
          <a:prstGeom prst="line">
            <a:avLst/>
          </a:prstGeom>
          <a:noFill/>
          <a:ln w="9525">
            <a:solidFill>
              <a:srgbClr val="C9CFD8"/>
            </a:solidFill>
            <a:prstDash val="solid"/>
          </a:ln>
        </p:spPr>
      </p:sp>
      <p:sp>
        <p:nvSpPr>
          <p:cNvPr id="26" name="Text 24"/>
          <p:cNvSpPr txBox="1"/>
          <p:nvPr/>
        </p:nvSpPr>
        <p:spPr>
          <a:xfrm>
            <a:off x="548640" y="4297680"/>
            <a:ext cx="6446520" cy="438912"/>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Booklets reproduce only what the department’s slides set</a:t>
            </a:r>
            <a:endParaRPr lang="en-US" sz="1800" dirty="0"/>
          </a:p>
        </p:txBody>
      </p:sp>
      <p:sp>
        <p:nvSpPr>
          <p:cNvPr id="27" name="Shape 25"/>
          <p:cNvSpPr/>
          <p:nvPr/>
        </p:nvSpPr>
        <p:spPr>
          <a:xfrm>
            <a:off x="7178040" y="4343400"/>
            <a:ext cx="4465015" cy="347472"/>
          </a:xfrm>
          <a:prstGeom prst="roundRect">
            <a:avLst>
              <a:gd name="adj" fmla="val 21053"/>
            </a:avLst>
          </a:prstGeom>
          <a:solidFill>
            <a:srgbClr val="DCEFEC"/>
          </a:solidFill>
          <a:ln/>
        </p:spPr>
      </p:sp>
      <p:sp>
        <p:nvSpPr>
          <p:cNvPr id="28" name="Text 26"/>
          <p:cNvSpPr txBox="1"/>
          <p:nvPr/>
        </p:nvSpPr>
        <p:spPr>
          <a:xfrm>
            <a:off x="7315200" y="4343400"/>
            <a:ext cx="4190695" cy="347472"/>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Checked mechanically against each deck</a:t>
            </a:r>
            <a:endParaRPr lang="en-US" sz="1800" dirty="0"/>
          </a:p>
        </p:txBody>
      </p:sp>
      <p:sp>
        <p:nvSpPr>
          <p:cNvPr id="29" name="Shape 27"/>
          <p:cNvSpPr/>
          <p:nvPr/>
        </p:nvSpPr>
        <p:spPr>
          <a:xfrm>
            <a:off x="548640" y="4736592"/>
            <a:ext cx="11094415" cy="0"/>
          </a:xfrm>
          <a:prstGeom prst="line">
            <a:avLst/>
          </a:prstGeom>
          <a:noFill/>
          <a:ln w="9525">
            <a:solidFill>
              <a:srgbClr val="C9CFD8"/>
            </a:solidFill>
            <a:prstDash val="solid"/>
          </a:ln>
        </p:spPr>
      </p:sp>
      <p:sp>
        <p:nvSpPr>
          <p:cNvPr id="30" name="Text 28"/>
          <p:cNvSpPr txBox="1"/>
          <p:nvPr/>
        </p:nvSpPr>
        <p:spPr>
          <a:xfrm>
            <a:off x="548640" y="4736592"/>
            <a:ext cx="6446520" cy="438912"/>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Adaptive pages improve learning for pupils with SEND</a:t>
            </a:r>
            <a:endParaRPr lang="en-US" sz="1800" dirty="0"/>
          </a:p>
        </p:txBody>
      </p:sp>
      <p:sp>
        <p:nvSpPr>
          <p:cNvPr id="31" name="Shape 29"/>
          <p:cNvSpPr/>
          <p:nvPr/>
        </p:nvSpPr>
        <p:spPr>
          <a:xfrm>
            <a:off x="7178040" y="4782312"/>
            <a:ext cx="4465015" cy="347472"/>
          </a:xfrm>
          <a:prstGeom prst="roundRect">
            <a:avLst>
              <a:gd name="adj" fmla="val 21053"/>
            </a:avLst>
          </a:prstGeom>
          <a:solidFill>
            <a:srgbClr val="EFE6F3"/>
          </a:solidFill>
          <a:ln/>
        </p:spPr>
      </p:sp>
      <p:sp>
        <p:nvSpPr>
          <p:cNvPr id="32" name="Text 30"/>
          <p:cNvSpPr txBox="1"/>
          <p:nvPr/>
        </p:nvSpPr>
        <p:spPr>
          <a:xfrm>
            <a:off x="7315200" y="4782312"/>
            <a:ext cx="4190695" cy="347472"/>
          </a:xfrm>
          <a:prstGeom prst="rect">
            <a:avLst/>
          </a:prstGeom>
          <a:noFill/>
          <a:ln/>
        </p:spPr>
        <p:txBody>
          <a:bodyPr wrap="square" lIns="0" tIns="0" rIns="0" bIns="0" rtlCol="0" anchor="ctr"/>
          <a:lstStyle/>
          <a:p>
            <a:pPr indent="0" marL="0">
              <a:buNone/>
            </a:pPr>
            <a:r>
              <a:rPr lang="en-US" sz="1800" b="1" dirty="0">
                <a:solidFill>
                  <a:srgbClr val="6B3F7A"/>
                </a:solidFill>
                <a:latin typeface="Calibri" pitchFamily="34" charset="0"/>
                <a:ea typeface="Calibri" pitchFamily="34" charset="-122"/>
                <a:cs typeface="Calibri" pitchFamily="34" charset="-120"/>
              </a:rPr>
              <a:t>Not yet tested; pilot planned</a:t>
            </a:r>
            <a:endParaRPr lang="en-US" sz="1800" dirty="0"/>
          </a:p>
        </p:txBody>
      </p:sp>
      <p:sp>
        <p:nvSpPr>
          <p:cNvPr id="33" name="Shape 31"/>
          <p:cNvSpPr/>
          <p:nvPr/>
        </p:nvSpPr>
        <p:spPr>
          <a:xfrm>
            <a:off x="548640" y="5175504"/>
            <a:ext cx="11094415" cy="0"/>
          </a:xfrm>
          <a:prstGeom prst="line">
            <a:avLst/>
          </a:prstGeom>
          <a:noFill/>
          <a:ln w="9525">
            <a:solidFill>
              <a:srgbClr val="C9CFD8"/>
            </a:solidFill>
            <a:prstDash val="solid"/>
          </a:ln>
        </p:spPr>
      </p:sp>
      <p:sp>
        <p:nvSpPr>
          <p:cNvPr id="34" name="Text 32"/>
          <p:cNvSpPr txBox="1"/>
          <p:nvPr/>
        </p:nvSpPr>
        <p:spPr>
          <a:xfrm>
            <a:off x="548640" y="5175504"/>
            <a:ext cx="6446520" cy="438912"/>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No pupil data enters any AI tool</a:t>
            </a:r>
            <a:endParaRPr lang="en-US" sz="1800" dirty="0"/>
          </a:p>
        </p:txBody>
      </p:sp>
      <p:sp>
        <p:nvSpPr>
          <p:cNvPr id="35" name="Shape 33"/>
          <p:cNvSpPr/>
          <p:nvPr/>
        </p:nvSpPr>
        <p:spPr>
          <a:xfrm>
            <a:off x="7178040" y="5221224"/>
            <a:ext cx="4465015" cy="347472"/>
          </a:xfrm>
          <a:prstGeom prst="roundRect">
            <a:avLst>
              <a:gd name="adj" fmla="val 21053"/>
            </a:avLst>
          </a:prstGeom>
          <a:solidFill>
            <a:srgbClr val="DCEFEC"/>
          </a:solidFill>
          <a:ln/>
        </p:spPr>
      </p:sp>
      <p:sp>
        <p:nvSpPr>
          <p:cNvPr id="36" name="Text 34"/>
          <p:cNvSpPr txBox="1"/>
          <p:nvPr/>
        </p:nvSpPr>
        <p:spPr>
          <a:xfrm>
            <a:off x="7315200" y="5221224"/>
            <a:ext cx="4190695" cy="347472"/>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Holds by design</a:t>
            </a:r>
            <a:endParaRPr lang="en-US" sz="1800" dirty="0"/>
          </a:p>
        </p:txBody>
      </p:sp>
      <p:sp>
        <p:nvSpPr>
          <p:cNvPr id="37" name="Shape 35"/>
          <p:cNvSpPr/>
          <p:nvPr/>
        </p:nvSpPr>
        <p:spPr>
          <a:xfrm>
            <a:off x="548640" y="5614416"/>
            <a:ext cx="11094415" cy="0"/>
          </a:xfrm>
          <a:prstGeom prst="line">
            <a:avLst/>
          </a:prstGeom>
          <a:noFill/>
          <a:ln w="9525">
            <a:solidFill>
              <a:srgbClr val="C9CFD8"/>
            </a:solidFill>
            <a:prstDash val="solid"/>
          </a:ln>
        </p:spPr>
      </p:sp>
      <p:sp>
        <p:nvSpPr>
          <p:cNvPr id="38" name="Text 36"/>
          <p:cNvSpPr txBox="1"/>
          <p:nvPr/>
        </p:nvSpPr>
        <p:spPr>
          <a:xfrm>
            <a:off x="548640" y="5614416"/>
            <a:ext cx="6446520" cy="438912"/>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Translated EAL editions are accurate</a:t>
            </a:r>
            <a:endParaRPr lang="en-US" sz="1800" dirty="0"/>
          </a:p>
        </p:txBody>
      </p:sp>
      <p:sp>
        <p:nvSpPr>
          <p:cNvPr id="39" name="Shape 37"/>
          <p:cNvSpPr/>
          <p:nvPr/>
        </p:nvSpPr>
        <p:spPr>
          <a:xfrm>
            <a:off x="7178040" y="5660136"/>
            <a:ext cx="4465015" cy="347472"/>
          </a:xfrm>
          <a:prstGeom prst="roundRect">
            <a:avLst>
              <a:gd name="adj" fmla="val 21053"/>
            </a:avLst>
          </a:prstGeom>
          <a:solidFill>
            <a:srgbClr val="EFE6F3"/>
          </a:solidFill>
          <a:ln/>
        </p:spPr>
      </p:sp>
      <p:sp>
        <p:nvSpPr>
          <p:cNvPr id="40" name="Text 38"/>
          <p:cNvSpPr txBox="1"/>
          <p:nvPr/>
        </p:nvSpPr>
        <p:spPr>
          <a:xfrm>
            <a:off x="7315200" y="5660136"/>
            <a:ext cx="4190695" cy="347472"/>
          </a:xfrm>
          <a:prstGeom prst="rect">
            <a:avLst/>
          </a:prstGeom>
          <a:noFill/>
          <a:ln/>
        </p:spPr>
        <p:txBody>
          <a:bodyPr wrap="square" lIns="0" tIns="0" rIns="0" bIns="0" rtlCol="0" anchor="ctr"/>
          <a:lstStyle/>
          <a:p>
            <a:pPr indent="0" marL="0">
              <a:buNone/>
            </a:pPr>
            <a:r>
              <a:rPr lang="en-US" sz="1800" b="1" dirty="0">
                <a:solidFill>
                  <a:srgbClr val="6B3F7A"/>
                </a:solidFill>
                <a:latin typeface="Calibri" pitchFamily="34" charset="0"/>
                <a:ea typeface="Calibri" pitchFamily="34" charset="-122"/>
                <a:cs typeface="Calibri" pitchFamily="34" charset="-120"/>
              </a:rPr>
              <a:t>Not yet checked by speakers</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05 · GOVERNANCE</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Draw the boundary, then tier the oversight</a:t>
            </a:r>
            <a:endParaRPr lang="en-US" sz="3400" dirty="0"/>
          </a:p>
        </p:txBody>
      </p:sp>
      <p:sp>
        <p:nvSpPr>
          <p:cNvPr id="5" name="Shape 3"/>
          <p:cNvSpPr/>
          <p:nvPr/>
        </p:nvSpPr>
        <p:spPr>
          <a:xfrm>
            <a:off x="1463040" y="1572768"/>
            <a:ext cx="5349240" cy="841248"/>
          </a:xfrm>
          <a:prstGeom prst="roundRect">
            <a:avLst>
              <a:gd name="adj" fmla="val 8696"/>
            </a:avLst>
          </a:prstGeom>
          <a:solidFill>
            <a:srgbClr val="DCEFEC"/>
          </a:solidFill>
          <a:ln w="22225">
            <a:solidFill>
              <a:srgbClr val="0E6B66"/>
            </a:solidFill>
            <a:prstDash val="solid"/>
          </a:ln>
        </p:spPr>
      </p:sp>
      <p:sp>
        <p:nvSpPr>
          <p:cNvPr id="6" name="Text 4"/>
          <p:cNvSpPr txBox="1"/>
          <p:nvPr/>
        </p:nvSpPr>
        <p:spPr>
          <a:xfrm>
            <a:off x="1645920" y="1572768"/>
            <a:ext cx="4983480" cy="841248"/>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Tier 1 · Specialist sign-off</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Anything asserting what an examiner rewards</a:t>
            </a:r>
            <a:endParaRPr lang="en-US" sz="1800" dirty="0"/>
          </a:p>
        </p:txBody>
      </p:sp>
      <p:sp>
        <p:nvSpPr>
          <p:cNvPr id="7" name="Shape 5"/>
          <p:cNvSpPr/>
          <p:nvPr/>
        </p:nvSpPr>
        <p:spPr>
          <a:xfrm>
            <a:off x="1005840" y="2523744"/>
            <a:ext cx="6263640" cy="841248"/>
          </a:xfrm>
          <a:prstGeom prst="roundRect">
            <a:avLst>
              <a:gd name="adj" fmla="val 8696"/>
            </a:avLst>
          </a:prstGeom>
          <a:solidFill>
            <a:srgbClr val="DCEFEC"/>
          </a:solidFill>
          <a:ln w="22225">
            <a:solidFill>
              <a:srgbClr val="0E6B66"/>
            </a:solidFill>
            <a:prstDash val="solid"/>
          </a:ln>
        </p:spPr>
      </p:sp>
      <p:sp>
        <p:nvSpPr>
          <p:cNvPr id="8" name="Text 6"/>
          <p:cNvSpPr txBox="1"/>
          <p:nvPr/>
        </p:nvSpPr>
        <p:spPr>
          <a:xfrm>
            <a:off x="1188720" y="2523744"/>
            <a:ext cx="5897880" cy="841248"/>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Tier 2 · Subject-lead review</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Taught content: decks, booklets, ebooks, modules</a:t>
            </a:r>
            <a:endParaRPr lang="en-US" sz="1800" dirty="0"/>
          </a:p>
        </p:txBody>
      </p:sp>
      <p:sp>
        <p:nvSpPr>
          <p:cNvPr id="9" name="Shape 7"/>
          <p:cNvSpPr/>
          <p:nvPr/>
        </p:nvSpPr>
        <p:spPr>
          <a:xfrm>
            <a:off x="548640" y="3474720"/>
            <a:ext cx="7178040" cy="841248"/>
          </a:xfrm>
          <a:prstGeom prst="roundRect">
            <a:avLst>
              <a:gd name="adj" fmla="val 8696"/>
            </a:avLst>
          </a:prstGeom>
          <a:solidFill>
            <a:srgbClr val="DCEFEC"/>
          </a:solidFill>
          <a:ln w="22225">
            <a:solidFill>
              <a:srgbClr val="0E6B66"/>
            </a:solidFill>
            <a:prstDash val="solid"/>
          </a:ln>
        </p:spPr>
      </p:sp>
      <p:sp>
        <p:nvSpPr>
          <p:cNvPr id="10" name="Text 8"/>
          <p:cNvSpPr txBox="1"/>
          <p:nvPr/>
        </p:nvSpPr>
        <p:spPr>
          <a:xfrm>
            <a:off x="731520" y="3474720"/>
            <a:ext cx="6812280" cy="841248"/>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Tier 3 · Sampled check</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Revision material derived from reviewed content</a:t>
            </a:r>
            <a:endParaRPr lang="en-US" sz="1800" dirty="0"/>
          </a:p>
        </p:txBody>
      </p:sp>
      <p:sp>
        <p:nvSpPr>
          <p:cNvPr id="11" name="Shape 9"/>
          <p:cNvSpPr/>
          <p:nvPr/>
        </p:nvSpPr>
        <p:spPr>
          <a:xfrm>
            <a:off x="548640" y="4526280"/>
            <a:ext cx="7178040" cy="1463040"/>
          </a:xfrm>
          <a:prstGeom prst="roundRect">
            <a:avLst>
              <a:gd name="adj" fmla="val 5000"/>
            </a:avLst>
          </a:prstGeom>
          <a:solidFill>
            <a:srgbClr val="F8EBD9"/>
          </a:solidFill>
          <a:ln w="25400">
            <a:solidFill>
              <a:srgbClr val="B5701F"/>
            </a:solidFill>
            <a:prstDash val="dash"/>
          </a:ln>
        </p:spPr>
      </p:sp>
      <p:sp>
        <p:nvSpPr>
          <p:cNvPr id="12" name="Text 10"/>
          <p:cNvSpPr txBox="1"/>
          <p:nvPr/>
        </p:nvSpPr>
        <p:spPr>
          <a:xfrm>
            <a:off x="777240" y="4526280"/>
            <a:ext cx="6720840" cy="1463040"/>
          </a:xfrm>
          <a:prstGeom prst="rect">
            <a:avLst/>
          </a:prstGeom>
          <a:noFill/>
          <a:ln/>
        </p:spPr>
        <p:txBody>
          <a:bodyPr wrap="square" lIns="0" tIns="0" rIns="0" bIns="0" rtlCol="0" anchor="ctr"/>
          <a:lstStyle/>
          <a:p>
            <a:pPr indent="0" marL="0">
              <a:buNone/>
            </a:pPr>
            <a:r>
              <a:rPr lang="en-US" sz="1800" b="1" dirty="0">
                <a:solidFill>
                  <a:srgbClr val="B5701F"/>
                </a:solidFill>
                <a:latin typeface="Calibri" pitchFamily="34" charset="0"/>
                <a:ea typeface="Calibri" pitchFamily="34" charset="-122"/>
                <a:cs typeface="Calibri" pitchFamily="34" charset="-120"/>
              </a:rPr>
              <a:t>Where AI is not used</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Judging pupils · predicted grades · pupil reports · deciding whether a pupil has SEN · EHCP content · emotional or mental-health support</a:t>
            </a:r>
            <a:endParaRPr lang="en-US" sz="1800" dirty="0"/>
          </a:p>
        </p:txBody>
      </p:sp>
      <p:sp>
        <p:nvSpPr>
          <p:cNvPr id="13" name="Shape 11"/>
          <p:cNvSpPr/>
          <p:nvPr/>
        </p:nvSpPr>
        <p:spPr>
          <a:xfrm>
            <a:off x="8092440" y="1572768"/>
            <a:ext cx="3550615" cy="4416552"/>
          </a:xfrm>
          <a:prstGeom prst="roundRect">
            <a:avLst>
              <a:gd name="adj" fmla="val 2060"/>
            </a:avLst>
          </a:prstGeom>
          <a:solidFill>
            <a:srgbClr val="E8EBF0"/>
          </a:solidFill>
          <a:ln/>
        </p:spPr>
      </p:sp>
      <p:sp>
        <p:nvSpPr>
          <p:cNvPr id="14" name="Text 12"/>
          <p:cNvSpPr txBox="1"/>
          <p:nvPr/>
        </p:nvSpPr>
        <p:spPr>
          <a:xfrm>
            <a:off x="8321040" y="1691640"/>
            <a:ext cx="3093415" cy="411480"/>
          </a:xfrm>
          <a:prstGeom prst="rect">
            <a:avLst/>
          </a:prstGeom>
          <a:noFill/>
          <a:ln/>
        </p:spPr>
        <p:txBody>
          <a:bodyPr wrap="square" lIns="0" tIns="0" rIns="0" bIns="0" rtlCol="0" anchor="t"/>
          <a:lstStyle/>
          <a:p>
            <a:pPr indent="0" marL="0">
              <a:buNone/>
            </a:pPr>
            <a:r>
              <a:rPr lang="en-US" sz="2000" b="1" dirty="0">
                <a:solidFill>
                  <a:srgbClr val="2B3445"/>
                </a:solidFill>
                <a:latin typeface="Calibri" pitchFamily="34" charset="0"/>
                <a:ea typeface="Calibri" pitchFamily="34" charset="-122"/>
                <a:cs typeface="Calibri" pitchFamily="34" charset="-120"/>
              </a:rPr>
              <a:t>And the safeguards</a:t>
            </a:r>
            <a:endParaRPr lang="en-US" sz="2000" dirty="0"/>
          </a:p>
        </p:txBody>
      </p:sp>
      <p:sp>
        <p:nvSpPr>
          <p:cNvPr id="15" name="Shape 13"/>
          <p:cNvSpPr/>
          <p:nvPr/>
        </p:nvSpPr>
        <p:spPr>
          <a:xfrm>
            <a:off x="8321040" y="2295144"/>
            <a:ext cx="274320" cy="237561"/>
          </a:xfrm>
          <a:prstGeom prst="hexagon">
            <a:avLst/>
          </a:prstGeom>
          <a:solidFill>
            <a:srgbClr val="0E6B66"/>
          </a:solidFill>
          <a:ln/>
        </p:spPr>
      </p:sp>
      <p:sp>
        <p:nvSpPr>
          <p:cNvPr id="16" name="Text 14"/>
          <p:cNvSpPr txBox="1"/>
          <p:nvPr/>
        </p:nvSpPr>
        <p:spPr>
          <a:xfrm>
            <a:off x="8714232" y="2240280"/>
            <a:ext cx="2727655" cy="1143000"/>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Pupil data</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Public pages hold no accounts and no pupil data.</a:t>
            </a:r>
            <a:endParaRPr lang="en-US" sz="1800" dirty="0"/>
          </a:p>
        </p:txBody>
      </p:sp>
      <p:sp>
        <p:nvSpPr>
          <p:cNvPr id="17" name="Shape 15"/>
          <p:cNvSpPr/>
          <p:nvPr/>
        </p:nvSpPr>
        <p:spPr>
          <a:xfrm>
            <a:off x="8321040" y="3511296"/>
            <a:ext cx="274320" cy="237561"/>
          </a:xfrm>
          <a:prstGeom prst="hexagon">
            <a:avLst/>
          </a:prstGeom>
          <a:solidFill>
            <a:srgbClr val="B5701F"/>
          </a:solidFill>
          <a:ln/>
        </p:spPr>
      </p:sp>
      <p:sp>
        <p:nvSpPr>
          <p:cNvPr id="18" name="Text 16"/>
          <p:cNvSpPr txBox="1"/>
          <p:nvPr/>
        </p:nvSpPr>
        <p:spPr>
          <a:xfrm>
            <a:off x="8714232" y="3456432"/>
            <a:ext cx="2727655" cy="1143000"/>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Pupil-facing tools</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Checked against the DfE product safety standards.</a:t>
            </a:r>
            <a:endParaRPr lang="en-US" sz="1800" dirty="0"/>
          </a:p>
        </p:txBody>
      </p:sp>
      <p:sp>
        <p:nvSpPr>
          <p:cNvPr id="19" name="Shape 17"/>
          <p:cNvSpPr/>
          <p:nvPr/>
        </p:nvSpPr>
        <p:spPr>
          <a:xfrm>
            <a:off x="8321040" y="4727448"/>
            <a:ext cx="274320" cy="237561"/>
          </a:xfrm>
          <a:prstGeom prst="hexagon">
            <a:avLst/>
          </a:prstGeom>
          <a:solidFill>
            <a:srgbClr val="6B3F7A"/>
          </a:solidFill>
          <a:ln/>
        </p:spPr>
      </p:sp>
      <p:sp>
        <p:nvSpPr>
          <p:cNvPr id="20" name="Text 18"/>
          <p:cNvSpPr txBox="1"/>
          <p:nvPr/>
        </p:nvSpPr>
        <p:spPr>
          <a:xfrm>
            <a:off x="8714232" y="4672584"/>
            <a:ext cx="2727655" cy="1143000"/>
          </a:xfrm>
          <a:prstGeom prst="rect">
            <a:avLst/>
          </a:prstGeom>
          <a:noFill/>
          <a:ln/>
        </p:spPr>
        <p:txBody>
          <a:bodyPr wrap="square" lIns="0" tIns="0" rIns="0" bIns="0" rtlCol="0" anchor="t"/>
          <a:lstStyle/>
          <a:p>
            <a:pPr indent="0" marL="0">
              <a:buNone/>
            </a:pPr>
            <a:r>
              <a:rPr lang="en-US" sz="1800" b="1" dirty="0">
                <a:solidFill>
                  <a:srgbClr val="2B3445"/>
                </a:solidFill>
                <a:latin typeface="Calibri" pitchFamily="34" charset="0"/>
                <a:ea typeface="Calibri" pitchFamily="34" charset="-122"/>
                <a:cs typeface="Calibri" pitchFamily="34" charset="-120"/>
              </a:rPr>
              <a:t>Safeguarding</a:t>
            </a:r>
            <a:endParaRPr lang="en-US" sz="1800" dirty="0"/>
          </a:p>
          <a:p>
            <a:pPr indent="0" marL="0">
              <a:buNone/>
            </a:pPr>
            <a:r>
              <a:rPr lang="en-US" sz="1800" dirty="0">
                <a:solidFill>
                  <a:srgbClr val="1E2430"/>
                </a:solidFill>
                <a:latin typeface="Calibri" pitchFamily="34" charset="0"/>
                <a:ea typeface="Calibri" pitchFamily="34" charset="-122"/>
                <a:cs typeface="Calibri" pitchFamily="34" charset="-120"/>
              </a:rPr>
              <a:t>AI in the annual filtering and monitoring review (KCSIE 2026).</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06 · CLIMB THE RISK SLOPE</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Harlington is on step 2</a:t>
            </a:r>
            <a:endParaRPr lang="en-US" sz="3400" dirty="0"/>
          </a:p>
        </p:txBody>
      </p:sp>
      <p:sp>
        <p:nvSpPr>
          <p:cNvPr id="5" name="Text 3"/>
          <p:cNvSpPr txBox="1"/>
          <p:nvPr/>
        </p:nvSpPr>
        <p:spPr>
          <a:xfrm>
            <a:off x="548640" y="1554480"/>
            <a:ext cx="6217920" cy="365760"/>
          </a:xfrm>
          <a:prstGeom prst="rect">
            <a:avLst/>
          </a:prstGeom>
          <a:noFill/>
          <a:ln/>
        </p:spPr>
        <p:txBody>
          <a:bodyPr wrap="square" lIns="0" tIns="0" rIns="0" bIns="0" rtlCol="0" anchor="ctr"/>
          <a:lstStyle/>
          <a:p>
            <a:pPr indent="0" marL="0">
              <a:buNone/>
            </a:pPr>
            <a:r>
              <a:rPr lang="en-US" sz="1800" b="1" dirty="0">
                <a:solidFill>
                  <a:srgbClr val="B5701F"/>
                </a:solidFill>
                <a:latin typeface="Calibri" pitchFamily="34" charset="0"/>
                <a:ea typeface="Calibri" pitchFamily="34" charset="-122"/>
                <a:cs typeface="Calibri" pitchFamily="34" charset="-120"/>
              </a:rPr>
              <a:t>Value and risk rise together. Climb in order.</a:t>
            </a:r>
            <a:endParaRPr lang="en-US" sz="1800" dirty="0"/>
          </a:p>
        </p:txBody>
      </p:sp>
      <p:sp>
        <p:nvSpPr>
          <p:cNvPr id="6" name="Shape 4"/>
          <p:cNvSpPr/>
          <p:nvPr/>
        </p:nvSpPr>
        <p:spPr>
          <a:xfrm>
            <a:off x="548640" y="2029968"/>
            <a:ext cx="4754880" cy="0"/>
          </a:xfrm>
          <a:prstGeom prst="line">
            <a:avLst/>
          </a:prstGeom>
          <a:noFill/>
          <a:ln w="31750">
            <a:solidFill>
              <a:srgbClr val="B5701F"/>
            </a:solidFill>
            <a:prstDash val="solid"/>
            <a:tailEnd type="triangle"/>
          </a:ln>
        </p:spPr>
      </p:sp>
      <p:sp>
        <p:nvSpPr>
          <p:cNvPr id="7" name="Text 5"/>
          <p:cNvSpPr txBox="1"/>
          <p:nvPr/>
        </p:nvSpPr>
        <p:spPr>
          <a:xfrm>
            <a:off x="548640" y="2331720"/>
            <a:ext cx="3429000" cy="960120"/>
          </a:xfrm>
          <a:prstGeom prst="rect">
            <a:avLst/>
          </a:prstGeom>
          <a:noFill/>
          <a:ln/>
        </p:spPr>
        <p:txBody>
          <a:bodyPr wrap="square" lIns="0" tIns="0" rIns="0" bIns="0" rtlCol="0" anchor="t"/>
          <a:lstStyle/>
          <a:p>
            <a:pPr indent="0" marL="0">
              <a:buNone/>
            </a:pPr>
            <a:r>
              <a:rPr lang="en-US" sz="2200" i="1" dirty="0">
                <a:solidFill>
                  <a:srgbClr val="2B3445"/>
                </a:solidFill>
                <a:latin typeface="Cambria" pitchFamily="34" charset="0"/>
                <a:ea typeface="Cambria" pitchFamily="34" charset="-122"/>
                <a:cs typeface="Cambria" pitchFamily="34" charset="-120"/>
              </a:rPr>
              <a:t>“Build the scaffolding to bring everybody along.”</a:t>
            </a:r>
            <a:endParaRPr lang="en-US" sz="2200" dirty="0"/>
          </a:p>
        </p:txBody>
      </p:sp>
      <p:sp>
        <p:nvSpPr>
          <p:cNvPr id="8" name="Shape 6"/>
          <p:cNvSpPr/>
          <p:nvPr/>
        </p:nvSpPr>
        <p:spPr>
          <a:xfrm>
            <a:off x="548640" y="3703320"/>
            <a:ext cx="3520440" cy="2331720"/>
          </a:xfrm>
          <a:prstGeom prst="rect">
            <a:avLst/>
          </a:prstGeom>
          <a:solidFill>
            <a:srgbClr val="FFFFFF"/>
          </a:solidFill>
          <a:ln w="22225">
            <a:solidFill>
              <a:srgbClr val="2B3445"/>
            </a:solidFill>
            <a:prstDash val="solid"/>
          </a:ln>
        </p:spPr>
      </p:sp>
      <p:sp>
        <p:nvSpPr>
          <p:cNvPr id="9" name="Text 7"/>
          <p:cNvSpPr txBox="1"/>
          <p:nvPr/>
        </p:nvSpPr>
        <p:spPr>
          <a:xfrm>
            <a:off x="731520" y="3840480"/>
            <a:ext cx="3154680" cy="384048"/>
          </a:xfrm>
          <a:prstGeom prst="rect">
            <a:avLst/>
          </a:prstGeom>
          <a:noFill/>
          <a:ln/>
        </p:spPr>
        <p:txBody>
          <a:bodyPr wrap="square" lIns="0" tIns="0" rIns="0" bIns="0" rtlCol="0" anchor="t"/>
          <a:lstStyle/>
          <a:p>
            <a:pPr indent="0" marL="0">
              <a:buNone/>
            </a:pPr>
            <a:r>
              <a:rPr lang="en-US" sz="2100" b="1" dirty="0">
                <a:solidFill>
                  <a:srgbClr val="2B3445"/>
                </a:solidFill>
                <a:latin typeface="Calibri" pitchFamily="34" charset="0"/>
                <a:ea typeface="Calibri" pitchFamily="34" charset="-122"/>
                <a:cs typeface="Calibri" pitchFamily="34" charset="-120"/>
              </a:rPr>
              <a:t>1 · Staff tasks</a:t>
            </a:r>
            <a:endParaRPr lang="en-US" sz="2100" dirty="0"/>
          </a:p>
        </p:txBody>
      </p:sp>
      <p:sp>
        <p:nvSpPr>
          <p:cNvPr id="10" name="Text 8"/>
          <p:cNvSpPr txBox="1"/>
          <p:nvPr/>
        </p:nvSpPr>
        <p:spPr>
          <a:xfrm>
            <a:off x="731520" y="4297680"/>
            <a:ext cx="3154680" cy="114300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School-approved tool; no pupil data. Drafting, summarising, planning.</a:t>
            </a:r>
            <a:endParaRPr lang="en-US" sz="1800" dirty="0"/>
          </a:p>
        </p:txBody>
      </p:sp>
      <p:sp>
        <p:nvSpPr>
          <p:cNvPr id="11" name="Text 9"/>
          <p:cNvSpPr txBox="1"/>
          <p:nvPr/>
        </p:nvSpPr>
        <p:spPr>
          <a:xfrm>
            <a:off x="731520" y="5532120"/>
            <a:ext cx="2697480" cy="365760"/>
          </a:xfrm>
          <a:prstGeom prst="rect">
            <a:avLst/>
          </a:prstGeom>
          <a:noFill/>
          <a:ln/>
        </p:spPr>
        <p:txBody>
          <a:bodyPr wrap="square" lIns="0" tIns="0" rIns="0" bIns="0" rtlCol="0" anchor="ctr"/>
          <a:lstStyle/>
          <a:p>
            <a:pPr indent="0" marL="0">
              <a:buNone/>
            </a:pPr>
            <a:r>
              <a:rPr lang="en-US" sz="1800" b="1" dirty="0">
                <a:solidFill>
                  <a:srgbClr val="2B3445"/>
                </a:solidFill>
                <a:latin typeface="Calibri" pitchFamily="34" charset="0"/>
                <a:ea typeface="Calibri" pitchFamily="34" charset="-122"/>
                <a:cs typeface="Calibri" pitchFamily="34" charset="-120"/>
              </a:rPr>
              <a:t>Lowest risk</a:t>
            </a:r>
            <a:endParaRPr lang="en-US" sz="1800" dirty="0"/>
          </a:p>
        </p:txBody>
      </p:sp>
      <p:sp>
        <p:nvSpPr>
          <p:cNvPr id="12" name="Shape 10"/>
          <p:cNvSpPr/>
          <p:nvPr/>
        </p:nvSpPr>
        <p:spPr>
          <a:xfrm>
            <a:off x="4334256" y="2971800"/>
            <a:ext cx="3520440" cy="3063240"/>
          </a:xfrm>
          <a:prstGeom prst="rect">
            <a:avLst/>
          </a:prstGeom>
          <a:solidFill>
            <a:srgbClr val="DCEFEC"/>
          </a:solidFill>
          <a:ln w="38100">
            <a:solidFill>
              <a:srgbClr val="0E6B66"/>
            </a:solidFill>
            <a:prstDash val="solid"/>
          </a:ln>
        </p:spPr>
      </p:sp>
      <p:sp>
        <p:nvSpPr>
          <p:cNvPr id="13" name="Text 11"/>
          <p:cNvSpPr txBox="1"/>
          <p:nvPr/>
        </p:nvSpPr>
        <p:spPr>
          <a:xfrm>
            <a:off x="4517136" y="3108960"/>
            <a:ext cx="3154680" cy="384048"/>
          </a:xfrm>
          <a:prstGeom prst="rect">
            <a:avLst/>
          </a:prstGeom>
          <a:noFill/>
          <a:ln/>
        </p:spPr>
        <p:txBody>
          <a:bodyPr wrap="square" lIns="0" tIns="0" rIns="0" bIns="0" rtlCol="0" anchor="t"/>
          <a:lstStyle/>
          <a:p>
            <a:pPr indent="0" marL="0">
              <a:buNone/>
            </a:pPr>
            <a:r>
              <a:rPr lang="en-US" sz="2100" b="1" dirty="0">
                <a:solidFill>
                  <a:srgbClr val="0E6B66"/>
                </a:solidFill>
                <a:latin typeface="Calibri" pitchFamily="34" charset="0"/>
                <a:ea typeface="Calibri" pitchFamily="34" charset="-122"/>
                <a:cs typeface="Calibri" pitchFamily="34" charset="-120"/>
              </a:rPr>
              <a:t>2 · Curriculum material</a:t>
            </a:r>
            <a:endParaRPr lang="en-US" sz="2100" dirty="0"/>
          </a:p>
        </p:txBody>
      </p:sp>
      <p:sp>
        <p:nvSpPr>
          <p:cNvPr id="14" name="Text 12"/>
          <p:cNvSpPr txBox="1"/>
          <p:nvPr/>
        </p:nvSpPr>
        <p:spPr>
          <a:xfrm>
            <a:off x="4517136" y="3566160"/>
            <a:ext cx="3154680" cy="114300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AI drafts, a specialist signs: booklets, ebooks, modules, decks. Pupils do not talk to an AI.</a:t>
            </a:r>
            <a:endParaRPr lang="en-US" sz="1800" dirty="0"/>
          </a:p>
        </p:txBody>
      </p:sp>
      <p:sp>
        <p:nvSpPr>
          <p:cNvPr id="15" name="Shape 13"/>
          <p:cNvSpPr/>
          <p:nvPr/>
        </p:nvSpPr>
        <p:spPr>
          <a:xfrm>
            <a:off x="4517136" y="5559552"/>
            <a:ext cx="329184" cy="285073"/>
          </a:xfrm>
          <a:prstGeom prst="hexagon">
            <a:avLst/>
          </a:prstGeom>
          <a:solidFill>
            <a:srgbClr val="0E6B66"/>
          </a:solidFill>
          <a:ln/>
        </p:spPr>
      </p:sp>
      <p:sp>
        <p:nvSpPr>
          <p:cNvPr id="16" name="Text 14"/>
          <p:cNvSpPr txBox="1"/>
          <p:nvPr/>
        </p:nvSpPr>
        <p:spPr>
          <a:xfrm>
            <a:off x="4937760" y="5532120"/>
            <a:ext cx="2697480" cy="365760"/>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Harlington is here</a:t>
            </a:r>
            <a:endParaRPr lang="en-US" sz="1800" dirty="0"/>
          </a:p>
        </p:txBody>
      </p:sp>
      <p:sp>
        <p:nvSpPr>
          <p:cNvPr id="17" name="Shape 15"/>
          <p:cNvSpPr/>
          <p:nvPr/>
        </p:nvSpPr>
        <p:spPr>
          <a:xfrm>
            <a:off x="8119872" y="2240280"/>
            <a:ext cx="3523183" cy="3794760"/>
          </a:xfrm>
          <a:prstGeom prst="rect">
            <a:avLst/>
          </a:prstGeom>
          <a:solidFill>
            <a:srgbClr val="EFE6F3"/>
          </a:solidFill>
          <a:ln w="22225">
            <a:solidFill>
              <a:srgbClr val="6B3F7A"/>
            </a:solidFill>
            <a:prstDash val="solid"/>
          </a:ln>
        </p:spPr>
      </p:sp>
      <p:sp>
        <p:nvSpPr>
          <p:cNvPr id="18" name="Text 16"/>
          <p:cNvSpPr txBox="1"/>
          <p:nvPr/>
        </p:nvSpPr>
        <p:spPr>
          <a:xfrm>
            <a:off x="8302752" y="2377440"/>
            <a:ext cx="3157423" cy="384048"/>
          </a:xfrm>
          <a:prstGeom prst="rect">
            <a:avLst/>
          </a:prstGeom>
          <a:noFill/>
          <a:ln/>
        </p:spPr>
        <p:txBody>
          <a:bodyPr wrap="square" lIns="0" tIns="0" rIns="0" bIns="0" rtlCol="0" anchor="t"/>
          <a:lstStyle/>
          <a:p>
            <a:pPr indent="0" marL="0">
              <a:buNone/>
            </a:pPr>
            <a:r>
              <a:rPr lang="en-US" sz="2100" b="1" dirty="0">
                <a:solidFill>
                  <a:srgbClr val="6B3F7A"/>
                </a:solidFill>
                <a:latin typeface="Calibri" pitchFamily="34" charset="0"/>
                <a:ea typeface="Calibri" pitchFamily="34" charset="-122"/>
                <a:cs typeface="Calibri" pitchFamily="34" charset="-120"/>
              </a:rPr>
              <a:t>3 · Live pupil-facing AI</a:t>
            </a:r>
            <a:endParaRPr lang="en-US" sz="2100" dirty="0"/>
          </a:p>
        </p:txBody>
      </p:sp>
      <p:sp>
        <p:nvSpPr>
          <p:cNvPr id="19" name="Text 17"/>
          <p:cNvSpPr txBox="1"/>
          <p:nvPr/>
        </p:nvSpPr>
        <p:spPr>
          <a:xfrm>
            <a:off x="8302752" y="2834640"/>
            <a:ext cx="3157423" cy="114300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Tutors and chatbots: only after the safety standards, DPIA and KCSIE review.</a:t>
            </a:r>
            <a:endParaRPr lang="en-US" sz="1800" dirty="0"/>
          </a:p>
        </p:txBody>
      </p:sp>
      <p:sp>
        <p:nvSpPr>
          <p:cNvPr id="20" name="Text 18"/>
          <p:cNvSpPr txBox="1"/>
          <p:nvPr/>
        </p:nvSpPr>
        <p:spPr>
          <a:xfrm>
            <a:off x="8302752" y="5532120"/>
            <a:ext cx="2700223" cy="365760"/>
          </a:xfrm>
          <a:prstGeom prst="rect">
            <a:avLst/>
          </a:prstGeom>
          <a:noFill/>
          <a:ln/>
        </p:spPr>
        <p:txBody>
          <a:bodyPr wrap="square" lIns="0" tIns="0" rIns="0" bIns="0" rtlCol="0" anchor="ctr"/>
          <a:lstStyle/>
          <a:p>
            <a:pPr indent="0" marL="0">
              <a:buNone/>
            </a:pPr>
            <a:r>
              <a:rPr lang="en-US" sz="1800" b="1" dirty="0">
                <a:solidFill>
                  <a:srgbClr val="6B3F7A"/>
                </a:solidFill>
                <a:latin typeface="Calibri" pitchFamily="34" charset="0"/>
                <a:ea typeface="Calibri" pitchFamily="34" charset="-122"/>
                <a:cs typeface="Calibri" pitchFamily="34" charset="-120"/>
              </a:rPr>
              <a:t>Highest risk</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06 · IMPLEMENTATION</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Build once, centrally; decide where the time goes</a:t>
            </a:r>
            <a:endParaRPr lang="en-US" sz="3400" dirty="0"/>
          </a:p>
        </p:txBody>
      </p:sp>
      <p:sp>
        <p:nvSpPr>
          <p:cNvPr id="5" name="Shape 3"/>
          <p:cNvSpPr/>
          <p:nvPr/>
        </p:nvSpPr>
        <p:spPr>
          <a:xfrm>
            <a:off x="548640" y="1554480"/>
            <a:ext cx="2938196" cy="1965960"/>
          </a:xfrm>
          <a:custGeom>
            <a:avLst/>
            <a:gdLst/>
            <a:ahLst/>
            <a:cxnLst/>
            <a:rect l="l" t="t" r="r" b="b"/>
            <a:pathLst>
              <a:path w="2938196" h="1965960">
                <a:moveTo>
                  <a:pt x="0" y="0"/>
                </a:moveTo>
                <a:lnTo>
                  <a:pt x="2645588" y="0"/>
                </a:lnTo>
                <a:lnTo>
                  <a:pt x="2938196" y="982980"/>
                </a:lnTo>
                <a:lnTo>
                  <a:pt x="2645588" y="1965960"/>
                </a:lnTo>
                <a:lnTo>
                  <a:pt x="0" y="1965960"/>
                </a:lnTo>
                <a:close/>
              </a:path>
            </a:pathLst>
          </a:custGeom>
          <a:solidFill>
            <a:srgbClr val="E8EBF0"/>
          </a:solidFill>
          <a:ln w="22225">
            <a:solidFill>
              <a:srgbClr val="2B3445"/>
            </a:solidFill>
            <a:prstDash val="solid"/>
          </a:ln>
        </p:spPr>
      </p:sp>
      <p:sp>
        <p:nvSpPr>
          <p:cNvPr id="6" name="Text 4"/>
          <p:cNvSpPr txBox="1"/>
          <p:nvPr/>
        </p:nvSpPr>
        <p:spPr>
          <a:xfrm>
            <a:off x="731520" y="1645920"/>
            <a:ext cx="2416988" cy="685800"/>
          </a:xfrm>
          <a:prstGeom prst="rect">
            <a:avLst/>
          </a:prstGeom>
          <a:noFill/>
          <a:ln/>
        </p:spPr>
        <p:txBody>
          <a:bodyPr wrap="square" lIns="0" tIns="0" rIns="0" bIns="0" rtlCol="0" anchor="t"/>
          <a:lstStyle/>
          <a:p>
            <a:pPr indent="0" marL="0">
              <a:buNone/>
            </a:pPr>
            <a:r>
              <a:rPr lang="en-US" sz="2200" b="1" dirty="0">
                <a:solidFill>
                  <a:srgbClr val="2B3445"/>
                </a:solidFill>
                <a:latin typeface="Calibri" pitchFamily="34" charset="0"/>
                <a:ea typeface="Calibri" pitchFamily="34" charset="-122"/>
                <a:cs typeface="Calibri" pitchFamily="34" charset="-120"/>
              </a:rPr>
              <a:t>Explore</a:t>
            </a:r>
            <a:endParaRPr lang="en-US" sz="1800" dirty="0"/>
          </a:p>
          <a:p>
            <a:pPr indent="0" marL="0">
              <a:buNone/>
            </a:pPr>
            <a:r>
              <a:rPr lang="en-US" sz="1800" dirty="0">
                <a:solidFill>
                  <a:srgbClr val="5B6475"/>
                </a:solidFill>
                <a:latin typeface="Calibri" pitchFamily="34" charset="0"/>
                <a:ea typeface="Calibri" pitchFamily="34" charset="-122"/>
                <a:cs typeface="Calibri" pitchFamily="34" charset="-120"/>
              </a:rPr>
              <a:t>Terms 1–2</a:t>
            </a:r>
            <a:endParaRPr lang="en-US" sz="1800" dirty="0"/>
          </a:p>
        </p:txBody>
      </p:sp>
      <p:sp>
        <p:nvSpPr>
          <p:cNvPr id="7" name="Text 5"/>
          <p:cNvSpPr txBox="1"/>
          <p:nvPr/>
        </p:nvSpPr>
        <p:spPr>
          <a:xfrm>
            <a:off x="731520" y="2359152"/>
            <a:ext cx="2416988" cy="10972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Baseline the gap: who cannot reach the curriculum, and why</a:t>
            </a:r>
            <a:endParaRPr lang="en-US" sz="1800" dirty="0"/>
          </a:p>
        </p:txBody>
      </p:sp>
      <p:sp>
        <p:nvSpPr>
          <p:cNvPr id="8" name="Shape 6"/>
          <p:cNvSpPr/>
          <p:nvPr/>
        </p:nvSpPr>
        <p:spPr>
          <a:xfrm>
            <a:off x="3267380" y="1554480"/>
            <a:ext cx="2938196" cy="1965960"/>
          </a:xfrm>
          <a:custGeom>
            <a:avLst/>
            <a:gdLst/>
            <a:ahLst/>
            <a:cxnLst/>
            <a:rect l="l" t="t" r="r" b="b"/>
            <a:pathLst>
              <a:path w="2938196" h="1965960">
                <a:moveTo>
                  <a:pt x="0" y="0"/>
                </a:moveTo>
                <a:lnTo>
                  <a:pt x="2645588" y="0"/>
                </a:lnTo>
                <a:lnTo>
                  <a:pt x="2938196" y="982980"/>
                </a:lnTo>
                <a:lnTo>
                  <a:pt x="2645588" y="1965960"/>
                </a:lnTo>
                <a:lnTo>
                  <a:pt x="0" y="1965960"/>
                </a:lnTo>
                <a:lnTo>
                  <a:pt x="292608" y="982980"/>
                </a:lnTo>
                <a:close/>
              </a:path>
            </a:pathLst>
          </a:custGeom>
          <a:solidFill>
            <a:srgbClr val="F8EBD9"/>
          </a:solidFill>
          <a:ln w="22225">
            <a:solidFill>
              <a:srgbClr val="B5701F"/>
            </a:solidFill>
            <a:prstDash val="solid"/>
          </a:ln>
        </p:spPr>
      </p:sp>
      <p:sp>
        <p:nvSpPr>
          <p:cNvPr id="9" name="Text 7"/>
          <p:cNvSpPr txBox="1"/>
          <p:nvPr/>
        </p:nvSpPr>
        <p:spPr>
          <a:xfrm>
            <a:off x="3669716" y="1645920"/>
            <a:ext cx="2197532" cy="685800"/>
          </a:xfrm>
          <a:prstGeom prst="rect">
            <a:avLst/>
          </a:prstGeom>
          <a:noFill/>
          <a:ln/>
        </p:spPr>
        <p:txBody>
          <a:bodyPr wrap="square" lIns="0" tIns="0" rIns="0" bIns="0" rtlCol="0" anchor="t"/>
          <a:lstStyle/>
          <a:p>
            <a:pPr indent="0" marL="0">
              <a:buNone/>
            </a:pPr>
            <a:r>
              <a:rPr lang="en-US" sz="2200" b="1" dirty="0">
                <a:solidFill>
                  <a:srgbClr val="B5701F"/>
                </a:solidFill>
                <a:latin typeface="Calibri" pitchFamily="34" charset="0"/>
                <a:ea typeface="Calibri" pitchFamily="34" charset="-122"/>
                <a:cs typeface="Calibri" pitchFamily="34" charset="-120"/>
              </a:rPr>
              <a:t>Prepare</a:t>
            </a:r>
            <a:endParaRPr lang="en-US" sz="1800" dirty="0"/>
          </a:p>
          <a:p>
            <a:pPr indent="0" marL="0">
              <a:buNone/>
            </a:pPr>
            <a:r>
              <a:rPr lang="en-US" sz="1800" dirty="0">
                <a:solidFill>
                  <a:srgbClr val="5B6475"/>
                </a:solidFill>
                <a:latin typeface="Calibri" pitchFamily="34" charset="0"/>
                <a:ea typeface="Calibri" pitchFamily="34" charset="-122"/>
                <a:cs typeface="Calibri" pitchFamily="34" charset="-120"/>
              </a:rPr>
              <a:t>Terms 2–3</a:t>
            </a:r>
            <a:endParaRPr lang="en-US" sz="1800" dirty="0"/>
          </a:p>
        </p:txBody>
      </p:sp>
      <p:sp>
        <p:nvSpPr>
          <p:cNvPr id="10" name="Text 8"/>
          <p:cNvSpPr txBox="1"/>
          <p:nvPr/>
        </p:nvSpPr>
        <p:spPr>
          <a:xfrm>
            <a:off x="3669716" y="2359152"/>
            <a:ext cx="2197532" cy="10972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Policy, tiers, DPO and DSL sign-off; two pilot departments</a:t>
            </a:r>
            <a:endParaRPr lang="en-US" sz="1800" dirty="0"/>
          </a:p>
        </p:txBody>
      </p:sp>
      <p:sp>
        <p:nvSpPr>
          <p:cNvPr id="11" name="Shape 9"/>
          <p:cNvSpPr/>
          <p:nvPr/>
        </p:nvSpPr>
        <p:spPr>
          <a:xfrm>
            <a:off x="5986120" y="1554480"/>
            <a:ext cx="2938196" cy="1965960"/>
          </a:xfrm>
          <a:custGeom>
            <a:avLst/>
            <a:gdLst/>
            <a:ahLst/>
            <a:cxnLst/>
            <a:rect l="l" t="t" r="r" b="b"/>
            <a:pathLst>
              <a:path w="2938196" h="1965960">
                <a:moveTo>
                  <a:pt x="0" y="0"/>
                </a:moveTo>
                <a:lnTo>
                  <a:pt x="2645588" y="0"/>
                </a:lnTo>
                <a:lnTo>
                  <a:pt x="2938196" y="982980"/>
                </a:lnTo>
                <a:lnTo>
                  <a:pt x="2645588" y="1965960"/>
                </a:lnTo>
                <a:lnTo>
                  <a:pt x="0" y="1965960"/>
                </a:lnTo>
                <a:lnTo>
                  <a:pt x="292608" y="982980"/>
                </a:lnTo>
                <a:close/>
              </a:path>
            </a:pathLst>
          </a:custGeom>
          <a:solidFill>
            <a:srgbClr val="DCEFEC"/>
          </a:solidFill>
          <a:ln w="22225">
            <a:solidFill>
              <a:srgbClr val="0E6B66"/>
            </a:solidFill>
            <a:prstDash val="solid"/>
          </a:ln>
        </p:spPr>
      </p:sp>
      <p:sp>
        <p:nvSpPr>
          <p:cNvPr id="12" name="Text 10"/>
          <p:cNvSpPr txBox="1"/>
          <p:nvPr/>
        </p:nvSpPr>
        <p:spPr>
          <a:xfrm>
            <a:off x="6388456" y="1645920"/>
            <a:ext cx="2197532" cy="685800"/>
          </a:xfrm>
          <a:prstGeom prst="rect">
            <a:avLst/>
          </a:prstGeom>
          <a:noFill/>
          <a:ln/>
        </p:spPr>
        <p:txBody>
          <a:bodyPr wrap="square" lIns="0" tIns="0" rIns="0" bIns="0" rtlCol="0" anchor="t"/>
          <a:lstStyle/>
          <a:p>
            <a:pPr indent="0" marL="0">
              <a:buNone/>
            </a:pPr>
            <a:r>
              <a:rPr lang="en-US" sz="2200" b="1" dirty="0">
                <a:solidFill>
                  <a:srgbClr val="0E6B66"/>
                </a:solidFill>
                <a:latin typeface="Calibri" pitchFamily="34" charset="0"/>
                <a:ea typeface="Calibri" pitchFamily="34" charset="-122"/>
                <a:cs typeface="Calibri" pitchFamily="34" charset="-120"/>
              </a:rPr>
              <a:t>Deliver</a:t>
            </a:r>
            <a:endParaRPr lang="en-US" sz="1800" dirty="0"/>
          </a:p>
          <a:p>
            <a:pPr indent="0" marL="0">
              <a:buNone/>
            </a:pPr>
            <a:r>
              <a:rPr lang="en-US" sz="1800" dirty="0">
                <a:solidFill>
                  <a:srgbClr val="5B6475"/>
                </a:solidFill>
                <a:latin typeface="Calibri" pitchFamily="34" charset="0"/>
                <a:ea typeface="Calibri" pitchFamily="34" charset="-122"/>
                <a:cs typeface="Calibri" pitchFamily="34" charset="-120"/>
              </a:rPr>
              <a:t>Terms 4–6</a:t>
            </a:r>
            <a:endParaRPr lang="en-US" sz="1800" dirty="0"/>
          </a:p>
        </p:txBody>
      </p:sp>
      <p:sp>
        <p:nvSpPr>
          <p:cNvPr id="13" name="Text 11"/>
          <p:cNvSpPr txBox="1"/>
          <p:nvPr/>
        </p:nvSpPr>
        <p:spPr>
          <a:xfrm>
            <a:off x="6388456" y="2359152"/>
            <a:ext cx="2197532" cy="10972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Units built centrally; staff trained in the practice, not the tool</a:t>
            </a:r>
            <a:endParaRPr lang="en-US" sz="1800" dirty="0"/>
          </a:p>
        </p:txBody>
      </p:sp>
      <p:sp>
        <p:nvSpPr>
          <p:cNvPr id="14" name="Shape 12"/>
          <p:cNvSpPr/>
          <p:nvPr/>
        </p:nvSpPr>
        <p:spPr>
          <a:xfrm>
            <a:off x="8704859" y="1554480"/>
            <a:ext cx="2938196" cy="1965960"/>
          </a:xfrm>
          <a:custGeom>
            <a:avLst/>
            <a:gdLst/>
            <a:ahLst/>
            <a:cxnLst/>
            <a:rect l="l" t="t" r="r" b="b"/>
            <a:pathLst>
              <a:path w="2938196" h="1965960">
                <a:moveTo>
                  <a:pt x="0" y="0"/>
                </a:moveTo>
                <a:lnTo>
                  <a:pt x="2645588" y="0"/>
                </a:lnTo>
                <a:lnTo>
                  <a:pt x="2938196" y="982980"/>
                </a:lnTo>
                <a:lnTo>
                  <a:pt x="2645588" y="1965960"/>
                </a:lnTo>
                <a:lnTo>
                  <a:pt x="0" y="1965960"/>
                </a:lnTo>
                <a:lnTo>
                  <a:pt x="292608" y="982980"/>
                </a:lnTo>
                <a:close/>
              </a:path>
            </a:pathLst>
          </a:custGeom>
          <a:solidFill>
            <a:srgbClr val="EFE6F3"/>
          </a:solidFill>
          <a:ln w="22225">
            <a:solidFill>
              <a:srgbClr val="6B3F7A"/>
            </a:solidFill>
            <a:prstDash val="solid"/>
          </a:ln>
        </p:spPr>
      </p:sp>
      <p:sp>
        <p:nvSpPr>
          <p:cNvPr id="15" name="Text 13"/>
          <p:cNvSpPr txBox="1"/>
          <p:nvPr/>
        </p:nvSpPr>
        <p:spPr>
          <a:xfrm>
            <a:off x="9107195" y="1645920"/>
            <a:ext cx="2197532" cy="685800"/>
          </a:xfrm>
          <a:prstGeom prst="rect">
            <a:avLst/>
          </a:prstGeom>
          <a:noFill/>
          <a:ln/>
        </p:spPr>
        <p:txBody>
          <a:bodyPr wrap="square" lIns="0" tIns="0" rIns="0" bIns="0" rtlCol="0" anchor="t"/>
          <a:lstStyle/>
          <a:p>
            <a:pPr indent="0" marL="0">
              <a:buNone/>
            </a:pPr>
            <a:r>
              <a:rPr lang="en-US" sz="2200" b="1" dirty="0">
                <a:solidFill>
                  <a:srgbClr val="6B3F7A"/>
                </a:solidFill>
                <a:latin typeface="Calibri" pitchFamily="34" charset="0"/>
                <a:ea typeface="Calibri" pitchFamily="34" charset="-122"/>
                <a:cs typeface="Calibri" pitchFamily="34" charset="-120"/>
              </a:rPr>
              <a:t>Sustain</a:t>
            </a:r>
            <a:endParaRPr lang="en-US" sz="1800" dirty="0"/>
          </a:p>
          <a:p>
            <a:pPr indent="0" marL="0">
              <a:buNone/>
            </a:pPr>
            <a:r>
              <a:rPr lang="en-US" sz="1800" dirty="0">
                <a:solidFill>
                  <a:srgbClr val="5B6475"/>
                </a:solidFill>
                <a:latin typeface="Calibri" pitchFamily="34" charset="0"/>
                <a:ea typeface="Calibri" pitchFamily="34" charset="-122"/>
                <a:cs typeface="Calibri" pitchFamily="34" charset="-120"/>
              </a:rPr>
              <a:t>Terms 7+</a:t>
            </a:r>
            <a:endParaRPr lang="en-US" sz="1800" dirty="0"/>
          </a:p>
        </p:txBody>
      </p:sp>
      <p:sp>
        <p:nvSpPr>
          <p:cNvPr id="16" name="Text 14"/>
          <p:cNvSpPr txBox="1"/>
          <p:nvPr/>
        </p:nvSpPr>
        <p:spPr>
          <a:xfrm>
            <a:off x="9107195" y="2359152"/>
            <a:ext cx="2197532" cy="1097280"/>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Evaluate against the baseline; scale, adapt or stop by evidence</a:t>
            </a:r>
            <a:endParaRPr lang="en-US" sz="1800" dirty="0"/>
          </a:p>
        </p:txBody>
      </p:sp>
      <p:sp>
        <p:nvSpPr>
          <p:cNvPr id="17" name="Text 15"/>
          <p:cNvSpPr txBox="1"/>
          <p:nvPr/>
        </p:nvSpPr>
        <p:spPr>
          <a:xfrm>
            <a:off x="548640" y="3611880"/>
            <a:ext cx="11094415" cy="347472"/>
          </a:xfrm>
          <a:prstGeom prst="rect">
            <a:avLst/>
          </a:prstGeom>
          <a:noFill/>
          <a:ln/>
        </p:spPr>
        <p:txBody>
          <a:bodyPr wrap="square" lIns="0" tIns="0" rIns="0" bIns="0" rtlCol="0" anchor="ctr"/>
          <a:lstStyle/>
          <a:p>
            <a:pPr indent="0" marL="0">
              <a:buNone/>
            </a:pPr>
            <a:r>
              <a:rPr lang="en-US" sz="1800" i="1" dirty="0">
                <a:solidFill>
                  <a:srgbClr val="5B6475"/>
                </a:solidFill>
                <a:latin typeface="Calibri" pitchFamily="34" charset="0"/>
                <a:ea typeface="Calibri" pitchFamily="34" charset="-122"/>
                <a:cs typeface="Calibri" pitchFamily="34" charset="-120"/>
              </a:rPr>
              <a:t>Phases follow the EEF’s guide to implementation; term numbers are indicative.</a:t>
            </a:r>
            <a:endParaRPr lang="en-US" sz="1800" dirty="0"/>
          </a:p>
        </p:txBody>
      </p:sp>
      <p:sp>
        <p:nvSpPr>
          <p:cNvPr id="18" name="Text 16"/>
          <p:cNvSpPr txBox="1"/>
          <p:nvPr/>
        </p:nvSpPr>
        <p:spPr>
          <a:xfrm>
            <a:off x="548640" y="4069080"/>
            <a:ext cx="11094415" cy="384048"/>
          </a:xfrm>
          <a:prstGeom prst="rect">
            <a:avLst/>
          </a:prstGeom>
          <a:noFill/>
          <a:ln/>
        </p:spPr>
        <p:txBody>
          <a:bodyPr wrap="square" lIns="0" tIns="0" rIns="0" bIns="0" rtlCol="0" anchor="ctr"/>
          <a:lstStyle/>
          <a:p>
            <a:pPr indent="0" marL="0">
              <a:buNone/>
            </a:pPr>
            <a:r>
              <a:rPr lang="en-US" sz="2000" b="1" dirty="0">
                <a:solidFill>
                  <a:srgbClr val="2B3445"/>
                </a:solidFill>
                <a:latin typeface="Calibri" pitchFamily="34" charset="0"/>
                <a:ea typeface="Calibri" pitchFamily="34" charset="-122"/>
                <a:cs typeface="Calibri" pitchFamily="34" charset="-120"/>
              </a:rPr>
              <a:t>Decide in advance where the saved time goes</a:t>
            </a:r>
            <a:endParaRPr lang="en-US" sz="2000" dirty="0"/>
          </a:p>
        </p:txBody>
      </p:sp>
      <p:sp>
        <p:nvSpPr>
          <p:cNvPr id="19" name="Shape 17"/>
          <p:cNvSpPr/>
          <p:nvPr/>
        </p:nvSpPr>
        <p:spPr>
          <a:xfrm>
            <a:off x="548640" y="4553712"/>
            <a:ext cx="2606040" cy="868680"/>
          </a:xfrm>
          <a:prstGeom prst="roundRect">
            <a:avLst>
              <a:gd name="adj" fmla="val 8421"/>
            </a:avLst>
          </a:prstGeom>
          <a:solidFill>
            <a:srgbClr val="2B3445"/>
          </a:solidFill>
          <a:ln/>
        </p:spPr>
      </p:sp>
      <p:sp>
        <p:nvSpPr>
          <p:cNvPr id="20" name="Text 18"/>
          <p:cNvSpPr txBox="1"/>
          <p:nvPr/>
        </p:nvSpPr>
        <p:spPr>
          <a:xfrm>
            <a:off x="685800" y="4553712"/>
            <a:ext cx="2331720" cy="8686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Hours saved adapting resources</a:t>
            </a:r>
            <a:endParaRPr lang="en-US" sz="1800" dirty="0"/>
          </a:p>
        </p:txBody>
      </p:sp>
      <p:sp>
        <p:nvSpPr>
          <p:cNvPr id="21" name="Shape 19"/>
          <p:cNvSpPr/>
          <p:nvPr/>
        </p:nvSpPr>
        <p:spPr>
          <a:xfrm>
            <a:off x="3209544" y="4988052"/>
            <a:ext cx="393192" cy="0"/>
          </a:xfrm>
          <a:prstGeom prst="line">
            <a:avLst/>
          </a:prstGeom>
          <a:noFill/>
          <a:ln w="31750">
            <a:solidFill>
              <a:srgbClr val="5B6475"/>
            </a:solidFill>
            <a:prstDash val="solid"/>
            <a:tailEnd type="triangle"/>
          </a:ln>
        </p:spPr>
      </p:sp>
      <p:sp>
        <p:nvSpPr>
          <p:cNvPr id="22" name="Shape 20"/>
          <p:cNvSpPr/>
          <p:nvPr/>
        </p:nvSpPr>
        <p:spPr>
          <a:xfrm>
            <a:off x="3657600" y="4553712"/>
            <a:ext cx="2539898" cy="868680"/>
          </a:xfrm>
          <a:prstGeom prst="roundRect">
            <a:avLst>
              <a:gd name="adj" fmla="val 8421"/>
            </a:avLst>
          </a:prstGeom>
          <a:solidFill>
            <a:srgbClr val="DCEFEC"/>
          </a:solidFill>
          <a:ln w="19050">
            <a:solidFill>
              <a:srgbClr val="0E6B66"/>
            </a:solidFill>
            <a:prstDash val="solid"/>
          </a:ln>
        </p:spPr>
      </p:sp>
      <p:sp>
        <p:nvSpPr>
          <p:cNvPr id="23" name="Text 21"/>
          <p:cNvSpPr txBox="1"/>
          <p:nvPr/>
        </p:nvSpPr>
        <p:spPr>
          <a:xfrm>
            <a:off x="3794760" y="4553712"/>
            <a:ext cx="2265578" cy="868680"/>
          </a:xfrm>
          <a:prstGeom prst="rect">
            <a:avLst/>
          </a:prstGeom>
          <a:noFill/>
          <a:ln/>
        </p:spPr>
        <p:txBody>
          <a:bodyPr wrap="square" lIns="0" tIns="0" rIns="0" bIns="0" rtlCol="0" anchor="ctr"/>
          <a:lstStyle/>
          <a:p>
            <a:pPr algn="ctr" indent="0" marL="0">
              <a:buNone/>
            </a:pPr>
            <a:r>
              <a:rPr lang="en-US" sz="1800" b="1" dirty="0">
                <a:solidFill>
                  <a:srgbClr val="0E6B66"/>
                </a:solidFill>
                <a:latin typeface="Calibri" pitchFamily="34" charset="0"/>
                <a:ea typeface="Calibri" pitchFamily="34" charset="-122"/>
                <a:cs typeface="Calibri" pitchFamily="34" charset="-120"/>
              </a:rPr>
              <a:t>Pre-teaching groups</a:t>
            </a:r>
            <a:endParaRPr lang="en-US" sz="1800" dirty="0"/>
          </a:p>
        </p:txBody>
      </p:sp>
      <p:sp>
        <p:nvSpPr>
          <p:cNvPr id="24" name="Shape 22"/>
          <p:cNvSpPr/>
          <p:nvPr/>
        </p:nvSpPr>
        <p:spPr>
          <a:xfrm>
            <a:off x="6380378" y="4553712"/>
            <a:ext cx="2539898" cy="868680"/>
          </a:xfrm>
          <a:prstGeom prst="roundRect">
            <a:avLst>
              <a:gd name="adj" fmla="val 8421"/>
            </a:avLst>
          </a:prstGeom>
          <a:solidFill>
            <a:srgbClr val="DCEFEC"/>
          </a:solidFill>
          <a:ln w="19050">
            <a:solidFill>
              <a:srgbClr val="0E6B66"/>
            </a:solidFill>
            <a:prstDash val="solid"/>
          </a:ln>
        </p:spPr>
      </p:sp>
      <p:sp>
        <p:nvSpPr>
          <p:cNvPr id="25" name="Text 23"/>
          <p:cNvSpPr txBox="1"/>
          <p:nvPr/>
        </p:nvSpPr>
        <p:spPr>
          <a:xfrm>
            <a:off x="6517538" y="4553712"/>
            <a:ext cx="2265578" cy="868680"/>
          </a:xfrm>
          <a:prstGeom prst="rect">
            <a:avLst/>
          </a:prstGeom>
          <a:noFill/>
          <a:ln/>
        </p:spPr>
        <p:txBody>
          <a:bodyPr wrap="square" lIns="0" tIns="0" rIns="0" bIns="0" rtlCol="0" anchor="ctr"/>
          <a:lstStyle/>
          <a:p>
            <a:pPr algn="ctr" indent="0" marL="0">
              <a:buNone/>
            </a:pPr>
            <a:r>
              <a:rPr lang="en-US" sz="1800" b="1" dirty="0">
                <a:solidFill>
                  <a:srgbClr val="0E6B66"/>
                </a:solidFill>
                <a:latin typeface="Calibri" pitchFamily="34" charset="0"/>
                <a:ea typeface="Calibri" pitchFamily="34" charset="-122"/>
                <a:cs typeface="Calibri" pitchFamily="34" charset="-120"/>
              </a:rPr>
              <a:t>Feedback on extended writing</a:t>
            </a:r>
            <a:endParaRPr lang="en-US" sz="1800" dirty="0"/>
          </a:p>
        </p:txBody>
      </p:sp>
      <p:sp>
        <p:nvSpPr>
          <p:cNvPr id="26" name="Shape 24"/>
          <p:cNvSpPr/>
          <p:nvPr/>
        </p:nvSpPr>
        <p:spPr>
          <a:xfrm>
            <a:off x="9103157" y="4553712"/>
            <a:ext cx="2539898" cy="868680"/>
          </a:xfrm>
          <a:prstGeom prst="roundRect">
            <a:avLst>
              <a:gd name="adj" fmla="val 8421"/>
            </a:avLst>
          </a:prstGeom>
          <a:solidFill>
            <a:srgbClr val="DCEFEC"/>
          </a:solidFill>
          <a:ln w="19050">
            <a:solidFill>
              <a:srgbClr val="0E6B66"/>
            </a:solidFill>
            <a:prstDash val="solid"/>
          </a:ln>
        </p:spPr>
      </p:sp>
      <p:sp>
        <p:nvSpPr>
          <p:cNvPr id="27" name="Text 25"/>
          <p:cNvSpPr txBox="1"/>
          <p:nvPr/>
        </p:nvSpPr>
        <p:spPr>
          <a:xfrm>
            <a:off x="9240317" y="4553712"/>
            <a:ext cx="2265578" cy="868680"/>
          </a:xfrm>
          <a:prstGeom prst="rect">
            <a:avLst/>
          </a:prstGeom>
          <a:noFill/>
          <a:ln/>
        </p:spPr>
        <p:txBody>
          <a:bodyPr wrap="square" lIns="0" tIns="0" rIns="0" bIns="0" rtlCol="0" anchor="ctr"/>
          <a:lstStyle/>
          <a:p>
            <a:pPr algn="ctr" indent="0" marL="0">
              <a:buNone/>
            </a:pPr>
            <a:r>
              <a:rPr lang="en-US" sz="1800" b="1" dirty="0">
                <a:solidFill>
                  <a:srgbClr val="0E6B66"/>
                </a:solidFill>
                <a:latin typeface="Calibri" pitchFamily="34" charset="0"/>
                <a:ea typeface="Calibri" pitchFamily="34" charset="-122"/>
                <a:cs typeface="Calibri" pitchFamily="34" charset="-120"/>
              </a:rPr>
              <a:t>Termly review of pupils on SEN Support</a:t>
            </a:r>
            <a:endParaRPr lang="en-US" sz="1800" dirty="0"/>
          </a:p>
        </p:txBody>
      </p:sp>
      <p:sp>
        <p:nvSpPr>
          <p:cNvPr id="28" name="Text 26"/>
          <p:cNvSpPr txBox="1"/>
          <p:nvPr/>
        </p:nvSpPr>
        <p:spPr>
          <a:xfrm>
            <a:off x="548640" y="5577840"/>
            <a:ext cx="11094415" cy="502920"/>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Then governors can ask a precise question at the end of the year: </a:t>
            </a:r>
            <a:pPr indent="0" marL="0">
              <a:buNone/>
            </a:pPr>
            <a:r>
              <a:rPr lang="en-US" sz="1800" b="1" dirty="0">
                <a:solidFill>
                  <a:srgbClr val="0E6B66"/>
                </a:solidFill>
                <a:latin typeface="Calibri" pitchFamily="34" charset="0"/>
                <a:ea typeface="Calibri" pitchFamily="34" charset="-122"/>
                <a:cs typeface="Calibri" pitchFamily="34" charset="-120"/>
              </a:rPr>
              <a:t>where did the time go?</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07 · EVALUATION</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Measures that can return bad news</a:t>
            </a:r>
            <a:endParaRPr lang="en-US" sz="3400" dirty="0"/>
          </a:p>
        </p:txBody>
      </p:sp>
      <p:sp>
        <p:nvSpPr>
          <p:cNvPr id="5" name="Text 3"/>
          <p:cNvSpPr txBox="1"/>
          <p:nvPr/>
        </p:nvSpPr>
        <p:spPr>
          <a:xfrm>
            <a:off x="548640" y="1536192"/>
            <a:ext cx="11094415" cy="457200"/>
          </a:xfrm>
          <a:prstGeom prst="rect">
            <a:avLst/>
          </a:prstGeom>
          <a:noFill/>
          <a:ln/>
        </p:spPr>
        <p:txBody>
          <a:bodyPr wrap="square" lIns="0" tIns="0" rIns="0" bIns="0" rtlCol="0" anchor="ctr"/>
          <a:lstStyle/>
          <a:p>
            <a:pPr indent="0" marL="0">
              <a:buNone/>
            </a:pPr>
            <a:r>
              <a:rPr lang="en-US" sz="2000" b="1" dirty="0">
                <a:solidFill>
                  <a:srgbClr val="B5701F"/>
                </a:solidFill>
                <a:latin typeface="Calibri" pitchFamily="34" charset="0"/>
                <a:ea typeface="Calibri" pitchFamily="34" charset="-122"/>
                <a:cs typeface="Calibri" pitchFamily="34" charset="-120"/>
              </a:rPr>
              <a:t>Only 35% </a:t>
            </a:r>
            <a:pPr indent="0" marL="0">
              <a:buNone/>
            </a:pPr>
            <a:r>
              <a:rPr lang="en-US" sz="2000" dirty="0">
                <a:solidFill>
                  <a:srgbClr val="1E2430"/>
                </a:solidFill>
                <a:latin typeface="Calibri" pitchFamily="34" charset="0"/>
                <a:ea typeface="Calibri" pitchFamily="34" charset="-122"/>
                <a:cs typeface="Calibri" pitchFamily="34" charset="-120"/>
              </a:rPr>
              <a:t>of school leaders had any way of telling whether their technology was effective.</a:t>
            </a:r>
            <a:endParaRPr lang="en-US" sz="2000" dirty="0"/>
          </a:p>
        </p:txBody>
      </p:sp>
      <p:sp>
        <p:nvSpPr>
          <p:cNvPr id="6" name="Shape 4"/>
          <p:cNvSpPr/>
          <p:nvPr/>
        </p:nvSpPr>
        <p:spPr>
          <a:xfrm>
            <a:off x="548640" y="2176272"/>
            <a:ext cx="3515258" cy="1874520"/>
          </a:xfrm>
          <a:prstGeom prst="roundRect">
            <a:avLst>
              <a:gd name="adj" fmla="val 3902"/>
            </a:avLst>
          </a:prstGeom>
          <a:solidFill>
            <a:srgbClr val="E8EBF0"/>
          </a:solidFill>
          <a:ln/>
        </p:spPr>
      </p:sp>
      <p:sp>
        <p:nvSpPr>
          <p:cNvPr id="7" name="Text 5"/>
          <p:cNvSpPr txBox="1"/>
          <p:nvPr/>
        </p:nvSpPr>
        <p:spPr>
          <a:xfrm>
            <a:off x="731520" y="2267712"/>
            <a:ext cx="3149498" cy="365760"/>
          </a:xfrm>
          <a:prstGeom prst="rect">
            <a:avLst/>
          </a:prstGeom>
          <a:noFill/>
          <a:ln/>
        </p:spPr>
        <p:txBody>
          <a:bodyPr wrap="square" lIns="0" tIns="0" rIns="0" bIns="0" rtlCol="0" anchor="ctr"/>
          <a:lstStyle/>
          <a:p>
            <a:pPr indent="0" marL="0">
              <a:buNone/>
            </a:pPr>
            <a:r>
              <a:rPr lang="en-US" sz="2000" b="1" dirty="0">
                <a:solidFill>
                  <a:srgbClr val="2B3445"/>
                </a:solidFill>
                <a:latin typeface="Calibri" pitchFamily="34" charset="0"/>
                <a:ea typeface="Calibri" pitchFamily="34" charset="-122"/>
                <a:cs typeface="Calibri" pitchFamily="34" charset="-120"/>
              </a:rPr>
              <a:t>Teacher attention</a:t>
            </a:r>
            <a:endParaRPr lang="en-US" sz="2000" dirty="0"/>
          </a:p>
        </p:txBody>
      </p:sp>
      <p:sp>
        <p:nvSpPr>
          <p:cNvPr id="8" name="Text 6"/>
          <p:cNvSpPr txBox="1"/>
          <p:nvPr/>
        </p:nvSpPr>
        <p:spPr>
          <a:xfrm>
            <a:off x="731520" y="2679192"/>
            <a:ext cx="3149498" cy="1307592"/>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Share of lesson time in which pupils with EHCPs are the class teacher’s focus, before and after (SENSE).</a:t>
            </a:r>
            <a:endParaRPr lang="en-US" sz="1800" dirty="0"/>
          </a:p>
        </p:txBody>
      </p:sp>
      <p:sp>
        <p:nvSpPr>
          <p:cNvPr id="9" name="Shape 7"/>
          <p:cNvSpPr/>
          <p:nvPr/>
        </p:nvSpPr>
        <p:spPr>
          <a:xfrm>
            <a:off x="4338218" y="2176272"/>
            <a:ext cx="3515258" cy="1874520"/>
          </a:xfrm>
          <a:prstGeom prst="roundRect">
            <a:avLst>
              <a:gd name="adj" fmla="val 3902"/>
            </a:avLst>
          </a:prstGeom>
          <a:solidFill>
            <a:srgbClr val="E8EBF0"/>
          </a:solidFill>
          <a:ln/>
        </p:spPr>
      </p:sp>
      <p:sp>
        <p:nvSpPr>
          <p:cNvPr id="10" name="Text 8"/>
          <p:cNvSpPr txBox="1"/>
          <p:nvPr/>
        </p:nvSpPr>
        <p:spPr>
          <a:xfrm>
            <a:off x="4521098" y="2267712"/>
            <a:ext cx="3149498" cy="365760"/>
          </a:xfrm>
          <a:prstGeom prst="rect">
            <a:avLst/>
          </a:prstGeom>
          <a:noFill/>
          <a:ln/>
        </p:spPr>
        <p:txBody>
          <a:bodyPr wrap="square" lIns="0" tIns="0" rIns="0" bIns="0" rtlCol="0" anchor="ctr"/>
          <a:lstStyle/>
          <a:p>
            <a:pPr indent="0" marL="0">
              <a:buNone/>
            </a:pPr>
            <a:r>
              <a:rPr lang="en-US" sz="2000" b="1" dirty="0">
                <a:solidFill>
                  <a:srgbClr val="2B3445"/>
                </a:solidFill>
                <a:latin typeface="Calibri" pitchFamily="34" charset="0"/>
                <a:ea typeface="Calibri" pitchFamily="34" charset="-122"/>
                <a:cs typeface="Calibri" pitchFamily="34" charset="-120"/>
              </a:rPr>
              <a:t>Pre-teaching effect</a:t>
            </a:r>
            <a:endParaRPr lang="en-US" sz="2000" dirty="0"/>
          </a:p>
        </p:txBody>
      </p:sp>
      <p:sp>
        <p:nvSpPr>
          <p:cNvPr id="11" name="Text 9"/>
          <p:cNvSpPr txBox="1"/>
          <p:nvPr/>
        </p:nvSpPr>
        <p:spPr>
          <a:xfrm>
            <a:off x="4521098" y="2679192"/>
            <a:ext cx="3149498" cy="1307592"/>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Exit tickets of pre-taught pupils against their peers, over two terms. Scale or stop, by evidence.</a:t>
            </a:r>
            <a:endParaRPr lang="en-US" sz="1800" dirty="0"/>
          </a:p>
        </p:txBody>
      </p:sp>
      <p:sp>
        <p:nvSpPr>
          <p:cNvPr id="12" name="Shape 10"/>
          <p:cNvSpPr/>
          <p:nvPr/>
        </p:nvSpPr>
        <p:spPr>
          <a:xfrm>
            <a:off x="8127797" y="2176272"/>
            <a:ext cx="3515258" cy="1874520"/>
          </a:xfrm>
          <a:prstGeom prst="roundRect">
            <a:avLst>
              <a:gd name="adj" fmla="val 3902"/>
            </a:avLst>
          </a:prstGeom>
          <a:solidFill>
            <a:srgbClr val="E8EBF0"/>
          </a:solidFill>
          <a:ln/>
        </p:spPr>
      </p:sp>
      <p:sp>
        <p:nvSpPr>
          <p:cNvPr id="13" name="Text 11"/>
          <p:cNvSpPr txBox="1"/>
          <p:nvPr/>
        </p:nvSpPr>
        <p:spPr>
          <a:xfrm>
            <a:off x="8310677" y="2267712"/>
            <a:ext cx="3149498" cy="365760"/>
          </a:xfrm>
          <a:prstGeom prst="rect">
            <a:avLst/>
          </a:prstGeom>
          <a:noFill/>
          <a:ln/>
        </p:spPr>
        <p:txBody>
          <a:bodyPr wrap="square" lIns="0" tIns="0" rIns="0" bIns="0" rtlCol="0" anchor="ctr"/>
          <a:lstStyle/>
          <a:p>
            <a:pPr indent="0" marL="0">
              <a:buNone/>
            </a:pPr>
            <a:r>
              <a:rPr lang="en-US" sz="2000" b="1" dirty="0">
                <a:solidFill>
                  <a:srgbClr val="2B3445"/>
                </a:solidFill>
                <a:latin typeface="Calibri" pitchFamily="34" charset="0"/>
                <a:ea typeface="Calibri" pitchFamily="34" charset="-122"/>
                <a:cs typeface="Calibri" pitchFamily="34" charset="-120"/>
              </a:rPr>
              <a:t>Common destination</a:t>
            </a:r>
            <a:endParaRPr lang="en-US" sz="2000" dirty="0"/>
          </a:p>
        </p:txBody>
      </p:sp>
      <p:sp>
        <p:nvSpPr>
          <p:cNvPr id="14" name="Text 12"/>
          <p:cNvSpPr txBox="1"/>
          <p:nvPr/>
        </p:nvSpPr>
        <p:spPr>
          <a:xfrm>
            <a:off x="8310677" y="2679192"/>
            <a:ext cx="3149498" cy="1307592"/>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Learning walks: do pupils at every level reach the same final task? Catches lowered demand.</a:t>
            </a:r>
            <a:endParaRPr lang="en-US" sz="1800" dirty="0"/>
          </a:p>
        </p:txBody>
      </p:sp>
      <p:sp>
        <p:nvSpPr>
          <p:cNvPr id="15" name="Shape 13"/>
          <p:cNvSpPr/>
          <p:nvPr/>
        </p:nvSpPr>
        <p:spPr>
          <a:xfrm>
            <a:off x="548640" y="4206240"/>
            <a:ext cx="3515258" cy="1874520"/>
          </a:xfrm>
          <a:prstGeom prst="roundRect">
            <a:avLst>
              <a:gd name="adj" fmla="val 3902"/>
            </a:avLst>
          </a:prstGeom>
          <a:solidFill>
            <a:srgbClr val="F8EBD9"/>
          </a:solidFill>
          <a:ln w="22225">
            <a:solidFill>
              <a:srgbClr val="B5701F"/>
            </a:solidFill>
            <a:prstDash val="solid"/>
          </a:ln>
        </p:spPr>
      </p:sp>
      <p:sp>
        <p:nvSpPr>
          <p:cNvPr id="16" name="Text 14"/>
          <p:cNvSpPr txBox="1"/>
          <p:nvPr/>
        </p:nvSpPr>
        <p:spPr>
          <a:xfrm>
            <a:off x="731520" y="4297680"/>
            <a:ext cx="3149498" cy="365760"/>
          </a:xfrm>
          <a:prstGeom prst="rect">
            <a:avLst/>
          </a:prstGeom>
          <a:noFill/>
          <a:ln/>
        </p:spPr>
        <p:txBody>
          <a:bodyPr wrap="square" lIns="0" tIns="0" rIns="0" bIns="0" rtlCol="0" anchor="ctr"/>
          <a:lstStyle/>
          <a:p>
            <a:pPr indent="0" marL="0">
              <a:buNone/>
            </a:pPr>
            <a:r>
              <a:rPr lang="en-US" sz="2000" b="1" dirty="0">
                <a:solidFill>
                  <a:srgbClr val="B5701F"/>
                </a:solidFill>
                <a:latin typeface="Calibri" pitchFamily="34" charset="0"/>
                <a:ea typeface="Calibri" pitchFamily="34" charset="-122"/>
                <a:cs typeface="Calibri" pitchFamily="34" charset="-120"/>
              </a:rPr>
              <a:t>Offloading check</a:t>
            </a:r>
            <a:endParaRPr lang="en-US" sz="2000" dirty="0"/>
          </a:p>
        </p:txBody>
      </p:sp>
      <p:sp>
        <p:nvSpPr>
          <p:cNvPr id="17" name="Text 15"/>
          <p:cNvSpPr txBox="1"/>
          <p:nvPr/>
        </p:nvSpPr>
        <p:spPr>
          <a:xfrm>
            <a:off x="731520" y="4709160"/>
            <a:ext cx="3149498" cy="1307592"/>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Gate scores (recall before help) over a unit; pupils explain an answer aloud.</a:t>
            </a:r>
            <a:endParaRPr lang="en-US" sz="1800" dirty="0"/>
          </a:p>
          <a:p>
            <a:pPr indent="0" marL="0">
              <a:buNone/>
            </a:pPr>
            <a:r>
              <a:rPr lang="en-US" sz="1800" b="1" dirty="0">
                <a:solidFill>
                  <a:srgbClr val="B5701F"/>
                </a:solidFill>
                <a:latin typeface="Calibri" pitchFamily="34" charset="0"/>
                <a:ea typeface="Calibri" pitchFamily="34" charset="-122"/>
                <a:cs typeface="Calibri" pitchFamily="34" charset="-120"/>
              </a:rPr>
              <a:t>Can return bad news</a:t>
            </a:r>
            <a:endParaRPr lang="en-US" sz="1800" dirty="0"/>
          </a:p>
        </p:txBody>
      </p:sp>
      <p:sp>
        <p:nvSpPr>
          <p:cNvPr id="18" name="Shape 16"/>
          <p:cNvSpPr/>
          <p:nvPr/>
        </p:nvSpPr>
        <p:spPr>
          <a:xfrm>
            <a:off x="4338218" y="4206240"/>
            <a:ext cx="3515258" cy="1874520"/>
          </a:xfrm>
          <a:prstGeom prst="roundRect">
            <a:avLst>
              <a:gd name="adj" fmla="val 3902"/>
            </a:avLst>
          </a:prstGeom>
          <a:solidFill>
            <a:srgbClr val="F8EBD9"/>
          </a:solidFill>
          <a:ln w="22225">
            <a:solidFill>
              <a:srgbClr val="B5701F"/>
            </a:solidFill>
            <a:prstDash val="solid"/>
          </a:ln>
        </p:spPr>
      </p:sp>
      <p:sp>
        <p:nvSpPr>
          <p:cNvPr id="19" name="Text 17"/>
          <p:cNvSpPr txBox="1"/>
          <p:nvPr/>
        </p:nvSpPr>
        <p:spPr>
          <a:xfrm>
            <a:off x="4521098" y="4297680"/>
            <a:ext cx="3149498" cy="365760"/>
          </a:xfrm>
          <a:prstGeom prst="rect">
            <a:avLst/>
          </a:prstGeom>
          <a:noFill/>
          <a:ln/>
        </p:spPr>
        <p:txBody>
          <a:bodyPr wrap="square" lIns="0" tIns="0" rIns="0" bIns="0" rtlCol="0" anchor="ctr"/>
          <a:lstStyle/>
          <a:p>
            <a:pPr indent="0" marL="0">
              <a:buNone/>
            </a:pPr>
            <a:r>
              <a:rPr lang="en-US" sz="2000" b="1" dirty="0">
                <a:solidFill>
                  <a:srgbClr val="B5701F"/>
                </a:solidFill>
                <a:latin typeface="Calibri" pitchFamily="34" charset="0"/>
                <a:ea typeface="Calibri" pitchFamily="34" charset="-122"/>
                <a:cs typeface="Calibri" pitchFamily="34" charset="-120"/>
              </a:rPr>
              <a:t>Staff time</a:t>
            </a:r>
            <a:endParaRPr lang="en-US" sz="2000" dirty="0"/>
          </a:p>
        </p:txBody>
      </p:sp>
      <p:sp>
        <p:nvSpPr>
          <p:cNvPr id="20" name="Text 18"/>
          <p:cNvSpPr txBox="1"/>
          <p:nvPr/>
        </p:nvSpPr>
        <p:spPr>
          <a:xfrm>
            <a:off x="4521098" y="4709160"/>
            <a:ext cx="3149498" cy="1307592"/>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Time spent finding or adapting resources, before rollout and in July. Expected to rise first.</a:t>
            </a:r>
            <a:endParaRPr lang="en-US" sz="1800" dirty="0"/>
          </a:p>
          <a:p>
            <a:pPr indent="0" marL="0">
              <a:buNone/>
            </a:pPr>
            <a:r>
              <a:rPr lang="en-US" sz="1800" b="1" dirty="0">
                <a:solidFill>
                  <a:srgbClr val="B5701F"/>
                </a:solidFill>
                <a:latin typeface="Calibri" pitchFamily="34" charset="0"/>
                <a:ea typeface="Calibri" pitchFamily="34" charset="-122"/>
                <a:cs typeface="Calibri" pitchFamily="34" charset="-120"/>
              </a:rPr>
              <a:t>Can return bad news</a:t>
            </a:r>
            <a:endParaRPr lang="en-US" sz="1800" dirty="0"/>
          </a:p>
        </p:txBody>
      </p:sp>
      <p:sp>
        <p:nvSpPr>
          <p:cNvPr id="21" name="Shape 19"/>
          <p:cNvSpPr/>
          <p:nvPr/>
        </p:nvSpPr>
        <p:spPr>
          <a:xfrm>
            <a:off x="8127797" y="4206240"/>
            <a:ext cx="3515258" cy="1874520"/>
          </a:xfrm>
          <a:prstGeom prst="roundRect">
            <a:avLst>
              <a:gd name="adj" fmla="val 3902"/>
            </a:avLst>
          </a:prstGeom>
          <a:solidFill>
            <a:srgbClr val="E8EBF0"/>
          </a:solidFill>
          <a:ln/>
        </p:spPr>
      </p:sp>
      <p:sp>
        <p:nvSpPr>
          <p:cNvPr id="22" name="Text 20"/>
          <p:cNvSpPr txBox="1"/>
          <p:nvPr/>
        </p:nvSpPr>
        <p:spPr>
          <a:xfrm>
            <a:off x="8310677" y="4297680"/>
            <a:ext cx="3149498" cy="365760"/>
          </a:xfrm>
          <a:prstGeom prst="rect">
            <a:avLst/>
          </a:prstGeom>
          <a:noFill/>
          <a:ln/>
        </p:spPr>
        <p:txBody>
          <a:bodyPr wrap="square" lIns="0" tIns="0" rIns="0" bIns="0" rtlCol="0" anchor="ctr"/>
          <a:lstStyle/>
          <a:p>
            <a:pPr indent="0" marL="0">
              <a:buNone/>
            </a:pPr>
            <a:r>
              <a:rPr lang="en-US" sz="2000" b="1" dirty="0">
                <a:solidFill>
                  <a:srgbClr val="2B3445"/>
                </a:solidFill>
                <a:latin typeface="Calibri" pitchFamily="34" charset="0"/>
                <a:ea typeface="Calibri" pitchFamily="34" charset="-122"/>
                <a:cs typeface="Calibri" pitchFamily="34" charset="-120"/>
              </a:rPr>
              <a:t>Spread</a:t>
            </a:r>
            <a:endParaRPr lang="en-US" sz="2000" dirty="0"/>
          </a:p>
        </p:txBody>
      </p:sp>
      <p:sp>
        <p:nvSpPr>
          <p:cNvPr id="23" name="Text 21"/>
          <p:cNvSpPr txBox="1"/>
          <p:nvPr/>
        </p:nvSpPr>
        <p:spPr>
          <a:xfrm>
            <a:off x="8310677" y="4709160"/>
            <a:ext cx="3149498" cy="1307592"/>
          </a:xfrm>
          <a:prstGeom prst="rect">
            <a:avLst/>
          </a:prstGeom>
          <a:noFill/>
          <a:ln/>
        </p:spPr>
        <p:txBody>
          <a:bodyPr wrap="square" lIns="0" tIns="0" rIns="0" bIns="0" rtlCol="0" anchor="t"/>
          <a:lstStyle/>
          <a:p>
            <a:pPr indent="0" marL="0">
              <a:buNone/>
            </a:pPr>
            <a:r>
              <a:rPr lang="en-US" sz="1800" dirty="0">
                <a:solidFill>
                  <a:srgbClr val="1E2430"/>
                </a:solidFill>
                <a:latin typeface="Calibri" pitchFamily="34" charset="0"/>
                <a:ea typeface="Calibri" pitchFamily="34" charset="-122"/>
                <a:cs typeface="Calibri" pitchFamily="34" charset="-120"/>
              </a:rPr>
              <a:t>Subjects live by July, and whether heads of department describe the pages as theirs.</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SUMMARY OF RECOMMENDATIONS</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Seven decisions for the school</a:t>
            </a:r>
            <a:endParaRPr lang="en-US" sz="3400" dirty="0"/>
          </a:p>
        </p:txBody>
      </p:sp>
      <p:sp>
        <p:nvSpPr>
          <p:cNvPr id="5" name="Text 3"/>
          <p:cNvSpPr txBox="1"/>
          <p:nvPr/>
        </p:nvSpPr>
        <p:spPr>
          <a:xfrm>
            <a:off x="548640" y="1536192"/>
            <a:ext cx="11094415" cy="365760"/>
          </a:xfrm>
          <a:prstGeom prst="rect">
            <a:avLst/>
          </a:prstGeom>
          <a:noFill/>
          <a:ln/>
        </p:spPr>
        <p:txBody>
          <a:bodyPr wrap="square" lIns="0" tIns="0" rIns="0" bIns="0" rtlCol="0" anchor="ctr"/>
          <a:lstStyle/>
          <a:p>
            <a:pPr indent="0" marL="0">
              <a:buNone/>
            </a:pPr>
            <a:r>
              <a:rPr lang="en-US" sz="1800" b="1" dirty="0">
                <a:solidFill>
                  <a:srgbClr val="0E6B66"/>
                </a:solidFill>
                <a:latin typeface="Calibri" pitchFamily="34" charset="0"/>
                <a:ea typeface="Calibri" pitchFamily="34" charset="-122"/>
                <a:cs typeface="Calibri" pitchFamily="34" charset="-120"/>
              </a:rPr>
              <a:t>The first three set the direction</a:t>
            </a:r>
            <a:endParaRPr lang="en-US" sz="1800" dirty="0"/>
          </a:p>
        </p:txBody>
      </p:sp>
      <p:sp>
        <p:nvSpPr>
          <p:cNvPr id="6" name="Shape 4"/>
          <p:cNvSpPr/>
          <p:nvPr/>
        </p:nvSpPr>
        <p:spPr>
          <a:xfrm>
            <a:off x="548640" y="1965960"/>
            <a:ext cx="3515258" cy="1325880"/>
          </a:xfrm>
          <a:prstGeom prst="roundRect">
            <a:avLst>
              <a:gd name="adj" fmla="val 5517"/>
            </a:avLst>
          </a:prstGeom>
          <a:solidFill>
            <a:srgbClr val="DCEFEC"/>
          </a:solidFill>
          <a:ln/>
        </p:spPr>
      </p:sp>
      <p:sp>
        <p:nvSpPr>
          <p:cNvPr id="7" name="Shape 5"/>
          <p:cNvSpPr/>
          <p:nvPr/>
        </p:nvSpPr>
        <p:spPr>
          <a:xfrm>
            <a:off x="713232" y="2383420"/>
            <a:ext cx="566928" cy="490960"/>
          </a:xfrm>
          <a:prstGeom prst="hexagon">
            <a:avLst/>
          </a:prstGeom>
          <a:solidFill>
            <a:srgbClr val="0E6B66"/>
          </a:solidFill>
          <a:ln/>
        </p:spPr>
      </p:sp>
      <p:sp>
        <p:nvSpPr>
          <p:cNvPr id="8" name="Text 6"/>
          <p:cNvSpPr txBox="1"/>
          <p:nvPr/>
        </p:nvSpPr>
        <p:spPr>
          <a:xfrm>
            <a:off x="713232" y="238342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1417320" y="1965960"/>
            <a:ext cx="2509418" cy="1325880"/>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Write the AI strategy as part of the inclusion strategy, not beside it</a:t>
            </a:r>
            <a:endParaRPr lang="en-US" sz="1800" dirty="0"/>
          </a:p>
        </p:txBody>
      </p:sp>
      <p:sp>
        <p:nvSpPr>
          <p:cNvPr id="10" name="Shape 8"/>
          <p:cNvSpPr/>
          <p:nvPr/>
        </p:nvSpPr>
        <p:spPr>
          <a:xfrm>
            <a:off x="4338218" y="1965960"/>
            <a:ext cx="3515258" cy="1325880"/>
          </a:xfrm>
          <a:prstGeom prst="roundRect">
            <a:avLst>
              <a:gd name="adj" fmla="val 5517"/>
            </a:avLst>
          </a:prstGeom>
          <a:solidFill>
            <a:srgbClr val="DCEFEC"/>
          </a:solidFill>
          <a:ln/>
        </p:spPr>
      </p:sp>
      <p:sp>
        <p:nvSpPr>
          <p:cNvPr id="11" name="Shape 9"/>
          <p:cNvSpPr/>
          <p:nvPr/>
        </p:nvSpPr>
        <p:spPr>
          <a:xfrm>
            <a:off x="4502810" y="2383420"/>
            <a:ext cx="566928" cy="490960"/>
          </a:xfrm>
          <a:prstGeom prst="hexagon">
            <a:avLst/>
          </a:prstGeom>
          <a:solidFill>
            <a:srgbClr val="0E6B66"/>
          </a:solidFill>
          <a:ln/>
        </p:spPr>
      </p:sp>
      <p:sp>
        <p:nvSpPr>
          <p:cNvPr id="12" name="Text 10"/>
          <p:cNvSpPr txBox="1"/>
          <p:nvPr/>
        </p:nvSpPr>
        <p:spPr>
          <a:xfrm>
            <a:off x="4502810" y="238342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5206898" y="1965960"/>
            <a:ext cx="2509418" cy="1325880"/>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Use AI where the evidence on adaptive teaching is strongest</a:t>
            </a:r>
            <a:endParaRPr lang="en-US" sz="1800" dirty="0"/>
          </a:p>
        </p:txBody>
      </p:sp>
      <p:sp>
        <p:nvSpPr>
          <p:cNvPr id="14" name="Shape 12"/>
          <p:cNvSpPr/>
          <p:nvPr/>
        </p:nvSpPr>
        <p:spPr>
          <a:xfrm>
            <a:off x="8127797" y="1965960"/>
            <a:ext cx="3515258" cy="1325880"/>
          </a:xfrm>
          <a:prstGeom prst="roundRect">
            <a:avLst>
              <a:gd name="adj" fmla="val 5517"/>
            </a:avLst>
          </a:prstGeom>
          <a:solidFill>
            <a:srgbClr val="DCEFEC"/>
          </a:solidFill>
          <a:ln/>
        </p:spPr>
      </p:sp>
      <p:sp>
        <p:nvSpPr>
          <p:cNvPr id="15" name="Shape 13"/>
          <p:cNvSpPr/>
          <p:nvPr/>
        </p:nvSpPr>
        <p:spPr>
          <a:xfrm>
            <a:off x="8292389" y="2383420"/>
            <a:ext cx="566928" cy="490960"/>
          </a:xfrm>
          <a:prstGeom prst="hexagon">
            <a:avLst/>
          </a:prstGeom>
          <a:solidFill>
            <a:srgbClr val="0E6B66"/>
          </a:solidFill>
          <a:ln/>
        </p:spPr>
      </p:sp>
      <p:sp>
        <p:nvSpPr>
          <p:cNvPr id="16" name="Text 14"/>
          <p:cNvSpPr txBox="1"/>
          <p:nvPr/>
        </p:nvSpPr>
        <p:spPr>
          <a:xfrm>
            <a:off x="8292389" y="238342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996477" y="1965960"/>
            <a:ext cx="2509418" cy="1325880"/>
          </a:xfrm>
          <a:prstGeom prst="rect">
            <a:avLst/>
          </a:prstGeom>
          <a:noFill/>
          <a:ln/>
        </p:spPr>
        <p:txBody>
          <a:bodyPr wrap="square" lIns="0" tIns="0" rIns="0" bIns="0" rtlCol="0" anchor="ctr"/>
          <a:lstStyle/>
          <a:p>
            <a:pPr indent="0" marL="0">
              <a:buNone/>
            </a:pPr>
            <a:r>
              <a:rPr lang="en-US" sz="1800" b="1" dirty="0">
                <a:solidFill>
                  <a:srgbClr val="1E2430"/>
                </a:solidFill>
                <a:latin typeface="Calibri" pitchFamily="34" charset="0"/>
                <a:ea typeface="Calibri" pitchFamily="34" charset="-122"/>
                <a:cs typeface="Calibri" pitchFamily="34" charset="-120"/>
              </a:rPr>
              <a:t>Draw the boundary before the permissions</a:t>
            </a:r>
            <a:endParaRPr lang="en-US" sz="1800" dirty="0"/>
          </a:p>
        </p:txBody>
      </p:sp>
      <p:sp>
        <p:nvSpPr>
          <p:cNvPr id="18" name="Text 16"/>
          <p:cNvSpPr txBox="1"/>
          <p:nvPr/>
        </p:nvSpPr>
        <p:spPr>
          <a:xfrm>
            <a:off x="548640" y="3520440"/>
            <a:ext cx="11094415" cy="365760"/>
          </a:xfrm>
          <a:prstGeom prst="rect">
            <a:avLst/>
          </a:prstGeom>
          <a:noFill/>
          <a:ln/>
        </p:spPr>
        <p:txBody>
          <a:bodyPr wrap="square" lIns="0" tIns="0" rIns="0" bIns="0" rtlCol="0" anchor="ctr"/>
          <a:lstStyle/>
          <a:p>
            <a:pPr indent="0" marL="0">
              <a:buNone/>
            </a:pPr>
            <a:r>
              <a:rPr lang="en-US" sz="1800" b="1" dirty="0">
                <a:solidFill>
                  <a:srgbClr val="6B3F7A"/>
                </a:solidFill>
                <a:latin typeface="Calibri" pitchFamily="34" charset="0"/>
                <a:ea typeface="Calibri" pitchFamily="34" charset="-122"/>
                <a:cs typeface="Calibri" pitchFamily="34" charset="-120"/>
              </a:rPr>
              <a:t>The last four make it safe, sustainable and honest</a:t>
            </a:r>
            <a:endParaRPr lang="en-US" sz="1800" dirty="0"/>
          </a:p>
        </p:txBody>
      </p:sp>
      <p:sp>
        <p:nvSpPr>
          <p:cNvPr id="19" name="Shape 17"/>
          <p:cNvSpPr/>
          <p:nvPr/>
        </p:nvSpPr>
        <p:spPr>
          <a:xfrm>
            <a:off x="548640" y="3950208"/>
            <a:ext cx="2567864" cy="1965960"/>
          </a:xfrm>
          <a:prstGeom prst="roundRect">
            <a:avLst>
              <a:gd name="adj" fmla="val 3721"/>
            </a:avLst>
          </a:prstGeom>
          <a:solidFill>
            <a:srgbClr val="EFE6F3"/>
          </a:solidFill>
          <a:ln/>
        </p:spPr>
      </p:sp>
      <p:sp>
        <p:nvSpPr>
          <p:cNvPr id="20" name="Shape 18"/>
          <p:cNvSpPr/>
          <p:nvPr/>
        </p:nvSpPr>
        <p:spPr>
          <a:xfrm>
            <a:off x="713232" y="4114800"/>
            <a:ext cx="566928" cy="490960"/>
          </a:xfrm>
          <a:prstGeom prst="hexagon">
            <a:avLst/>
          </a:prstGeom>
          <a:solidFill>
            <a:srgbClr val="6B3F7A"/>
          </a:solidFill>
          <a:ln/>
        </p:spPr>
      </p:sp>
      <p:sp>
        <p:nvSpPr>
          <p:cNvPr id="21" name="Text 19"/>
          <p:cNvSpPr txBox="1"/>
          <p:nvPr/>
        </p:nvSpPr>
        <p:spPr>
          <a:xfrm>
            <a:off x="713232" y="411480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731520" y="4727448"/>
            <a:ext cx="2202104" cy="1097280"/>
          </a:xfrm>
          <a:prstGeom prst="rect">
            <a:avLst/>
          </a:prstGeom>
          <a:noFill/>
          <a:ln/>
        </p:spPr>
        <p:txBody>
          <a:bodyPr wrap="square" lIns="0" tIns="0" rIns="0" bIns="0" rtlCol="0" anchor="t"/>
          <a:lstStyle/>
          <a:p>
            <a:pPr indent="0" marL="0">
              <a:buNone/>
            </a:pPr>
            <a:r>
              <a:rPr lang="en-US" sz="1800" b="1" dirty="0">
                <a:solidFill>
                  <a:srgbClr val="1E2430"/>
                </a:solidFill>
                <a:latin typeface="Calibri" pitchFamily="34" charset="0"/>
                <a:ea typeface="Calibri" pitchFamily="34" charset="-122"/>
                <a:cs typeface="Calibri" pitchFamily="34" charset="-120"/>
              </a:rPr>
              <a:t>Tier oversight by consequence, not by tool</a:t>
            </a:r>
            <a:endParaRPr lang="en-US" sz="1800" dirty="0"/>
          </a:p>
        </p:txBody>
      </p:sp>
      <p:sp>
        <p:nvSpPr>
          <p:cNvPr id="23" name="Shape 21"/>
          <p:cNvSpPr/>
          <p:nvPr/>
        </p:nvSpPr>
        <p:spPr>
          <a:xfrm>
            <a:off x="3390824" y="3950208"/>
            <a:ext cx="2567864" cy="1965960"/>
          </a:xfrm>
          <a:prstGeom prst="roundRect">
            <a:avLst>
              <a:gd name="adj" fmla="val 3721"/>
            </a:avLst>
          </a:prstGeom>
          <a:solidFill>
            <a:srgbClr val="EFE6F3"/>
          </a:solidFill>
          <a:ln/>
        </p:spPr>
      </p:sp>
      <p:sp>
        <p:nvSpPr>
          <p:cNvPr id="24" name="Shape 22"/>
          <p:cNvSpPr/>
          <p:nvPr/>
        </p:nvSpPr>
        <p:spPr>
          <a:xfrm>
            <a:off x="3555416" y="4114800"/>
            <a:ext cx="566928" cy="490960"/>
          </a:xfrm>
          <a:prstGeom prst="hexagon">
            <a:avLst/>
          </a:prstGeom>
          <a:solidFill>
            <a:srgbClr val="6B3F7A"/>
          </a:solidFill>
          <a:ln/>
        </p:spPr>
      </p:sp>
      <p:sp>
        <p:nvSpPr>
          <p:cNvPr id="25" name="Text 23"/>
          <p:cNvSpPr txBox="1"/>
          <p:nvPr/>
        </p:nvSpPr>
        <p:spPr>
          <a:xfrm>
            <a:off x="3555416" y="411480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Text 24"/>
          <p:cNvSpPr txBox="1"/>
          <p:nvPr/>
        </p:nvSpPr>
        <p:spPr>
          <a:xfrm>
            <a:off x="3573704" y="4727448"/>
            <a:ext cx="2202104" cy="1097280"/>
          </a:xfrm>
          <a:prstGeom prst="rect">
            <a:avLst/>
          </a:prstGeom>
          <a:noFill/>
          <a:ln/>
        </p:spPr>
        <p:txBody>
          <a:bodyPr wrap="square" lIns="0" tIns="0" rIns="0" bIns="0" rtlCol="0" anchor="t"/>
          <a:lstStyle/>
          <a:p>
            <a:pPr indent="0" marL="0">
              <a:buNone/>
            </a:pPr>
            <a:r>
              <a:rPr lang="en-US" sz="1800" b="1" dirty="0">
                <a:solidFill>
                  <a:srgbClr val="1E2430"/>
                </a:solidFill>
                <a:latin typeface="Calibri" pitchFamily="34" charset="0"/>
                <a:ea typeface="Calibri" pitchFamily="34" charset="-122"/>
                <a:cs typeface="Calibri" pitchFamily="34" charset="-120"/>
              </a:rPr>
              <a:t>Keep pupil data out by design, and put AI inside safeguarding</a:t>
            </a:r>
            <a:endParaRPr lang="en-US" sz="1800" dirty="0"/>
          </a:p>
        </p:txBody>
      </p:sp>
      <p:sp>
        <p:nvSpPr>
          <p:cNvPr id="27" name="Shape 25"/>
          <p:cNvSpPr/>
          <p:nvPr/>
        </p:nvSpPr>
        <p:spPr>
          <a:xfrm>
            <a:off x="6233008" y="3950208"/>
            <a:ext cx="2567864" cy="1965960"/>
          </a:xfrm>
          <a:prstGeom prst="roundRect">
            <a:avLst>
              <a:gd name="adj" fmla="val 3721"/>
            </a:avLst>
          </a:prstGeom>
          <a:solidFill>
            <a:srgbClr val="EFE6F3"/>
          </a:solidFill>
          <a:ln/>
        </p:spPr>
      </p:sp>
      <p:sp>
        <p:nvSpPr>
          <p:cNvPr id="28" name="Shape 26"/>
          <p:cNvSpPr/>
          <p:nvPr/>
        </p:nvSpPr>
        <p:spPr>
          <a:xfrm>
            <a:off x="6397600" y="4114800"/>
            <a:ext cx="566928" cy="490960"/>
          </a:xfrm>
          <a:prstGeom prst="hexagon">
            <a:avLst/>
          </a:prstGeom>
          <a:solidFill>
            <a:srgbClr val="6B3F7A"/>
          </a:solidFill>
          <a:ln/>
        </p:spPr>
      </p:sp>
      <p:sp>
        <p:nvSpPr>
          <p:cNvPr id="29" name="Text 27"/>
          <p:cNvSpPr txBox="1"/>
          <p:nvPr/>
        </p:nvSpPr>
        <p:spPr>
          <a:xfrm>
            <a:off x="6397600" y="411480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0" name="Text 28"/>
          <p:cNvSpPr txBox="1"/>
          <p:nvPr/>
        </p:nvSpPr>
        <p:spPr>
          <a:xfrm>
            <a:off x="6415888" y="4727448"/>
            <a:ext cx="2202104" cy="1097280"/>
          </a:xfrm>
          <a:prstGeom prst="rect">
            <a:avLst/>
          </a:prstGeom>
          <a:noFill/>
          <a:ln/>
        </p:spPr>
        <p:txBody>
          <a:bodyPr wrap="square" lIns="0" tIns="0" rIns="0" bIns="0" rtlCol="0" anchor="t"/>
          <a:lstStyle/>
          <a:p>
            <a:pPr indent="0" marL="0">
              <a:buNone/>
            </a:pPr>
            <a:r>
              <a:rPr lang="en-US" sz="1800" b="1" dirty="0">
                <a:solidFill>
                  <a:srgbClr val="1E2430"/>
                </a:solidFill>
                <a:latin typeface="Calibri" pitchFamily="34" charset="0"/>
                <a:ea typeface="Calibri" pitchFamily="34" charset="-122"/>
                <a:cs typeface="Calibri" pitchFamily="34" charset="-120"/>
              </a:rPr>
              <a:t>Build once, centrally, and put the time in a role</a:t>
            </a:r>
            <a:endParaRPr lang="en-US" sz="1800" dirty="0"/>
          </a:p>
        </p:txBody>
      </p:sp>
      <p:sp>
        <p:nvSpPr>
          <p:cNvPr id="31" name="Shape 29"/>
          <p:cNvSpPr/>
          <p:nvPr/>
        </p:nvSpPr>
        <p:spPr>
          <a:xfrm>
            <a:off x="9075191" y="3950208"/>
            <a:ext cx="2567864" cy="1965960"/>
          </a:xfrm>
          <a:prstGeom prst="roundRect">
            <a:avLst>
              <a:gd name="adj" fmla="val 3721"/>
            </a:avLst>
          </a:prstGeom>
          <a:solidFill>
            <a:srgbClr val="EFE6F3"/>
          </a:solidFill>
          <a:ln/>
        </p:spPr>
      </p:sp>
      <p:sp>
        <p:nvSpPr>
          <p:cNvPr id="32" name="Shape 30"/>
          <p:cNvSpPr/>
          <p:nvPr/>
        </p:nvSpPr>
        <p:spPr>
          <a:xfrm>
            <a:off x="9239783" y="4114800"/>
            <a:ext cx="566928" cy="490960"/>
          </a:xfrm>
          <a:prstGeom prst="hexagon">
            <a:avLst/>
          </a:prstGeom>
          <a:solidFill>
            <a:srgbClr val="6B3F7A"/>
          </a:solidFill>
          <a:ln/>
        </p:spPr>
      </p:sp>
      <p:sp>
        <p:nvSpPr>
          <p:cNvPr id="33" name="Text 31"/>
          <p:cNvSpPr txBox="1"/>
          <p:nvPr/>
        </p:nvSpPr>
        <p:spPr>
          <a:xfrm>
            <a:off x="9239783" y="411480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4" name="Text 32"/>
          <p:cNvSpPr txBox="1"/>
          <p:nvPr/>
        </p:nvSpPr>
        <p:spPr>
          <a:xfrm>
            <a:off x="9258071" y="4727448"/>
            <a:ext cx="2202104" cy="1097280"/>
          </a:xfrm>
          <a:prstGeom prst="rect">
            <a:avLst/>
          </a:prstGeom>
          <a:noFill/>
          <a:ln/>
        </p:spPr>
        <p:txBody>
          <a:bodyPr wrap="square" lIns="0" tIns="0" rIns="0" bIns="0" rtlCol="0" anchor="t"/>
          <a:lstStyle/>
          <a:p>
            <a:pPr indent="0" marL="0">
              <a:buNone/>
            </a:pPr>
            <a:r>
              <a:rPr lang="en-US" sz="1800" b="1" dirty="0">
                <a:solidFill>
                  <a:srgbClr val="1E2430"/>
                </a:solidFill>
                <a:latin typeface="Calibri" pitchFamily="34" charset="0"/>
                <a:ea typeface="Calibri" pitchFamily="34" charset="-122"/>
                <a:cs typeface="Calibri" pitchFamily="34" charset="-120"/>
              </a:rPr>
              <a:t>Agree the evaluation before the rollout</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06908"/>
            <a:ext cx="274320" cy="237561"/>
          </a:xfrm>
          <a:prstGeom prst="hexagon">
            <a:avLst/>
          </a:prstGeom>
          <a:solidFill>
            <a:srgbClr val="0E6B66"/>
          </a:solidFill>
          <a:ln/>
        </p:spPr>
      </p:sp>
      <p:sp>
        <p:nvSpPr>
          <p:cNvPr id="3" name="Text 1"/>
          <p:cNvSpPr/>
          <p:nvPr>
            <p:ph idx="101" type="body" hasCustomPrompt="1"/>
          </p:nvPr>
        </p:nvSpPr>
        <p:spPr>
          <a:xfrm>
            <a:off x="932688" y="347472"/>
            <a:ext cx="10710367" cy="365760"/>
          </a:xfrm>
          <a:prstGeom prst="rect">
            <a:avLst/>
          </a:prstGeom>
          <a:noFill/>
          <a:ln/>
        </p:spPr>
        <p:txBody>
          <a:bodyPr wrap="square" lIns="0" tIns="0" rIns="0" bIns="0" rtlCol="0" anchor="ctr"/>
          <a:lstStyle/>
          <a:p>
            <a:pPr indent="0" marL="0">
              <a:buNone/>
            </a:pPr>
            <a:r>
              <a:rPr lang="en-US" sz="1800" b="1" spc="100" kern="0" dirty="0">
                <a:solidFill>
                  <a:srgbClr val="0E6B66"/>
                </a:solidFill>
                <a:latin typeface="Calibri" pitchFamily="34" charset="0"/>
                <a:ea typeface="Calibri" pitchFamily="34" charset="-122"/>
                <a:cs typeface="Calibri" pitchFamily="34" charset="-120"/>
              </a:rPr>
              <a:t>IN SUMMARY</a:t>
            </a:r>
            <a:endParaRPr lang="en-US" sz="1800" dirty="0"/>
          </a:p>
        </p:txBody>
      </p:sp>
      <p:sp>
        <p:nvSpPr>
          <p:cNvPr id="4" name="Text 1"/>
          <p:cNvSpPr/>
          <p:nvPr>
            <p:ph idx="102"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3400" b="1" dirty="0">
                <a:solidFill>
                  <a:srgbClr val="2B3445"/>
                </a:solidFill>
                <a:latin typeface="Cambria" pitchFamily="34" charset="0"/>
                <a:ea typeface="Cambria" pitchFamily="34" charset="-122"/>
                <a:cs typeface="Cambria" pitchFamily="34" charset="-120"/>
              </a:rPr>
              <a:t>Start where it will be judged</a:t>
            </a:r>
            <a:endParaRPr lang="en-US" sz="3400" dirty="0"/>
          </a:p>
        </p:txBody>
      </p:sp>
      <p:sp>
        <p:nvSpPr>
          <p:cNvPr id="5" name="Shape 3"/>
          <p:cNvSpPr/>
          <p:nvPr/>
        </p:nvSpPr>
        <p:spPr>
          <a:xfrm>
            <a:off x="8915400" y="2008342"/>
            <a:ext cx="868680" cy="752277"/>
          </a:xfrm>
          <a:prstGeom prst="hexagon">
            <a:avLst/>
          </a:prstGeom>
          <a:solidFill>
            <a:srgbClr val="DCEFEC"/>
          </a:solidFill>
          <a:ln/>
        </p:spPr>
      </p:sp>
      <p:sp>
        <p:nvSpPr>
          <p:cNvPr id="6" name="Shape 4"/>
          <p:cNvSpPr/>
          <p:nvPr/>
        </p:nvSpPr>
        <p:spPr>
          <a:xfrm>
            <a:off x="9619488" y="1600200"/>
            <a:ext cx="868680" cy="752277"/>
          </a:xfrm>
          <a:prstGeom prst="hexagon">
            <a:avLst/>
          </a:prstGeom>
          <a:solidFill>
            <a:srgbClr val="0E6B66"/>
          </a:solidFill>
          <a:ln/>
        </p:spPr>
      </p:sp>
      <p:sp>
        <p:nvSpPr>
          <p:cNvPr id="7" name="Shape 5"/>
          <p:cNvSpPr/>
          <p:nvPr/>
        </p:nvSpPr>
        <p:spPr>
          <a:xfrm>
            <a:off x="9619488" y="2416485"/>
            <a:ext cx="868680" cy="752277"/>
          </a:xfrm>
          <a:prstGeom prst="hexagon">
            <a:avLst/>
          </a:prstGeom>
          <a:ln w="25400">
            <a:solidFill>
              <a:srgbClr val="B5701F"/>
            </a:solidFill>
            <a:prstDash val="solid"/>
          </a:ln>
        </p:spPr>
      </p:sp>
      <p:sp>
        <p:nvSpPr>
          <p:cNvPr id="8" name="Shape 6"/>
          <p:cNvSpPr/>
          <p:nvPr/>
        </p:nvSpPr>
        <p:spPr>
          <a:xfrm>
            <a:off x="10323576" y="2008342"/>
            <a:ext cx="868680" cy="752277"/>
          </a:xfrm>
          <a:prstGeom prst="hexagon">
            <a:avLst/>
          </a:prstGeom>
          <a:solidFill>
            <a:srgbClr val="6B3F7A"/>
          </a:solidFill>
          <a:ln/>
        </p:spPr>
      </p:sp>
      <p:sp>
        <p:nvSpPr>
          <p:cNvPr id="9" name="Shape 7"/>
          <p:cNvSpPr/>
          <p:nvPr/>
        </p:nvSpPr>
        <p:spPr>
          <a:xfrm>
            <a:off x="10323576" y="2824627"/>
            <a:ext cx="868680" cy="752277"/>
          </a:xfrm>
          <a:prstGeom prst="hexagon">
            <a:avLst/>
          </a:prstGeom>
          <a:solidFill>
            <a:srgbClr val="E8EBF0"/>
          </a:solidFill>
          <a:ln/>
        </p:spPr>
      </p:sp>
      <p:sp>
        <p:nvSpPr>
          <p:cNvPr id="10" name="Shape 8"/>
          <p:cNvSpPr/>
          <p:nvPr/>
        </p:nvSpPr>
        <p:spPr>
          <a:xfrm>
            <a:off x="11027664" y="1600200"/>
            <a:ext cx="868680" cy="752277"/>
          </a:xfrm>
          <a:prstGeom prst="hexagon">
            <a:avLst/>
          </a:prstGeom>
          <a:ln w="25400">
            <a:solidFill>
              <a:srgbClr val="2B3445"/>
            </a:solidFill>
            <a:prstDash val="solid"/>
          </a:ln>
        </p:spPr>
      </p:sp>
      <p:sp>
        <p:nvSpPr>
          <p:cNvPr id="11" name="Shape 9"/>
          <p:cNvSpPr/>
          <p:nvPr/>
        </p:nvSpPr>
        <p:spPr>
          <a:xfrm>
            <a:off x="11027664" y="2416485"/>
            <a:ext cx="868680" cy="752277"/>
          </a:xfrm>
          <a:prstGeom prst="hexagon">
            <a:avLst/>
          </a:prstGeom>
          <a:solidFill>
            <a:srgbClr val="B5701F"/>
          </a:solidFill>
          <a:ln/>
        </p:spPr>
      </p:sp>
      <p:sp>
        <p:nvSpPr>
          <p:cNvPr id="12" name="Shape 10"/>
          <p:cNvSpPr/>
          <p:nvPr/>
        </p:nvSpPr>
        <p:spPr>
          <a:xfrm>
            <a:off x="8915400" y="2824627"/>
            <a:ext cx="868680" cy="752277"/>
          </a:xfrm>
          <a:prstGeom prst="hexagon">
            <a:avLst/>
          </a:prstGeom>
          <a:ln w="25400">
            <a:solidFill>
              <a:srgbClr val="6B3F7A"/>
            </a:solidFill>
            <a:prstDash val="solid"/>
          </a:ln>
        </p:spPr>
      </p:sp>
      <p:sp>
        <p:nvSpPr>
          <p:cNvPr id="13" name="Text 11"/>
          <p:cNvSpPr txBox="1"/>
          <p:nvPr/>
        </p:nvSpPr>
        <p:spPr>
          <a:xfrm>
            <a:off x="548640" y="1600200"/>
            <a:ext cx="7955280" cy="1920240"/>
          </a:xfrm>
          <a:prstGeom prst="rect">
            <a:avLst/>
          </a:prstGeom>
          <a:noFill/>
          <a:ln/>
        </p:spPr>
        <p:txBody>
          <a:bodyPr wrap="square" lIns="0" tIns="0" rIns="0" bIns="0" rtlCol="0" anchor="ctr"/>
          <a:lstStyle/>
          <a:p>
            <a:pPr indent="0" marL="0">
              <a:buNone/>
            </a:pPr>
            <a:r>
              <a:rPr lang="en-US" sz="3600" b="1" dirty="0">
                <a:solidFill>
                  <a:srgbClr val="2B3445"/>
                </a:solidFill>
                <a:latin typeface="Cambria" pitchFamily="34" charset="0"/>
                <a:ea typeface="Cambria" pitchFamily="34" charset="-122"/>
                <a:cs typeface="Cambria" pitchFamily="34" charset="-120"/>
              </a:rPr>
              <a:t>What it needs is a senior post with the time in it, and an evaluation agreed before it starts.</a:t>
            </a:r>
            <a:endParaRPr lang="en-US" sz="3600" dirty="0"/>
          </a:p>
        </p:txBody>
      </p:sp>
      <p:sp>
        <p:nvSpPr>
          <p:cNvPr id="14" name="Shape 12"/>
          <p:cNvSpPr/>
          <p:nvPr/>
        </p:nvSpPr>
        <p:spPr>
          <a:xfrm>
            <a:off x="548640" y="3794760"/>
            <a:ext cx="3515258" cy="1463040"/>
          </a:xfrm>
          <a:prstGeom prst="roundRect">
            <a:avLst>
              <a:gd name="adj" fmla="val 5000"/>
            </a:avLst>
          </a:prstGeom>
          <a:solidFill>
            <a:srgbClr val="DCEFEC"/>
          </a:solidFill>
          <a:ln w="19050">
            <a:solidFill>
              <a:srgbClr val="0E6B66"/>
            </a:solidFill>
            <a:prstDash val="solid"/>
          </a:ln>
        </p:spPr>
      </p:sp>
      <p:sp>
        <p:nvSpPr>
          <p:cNvPr id="15" name="Text 13"/>
          <p:cNvSpPr txBox="1"/>
          <p:nvPr/>
        </p:nvSpPr>
        <p:spPr>
          <a:xfrm>
            <a:off x="731520" y="3794760"/>
            <a:ext cx="3149498" cy="1463040"/>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The guidance judges AI by its effect on pupils, and grades inclusion on its own.</a:t>
            </a:r>
            <a:endParaRPr lang="en-US" sz="1800" dirty="0"/>
          </a:p>
        </p:txBody>
      </p:sp>
      <p:sp>
        <p:nvSpPr>
          <p:cNvPr id="16" name="Shape 14"/>
          <p:cNvSpPr/>
          <p:nvPr/>
        </p:nvSpPr>
        <p:spPr>
          <a:xfrm>
            <a:off x="4338218" y="3794760"/>
            <a:ext cx="3515258" cy="1463040"/>
          </a:xfrm>
          <a:prstGeom prst="roundRect">
            <a:avLst>
              <a:gd name="adj" fmla="val 5000"/>
            </a:avLst>
          </a:prstGeom>
          <a:solidFill>
            <a:srgbClr val="F8EBD9"/>
          </a:solidFill>
          <a:ln w="19050">
            <a:solidFill>
              <a:srgbClr val="B5701F"/>
            </a:solidFill>
            <a:prstDash val="solid"/>
          </a:ln>
        </p:spPr>
      </p:sp>
      <p:sp>
        <p:nvSpPr>
          <p:cNvPr id="17" name="Text 15"/>
          <p:cNvSpPr txBox="1"/>
          <p:nvPr/>
        </p:nvSpPr>
        <p:spPr>
          <a:xfrm>
            <a:off x="4521098" y="3794760"/>
            <a:ext cx="3149498" cy="1463040"/>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AI makes adaptive teaching affordable; people keep every decision about individual pupils.</a:t>
            </a:r>
            <a:endParaRPr lang="en-US" sz="1800" dirty="0"/>
          </a:p>
        </p:txBody>
      </p:sp>
      <p:sp>
        <p:nvSpPr>
          <p:cNvPr id="18" name="Shape 16"/>
          <p:cNvSpPr/>
          <p:nvPr/>
        </p:nvSpPr>
        <p:spPr>
          <a:xfrm>
            <a:off x="8127797" y="3794760"/>
            <a:ext cx="3515258" cy="1463040"/>
          </a:xfrm>
          <a:prstGeom prst="roundRect">
            <a:avLst>
              <a:gd name="adj" fmla="val 5000"/>
            </a:avLst>
          </a:prstGeom>
          <a:solidFill>
            <a:srgbClr val="EFE6F3"/>
          </a:solidFill>
          <a:ln w="19050">
            <a:solidFill>
              <a:srgbClr val="6B3F7A"/>
            </a:solidFill>
            <a:prstDash val="solid"/>
          </a:ln>
        </p:spPr>
      </p:sp>
      <p:sp>
        <p:nvSpPr>
          <p:cNvPr id="19" name="Text 17"/>
          <p:cNvSpPr txBox="1"/>
          <p:nvPr/>
        </p:nvSpPr>
        <p:spPr>
          <a:xfrm>
            <a:off x="8310677" y="3794760"/>
            <a:ext cx="3149498" cy="1463040"/>
          </a:xfrm>
          <a:prstGeom prst="rect">
            <a:avLst/>
          </a:prstGeom>
          <a:noFill/>
          <a:ln/>
        </p:spPr>
        <p:txBody>
          <a:bodyPr wrap="square" lIns="0" tIns="0" rIns="0" bIns="0" rtlCol="0" anchor="ctr"/>
          <a:lstStyle/>
          <a:p>
            <a:pPr indent="0" marL="0">
              <a:buNone/>
            </a:pPr>
            <a:r>
              <a:rPr lang="en-US" sz="1800" dirty="0">
                <a:solidFill>
                  <a:srgbClr val="1E2430"/>
                </a:solidFill>
                <a:latin typeface="Calibri" pitchFamily="34" charset="0"/>
                <a:ea typeface="Calibri" pitchFamily="34" charset="-122"/>
                <a:cs typeface="Calibri" pitchFamily="34" charset="-120"/>
              </a:rPr>
              <a:t>Built and run in one school, with its claims qualified where the evidence is qualified.</a:t>
            </a:r>
            <a:endParaRPr lang="en-US" sz="1800" dirty="0"/>
          </a:p>
        </p:txBody>
      </p:sp>
      <p:sp>
        <p:nvSpPr>
          <p:cNvPr id="20" name="Text 18"/>
          <p:cNvSpPr txBox="1"/>
          <p:nvPr/>
        </p:nvSpPr>
        <p:spPr>
          <a:xfrm>
            <a:off x="548640" y="5532120"/>
            <a:ext cx="11094415" cy="457200"/>
          </a:xfrm>
          <a:prstGeom prst="rect">
            <a:avLst/>
          </a:prstGeom>
          <a:noFill/>
          <a:ln/>
        </p:spPr>
        <p:txBody>
          <a:bodyPr wrap="square" lIns="0" tIns="0" rIns="0" bIns="0" rtlCol="0" anchor="ctr"/>
          <a:lstStyle/>
          <a:p>
            <a:pPr indent="0" marL="0">
              <a:buNone/>
            </a:pPr>
            <a:r>
              <a:rPr lang="en-US" sz="1800" b="1" dirty="0">
                <a:solidFill>
                  <a:srgbClr val="2B3445"/>
                </a:solidFill>
                <a:latin typeface="Calibri" pitchFamily="34" charset="0"/>
                <a:ea typeface="Calibri" pitchFamily="34" charset="-122"/>
                <a:cs typeface="Calibri" pitchFamily="34" charset="-120"/>
              </a:rPr>
              <a:t>Dr Vitor Carvalho</a:t>
            </a:r>
            <a:pPr indent="0" marL="0">
              <a:buNone/>
            </a:pPr>
            <a:r>
              <a:rPr lang="en-US" sz="1800" dirty="0">
                <a:solidFill>
                  <a:srgbClr val="5B6475"/>
                </a:solidFill>
                <a:latin typeface="Calibri" pitchFamily="34" charset="0"/>
                <a:ea typeface="Calibri" pitchFamily="34" charset="-122"/>
                <a:cs typeface="Calibri" pitchFamily="34" charset="-120"/>
              </a:rPr>
              <a:t>  ·  Co-founder, Edu.Ai SV Digital  ·  the full report is the handout</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rgbClr val="5B64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daptive by Design">
  <a:themeElements>
    <a:clrScheme name="Adaptive by Design">
      <a:dk1>
        <a:srgbClr val="1E2430"/>
      </a:dk1>
      <a:lt1>
        <a:srgbClr val="FFFFFF"/>
      </a:lt1>
      <a:dk2>
        <a:srgbClr val="2B3445"/>
      </a:dk2>
      <a:lt2>
        <a:srgbClr val="E8EBF0"/>
      </a:lt2>
      <a:accent1>
        <a:srgbClr val="0E6B66"/>
      </a:accent1>
      <a:accent2>
        <a:srgbClr val="B5701F"/>
      </a:accent2>
      <a:accent3>
        <a:srgbClr val="6B3F7A"/>
      </a:accent3>
      <a:accent4>
        <a:srgbClr val="2B3445"/>
      </a:accent4>
      <a:accent5>
        <a:srgbClr val="DCEFEC"/>
      </a:accent5>
      <a:accent6>
        <a:srgbClr val="F8EBD9"/>
      </a:accent6>
      <a:hlink>
        <a:srgbClr val="0E6B66"/>
      </a:hlink>
      <a:folHlink>
        <a:srgbClr val="6B3F7A"/>
      </a:folHlink>
    </a:clrScheme>
    <a:fontScheme name="Adaptive by Desig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by Design</dc:title>
  <dc:subject>An AI strategy for secondary schools that begins with inclusion</dc:subject>
  <dc:creator>Dr Vitor Carvalho</dc:creator>
  <cp:lastModifiedBy>Dr Vitor Carvalho</cp:lastModifiedBy>
  <cp:revision>1</cp:revision>
  <dcterms:created xsi:type="dcterms:W3CDTF">2026-10-16T22:07:04Z</dcterms:created>
  <dcterms:modified xsi:type="dcterms:W3CDTF">2026-10-16T22:07:04Z</dcterms:modified>
</cp:coreProperties>
</file>